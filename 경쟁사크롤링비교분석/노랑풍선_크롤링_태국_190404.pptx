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3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4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556" r:id="rId3"/>
    <p:sldId id="547" r:id="rId4"/>
    <p:sldId id="548" r:id="rId5"/>
    <p:sldId id="549" r:id="rId6"/>
    <p:sldId id="559" r:id="rId7"/>
    <p:sldId id="550" r:id="rId8"/>
    <p:sldId id="557" r:id="rId9"/>
    <p:sldId id="551" r:id="rId10"/>
    <p:sldId id="552" r:id="rId11"/>
    <p:sldId id="558" r:id="rId12"/>
    <p:sldId id="555" r:id="rId1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53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381"/>
    <a:srgbClr val="FF3737"/>
    <a:srgbClr val="317CC1"/>
    <a:srgbClr val="DC5E5E"/>
    <a:srgbClr val="FF7C80"/>
    <a:srgbClr val="E5675D"/>
    <a:srgbClr val="6DA6D9"/>
    <a:srgbClr val="E07B52"/>
    <a:srgbClr val="FF9966"/>
    <a:srgbClr val="52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5" autoAdjust="0"/>
    <p:restoredTop sz="94684" autoAdjust="0"/>
  </p:normalViewPr>
  <p:slideViewPr>
    <p:cSldViewPr snapToGrid="0" showGuides="1">
      <p:cViewPr varScale="1">
        <p:scale>
          <a:sx n="110" d="100"/>
          <a:sy n="110" d="100"/>
        </p:scale>
        <p:origin x="2010" y="78"/>
      </p:cViewPr>
      <p:guideLst>
        <p:guide orient="horz" pos="3793"/>
        <p:guide pos="2835"/>
        <p:guide orient="horz" pos="2795"/>
        <p:guide pos="363"/>
        <p:guide pos="53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3468;&#44397;\VGT_&#53468;&#44397;_190401_&#51473;&#48373;&#51228;&#44144;&#54728;&#49688;&#52628;&#44032;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정리본!$O$121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정리본!$N$122:$N$125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정리본!$O$122:$O$125</c:f>
              <c:numCache>
                <c:formatCode>General</c:formatCode>
                <c:ptCount val="4"/>
                <c:pt idx="0">
                  <c:v>30</c:v>
                </c:pt>
                <c:pt idx="1">
                  <c:v>24</c:v>
                </c:pt>
                <c:pt idx="2">
                  <c:v>6</c:v>
                </c:pt>
                <c:pt idx="3">
                  <c:v>60</c:v>
                </c:pt>
              </c:numCache>
            </c:numRef>
          </c:val>
        </c:ser>
        <c:ser>
          <c:idx val="1"/>
          <c:order val="1"/>
          <c:tx>
            <c:strRef>
              <c:f>정리본!$P$121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정리본!$N$122:$N$125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정리본!$P$122:$P$125</c:f>
              <c:numCache>
                <c:formatCode>General</c:formatCode>
                <c:ptCount val="4"/>
                <c:pt idx="0">
                  <c:v>45</c:v>
                </c:pt>
                <c:pt idx="1">
                  <c:v>21</c:v>
                </c:pt>
                <c:pt idx="2">
                  <c:v>8</c:v>
                </c:pt>
                <c:pt idx="3">
                  <c:v>74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7702304"/>
        <c:axId val="637705104"/>
      </c:barChart>
      <c:catAx>
        <c:axId val="637702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705104"/>
        <c:crosses val="autoZero"/>
        <c:auto val="1"/>
        <c:lblAlgn val="ctr"/>
        <c:lblOffset val="100"/>
        <c:noMultiLvlLbl val="0"/>
      </c:catAx>
      <c:valAx>
        <c:axId val="637705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702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정리본!$O$132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정리본!$N$133:$N$136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정리본!$O$133:$O$136</c:f>
              <c:numCache>
                <c:formatCode>_(* #,##0_);_(* \(#,##0\);_(* "-"_);_(@_)</c:formatCode>
                <c:ptCount val="4"/>
                <c:pt idx="0">
                  <c:v>7551</c:v>
                </c:pt>
                <c:pt idx="1">
                  <c:v>2424</c:v>
                </c:pt>
                <c:pt idx="2">
                  <c:v>161</c:v>
                </c:pt>
                <c:pt idx="3">
                  <c:v>10136</c:v>
                </c:pt>
              </c:numCache>
            </c:numRef>
          </c:val>
        </c:ser>
        <c:ser>
          <c:idx val="1"/>
          <c:order val="1"/>
          <c:tx>
            <c:strRef>
              <c:f>정리본!$P$132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5.2768475198816597E-2"/>
                  <c:y val="1.64222722217910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정리본!$N$133:$N$136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정리본!$P$133:$P$136</c:f>
              <c:numCache>
                <c:formatCode>_(* #,##0_);_(* \(#,##0\);_(* "-"_);_(@_)</c:formatCode>
                <c:ptCount val="4"/>
                <c:pt idx="0">
                  <c:v>12184</c:v>
                </c:pt>
                <c:pt idx="1">
                  <c:v>2347</c:v>
                </c:pt>
                <c:pt idx="2">
                  <c:v>678</c:v>
                </c:pt>
                <c:pt idx="3">
                  <c:v>15209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7712384"/>
        <c:axId val="637705664"/>
      </c:barChart>
      <c:catAx>
        <c:axId val="637712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705664"/>
        <c:crosses val="autoZero"/>
        <c:auto val="1"/>
        <c:lblAlgn val="ctr"/>
        <c:lblOffset val="100"/>
        <c:noMultiLvlLbl val="0"/>
      </c:catAx>
      <c:valAx>
        <c:axId val="63770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71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정리본!$F$50</c:f>
              <c:strCache>
                <c:ptCount val="1"/>
                <c:pt idx="0">
                  <c:v>태국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정리본!$G$49:$H$49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정리본!$G$50:$H$50</c:f>
              <c:numCache>
                <c:formatCode>0%</c:formatCode>
                <c:ptCount val="2"/>
                <c:pt idx="0">
                  <c:v>6.6397000789265984E-2</c:v>
                </c:pt>
                <c:pt idx="1">
                  <c:v>0.93360299921073397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ko-K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정리본!$F$54</c:f>
              <c:strCache>
                <c:ptCount val="1"/>
                <c:pt idx="0">
                  <c:v>태국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정리본!$G$53:$H$53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정리본!$G$54:$H$54</c:f>
              <c:numCache>
                <c:formatCode>0%</c:formatCode>
                <c:ptCount val="2"/>
                <c:pt idx="0">
                  <c:v>0.13239999999999999</c:v>
                </c:pt>
                <c:pt idx="1">
                  <c:v>0.86760000000000004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정리본!$M$182</c:f>
              <c:strCache>
                <c:ptCount val="1"/>
                <c:pt idx="0">
                  <c:v>VGT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정리본!$L$183:$L$185</c:f>
              <c:strCache>
                <c:ptCount val="3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</c:strCache>
            </c:strRef>
          </c:cat>
          <c:val>
            <c:numRef>
              <c:f>정리본!$M$183:$M$185</c:f>
              <c:numCache>
                <c:formatCode>0%</c:formatCode>
                <c:ptCount val="3"/>
                <c:pt idx="0">
                  <c:v>0.78306092124814264</c:v>
                </c:pt>
                <c:pt idx="1">
                  <c:v>0.20802377414561665</c:v>
                </c:pt>
                <c:pt idx="2">
                  <c:v>8.9153046062407128E-3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정리본!$N$182</c:f>
              <c:strCache>
                <c:ptCount val="1"/>
                <c:pt idx="0">
                  <c:v>노랑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-9.2822662512095533E-2"/>
                  <c:y val="1.3510921211364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507567422377837E-2"/>
                      <c:h val="0.1388437818684743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6.0688036239470985E-2"/>
                  <c:y val="1.398262565034281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정리본!$L$183:$L$185</c:f>
              <c:strCache>
                <c:ptCount val="3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</c:strCache>
            </c:strRef>
          </c:cat>
          <c:val>
            <c:numRef>
              <c:f>정리본!$N$183:$N$185</c:f>
              <c:numCache>
                <c:formatCode>0%</c:formatCode>
                <c:ptCount val="3"/>
                <c:pt idx="0">
                  <c:v>0.97418073485600798</c:v>
                </c:pt>
                <c:pt idx="1">
                  <c:v>1.0923535253227408E-2</c:v>
                </c:pt>
                <c:pt idx="2">
                  <c:v>1.4895729890764648E-2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정리본!$I$59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정리본!$H$60:$H$62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정리본!$I$60:$I$62</c:f>
              <c:numCache>
                <c:formatCode>0.0%</c:formatCode>
                <c:ptCount val="3"/>
                <c:pt idx="0" formatCode="0%">
                  <c:v>0.90469613259668513</c:v>
                </c:pt>
                <c:pt idx="1">
                  <c:v>4.4988161010260458E-2</c:v>
                </c:pt>
                <c:pt idx="2">
                  <c:v>5.0315706393054459E-2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정리본!$L$59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정리본!$K$60:$K$61</c:f>
              <c:strCache>
                <c:ptCount val="2"/>
                <c:pt idx="0">
                  <c:v>일반</c:v>
                </c:pt>
                <c:pt idx="1">
                  <c:v>프리미엄</c:v>
                </c:pt>
              </c:strCache>
            </c:strRef>
          </c:cat>
          <c:val>
            <c:numRef>
              <c:f>정리본!$L$60:$L$61</c:f>
              <c:numCache>
                <c:formatCode>0%</c:formatCode>
                <c:ptCount val="2"/>
                <c:pt idx="0">
                  <c:v>0.80590439871128938</c:v>
                </c:pt>
                <c:pt idx="1">
                  <c:v>0.19409560128871065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정리본!$C$107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-6.9683071710978747E-2"/>
                  <c:y val="2.544689277521179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0408941626527814"/>
                  <c:y val="3.038356454173802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정리본!$B$108:$B$110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정리본!$C$108:$C$110</c:f>
              <c:numCache>
                <c:formatCode>0.0%</c:formatCode>
                <c:ptCount val="3"/>
                <c:pt idx="0" formatCode="0%">
                  <c:v>0.94947994056463592</c:v>
                </c:pt>
                <c:pt idx="1">
                  <c:v>4.9034175334323922E-2</c:v>
                </c:pt>
                <c:pt idx="2">
                  <c:v>1.4858841010401188E-3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정리본!$G$107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정리본!$F$108:$F$109</c:f>
              <c:strCache>
                <c:ptCount val="2"/>
                <c:pt idx="0">
                  <c:v>일반</c:v>
                </c:pt>
                <c:pt idx="1">
                  <c:v>프리미엄</c:v>
                </c:pt>
              </c:strCache>
            </c:strRef>
          </c:cat>
          <c:val>
            <c:numRef>
              <c:f>정리본!$G$108:$G$109</c:f>
              <c:numCache>
                <c:formatCode>0%</c:formatCode>
                <c:ptCount val="2"/>
                <c:pt idx="0">
                  <c:v>0.8992055610724925</c:v>
                </c:pt>
                <c:pt idx="1">
                  <c:v>0.10079443892750745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정리본!$X$122</c:f>
              <c:strCache>
                <c:ptCount val="1"/>
                <c:pt idx="0">
                  <c:v>방콕/파타야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정리본!$Y$121:$AC$121</c:f>
              <c:strCache>
                <c:ptCount val="5"/>
                <c:pt idx="0">
                  <c:v>일반(VGT)</c:v>
                </c:pt>
                <c:pt idx="1">
                  <c:v>일반(노랑)</c:v>
                </c:pt>
                <c:pt idx="2">
                  <c:v>라르고(VGT)</c:v>
                </c:pt>
                <c:pt idx="3">
                  <c:v>라르고+(VGT)</c:v>
                </c:pt>
                <c:pt idx="4">
                  <c:v>프리미엄(노랑)</c:v>
                </c:pt>
              </c:strCache>
            </c:strRef>
          </c:cat>
          <c:val>
            <c:numRef>
              <c:f>정리본!$Y$122:$AC$122</c:f>
              <c:numCache>
                <c:formatCode>0%</c:formatCode>
                <c:ptCount val="5"/>
                <c:pt idx="0">
                  <c:v>0.74</c:v>
                </c:pt>
                <c:pt idx="1">
                  <c:v>0.83</c:v>
                </c:pt>
                <c:pt idx="2">
                  <c:v>1</c:v>
                </c:pt>
                <c:pt idx="3">
                  <c:v>0.65</c:v>
                </c:pt>
                <c:pt idx="4">
                  <c:v>0.7</c:v>
                </c:pt>
              </c:numCache>
            </c:numRef>
          </c:val>
        </c:ser>
        <c:ser>
          <c:idx val="1"/>
          <c:order val="1"/>
          <c:tx>
            <c:strRef>
              <c:f>정리본!$X$123</c:f>
              <c:strCache>
                <c:ptCount val="1"/>
                <c:pt idx="0">
                  <c:v>푸켓/카오락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정리본!$Y$121:$AC$121</c:f>
              <c:strCache>
                <c:ptCount val="5"/>
                <c:pt idx="0">
                  <c:v>일반(VGT)</c:v>
                </c:pt>
                <c:pt idx="1">
                  <c:v>일반(노랑)</c:v>
                </c:pt>
                <c:pt idx="2">
                  <c:v>라르고(VGT)</c:v>
                </c:pt>
                <c:pt idx="3">
                  <c:v>라르고+(VGT)</c:v>
                </c:pt>
                <c:pt idx="4">
                  <c:v>프리미엄(노랑)</c:v>
                </c:pt>
              </c:strCache>
            </c:strRef>
          </c:cat>
          <c:val>
            <c:numRef>
              <c:f>정리본!$Y$123:$AC$123</c:f>
              <c:numCache>
                <c:formatCode>0%</c:formatCode>
                <c:ptCount val="5"/>
                <c:pt idx="0">
                  <c:v>0.24</c:v>
                </c:pt>
                <c:pt idx="1">
                  <c:v>0.14000000000000001</c:v>
                </c:pt>
                <c:pt idx="2">
                  <c:v>0</c:v>
                </c:pt>
                <c:pt idx="3">
                  <c:v>0.35</c:v>
                </c:pt>
                <c:pt idx="4">
                  <c:v>0.2</c:v>
                </c:pt>
              </c:numCache>
            </c:numRef>
          </c:val>
        </c:ser>
        <c:ser>
          <c:idx val="2"/>
          <c:order val="2"/>
          <c:tx>
            <c:strRef>
              <c:f>정리본!$X$124</c:f>
              <c:strCache>
                <c:ptCount val="1"/>
                <c:pt idx="0">
                  <c:v>치앙마이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정리본!$Y$121:$AC$121</c:f>
              <c:strCache>
                <c:ptCount val="5"/>
                <c:pt idx="0">
                  <c:v>일반(VGT)</c:v>
                </c:pt>
                <c:pt idx="1">
                  <c:v>일반(노랑)</c:v>
                </c:pt>
                <c:pt idx="2">
                  <c:v>라르고(VGT)</c:v>
                </c:pt>
                <c:pt idx="3">
                  <c:v>라르고+(VGT)</c:v>
                </c:pt>
                <c:pt idx="4">
                  <c:v>프리미엄(노랑)</c:v>
                </c:pt>
              </c:strCache>
            </c:strRef>
          </c:cat>
          <c:val>
            <c:numRef>
              <c:f>정리본!$Y$124:$AC$124</c:f>
              <c:numCache>
                <c:formatCode>0%</c:formatCode>
                <c:ptCount val="5"/>
                <c:pt idx="0">
                  <c:v>0.02</c:v>
                </c:pt>
                <c:pt idx="1">
                  <c:v>0.03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81185792"/>
        <c:axId val="481185232"/>
      </c:barChart>
      <c:catAx>
        <c:axId val="48118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1185232"/>
        <c:crosses val="autoZero"/>
        <c:auto val="1"/>
        <c:lblAlgn val="ctr"/>
        <c:lblOffset val="100"/>
        <c:noMultiLvlLbl val="0"/>
      </c:catAx>
      <c:valAx>
        <c:axId val="48118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118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정리본!$H$85</c:f>
              <c:strCache>
                <c:ptCount val="1"/>
                <c:pt idx="0">
                  <c:v>태국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정리본!$I$84:$K$84</c:f>
              <c:strCache>
                <c:ptCount val="3"/>
                <c:pt idx="0">
                  <c:v>국적기</c:v>
                </c:pt>
                <c:pt idx="1">
                  <c:v>외항사</c:v>
                </c:pt>
                <c:pt idx="2">
                  <c:v>LCC</c:v>
                </c:pt>
              </c:strCache>
            </c:strRef>
          </c:cat>
          <c:val>
            <c:numRef>
              <c:f>정리본!$I$85:$K$85</c:f>
              <c:numCache>
                <c:formatCode>0%</c:formatCode>
                <c:ptCount val="3"/>
                <c:pt idx="0">
                  <c:v>0.47642067876874505</c:v>
                </c:pt>
                <c:pt idx="1">
                  <c:v>0.18784530386740331</c:v>
                </c:pt>
                <c:pt idx="2">
                  <c:v>0.33573401736385161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정리본!$S$91</c:f>
              <c:strCache>
                <c:ptCount val="1"/>
                <c:pt idx="0">
                  <c:v>태국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정리본!$T$90:$V$90</c:f>
              <c:strCache>
                <c:ptCount val="3"/>
                <c:pt idx="0">
                  <c:v>국적기</c:v>
                </c:pt>
                <c:pt idx="1">
                  <c:v>외항사</c:v>
                </c:pt>
                <c:pt idx="2">
                  <c:v>LCC</c:v>
                </c:pt>
              </c:strCache>
            </c:strRef>
          </c:cat>
          <c:val>
            <c:numRef>
              <c:f>정리본!$T$91:$V$91</c:f>
              <c:numCache>
                <c:formatCode>0%</c:formatCode>
                <c:ptCount val="3"/>
                <c:pt idx="0">
                  <c:v>0.39785653231639162</c:v>
                </c:pt>
                <c:pt idx="1">
                  <c:v>0.16194358603458478</c:v>
                </c:pt>
                <c:pt idx="2">
                  <c:v>0.44019988164902363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정리본!$J$160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-8.2019171919338107E-2"/>
                  <c:y val="-1.188238819133177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5.7833363385635569E-17"/>
                  <c:y val="1.55553060537086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1566672677127114E-16"/>
                  <c:y val="1.03702040358057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정리본!$I$161:$I$164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정리본!$J$161:$J$164</c:f>
              <c:numCache>
                <c:formatCode>#,#0#,_-</c:formatCode>
                <c:ptCount val="4"/>
                <c:pt idx="0">
                  <c:v>630136</c:v>
                </c:pt>
                <c:pt idx="1">
                  <c:v>850719</c:v>
                </c:pt>
                <c:pt idx="2">
                  <c:v>859832</c:v>
                </c:pt>
                <c:pt idx="3">
                  <c:v>686537</c:v>
                </c:pt>
              </c:numCache>
            </c:numRef>
          </c:val>
        </c:ser>
        <c:ser>
          <c:idx val="1"/>
          <c:order val="1"/>
          <c:tx>
            <c:strRef>
              <c:f>정리본!$K$160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1.5772917676795777E-2"/>
                  <c:y val="2.59255100895145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3.686466190813064E-2"/>
                  <c:y val="-1.49996427587192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15458353535904E-3"/>
                  <c:y val="2.59255100895144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2082084747514087E-2"/>
                  <c:y val="1.55553060537086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정리본!$I$161:$I$164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정리본!$K$161:$K$164</c:f>
              <c:numCache>
                <c:formatCode>#,#0#,_-</c:formatCode>
                <c:ptCount val="4"/>
                <c:pt idx="0">
                  <c:v>558361</c:v>
                </c:pt>
                <c:pt idx="1">
                  <c:v>878497</c:v>
                </c:pt>
                <c:pt idx="2">
                  <c:v>785398</c:v>
                </c:pt>
                <c:pt idx="3">
                  <c:v>616468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1189152"/>
        <c:axId val="466021520"/>
      </c:barChart>
      <c:catAx>
        <c:axId val="48118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6021520"/>
        <c:crosses val="autoZero"/>
        <c:auto val="1"/>
        <c:lblAlgn val="ctr"/>
        <c:lblOffset val="100"/>
        <c:noMultiLvlLbl val="0"/>
      </c:catAx>
      <c:valAx>
        <c:axId val="466021520"/>
        <c:scaling>
          <c:orientation val="minMax"/>
          <c:max val="12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118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정리본!$J$169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정리본!$I$170:$I$173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정리본!$J$170:$J$173</c:f>
              <c:numCache>
                <c:formatCode>#,#0#,_-</c:formatCode>
                <c:ptCount val="4"/>
                <c:pt idx="0">
                  <c:v>466907</c:v>
                </c:pt>
                <c:pt idx="1">
                  <c:v>718079</c:v>
                </c:pt>
                <c:pt idx="2">
                  <c:v>779667</c:v>
                </c:pt>
                <c:pt idx="3">
                  <c:v>521945</c:v>
                </c:pt>
              </c:numCache>
            </c:numRef>
          </c:val>
        </c:ser>
        <c:ser>
          <c:idx val="1"/>
          <c:order val="1"/>
          <c:tx>
            <c:strRef>
              <c:f>정리본!$K$169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prstClr val="white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2.7947750784711042E-17"/>
                  <c:y val="5.19731376633368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6.0977615213482867E-3"/>
                  <c:y val="2.078925506533473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2195523042696573E-2"/>
                  <c:y val="1.559194129900095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정리본!$I$170:$I$173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정리본!$K$170:$K$173</c:f>
              <c:numCache>
                <c:formatCode>#,#0#,_-</c:formatCode>
                <c:ptCount val="4"/>
                <c:pt idx="0">
                  <c:v>416152</c:v>
                </c:pt>
                <c:pt idx="1">
                  <c:v>599000</c:v>
                </c:pt>
                <c:pt idx="2">
                  <c:v>1034000</c:v>
                </c:pt>
                <c:pt idx="3">
                  <c:v>420597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66022080"/>
        <c:axId val="466024320"/>
      </c:barChart>
      <c:catAx>
        <c:axId val="466022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6024320"/>
        <c:crosses val="autoZero"/>
        <c:auto val="1"/>
        <c:lblAlgn val="ctr"/>
        <c:lblOffset val="100"/>
        <c:noMultiLvlLbl val="0"/>
      </c:catAx>
      <c:valAx>
        <c:axId val="466024320"/>
        <c:scaling>
          <c:orientation val="minMax"/>
          <c:max val="12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6022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정리본!$K$209</c:f>
              <c:strCache>
                <c:ptCount val="1"/>
                <c:pt idx="0">
                  <c:v>일반(VGT)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정리본!$J$210:$J$213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정리본!$K$210:$K$213</c:f>
              <c:numCache>
                <c:formatCode>#,#0#,_-</c:formatCode>
                <c:ptCount val="4"/>
                <c:pt idx="0">
                  <c:v>457312</c:v>
                </c:pt>
                <c:pt idx="1">
                  <c:v>718079</c:v>
                </c:pt>
                <c:pt idx="2">
                  <c:v>779667</c:v>
                </c:pt>
                <c:pt idx="3">
                  <c:v>517471</c:v>
                </c:pt>
              </c:numCache>
            </c:numRef>
          </c:val>
        </c:ser>
        <c:ser>
          <c:idx val="1"/>
          <c:order val="1"/>
          <c:tx>
            <c:strRef>
              <c:f>정리본!$L$209</c:f>
              <c:strCache>
                <c:ptCount val="1"/>
                <c:pt idx="0">
                  <c:v>라르고(VGT)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2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정리본!$J$210:$J$213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정리본!$L$210:$L$213</c:f>
              <c:numCache>
                <c:formatCode>#,#0#,_-</c:formatCode>
                <c:ptCount val="4"/>
                <c:pt idx="0">
                  <c:v>587909</c:v>
                </c:pt>
                <c:pt idx="1">
                  <c:v>0</c:v>
                </c:pt>
                <c:pt idx="2">
                  <c:v>0</c:v>
                </c:pt>
                <c:pt idx="3">
                  <c:v>587909</c:v>
                </c:pt>
              </c:numCache>
            </c:numRef>
          </c:val>
        </c:ser>
        <c:ser>
          <c:idx val="2"/>
          <c:order val="2"/>
          <c:tx>
            <c:strRef>
              <c:f>정리본!$M$209</c:f>
              <c:strCache>
                <c:ptCount val="1"/>
                <c:pt idx="0">
                  <c:v>라르고+(VGT)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6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정리본!$J$210:$J$213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정리본!$M$210:$M$213</c:f>
              <c:numCache>
                <c:formatCode>#,#0#,_-</c:formatCode>
                <c:ptCount val="4"/>
                <c:pt idx="0">
                  <c:v>1204000</c:v>
                </c:pt>
                <c:pt idx="1">
                  <c:v>0</c:v>
                </c:pt>
                <c:pt idx="2">
                  <c:v>0</c:v>
                </c:pt>
                <c:pt idx="3">
                  <c:v>1204000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66025440"/>
        <c:axId val="129766352"/>
      </c:barChart>
      <c:catAx>
        <c:axId val="46602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766352"/>
        <c:crosses val="autoZero"/>
        <c:auto val="1"/>
        <c:lblAlgn val="ctr"/>
        <c:lblOffset val="100"/>
        <c:noMultiLvlLbl val="0"/>
      </c:catAx>
      <c:valAx>
        <c:axId val="129766352"/>
        <c:scaling>
          <c:orientation val="minMax"/>
          <c:max val="16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602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정리본!$N$209</c:f>
              <c:strCache>
                <c:ptCount val="1"/>
                <c:pt idx="0">
                  <c:v>일반(노랑)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정리본!$J$210:$J$213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정리본!$N$210:$N$213</c:f>
              <c:numCache>
                <c:formatCode>#,#0#,_-</c:formatCode>
                <c:ptCount val="4"/>
                <c:pt idx="0">
                  <c:v>408358.68448098662</c:v>
                </c:pt>
                <c:pt idx="1">
                  <c:v>599000</c:v>
                </c:pt>
                <c:pt idx="2">
                  <c:v>729000</c:v>
                </c:pt>
                <c:pt idx="3">
                  <c:v>410503</c:v>
                </c:pt>
              </c:numCache>
            </c:numRef>
          </c:val>
        </c:ser>
        <c:ser>
          <c:idx val="1"/>
          <c:order val="1"/>
          <c:tx>
            <c:strRef>
              <c:f>정리본!$O$209</c:f>
              <c:strCache>
                <c:ptCount val="1"/>
                <c:pt idx="0">
                  <c:v>프리미엄(노랑)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accent6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정리본!$J$210:$J$213</c:f>
              <c:strCache>
                <c:ptCount val="4"/>
                <c:pt idx="0">
                  <c:v>방콕/파타야</c:v>
                </c:pt>
                <c:pt idx="1">
                  <c:v>푸켓/카오락</c:v>
                </c:pt>
                <c:pt idx="2">
                  <c:v>치앙마이</c:v>
                </c:pt>
                <c:pt idx="3">
                  <c:v>전체</c:v>
                </c:pt>
              </c:strCache>
            </c:strRef>
          </c:cat>
          <c:val>
            <c:numRef>
              <c:f>정리본!$O$210:$O$213</c:f>
              <c:numCache>
                <c:formatCode>#,#0#,_-</c:formatCode>
                <c:ptCount val="4"/>
                <c:pt idx="0">
                  <c:v>495145.83333333331</c:v>
                </c:pt>
                <c:pt idx="1">
                  <c:v>0</c:v>
                </c:pt>
                <c:pt idx="2">
                  <c:v>1339000</c:v>
                </c:pt>
                <c:pt idx="3">
                  <c:v>520717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9765792"/>
        <c:axId val="129763552"/>
      </c:barChart>
      <c:catAx>
        <c:axId val="12976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763552"/>
        <c:crosses val="autoZero"/>
        <c:auto val="1"/>
        <c:lblAlgn val="ctr"/>
        <c:lblOffset val="100"/>
        <c:noMultiLvlLbl val="0"/>
      </c:catAx>
      <c:valAx>
        <c:axId val="129763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76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정리본!$U$74</c:f>
              <c:strCache>
                <c:ptCount val="1"/>
                <c:pt idx="0">
                  <c:v>VGT 실예약인원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1856441889380796E-17"/>
                  <c:y val="2.157497303128371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정리본!$T$75:$T$77</c:f>
              <c:strCache>
                <c:ptCount val="3"/>
                <c:pt idx="0">
                  <c:v>4월</c:v>
                </c:pt>
                <c:pt idx="1">
                  <c:v>6월</c:v>
                </c:pt>
                <c:pt idx="2">
                  <c:v>전체</c:v>
                </c:pt>
              </c:strCache>
            </c:strRef>
          </c:cat>
          <c:val>
            <c:numRef>
              <c:f>정리본!$U$75:$U$77</c:f>
              <c:numCache>
                <c:formatCode>_(* #,##0_);_(* \(#,##0\);_(* "-"_);_(@_)</c:formatCode>
                <c:ptCount val="3"/>
                <c:pt idx="0">
                  <c:v>842</c:v>
                </c:pt>
                <c:pt idx="1">
                  <c:v>367</c:v>
                </c:pt>
                <c:pt idx="2">
                  <c:v>1209</c:v>
                </c:pt>
              </c:numCache>
            </c:numRef>
          </c:val>
        </c:ser>
        <c:ser>
          <c:idx val="1"/>
          <c:order val="1"/>
          <c:tx>
            <c:strRef>
              <c:f>정리본!$V$74</c:f>
              <c:strCache>
                <c:ptCount val="1"/>
                <c:pt idx="0">
                  <c:v>노랑풍선 실예약인원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정리본!$T$75:$T$77</c:f>
              <c:strCache>
                <c:ptCount val="3"/>
                <c:pt idx="0">
                  <c:v>4월</c:v>
                </c:pt>
                <c:pt idx="1">
                  <c:v>6월</c:v>
                </c:pt>
                <c:pt idx="2">
                  <c:v>전체</c:v>
                </c:pt>
              </c:strCache>
            </c:strRef>
          </c:cat>
          <c:val>
            <c:numRef>
              <c:f>정리본!$V$75:$V$77</c:f>
              <c:numCache>
                <c:formatCode>_(* #,##0_);_(* \(#,##0\);_(* "-"_);_(@_)</c:formatCode>
                <c:ptCount val="3"/>
                <c:pt idx="0">
                  <c:v>2235</c:v>
                </c:pt>
                <c:pt idx="1">
                  <c:v>732</c:v>
                </c:pt>
                <c:pt idx="2">
                  <c:v>2967</c:v>
                </c:pt>
              </c:numCache>
            </c:numRef>
          </c:val>
        </c:ser>
        <c:ser>
          <c:idx val="2"/>
          <c:order val="2"/>
          <c:tx>
            <c:strRef>
              <c:f>정리본!$W$74</c:f>
              <c:strCache>
                <c:ptCount val="1"/>
                <c:pt idx="0">
                  <c:v>VGT 허수포함 인원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정리본!$T$75:$T$77</c:f>
              <c:strCache>
                <c:ptCount val="3"/>
                <c:pt idx="0">
                  <c:v>4월</c:v>
                </c:pt>
                <c:pt idx="1">
                  <c:v>6월</c:v>
                </c:pt>
                <c:pt idx="2">
                  <c:v>전체</c:v>
                </c:pt>
              </c:strCache>
            </c:strRef>
          </c:cat>
          <c:val>
            <c:numRef>
              <c:f>정리본!$W$75:$W$77</c:f>
              <c:numCache>
                <c:formatCode>_(* #,##0_);_(* \(#,##0\);_(* "-"_);_(@_)</c:formatCode>
                <c:ptCount val="3"/>
                <c:pt idx="0">
                  <c:v>1681</c:v>
                </c:pt>
                <c:pt idx="1">
                  <c:v>373</c:v>
                </c:pt>
                <c:pt idx="2">
                  <c:v>2054</c:v>
                </c:pt>
              </c:numCache>
            </c:numRef>
          </c:val>
        </c:ser>
        <c:ser>
          <c:idx val="3"/>
          <c:order val="3"/>
          <c:tx>
            <c:strRef>
              <c:f>정리본!$X$74</c:f>
              <c:strCache>
                <c:ptCount val="1"/>
                <c:pt idx="0">
                  <c:v>노랑풍선 허수포함 인원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정리본!$T$75:$T$77</c:f>
              <c:strCache>
                <c:ptCount val="3"/>
                <c:pt idx="0">
                  <c:v>4월</c:v>
                </c:pt>
                <c:pt idx="1">
                  <c:v>6월</c:v>
                </c:pt>
                <c:pt idx="2">
                  <c:v>전체</c:v>
                </c:pt>
              </c:strCache>
            </c:strRef>
          </c:cat>
          <c:val>
            <c:numRef>
              <c:f>정리본!$X$75:$X$77</c:f>
              <c:numCache>
                <c:formatCode>_(* #,##0_);_(* \(#,##0\);_(* "-"_);_(@_)</c:formatCode>
                <c:ptCount val="3"/>
                <c:pt idx="0">
                  <c:v>4579</c:v>
                </c:pt>
                <c:pt idx="1">
                  <c:v>927</c:v>
                </c:pt>
                <c:pt idx="2">
                  <c:v>5506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4517616"/>
        <c:axId val="734522656"/>
      </c:barChart>
      <c:catAx>
        <c:axId val="734517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4522656"/>
        <c:crosses val="autoZero"/>
        <c:auto val="1"/>
        <c:lblAlgn val="ctr"/>
        <c:lblOffset val="100"/>
        <c:noMultiLvlLbl val="0"/>
      </c:catAx>
      <c:valAx>
        <c:axId val="73452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4517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0.45007</cdr:x>
      <cdr:y>0.03442</cdr:y>
    </cdr:from>
    <cdr:to>
      <cdr:x>0.65597</cdr:x>
      <cdr:y>0.13031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722056" y="82851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(673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0.21841</cdr:x>
      <cdr:y>0.86764</cdr:y>
    </cdr:from>
    <cdr:to>
      <cdr:x>0.4243</cdr:x>
      <cdr:y>0.96354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835661" y="2088587"/>
          <a:ext cx="787769" cy="23085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(9,463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0.51829</cdr:x>
      <cdr:y>0.78583</cdr:y>
    </cdr:from>
    <cdr:to>
      <cdr:x>0.7237</cdr:x>
      <cdr:y>0.91837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987856" y="1368536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(527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0.12349</cdr:x>
      <cdr:y>0.17535</cdr:y>
    </cdr:from>
    <cdr:to>
      <cdr:x>0.32889</cdr:x>
      <cdr:y>0.3079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473625" y="305374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(140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0.3973</cdr:x>
      <cdr:y>0.01776</cdr:y>
    </cdr:from>
    <cdr:to>
      <cdr:x>0.6027</cdr:x>
      <cdr:y>0.1503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1523793" y="30923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</a:t>
          </a:r>
          <a:r>
            <a:rPr lang="en-US" altLang="ko-KR" sz="900" dirty="0">
              <a:latin typeface="+mj-lt"/>
            </a:rPr>
            <a:t>6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0.4585</cdr:x>
      <cdr:y>0.78444</cdr:y>
    </cdr:from>
    <cdr:to>
      <cdr:x>0.66415</cdr:x>
      <cdr:y>0.91904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756511" y="1345366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(1,962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0.43753</cdr:x>
      <cdr:y>0.00812</cdr:y>
    </cdr:from>
    <cdr:to>
      <cdr:x>0.64317</cdr:x>
      <cdr:y>0.14271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1676159" y="13922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(30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0.09899</cdr:x>
      <cdr:y>0.02763</cdr:y>
    </cdr:from>
    <cdr:to>
      <cdr:x>0.30463</cdr:x>
      <cdr:y>0.16222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379227" y="47391"/>
          <a:ext cx="787807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(22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0.1888</cdr:x>
      <cdr:y>0.85819</cdr:y>
    </cdr:from>
    <cdr:to>
      <cdr:x>0.39541</cdr:x>
      <cdr:y>0.96153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719861" y="1916891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(1,904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2019-04-05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2019-04-05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1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560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0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2019-04-05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2019-04-05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2019-04-05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0" y="6584950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5AF6-6FE2-48DD-99FF-C1C068A84852}" type="datetimeFigureOut">
              <a:rPr lang="ko-KR" altLang="en-US" smtClean="0"/>
              <a:t>2019-04-05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EE55-A442-4036-8769-465FA5838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073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2019-04-05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smtClean="0"/>
              <a:t> </a:t>
            </a:r>
            <a:r>
              <a:rPr lang="en-US" altLang="ko-KR" smtClean="0">
                <a:ea typeface="Tahoma" panose="020B0604030504040204" pitchFamily="34" charset="0"/>
              </a:rPr>
              <a:t>/ 12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79" y="4817927"/>
            <a:ext cx="3159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2019.04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  <a:endParaRPr lang="en-US" altLang="ko-KR" sz="1200" dirty="0" smtClean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여승은</a:t>
            </a:r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사원</a:t>
            </a:r>
            <a:endParaRPr lang="ko-KR" altLang="en-US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50" y="2736642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VGT &amp; </a:t>
            </a:r>
            <a:r>
              <a:rPr lang="ko-KR" altLang="en-US" sz="3000" b="1" dirty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노랑풍선 상품비교 </a:t>
            </a:r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분석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50" y="3546452"/>
            <a:ext cx="676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태국 상품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9134" y="642817"/>
            <a:ext cx="1845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        차 </a:t>
            </a:r>
            <a:endParaRPr lang="en-US" altLang="ko-KR" sz="28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96279" y="1604402"/>
            <a:ext cx="29776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b="1" dirty="0" smtClean="0">
                <a:latin typeface="+mn-ea"/>
              </a:rPr>
              <a:t>Intro </a:t>
            </a: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요약</a:t>
            </a: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비교분석</a:t>
            </a:r>
            <a:endParaRPr lang="en-US" altLang="ko-KR" sz="1600" b="1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가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지역별 마스터 및 행사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나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출발확정상품</a:t>
            </a:r>
            <a:r>
              <a:rPr lang="en-US" altLang="ko-KR" sz="1400" dirty="0" smtClean="0">
                <a:latin typeface="+mn-ea"/>
              </a:rPr>
              <a:t> </a:t>
            </a: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다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등급별 행사 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라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지역 및 등급별 행사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마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항공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바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평균 상품가격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사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지역 및 등급별 상품가격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아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월별 예약인원</a:t>
            </a:r>
            <a:endParaRPr lang="en-US" altLang="ko-KR" sz="14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447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62037" y="1900842"/>
            <a:ext cx="7619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>
                <a:latin typeface="+mn-ea"/>
              </a:rPr>
              <a:t>분석목적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ko-KR" altLang="en-US" sz="1600" dirty="0" err="1" smtClean="0">
                <a:latin typeface="+mn-ea"/>
              </a:rPr>
              <a:t>참좋은여행과</a:t>
            </a:r>
            <a:r>
              <a:rPr lang="ko-KR" altLang="en-US" sz="1600" dirty="0" smtClean="0">
                <a:latin typeface="+mn-ea"/>
              </a:rPr>
              <a:t> 노랑풍선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상품 비교 및 자사의 전략적 </a:t>
            </a:r>
            <a:r>
              <a:rPr lang="ko-KR" altLang="en-US" sz="1600" dirty="0" err="1" smtClean="0">
                <a:latin typeface="+mn-ea"/>
              </a:rPr>
              <a:t>포지셔닝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2. </a:t>
            </a:r>
            <a:r>
              <a:rPr lang="ko-KR" altLang="en-US" b="1" dirty="0" smtClean="0">
                <a:latin typeface="+mn-ea"/>
              </a:rPr>
              <a:t>분석범위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en-US" altLang="ko-KR" sz="1600" b="1" dirty="0" smtClean="0">
                <a:latin typeface="+mn-ea"/>
              </a:rPr>
              <a:t>2019</a:t>
            </a:r>
            <a:r>
              <a:rPr lang="ko-KR" altLang="en-US" sz="1600" b="1" dirty="0" smtClean="0">
                <a:latin typeface="+mn-ea"/>
              </a:rPr>
              <a:t>년 </a:t>
            </a:r>
            <a:r>
              <a:rPr lang="en-US" altLang="ko-KR" sz="1600" b="1" dirty="0" smtClean="0">
                <a:latin typeface="+mn-ea"/>
              </a:rPr>
              <a:t>4,6</a:t>
            </a:r>
            <a:r>
              <a:rPr lang="ko-KR" altLang="en-US" sz="1600" b="1" dirty="0" smtClean="0">
                <a:latin typeface="+mn-ea"/>
              </a:rPr>
              <a:t>월 태국 패키지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지방출발 상품 제외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3. </a:t>
            </a:r>
            <a:r>
              <a:rPr lang="ko-KR" altLang="en-US" b="1" dirty="0" smtClean="0">
                <a:latin typeface="+mn-ea"/>
              </a:rPr>
              <a:t>분석방법</a:t>
            </a:r>
            <a:r>
              <a:rPr lang="en-US" altLang="ko-KR" sz="1600" b="1" dirty="0">
                <a:latin typeface="+mn-ea"/>
              </a:rPr>
              <a:t/>
            </a:r>
            <a:br>
              <a:rPr lang="en-US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     : VGT </a:t>
            </a:r>
            <a:r>
              <a:rPr lang="ko-KR" altLang="en-US" sz="1600" b="1" dirty="0">
                <a:latin typeface="+mn-ea"/>
              </a:rPr>
              <a:t>약 </a:t>
            </a:r>
            <a:r>
              <a:rPr lang="en-US" altLang="ko-KR" sz="1600" b="1" dirty="0" smtClean="0">
                <a:latin typeface="+mn-ea"/>
              </a:rPr>
              <a:t>10,136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노랑풍선 약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15,209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ko-KR" altLang="en-US" sz="1600" dirty="0" smtClean="0">
                <a:latin typeface="+mn-ea"/>
              </a:rPr>
              <a:t>의 </a:t>
            </a:r>
            <a:r>
              <a:rPr lang="ko-KR" altLang="en-US" sz="1600" dirty="0">
                <a:latin typeface="+mn-ea"/>
              </a:rPr>
              <a:t>행사 상품 데이터 </a:t>
            </a:r>
            <a:r>
              <a:rPr lang="ko-KR" altLang="en-US" sz="1600" dirty="0" smtClean="0">
                <a:latin typeface="+mn-ea"/>
              </a:rPr>
              <a:t>분석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Intro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+mj-lt"/>
              </a:rPr>
              <a:t>3</a:t>
            </a:r>
            <a:r>
              <a:rPr lang="ko-KR" altLang="en-US" sz="80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ko-KR" sz="80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/ 12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95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313009"/>
              </p:ext>
            </p:extLst>
          </p:nvPr>
        </p:nvGraphicFramePr>
        <p:xfrm>
          <a:off x="610428" y="1362155"/>
          <a:ext cx="7923144" cy="43524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786"/>
                <a:gridCol w="1980786"/>
                <a:gridCol w="1980786"/>
                <a:gridCol w="1980786"/>
              </a:tblGrid>
              <a:tr h="6507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참좋은여행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 </a:t>
                      </a:r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마스터상품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81%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78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행사상품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10,136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15,209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686,537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616,468</a:t>
                      </a:r>
                      <a:endParaRPr lang="ko-KR" altLang="en-US" sz="12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111%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수</a:t>
                      </a:r>
                      <a:endParaRPr lang="en-US" altLang="ko-KR" sz="1200" b="1" u="none" strike="noStrike" dirty="0" smtClean="0"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673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2,014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33%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비율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전체상품 </a:t>
                      </a:r>
                      <a:r>
                        <a:rPr lang="ko-KR" altLang="en-US" sz="1200" b="1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실예약인원</a:t>
                      </a:r>
                      <a:endParaRPr lang="en-US" altLang="ko-KR" sz="1200" b="1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1,209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2,967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전체상품 예약인원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허수포함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2,054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5,506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92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예약인원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허수포함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1,183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1,357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923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출발확정상품수당</a:t>
                      </a:r>
                      <a:endParaRPr lang="en-US" altLang="ko-KR" sz="1200" b="1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예약인원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1.8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0.7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200" b="0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257%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Ⅱ. </a:t>
            </a:r>
            <a:r>
              <a:rPr lang="ko-KR" altLang="en-US" dirty="0"/>
              <a:t>요약</a:t>
            </a:r>
            <a:endParaRPr lang="en-US" altLang="ko-KR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+mn-ea"/>
              </a:rPr>
              <a:t>4</a:t>
            </a:r>
            <a:r>
              <a:rPr lang="ko-KR" altLang="en-US" sz="80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/ 12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4925" y="5828790"/>
            <a:ext cx="6506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dirty="0">
                <a:latin typeface="+mj-lt"/>
              </a:rPr>
              <a:t>대비 </a:t>
            </a:r>
            <a:r>
              <a:rPr lang="ko-KR" altLang="en-US" sz="1400" b="1" dirty="0">
                <a:solidFill>
                  <a:srgbClr val="C00000"/>
                </a:solidFill>
                <a:latin typeface="+mj-lt"/>
              </a:rPr>
              <a:t>출발확정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행사비율이 낮지만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,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평균예약인원은 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2.5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배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높음</a:t>
            </a:r>
            <a:endParaRPr lang="en-US" altLang="ko-KR" sz="1400" b="1" dirty="0" smtClean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77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69" y="1219512"/>
            <a:ext cx="231828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60958" y="1215949"/>
            <a:ext cx="22912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마스터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898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지역별 마스터 및 행사</a:t>
            </a:r>
            <a:r>
              <a:rPr lang="en-US" altLang="ko-KR" sz="2000" b="1" dirty="0" smtClean="0"/>
              <a:t>)</a:t>
            </a:r>
            <a:endParaRPr lang="ko-KR" altLang="en-US" b="1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33978" y="1219511"/>
            <a:ext cx="409145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3979" y="1225195"/>
            <a:ext cx="22035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433977" y="1208041"/>
            <a:ext cx="22035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행사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9467" y="4728726"/>
            <a:ext cx="74359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마스터 </a:t>
            </a:r>
            <a:r>
              <a:rPr lang="ko-KR" altLang="en-US" sz="1300" dirty="0">
                <a:latin typeface="+mj-lt"/>
              </a:rPr>
              <a:t>당 행사 상품 수 </a:t>
            </a:r>
            <a:r>
              <a:rPr lang="en-US" altLang="ko-KR" sz="1300" dirty="0">
                <a:latin typeface="+mj-lt"/>
              </a:rPr>
              <a:t>: VGT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169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206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방콕</a:t>
            </a:r>
            <a:r>
              <a:rPr lang="en-US" altLang="ko-KR" sz="1300" dirty="0" smtClean="0">
                <a:latin typeface="+mj-lt"/>
              </a:rPr>
              <a:t>/</a:t>
            </a:r>
            <a:r>
              <a:rPr lang="ko-KR" altLang="en-US" sz="1300" dirty="0" err="1" smtClean="0">
                <a:latin typeface="+mj-lt"/>
              </a:rPr>
              <a:t>파타야</a:t>
            </a:r>
            <a:r>
              <a:rPr lang="ko-KR" altLang="en-US" sz="1300" dirty="0" smtClean="0">
                <a:latin typeface="+mj-lt"/>
              </a:rPr>
              <a:t> </a:t>
            </a:r>
            <a:r>
              <a:rPr lang="en-US" altLang="ko-KR" sz="1300" dirty="0" smtClean="0">
                <a:latin typeface="+mj-lt"/>
              </a:rPr>
              <a:t>: </a:t>
            </a:r>
            <a:r>
              <a:rPr lang="ko-KR" altLang="en-US" sz="1300" b="1" dirty="0" smtClean="0">
                <a:latin typeface="+mj-lt"/>
              </a:rPr>
              <a:t>양사 주력 판매 지역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자사 대비 노랑풍선의 마스터 및 행사개수 </a:t>
            </a:r>
            <a:r>
              <a:rPr lang="ko-KR" altLang="en-US" sz="1300" b="1" dirty="0" smtClean="0">
                <a:latin typeface="+mj-lt"/>
              </a:rPr>
              <a:t>약 </a:t>
            </a:r>
            <a:r>
              <a:rPr lang="en-US" altLang="ko-KR" sz="1300" b="1" dirty="0" smtClean="0">
                <a:latin typeface="+mj-lt"/>
              </a:rPr>
              <a:t>1.5</a:t>
            </a:r>
            <a:r>
              <a:rPr lang="ko-KR" altLang="en-US" sz="1300" b="1" dirty="0" smtClean="0">
                <a:latin typeface="+mj-lt"/>
              </a:rPr>
              <a:t>배 높음</a:t>
            </a:r>
            <a:endParaRPr lang="en-US" altLang="ko-KR" sz="13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300" dirty="0" smtClean="0">
              <a:latin typeface="+mj-lt"/>
            </a:endParaRPr>
          </a:p>
        </p:txBody>
      </p:sp>
      <p:sp>
        <p:nvSpPr>
          <p:cNvPr id="2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smtClean="0">
                <a:latin typeface="+mn-ea"/>
                <a:ea typeface="+mn-ea"/>
              </a:rPr>
              <a:t>5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en-US" altLang="ko-KR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8498036"/>
              </p:ext>
            </p:extLst>
          </p:nvPr>
        </p:nvGraphicFramePr>
        <p:xfrm>
          <a:off x="424738" y="1492948"/>
          <a:ext cx="3851427" cy="2371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9638461"/>
              </p:ext>
            </p:extLst>
          </p:nvPr>
        </p:nvGraphicFramePr>
        <p:xfrm>
          <a:off x="4433977" y="1544613"/>
          <a:ext cx="4091458" cy="2320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03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70" y="1058145"/>
            <a:ext cx="237226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043028"/>
            <a:ext cx="23722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059123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058145"/>
            <a:ext cx="3835395" cy="20346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58145"/>
            <a:ext cx="3830961" cy="203409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80" y="1063828"/>
            <a:ext cx="258358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출발확정상품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40181" y="1043027"/>
            <a:ext cx="2763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2367819" y="5311076"/>
            <a:ext cx="503561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노랑풍선 대비 </a:t>
            </a:r>
            <a:r>
              <a:rPr lang="ko-KR" altLang="en-US" sz="1400" b="1" dirty="0" smtClean="0">
                <a:latin typeface="+mj-lt"/>
                <a:ea typeface="+mn-ea"/>
              </a:rPr>
              <a:t>출발확정 상품 낮은 비율</a:t>
            </a:r>
            <a:endParaRPr lang="en-US" altLang="ko-KR" sz="1400" b="1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  <a:ea typeface="+mn-ea"/>
              </a:rPr>
              <a:t>VGT : </a:t>
            </a:r>
            <a:r>
              <a:rPr lang="ko-KR" altLang="en-US" sz="1400" b="1" dirty="0" smtClean="0">
                <a:latin typeface="+mj-lt"/>
                <a:ea typeface="+mn-ea"/>
              </a:rPr>
              <a:t>방콕</a:t>
            </a:r>
            <a:r>
              <a:rPr lang="en-US" altLang="ko-KR" sz="1400" b="1" dirty="0" smtClean="0">
                <a:latin typeface="+mj-lt"/>
                <a:ea typeface="+mn-ea"/>
              </a:rPr>
              <a:t>/</a:t>
            </a:r>
            <a:r>
              <a:rPr lang="ko-KR" altLang="en-US" sz="1400" b="1" dirty="0" err="1" smtClean="0">
                <a:latin typeface="+mj-lt"/>
                <a:ea typeface="+mn-ea"/>
              </a:rPr>
              <a:t>파타야</a:t>
            </a:r>
            <a:r>
              <a:rPr lang="ko-KR" altLang="en-US" sz="1400" b="1" dirty="0" smtClean="0">
                <a:latin typeface="+mj-lt"/>
                <a:ea typeface="+mn-ea"/>
              </a:rPr>
              <a:t> </a:t>
            </a:r>
            <a:r>
              <a:rPr lang="en-US" altLang="ko-KR" sz="1400" b="1" dirty="0" smtClean="0">
                <a:latin typeface="+mj-lt"/>
                <a:ea typeface="+mn-ea"/>
              </a:rPr>
              <a:t>&gt; </a:t>
            </a:r>
            <a:r>
              <a:rPr lang="ko-KR" altLang="en-US" sz="1400" b="1" dirty="0" err="1" smtClean="0">
                <a:latin typeface="+mj-lt"/>
                <a:ea typeface="+mn-ea"/>
              </a:rPr>
              <a:t>푸켓</a:t>
            </a:r>
            <a:r>
              <a:rPr lang="en-US" altLang="ko-KR" sz="1400" b="1" dirty="0" smtClean="0">
                <a:latin typeface="+mj-lt"/>
                <a:ea typeface="+mn-ea"/>
              </a:rPr>
              <a:t>/</a:t>
            </a:r>
            <a:r>
              <a:rPr lang="ko-KR" altLang="en-US" sz="1400" b="1" dirty="0" err="1" smtClean="0">
                <a:latin typeface="+mj-lt"/>
                <a:ea typeface="+mn-ea"/>
              </a:rPr>
              <a:t>카오락</a:t>
            </a:r>
            <a:r>
              <a:rPr lang="en-US" altLang="ko-KR" sz="1400" b="1" dirty="0">
                <a:latin typeface="+mj-lt"/>
                <a:ea typeface="+mn-ea"/>
              </a:rPr>
              <a:t> </a:t>
            </a:r>
            <a:r>
              <a:rPr lang="en-US" altLang="ko-KR" sz="1400" b="1" dirty="0" smtClean="0">
                <a:latin typeface="+mj-lt"/>
                <a:ea typeface="+mn-ea"/>
              </a:rPr>
              <a:t>&gt; </a:t>
            </a:r>
            <a:r>
              <a:rPr lang="ko-KR" altLang="en-US" sz="1400" b="1" dirty="0" err="1" smtClean="0">
                <a:latin typeface="+mj-lt"/>
                <a:ea typeface="+mn-ea"/>
              </a:rPr>
              <a:t>치앙마이</a:t>
            </a:r>
            <a:endParaRPr lang="en-US" altLang="ko-KR" sz="1400" b="1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노랑풍선 </a:t>
            </a:r>
            <a:r>
              <a:rPr lang="en-US" altLang="ko-KR" sz="1400" dirty="0" smtClean="0">
                <a:latin typeface="+mj-lt"/>
                <a:ea typeface="+mn-ea"/>
              </a:rPr>
              <a:t>: </a:t>
            </a:r>
            <a:r>
              <a:rPr lang="ko-KR" altLang="en-US" sz="1400" b="1" dirty="0" smtClean="0">
                <a:latin typeface="+mj-lt"/>
                <a:ea typeface="+mn-ea"/>
              </a:rPr>
              <a:t>방콕</a:t>
            </a:r>
            <a:r>
              <a:rPr lang="en-US" altLang="ko-KR" sz="1400" b="1" dirty="0" smtClean="0">
                <a:latin typeface="+mj-lt"/>
                <a:ea typeface="+mn-ea"/>
              </a:rPr>
              <a:t>/</a:t>
            </a:r>
            <a:r>
              <a:rPr lang="ko-KR" altLang="en-US" sz="1400" b="1" dirty="0" err="1" smtClean="0">
                <a:latin typeface="+mj-lt"/>
                <a:ea typeface="+mn-ea"/>
              </a:rPr>
              <a:t>파타야</a:t>
            </a:r>
            <a:r>
              <a:rPr lang="en-US" altLang="ko-KR" sz="1400" b="1" dirty="0" smtClean="0">
                <a:latin typeface="+mj-lt"/>
                <a:ea typeface="+mn-ea"/>
              </a:rPr>
              <a:t>&gt; </a:t>
            </a:r>
            <a:r>
              <a:rPr lang="ko-KR" altLang="en-US" sz="1400" b="1" dirty="0" err="1" smtClean="0">
                <a:latin typeface="+mj-lt"/>
                <a:ea typeface="+mn-ea"/>
              </a:rPr>
              <a:t>치앙마이</a:t>
            </a:r>
            <a:r>
              <a:rPr lang="ko-KR" altLang="en-US" sz="1400" b="1" dirty="0" smtClean="0">
                <a:latin typeface="+mj-lt"/>
                <a:ea typeface="+mn-ea"/>
              </a:rPr>
              <a:t> </a:t>
            </a:r>
            <a:r>
              <a:rPr lang="en-US" altLang="ko-KR" sz="1400" b="1" dirty="0" smtClean="0">
                <a:latin typeface="+mj-lt"/>
                <a:ea typeface="+mn-ea"/>
              </a:rPr>
              <a:t>&gt; </a:t>
            </a:r>
            <a:r>
              <a:rPr lang="ko-KR" altLang="en-US" sz="1400" b="1" dirty="0" err="1" smtClean="0">
                <a:latin typeface="+mj-lt"/>
                <a:ea typeface="+mn-ea"/>
              </a:rPr>
              <a:t>푸켓</a:t>
            </a:r>
            <a:r>
              <a:rPr lang="en-US" altLang="ko-KR" sz="1400" b="1" dirty="0" smtClean="0">
                <a:latin typeface="+mj-lt"/>
                <a:ea typeface="+mn-ea"/>
              </a:rPr>
              <a:t>/</a:t>
            </a:r>
            <a:r>
              <a:rPr lang="ko-KR" altLang="en-US" sz="1400" b="1" dirty="0" err="1" smtClean="0">
                <a:latin typeface="+mj-lt"/>
                <a:ea typeface="+mn-ea"/>
              </a:rPr>
              <a:t>카오락</a:t>
            </a:r>
            <a:endParaRPr lang="en-US" altLang="ko-KR" sz="1400" b="1" dirty="0" smtClean="0">
              <a:latin typeface="+mj-lt"/>
              <a:ea typeface="+mn-ea"/>
            </a:endParaRPr>
          </a:p>
        </p:txBody>
      </p:sp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975191"/>
              </p:ext>
            </p:extLst>
          </p:nvPr>
        </p:nvGraphicFramePr>
        <p:xfrm>
          <a:off x="433970" y="1328020"/>
          <a:ext cx="3826163" cy="1755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30046"/>
              </p:ext>
            </p:extLst>
          </p:nvPr>
        </p:nvGraphicFramePr>
        <p:xfrm>
          <a:off x="4640178" y="1358319"/>
          <a:ext cx="3830962" cy="1629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7"/>
          <p:cNvSpPr txBox="1"/>
          <p:nvPr/>
        </p:nvSpPr>
        <p:spPr>
          <a:xfrm>
            <a:off x="5234013" y="2671348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(13,195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435966" y="145957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(2,014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7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8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smtClean="0">
                <a:latin typeface="+mn-ea"/>
                <a:ea typeface="+mn-ea"/>
              </a:rPr>
              <a:t>6 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9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33969" y="3261863"/>
            <a:ext cx="276643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433969" y="3255711"/>
            <a:ext cx="2839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TextBox 35"/>
          <p:cNvSpPr txBox="1">
            <a:spLocks noChangeArrowheads="1"/>
          </p:cNvSpPr>
          <p:nvPr/>
        </p:nvSpPr>
        <p:spPr bwMode="auto">
          <a:xfrm>
            <a:off x="4900611" y="3262841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424737" y="3261863"/>
            <a:ext cx="3835395" cy="20346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4640178" y="3261863"/>
            <a:ext cx="3830961" cy="203409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640178" y="3267546"/>
            <a:ext cx="305153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640180" y="3273640"/>
            <a:ext cx="3051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44" name="차트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4353047"/>
              </p:ext>
            </p:extLst>
          </p:nvPr>
        </p:nvGraphicFramePr>
        <p:xfrm>
          <a:off x="424737" y="3554437"/>
          <a:ext cx="3835395" cy="1741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5" name="차트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024086"/>
              </p:ext>
            </p:extLst>
          </p:nvPr>
        </p:nvGraphicFramePr>
        <p:xfrm>
          <a:off x="4640178" y="3573295"/>
          <a:ext cx="3830961" cy="1715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916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69" y="1039957"/>
            <a:ext cx="283825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8" y="1028487"/>
            <a:ext cx="32446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1" y="1040935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7" y="1039957"/>
            <a:ext cx="3936430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39957"/>
            <a:ext cx="3753322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78" y="1045640"/>
            <a:ext cx="312325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640177" y="1036394"/>
            <a:ext cx="34255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전체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등급별 행사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1627" y="5295101"/>
            <a:ext cx="51809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VGT, </a:t>
            </a:r>
            <a:r>
              <a:rPr lang="ko-KR" altLang="en-US" sz="1400" dirty="0" smtClean="0">
                <a:latin typeface="+mj-lt"/>
              </a:rPr>
              <a:t>노랑풍선 모두 일반 상품의 비율이 높음</a:t>
            </a:r>
            <a:endParaRPr lang="en-US" altLang="ko-KR" sz="14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노랑풍선의 경우 </a:t>
            </a:r>
            <a:r>
              <a:rPr lang="ko-KR" altLang="en-US" sz="1400" b="1" dirty="0" smtClean="0">
                <a:latin typeface="+mj-lt"/>
              </a:rPr>
              <a:t>일반</a:t>
            </a:r>
            <a:r>
              <a:rPr lang="en-US" altLang="ko-KR" sz="1400" b="1" dirty="0" smtClean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프리미엄만 운영</a:t>
            </a:r>
            <a:endParaRPr lang="en-US" altLang="ko-KR" sz="14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 </a:t>
            </a:r>
            <a:r>
              <a:rPr lang="ko-KR" altLang="en-US" sz="1400" dirty="0" err="1" smtClean="0">
                <a:latin typeface="+mj-lt"/>
              </a:rPr>
              <a:t>라르고</a:t>
            </a:r>
            <a:r>
              <a:rPr lang="en-US" altLang="ko-KR" sz="1400" dirty="0" smtClean="0">
                <a:latin typeface="+mj-lt"/>
              </a:rPr>
              <a:t>+ </a:t>
            </a:r>
            <a:r>
              <a:rPr lang="en-US" altLang="ko-KR" sz="1400" b="1" dirty="0" smtClean="0">
                <a:latin typeface="+mj-lt"/>
              </a:rPr>
              <a:t>:  </a:t>
            </a:r>
            <a:r>
              <a:rPr lang="ko-KR" altLang="en-US" sz="1400" b="1" dirty="0" smtClean="0">
                <a:latin typeface="+mj-lt"/>
              </a:rPr>
              <a:t>출발확정상품 실질적으로 거의 없음</a:t>
            </a:r>
            <a:endParaRPr lang="en-US" altLang="ko-KR" sz="14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400" dirty="0" smtClean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5906" y="5241785"/>
            <a:ext cx="3398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프리미엄 </a:t>
            </a:r>
            <a:r>
              <a:rPr lang="en-US" altLang="ko-KR" sz="900" dirty="0"/>
              <a:t>: </a:t>
            </a:r>
            <a:r>
              <a:rPr lang="ko-KR" altLang="en-US" sz="900" dirty="0" smtClean="0"/>
              <a:t>항공</a:t>
            </a:r>
            <a:r>
              <a:rPr lang="en-US" altLang="ko-KR" sz="900" dirty="0"/>
              <a:t>, </a:t>
            </a:r>
            <a:r>
              <a:rPr lang="ko-KR" altLang="en-US" sz="900" dirty="0"/>
              <a:t>숙박</a:t>
            </a:r>
            <a:r>
              <a:rPr lang="en-US" altLang="ko-KR" sz="900" dirty="0"/>
              <a:t>, </a:t>
            </a:r>
            <a:r>
              <a:rPr lang="ko-KR" altLang="en-US" sz="900" dirty="0"/>
              <a:t>일정 </a:t>
            </a:r>
            <a:r>
              <a:rPr lang="ko-KR" altLang="en-US" sz="900" dirty="0" smtClean="0"/>
              <a:t>등을 최상위로 </a:t>
            </a:r>
            <a:r>
              <a:rPr lang="ko-KR" altLang="en-US" sz="900" dirty="0"/>
              <a:t>업그레이드한 </a:t>
            </a:r>
            <a:r>
              <a:rPr lang="ko-KR" altLang="en-US" sz="900" dirty="0" smtClean="0"/>
              <a:t>상품</a:t>
            </a:r>
            <a:endParaRPr lang="en-US" altLang="ko-KR" sz="900" dirty="0" smtClean="0"/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43199" y="3213076"/>
            <a:ext cx="257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433968" y="3224546"/>
            <a:ext cx="3936430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33968" y="3236016"/>
            <a:ext cx="393643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TextBox 35"/>
          <p:cNvSpPr txBox="1">
            <a:spLocks noChangeArrowheads="1"/>
          </p:cNvSpPr>
          <p:nvPr/>
        </p:nvSpPr>
        <p:spPr bwMode="auto">
          <a:xfrm>
            <a:off x="433967" y="3224546"/>
            <a:ext cx="36557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909843" y="3220266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649411" y="3219288"/>
            <a:ext cx="3753322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649409" y="3224971"/>
            <a:ext cx="37533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35"/>
          <p:cNvSpPr txBox="1">
            <a:spLocks noChangeArrowheads="1"/>
          </p:cNvSpPr>
          <p:nvPr/>
        </p:nvSpPr>
        <p:spPr bwMode="auto">
          <a:xfrm>
            <a:off x="4649410" y="3207817"/>
            <a:ext cx="34162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출발확정상품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8" name="차트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4018256"/>
              </p:ext>
            </p:extLst>
          </p:nvPr>
        </p:nvGraphicFramePr>
        <p:xfrm>
          <a:off x="424737" y="1315515"/>
          <a:ext cx="3936430" cy="1768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395747"/>
              </p:ext>
            </p:extLst>
          </p:nvPr>
        </p:nvGraphicFramePr>
        <p:xfrm>
          <a:off x="4649409" y="1315515"/>
          <a:ext cx="3753323" cy="1768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차트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8448976"/>
              </p:ext>
            </p:extLst>
          </p:nvPr>
        </p:nvGraphicFramePr>
        <p:xfrm>
          <a:off x="453690" y="3484816"/>
          <a:ext cx="3907477" cy="1730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5328516"/>
              </p:ext>
            </p:extLst>
          </p:nvPr>
        </p:nvGraphicFramePr>
        <p:xfrm>
          <a:off x="4649409" y="3512000"/>
          <a:ext cx="3744092" cy="1751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Box 7"/>
          <p:cNvSpPr txBox="1"/>
          <p:nvPr/>
        </p:nvSpPr>
        <p:spPr>
          <a:xfrm>
            <a:off x="2392952" y="2691323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(9,170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3" name="TextBox 7"/>
          <p:cNvSpPr txBox="1"/>
          <p:nvPr/>
        </p:nvSpPr>
        <p:spPr>
          <a:xfrm>
            <a:off x="913546" y="1404755"/>
            <a:ext cx="5946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(456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6" name="TextBox 7"/>
          <p:cNvSpPr txBox="1"/>
          <p:nvPr/>
        </p:nvSpPr>
        <p:spPr>
          <a:xfrm>
            <a:off x="2031521" y="1334966"/>
            <a:ext cx="5946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(510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2261828" y="485765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(639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6615638" y="2627782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(12,257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5155906" y="151067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(2,952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0" name="TextBox 7"/>
          <p:cNvSpPr txBox="1"/>
          <p:nvPr/>
        </p:nvSpPr>
        <p:spPr>
          <a:xfrm>
            <a:off x="985570" y="3538506"/>
            <a:ext cx="5946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1" name="TextBox 7"/>
          <p:cNvSpPr txBox="1"/>
          <p:nvPr/>
        </p:nvSpPr>
        <p:spPr>
          <a:xfrm>
            <a:off x="2586083" y="3526094"/>
            <a:ext cx="5946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2" name="TextBox 7"/>
          <p:cNvSpPr txBox="1"/>
          <p:nvPr/>
        </p:nvSpPr>
        <p:spPr>
          <a:xfrm>
            <a:off x="6512172" y="485765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(1,811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3" name="TextBox 7"/>
          <p:cNvSpPr txBox="1"/>
          <p:nvPr/>
        </p:nvSpPr>
        <p:spPr>
          <a:xfrm>
            <a:off x="5524024" y="3566515"/>
            <a:ext cx="649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(203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5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smtClean="0">
                <a:latin typeface="+mn-ea"/>
                <a:ea typeface="+mn-ea"/>
              </a:rPr>
              <a:t>7 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468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69" y="1039957"/>
            <a:ext cx="294227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7" y="1028487"/>
            <a:ext cx="33203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</a:t>
            </a:r>
            <a:r>
              <a:rPr lang="ko-KR" altLang="en-US" sz="1200" b="1" smtClean="0">
                <a:solidFill>
                  <a:schemeClr val="bg1"/>
                </a:solidFill>
                <a:latin typeface="+mn-ea"/>
                <a:ea typeface="+mn-ea"/>
              </a:rPr>
              <a:t>상품 지역 및 등급별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6" y="1039957"/>
            <a:ext cx="8035051" cy="316276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지역 및 등급별 행사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8700" y="5544334"/>
            <a:ext cx="82726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자사 </a:t>
            </a:r>
            <a:r>
              <a:rPr lang="ko-KR" altLang="en-US" sz="1400" dirty="0" err="1" smtClean="0">
                <a:latin typeface="+mj-lt"/>
              </a:rPr>
              <a:t>라르고</a:t>
            </a:r>
            <a:r>
              <a:rPr lang="ko-KR" altLang="en-US" sz="1400" dirty="0" smtClean="0">
                <a:latin typeface="+mj-lt"/>
              </a:rPr>
              <a:t> 상품의 경우 </a:t>
            </a:r>
            <a:r>
              <a:rPr lang="ko-KR" altLang="en-US" sz="1400" b="1" dirty="0" smtClean="0">
                <a:latin typeface="+mj-lt"/>
              </a:rPr>
              <a:t>방콕</a:t>
            </a:r>
            <a:r>
              <a:rPr lang="en-US" altLang="ko-KR" sz="1400" b="1" dirty="0" smtClean="0">
                <a:latin typeface="+mj-lt"/>
              </a:rPr>
              <a:t>/</a:t>
            </a:r>
            <a:r>
              <a:rPr lang="ko-KR" altLang="en-US" sz="1400" b="1" dirty="0" err="1" smtClean="0">
                <a:latin typeface="+mj-lt"/>
              </a:rPr>
              <a:t>파타야</a:t>
            </a:r>
            <a:r>
              <a:rPr lang="ko-KR" altLang="en-US" sz="1400" b="1" dirty="0" smtClean="0">
                <a:latin typeface="+mj-lt"/>
              </a:rPr>
              <a:t> 지역만 운영</a:t>
            </a:r>
            <a:endParaRPr lang="en-US" altLang="ko-KR" sz="1400" b="1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err="1" smtClean="0">
                <a:latin typeface="+mj-lt"/>
              </a:rPr>
              <a:t>라르고</a:t>
            </a:r>
            <a:r>
              <a:rPr lang="en-US" altLang="ko-KR" sz="1400" dirty="0" smtClean="0">
                <a:latin typeface="+mj-lt"/>
              </a:rPr>
              <a:t>+</a:t>
            </a:r>
            <a:r>
              <a:rPr lang="ko-KR" altLang="en-US" sz="1400" dirty="0" smtClean="0">
                <a:latin typeface="+mj-lt"/>
              </a:rPr>
              <a:t>와 비슷한 속성을 가진 </a:t>
            </a:r>
            <a:r>
              <a:rPr lang="ko-KR" altLang="en-US" sz="1400" b="1" dirty="0" smtClean="0">
                <a:latin typeface="+mj-lt"/>
              </a:rPr>
              <a:t>노랑풍선의 프리미엄 상품의 경우 </a:t>
            </a:r>
            <a:r>
              <a:rPr lang="ko-KR" altLang="en-US" sz="1400" b="1" dirty="0" err="1" smtClean="0">
                <a:latin typeface="+mj-lt"/>
              </a:rPr>
              <a:t>치앙마이</a:t>
            </a:r>
            <a:r>
              <a:rPr lang="ko-KR" altLang="en-US" sz="1400" b="1" dirty="0" smtClean="0">
                <a:latin typeface="+mj-lt"/>
              </a:rPr>
              <a:t> 지역을 운영 </a:t>
            </a:r>
            <a:endParaRPr lang="en-US" altLang="ko-KR" sz="1400" b="1" dirty="0" smtClean="0">
              <a:latin typeface="+mj-lt"/>
            </a:endParaRPr>
          </a:p>
        </p:txBody>
      </p:sp>
      <p:sp>
        <p:nvSpPr>
          <p:cNvPr id="5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5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8</a:t>
            </a:r>
            <a:r>
              <a:rPr lang="en-US" altLang="ko-KR" smtClean="0">
                <a:latin typeface="+mn-ea"/>
                <a:ea typeface="+mn-ea"/>
              </a:rPr>
              <a:t> 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41310"/>
              </p:ext>
            </p:extLst>
          </p:nvPr>
        </p:nvGraphicFramePr>
        <p:xfrm>
          <a:off x="433965" y="4365627"/>
          <a:ext cx="8025822" cy="1096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0777"/>
                <a:gridCol w="1355009"/>
                <a:gridCol w="1355009"/>
                <a:gridCol w="1355009"/>
                <a:gridCol w="1355009"/>
                <a:gridCol w="1355009"/>
              </a:tblGrid>
              <a:tr h="23605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지역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라르고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라르고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+(VGT)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프리미엄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방콕</a:t>
                      </a:r>
                      <a:r>
                        <a:rPr lang="en-US" altLang="ko-KR" sz="1000" b="1" u="none" strike="noStrike" dirty="0"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파타야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6,765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10,126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456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2,058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푸켓</a:t>
                      </a:r>
                      <a:r>
                        <a:rPr lang="en-US" altLang="ko-KR" sz="1000" b="1" u="none" strike="noStrike" dirty="0"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카오락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2,244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1,755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180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치앙마이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376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9,170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12,257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456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2,952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차트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251996"/>
              </p:ext>
            </p:extLst>
          </p:nvPr>
        </p:nvGraphicFramePr>
        <p:xfrm>
          <a:off x="424736" y="1305485"/>
          <a:ext cx="8035052" cy="2897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062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71" y="1219512"/>
            <a:ext cx="209357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212388"/>
            <a:ext cx="2309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7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2400763" y="5721051"/>
            <a:ext cx="419959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n-ea"/>
                <a:ea typeface="+mn-ea"/>
              </a:rPr>
              <a:t>VGT</a:t>
            </a:r>
            <a:r>
              <a:rPr lang="ko-KR" altLang="en-US" sz="1400" dirty="0" smtClean="0">
                <a:latin typeface="+mn-ea"/>
                <a:ea typeface="+mn-ea"/>
              </a:rPr>
              <a:t>의 경우 </a:t>
            </a:r>
            <a:r>
              <a:rPr lang="ko-KR" altLang="en-US" sz="1400" b="1" dirty="0" err="1" smtClean="0">
                <a:latin typeface="+mn-ea"/>
                <a:ea typeface="+mn-ea"/>
              </a:rPr>
              <a:t>국적기를</a:t>
            </a:r>
            <a:r>
              <a:rPr lang="ko-KR" altLang="en-US" sz="1400" b="1" dirty="0" smtClean="0">
                <a:latin typeface="+mn-ea"/>
                <a:ea typeface="+mn-ea"/>
              </a:rPr>
              <a:t> 이용</a:t>
            </a:r>
            <a:r>
              <a:rPr lang="ko-KR" altLang="en-US" sz="1400" dirty="0" smtClean="0">
                <a:latin typeface="+mn-ea"/>
                <a:ea typeface="+mn-ea"/>
              </a:rPr>
              <a:t>하는 비율이 높음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노랑풍선의 경우 </a:t>
            </a:r>
            <a:r>
              <a:rPr lang="en-US" altLang="ko-KR" sz="1400" b="1" dirty="0" smtClean="0">
                <a:latin typeface="+mn-ea"/>
                <a:ea typeface="+mn-ea"/>
              </a:rPr>
              <a:t>LCC</a:t>
            </a:r>
            <a:r>
              <a:rPr lang="ko-KR" altLang="en-US" sz="1400" b="1" dirty="0" smtClean="0">
                <a:latin typeface="+mn-ea"/>
                <a:ea typeface="+mn-ea"/>
              </a:rPr>
              <a:t>를 이용</a:t>
            </a:r>
            <a:r>
              <a:rPr lang="ko-KR" altLang="en-US" sz="1400" dirty="0" smtClean="0">
                <a:latin typeface="+mn-ea"/>
                <a:ea typeface="+mn-ea"/>
              </a:rPr>
              <a:t>하는 비율이 높음</a:t>
            </a:r>
            <a:endParaRPr lang="en-US" altLang="ko-KR" sz="1400" dirty="0" smtClean="0">
              <a:latin typeface="+mn-ea"/>
              <a:ea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 bwMode="auto">
          <a:xfrm>
            <a:off x="4648181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48181" y="1227614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66686" y="1221688"/>
            <a:ext cx="238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853301"/>
              </p:ext>
            </p:extLst>
          </p:nvPr>
        </p:nvGraphicFramePr>
        <p:xfrm>
          <a:off x="457200" y="1518836"/>
          <a:ext cx="3812875" cy="2233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TextBox 7"/>
          <p:cNvSpPr txBox="1"/>
          <p:nvPr/>
        </p:nvSpPr>
        <p:spPr>
          <a:xfrm>
            <a:off x="2838091" y="2386696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(4,829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9" name="TextBox 7"/>
          <p:cNvSpPr txBox="1"/>
          <p:nvPr/>
        </p:nvSpPr>
        <p:spPr>
          <a:xfrm>
            <a:off x="634803" y="2080206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(3,403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graphicFrame>
        <p:nvGraphicFramePr>
          <p:cNvPr id="30" name="차트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4501919"/>
              </p:ext>
            </p:extLst>
          </p:nvPr>
        </p:nvGraphicFramePr>
        <p:xfrm>
          <a:off x="4666686" y="1504613"/>
          <a:ext cx="3866127" cy="2255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Box 7"/>
          <p:cNvSpPr txBox="1"/>
          <p:nvPr/>
        </p:nvSpPr>
        <p:spPr>
          <a:xfrm>
            <a:off x="4812906" y="2290126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(6,695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7113283" y="225516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(6,051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6055920" y="3499377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(2,463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4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9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en-US" altLang="ko-KR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67989"/>
              </p:ext>
            </p:extLst>
          </p:nvPr>
        </p:nvGraphicFramePr>
        <p:xfrm>
          <a:off x="517534" y="3888661"/>
          <a:ext cx="7883189" cy="18193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6315"/>
                <a:gridCol w="1024479"/>
                <a:gridCol w="1024479"/>
                <a:gridCol w="1024479"/>
                <a:gridCol w="1024479"/>
                <a:gridCol w="1024479"/>
                <a:gridCol w="1024479"/>
              </a:tblGrid>
              <a:tr h="25251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방콕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파타야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푸켓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카오락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치앙마이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54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대한항공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1,152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2,122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1,372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1,280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161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327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아시아나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1,255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1,052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1,067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진에어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924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티웨이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682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이스타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970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2,415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제주항공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1,842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351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타이항공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타이에어아시아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1,819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1,578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43714" y="5730899"/>
            <a:ext cx="18027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행사기준 지역별 이용 항공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5729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321830" y="1219512"/>
            <a:ext cx="301392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270641" y="1211224"/>
            <a:ext cx="31534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 상품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788474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12600" y="1219511"/>
            <a:ext cx="4035119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평균 상품가격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653460" y="1226635"/>
            <a:ext cx="329823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644229" y="1234843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644496" y="1217309"/>
            <a:ext cx="34147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출발확정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200654" y="4695767"/>
            <a:ext cx="739991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  <a:ea typeface="+mn-ea"/>
              </a:rPr>
              <a:t>VGT </a:t>
            </a:r>
            <a:r>
              <a:rPr lang="ko-KR" altLang="en-US" sz="1400" dirty="0" smtClean="0">
                <a:latin typeface="+mj-lt"/>
                <a:ea typeface="+mn-ea"/>
              </a:rPr>
              <a:t>평균가격의 경우</a:t>
            </a:r>
            <a:r>
              <a:rPr lang="en-US" altLang="ko-KR" sz="1400" dirty="0">
                <a:latin typeface="+mj-lt"/>
                <a:ea typeface="+mn-ea"/>
              </a:rPr>
              <a:t> </a:t>
            </a:r>
            <a:r>
              <a:rPr lang="ko-KR" altLang="en-US" sz="1400" dirty="0" smtClean="0">
                <a:latin typeface="+mj-lt"/>
                <a:ea typeface="+mn-ea"/>
              </a:rPr>
              <a:t>노랑풍선 대비 출발확정 상품 모두 </a:t>
            </a:r>
            <a:r>
              <a:rPr lang="ko-KR" altLang="en-US" sz="1400" b="1" dirty="0" smtClean="0">
                <a:latin typeface="+mj-lt"/>
                <a:ea typeface="+mn-ea"/>
              </a:rPr>
              <a:t>높은 가격대</a:t>
            </a:r>
            <a:r>
              <a:rPr lang="ko-KR" altLang="en-US" sz="1400" dirty="0" smtClean="0">
                <a:latin typeface="+mj-lt"/>
                <a:ea typeface="+mn-ea"/>
              </a:rPr>
              <a:t> 형성</a:t>
            </a:r>
            <a:r>
              <a:rPr lang="en-US" altLang="ko-KR" sz="1200" dirty="0" smtClean="0">
                <a:latin typeface="+mj-lt"/>
                <a:ea typeface="+mn-ea"/>
              </a:rPr>
              <a:t>(</a:t>
            </a:r>
            <a:r>
              <a:rPr lang="ko-KR" altLang="en-US" sz="1200" dirty="0" err="1" smtClean="0">
                <a:latin typeface="+mj-lt"/>
                <a:ea typeface="+mn-ea"/>
              </a:rPr>
              <a:t>치앙마이</a:t>
            </a:r>
            <a:r>
              <a:rPr lang="ko-KR" altLang="en-US" sz="1200" dirty="0" smtClean="0">
                <a:latin typeface="+mj-lt"/>
                <a:ea typeface="+mn-ea"/>
              </a:rPr>
              <a:t> 제외</a:t>
            </a:r>
            <a:r>
              <a:rPr lang="en-US" altLang="ko-KR" sz="1200" dirty="0" smtClean="0">
                <a:latin typeface="+mj-lt"/>
                <a:ea typeface="+mn-ea"/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  <a:ea typeface="+mn-ea"/>
              </a:rPr>
              <a:t>VGT, </a:t>
            </a:r>
            <a:r>
              <a:rPr lang="ko-KR" altLang="en-US" sz="1400" dirty="0" smtClean="0">
                <a:latin typeface="+mj-lt"/>
                <a:ea typeface="+mn-ea"/>
              </a:rPr>
              <a:t>노랑풍선 모두 고가 상품을 노출시킨 뒤 </a:t>
            </a:r>
            <a:r>
              <a:rPr lang="ko-KR" altLang="en-US" sz="1400" b="1" dirty="0" smtClean="0">
                <a:latin typeface="+mj-lt"/>
                <a:ea typeface="+mn-ea"/>
              </a:rPr>
              <a:t>상대적으로 저가 상품으로 예약 유도</a:t>
            </a:r>
            <a:endParaRPr lang="en-US" altLang="ko-KR" sz="1400" b="1" dirty="0" smtClean="0">
              <a:latin typeface="+mj-lt"/>
              <a:ea typeface="+mn-ea"/>
            </a:endParaRPr>
          </a:p>
        </p:txBody>
      </p:sp>
      <p:sp>
        <p:nvSpPr>
          <p:cNvPr id="2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smtClean="0">
                <a:latin typeface="+mn-ea"/>
                <a:ea typeface="+mn-ea"/>
              </a:rPr>
              <a:t>10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en-US" altLang="ko-KR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18" name="차트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5922397"/>
              </p:ext>
            </p:extLst>
          </p:nvPr>
        </p:nvGraphicFramePr>
        <p:xfrm>
          <a:off x="321831" y="1492948"/>
          <a:ext cx="4025888" cy="2449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586812"/>
              </p:ext>
            </p:extLst>
          </p:nvPr>
        </p:nvGraphicFramePr>
        <p:xfrm>
          <a:off x="4653460" y="1498703"/>
          <a:ext cx="4165463" cy="2443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64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1937" y="1205266"/>
            <a:ext cx="2913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613742" y="1225321"/>
            <a:ext cx="1751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 및 등급별 상품가격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411190" y="1210886"/>
            <a:ext cx="406654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383434" y="1219512"/>
            <a:ext cx="39224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출발확정상품 등급별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11190" y="1219512"/>
            <a:ext cx="4057293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32247" y="1198142"/>
            <a:ext cx="26259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759945" y="1212390"/>
            <a:ext cx="406654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41439" y="1205266"/>
            <a:ext cx="40850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등급별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4769196" y="1205266"/>
            <a:ext cx="4057293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4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471863" y="6666595"/>
            <a:ext cx="2057400" cy="182572"/>
          </a:xfrm>
        </p:spPr>
        <p:txBody>
          <a:bodyPr/>
          <a:lstStyle/>
          <a:p>
            <a:r>
              <a:rPr lang="en-US" altLang="ko-KR" smtClean="0">
                <a:latin typeface="+mn-ea"/>
                <a:ea typeface="+mn-ea"/>
              </a:rPr>
              <a:t>12 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993067"/>
              </p:ext>
            </p:extLst>
          </p:nvPr>
        </p:nvGraphicFramePr>
        <p:xfrm>
          <a:off x="474784" y="1496511"/>
          <a:ext cx="3993699" cy="2431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차트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763085"/>
              </p:ext>
            </p:extLst>
          </p:nvPr>
        </p:nvGraphicFramePr>
        <p:xfrm>
          <a:off x="4741440" y="1482265"/>
          <a:ext cx="4085049" cy="244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Box 21"/>
          <p:cNvSpPr txBox="1">
            <a:spLocks noChangeArrowheads="1"/>
          </p:cNvSpPr>
          <p:nvPr/>
        </p:nvSpPr>
        <p:spPr bwMode="auto">
          <a:xfrm>
            <a:off x="1503244" y="4588990"/>
            <a:ext cx="653190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 방콕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  <a:r>
              <a:rPr lang="ko-KR" altLang="en-US" sz="1400" dirty="0" err="1" smtClean="0">
                <a:latin typeface="+mn-ea"/>
                <a:ea typeface="+mn-ea"/>
              </a:rPr>
              <a:t>파타야</a:t>
            </a:r>
            <a:r>
              <a:rPr lang="ko-KR" altLang="en-US" sz="1400" dirty="0" smtClean="0">
                <a:latin typeface="+mn-ea"/>
                <a:ea typeface="+mn-ea"/>
              </a:rPr>
              <a:t> 지역의 경우 자사 대비 전체적으로 저렴한 가격대 형성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자사 </a:t>
            </a:r>
            <a:r>
              <a:rPr lang="ko-KR" altLang="en-US" sz="1400" dirty="0" err="1" smtClean="0">
                <a:latin typeface="+mn-ea"/>
                <a:ea typeface="+mn-ea"/>
              </a:rPr>
              <a:t>라르고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상품 </a:t>
            </a:r>
            <a:r>
              <a:rPr lang="en-US" altLang="ko-KR" sz="1400" dirty="0" smtClean="0">
                <a:latin typeface="+mn-ea"/>
                <a:ea typeface="+mn-ea"/>
              </a:rPr>
              <a:t>: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방콕</a:t>
            </a:r>
            <a:r>
              <a:rPr lang="en-US" altLang="ko-KR" sz="1400" b="1" dirty="0" smtClean="0">
                <a:latin typeface="+mn-ea"/>
                <a:ea typeface="+mn-ea"/>
              </a:rPr>
              <a:t>/</a:t>
            </a:r>
            <a:r>
              <a:rPr lang="ko-KR" altLang="en-US" sz="1400" b="1" dirty="0" err="1" smtClean="0">
                <a:latin typeface="+mn-ea"/>
                <a:ea typeface="+mn-ea"/>
              </a:rPr>
              <a:t>파타야</a:t>
            </a:r>
            <a:r>
              <a:rPr lang="ko-KR" altLang="en-US" sz="1400" b="1" dirty="0" smtClean="0">
                <a:latin typeface="+mn-ea"/>
                <a:ea typeface="+mn-ea"/>
              </a:rPr>
              <a:t> 지역이 고가상품 집중</a:t>
            </a:r>
            <a:endParaRPr lang="en-US" altLang="ko-KR" sz="1400" b="1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>
                <a:latin typeface="+mn-ea"/>
                <a:ea typeface="+mn-ea"/>
              </a:rPr>
              <a:t> </a:t>
            </a:r>
            <a:r>
              <a:rPr lang="ko-KR" altLang="en-US" sz="1400" dirty="0" smtClean="0">
                <a:latin typeface="+mn-ea"/>
                <a:ea typeface="+mn-ea"/>
              </a:rPr>
              <a:t>노랑풍선 프리미엄 상품 </a:t>
            </a:r>
            <a:r>
              <a:rPr lang="en-US" altLang="ko-KR" sz="1400" dirty="0" smtClean="0">
                <a:latin typeface="+mn-ea"/>
                <a:ea typeface="+mn-ea"/>
              </a:rPr>
              <a:t>: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err="1" smtClean="0">
                <a:latin typeface="+mn-ea"/>
                <a:ea typeface="+mn-ea"/>
              </a:rPr>
              <a:t>치앙마이</a:t>
            </a:r>
            <a:r>
              <a:rPr lang="ko-KR" altLang="en-US" sz="1400" b="1" dirty="0" smtClean="0">
                <a:latin typeface="+mn-ea"/>
                <a:ea typeface="+mn-ea"/>
              </a:rPr>
              <a:t> 지역이 고가상품 집중</a:t>
            </a:r>
            <a:endParaRPr lang="en-US" altLang="ko-KR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46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12</a:t>
            </a:fld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en-US" altLang="ko-KR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52793" y="1190028"/>
            <a:ext cx="386552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52793" y="1186316"/>
            <a:ext cx="38655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월별 예약인원 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050" b="1" dirty="0" err="1">
                <a:solidFill>
                  <a:schemeClr val="accent2"/>
                </a:solidFill>
                <a:latin typeface="+mn-ea"/>
              </a:rPr>
              <a:t>실예약</a:t>
            </a:r>
            <a:r>
              <a:rPr lang="ko-KR" altLang="en-US" sz="105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</a:rPr>
              <a:t>및 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  <a:ea typeface="+mn-ea"/>
              </a:rPr>
              <a:t>허수포함 인원</a:t>
            </a:r>
            <a:endParaRPr lang="ko-KR" altLang="en-US" sz="105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62915" y="1186317"/>
            <a:ext cx="8169898" cy="280400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월별 예약인원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72928" y="3996293"/>
            <a:ext cx="524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출처</a:t>
            </a:r>
            <a:r>
              <a:rPr lang="en-US" altLang="ko-KR" sz="900" dirty="0" smtClean="0"/>
              <a:t> : VGT </a:t>
            </a:r>
            <a:r>
              <a:rPr lang="ko-KR" altLang="en-US" sz="900" dirty="0" err="1" smtClean="0"/>
              <a:t>실예약인원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– </a:t>
            </a:r>
            <a:r>
              <a:rPr lang="ko-KR" altLang="en-US" sz="900" dirty="0" smtClean="0"/>
              <a:t>사내</a:t>
            </a:r>
            <a:r>
              <a:rPr lang="en-US" altLang="ko-KR" sz="900" dirty="0" smtClean="0"/>
              <a:t>D.B(3</a:t>
            </a:r>
            <a:r>
              <a:rPr lang="ko-KR" altLang="en-US" sz="900" dirty="0" smtClean="0"/>
              <a:t>월</a:t>
            </a:r>
            <a:r>
              <a:rPr lang="en-US" altLang="ko-KR" sz="900" dirty="0" smtClean="0"/>
              <a:t>29</a:t>
            </a:r>
            <a:r>
              <a:rPr lang="ko-KR" altLang="en-US" sz="900" dirty="0" smtClean="0"/>
              <a:t>일 기준</a:t>
            </a:r>
            <a:r>
              <a:rPr lang="en-US" altLang="ko-KR" sz="900" dirty="0" smtClean="0"/>
              <a:t>) </a:t>
            </a:r>
            <a:endParaRPr lang="en-US" altLang="ko-KR" sz="900" dirty="0" smtClean="0"/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노랑풍선 </a:t>
            </a:r>
            <a:r>
              <a:rPr lang="ko-KR" altLang="en-US" sz="900" dirty="0" err="1" smtClean="0"/>
              <a:t>실예약인원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기획감사팀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방콕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푸켓</a:t>
            </a:r>
            <a:r>
              <a:rPr lang="ko-KR" altLang="en-US" sz="900" dirty="0" smtClean="0"/>
              <a:t> 노선</a:t>
            </a:r>
            <a:r>
              <a:rPr lang="en-US" altLang="ko-KR" sz="900" dirty="0" smtClean="0"/>
              <a:t>, 19</a:t>
            </a:r>
            <a:r>
              <a:rPr lang="ko-KR" altLang="en-US" sz="900" dirty="0" smtClean="0"/>
              <a:t>년 </a:t>
            </a:r>
            <a:r>
              <a:rPr lang="en-US" altLang="ko-KR" sz="900" dirty="0" smtClean="0"/>
              <a:t>3</a:t>
            </a:r>
            <a:r>
              <a:rPr lang="ko-KR" altLang="en-US" sz="900" dirty="0" smtClean="0"/>
              <a:t>월 </a:t>
            </a:r>
            <a:r>
              <a:rPr lang="en-US" altLang="ko-KR" sz="900" dirty="0" smtClean="0"/>
              <a:t>27</a:t>
            </a:r>
            <a:r>
              <a:rPr lang="ko-KR" altLang="en-US" sz="900" dirty="0" err="1" smtClean="0"/>
              <a:t>일기준</a:t>
            </a:r>
            <a:r>
              <a:rPr lang="en-US" altLang="ko-KR" sz="900" dirty="0" smtClean="0"/>
              <a:t>),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- </a:t>
            </a:r>
            <a:r>
              <a:rPr lang="ko-KR" altLang="en-US" sz="900" dirty="0" err="1" smtClean="0"/>
              <a:t>크롤링데이터</a:t>
            </a:r>
            <a:endParaRPr lang="ko-KR" alt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2028264" y="4947834"/>
            <a:ext cx="5484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>
                <a:latin typeface="+mj-lt"/>
              </a:rPr>
              <a:t>VGT</a:t>
            </a:r>
            <a:r>
              <a:rPr lang="ko-KR" altLang="en-US" sz="1400" b="1" dirty="0">
                <a:latin typeface="+mj-lt"/>
              </a:rPr>
              <a:t>의</a:t>
            </a:r>
            <a:r>
              <a:rPr lang="ko-KR" altLang="en-US" sz="1400" dirty="0">
                <a:latin typeface="+mj-lt"/>
              </a:rPr>
              <a:t> 허수인원은 </a:t>
            </a:r>
            <a:r>
              <a:rPr lang="ko-KR" altLang="en-US" sz="1400" dirty="0" err="1">
                <a:latin typeface="+mj-lt"/>
              </a:rPr>
              <a:t>실예약인원의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+mj-lt"/>
              </a:rPr>
              <a:t>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1.7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노랑풍선은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1.9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배</a:t>
            </a:r>
            <a:endParaRPr lang="en-US" altLang="ko-KR" sz="1400" b="1" dirty="0">
              <a:solidFill>
                <a:srgbClr val="C00000"/>
              </a:solidFill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>
                <a:latin typeface="+mj-lt"/>
              </a:rPr>
              <a:t>실예약인원</a:t>
            </a:r>
            <a:r>
              <a:rPr lang="ko-KR" altLang="en-US" sz="1400" dirty="0" err="1" smtClean="0">
                <a:latin typeface="+mj-lt"/>
              </a:rPr>
              <a:t>의</a:t>
            </a:r>
            <a:r>
              <a:rPr lang="ko-KR" altLang="en-US" sz="1400" dirty="0" smtClean="0">
                <a:latin typeface="+mj-lt"/>
              </a:rPr>
              <a:t> 경우 노랑풍선이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2.5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배 앞서고 있음</a:t>
            </a:r>
            <a:endParaRPr lang="en-US" altLang="ko-KR" sz="1400" b="1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16" name="차트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3218370"/>
              </p:ext>
            </p:extLst>
          </p:nvPr>
        </p:nvGraphicFramePr>
        <p:xfrm>
          <a:off x="362915" y="1493838"/>
          <a:ext cx="8180020" cy="2496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9" name="직선 화살표 연결선 18"/>
          <p:cNvCxnSpPr/>
          <p:nvPr/>
        </p:nvCxnSpPr>
        <p:spPr>
          <a:xfrm flipH="1">
            <a:off x="5742217" y="1712200"/>
            <a:ext cx="586595" cy="758862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30"/>
          <p:cNvSpPr txBox="1"/>
          <p:nvPr/>
        </p:nvSpPr>
        <p:spPr>
          <a:xfrm>
            <a:off x="5489075" y="1778401"/>
            <a:ext cx="753774" cy="338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X1.9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 flipH="1">
            <a:off x="5448919" y="2759905"/>
            <a:ext cx="546439" cy="297521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37226" y="2611285"/>
            <a:ext cx="753774" cy="338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X1.7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00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133838</TotalTime>
  <Words>1045</Words>
  <Application>Microsoft Office PowerPoint</Application>
  <PresentationFormat>화면 슬라이드 쇼(4:3)</PresentationFormat>
  <Paragraphs>305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굴림</vt:lpstr>
      <vt:lpstr>나눔고딕</vt:lpstr>
      <vt:lpstr>나눔고딕 ExtraBold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VGL_P17041</cp:lastModifiedBy>
  <cp:revision>4377</cp:revision>
  <cp:lastPrinted>2019-04-05T07:01:19Z</cp:lastPrinted>
  <dcterms:created xsi:type="dcterms:W3CDTF">2014-03-24T10:18:17Z</dcterms:created>
  <dcterms:modified xsi:type="dcterms:W3CDTF">2019-04-05T08:40:11Z</dcterms:modified>
</cp:coreProperties>
</file>