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1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2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drawings/drawing3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547" r:id="rId3"/>
    <p:sldId id="518" r:id="rId4"/>
    <p:sldId id="522" r:id="rId5"/>
    <p:sldId id="517" r:id="rId6"/>
    <p:sldId id="526" r:id="rId7"/>
    <p:sldId id="519" r:id="rId8"/>
    <p:sldId id="548" r:id="rId9"/>
    <p:sldId id="550" r:id="rId10"/>
    <p:sldId id="545" r:id="rId11"/>
    <p:sldId id="549" r:id="rId12"/>
    <p:sldId id="542" r:id="rId13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16" userDrawn="1">
          <p15:clr>
            <a:srgbClr val="A4A3A4"/>
          </p15:clr>
        </p15:guide>
        <p15:guide id="2" pos="2835" userDrawn="1">
          <p15:clr>
            <a:srgbClr val="A4A3A4"/>
          </p15:clr>
        </p15:guide>
        <p15:guide id="3" orient="horz" pos="2750" userDrawn="1">
          <p15:clr>
            <a:srgbClr val="A4A3A4"/>
          </p15:clr>
        </p15:guide>
        <p15:guide id="4" pos="363" userDrawn="1">
          <p15:clr>
            <a:srgbClr val="A4A3A4"/>
          </p15:clr>
        </p15:guide>
        <p15:guide id="5" pos="53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5381"/>
    <a:srgbClr val="FF3737"/>
    <a:srgbClr val="317CC1"/>
    <a:srgbClr val="DC5E5E"/>
    <a:srgbClr val="FF7C80"/>
    <a:srgbClr val="E5675D"/>
    <a:srgbClr val="6DA6D9"/>
    <a:srgbClr val="E07B52"/>
    <a:srgbClr val="FF9966"/>
    <a:srgbClr val="526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25" autoAdjust="0"/>
    <p:restoredTop sz="94684" autoAdjust="0"/>
  </p:normalViewPr>
  <p:slideViewPr>
    <p:cSldViewPr snapToGrid="0" showGuides="1">
      <p:cViewPr varScale="1">
        <p:scale>
          <a:sx n="106" d="100"/>
          <a:sy n="106" d="100"/>
        </p:scale>
        <p:origin x="2052" y="90"/>
      </p:cViewPr>
      <p:guideLst>
        <p:guide orient="horz" pos="3816"/>
        <p:guide pos="2835"/>
        <p:guide orient="horz" pos="2750"/>
        <p:guide pos="363"/>
        <p:guide pos="53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97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4596;&#47532;&#54592;\VGT_&#54596;&#47532;&#54592;_190401_&#51473;&#48373;&#51228;&#44144;_&#52628;&#44032;&#48376;_&#54633;&#48376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4596;&#47532;&#54592;\VGT_&#54596;&#47532;&#54592;_190401_&#51473;&#48373;&#51228;&#44144;_&#52628;&#44032;&#48376;_&#54633;&#48376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4596;&#47532;&#54592;\VGT_&#54596;&#47532;&#54592;_190401_&#51473;&#48373;&#51228;&#44144;_&#52628;&#44032;&#48376;_&#54633;&#48376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4596;&#47532;&#54592;\VGT_&#54596;&#47532;&#54592;_190401_&#51473;&#48373;&#51228;&#44144;_&#52628;&#44032;&#48376;_&#54633;&#48376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4596;&#47532;&#54592;\VGT_&#54596;&#47532;&#54592;_190401_&#51473;&#48373;&#51228;&#44144;_&#52628;&#44032;&#48376;_&#54633;&#48376;.xlsx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1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4596;&#47532;&#54592;\VGT_&#54596;&#47532;&#54592;_190401_&#51473;&#48373;&#51228;&#44144;_&#52628;&#44032;&#48376;_&#54633;&#48376;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2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4596;&#47532;&#54592;\VGT_&#54596;&#47532;&#54592;_190401_&#51473;&#48373;&#51228;&#44144;_&#52628;&#44032;&#48376;_&#54633;&#48376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4596;&#47532;&#54592;\VGT_&#54596;&#47532;&#54592;_190401_&#51473;&#48373;&#51228;&#44144;_&#52628;&#44032;&#48376;_&#54633;&#48376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4596;&#47532;&#54592;\VGT_&#54596;&#47532;&#54592;_190401_&#51473;&#48373;&#51228;&#44144;_&#52628;&#44032;&#48376;_&#54633;&#48376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4596;&#47532;&#54592;\VGT_&#54596;&#47532;&#54592;_190401_&#51473;&#48373;&#51228;&#44144;_&#52628;&#44032;&#48376;_&#54633;&#48376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4596;&#47532;&#54592;\VGT_&#54596;&#47532;&#54592;_190401_&#51473;&#48373;&#51228;&#44144;_&#52628;&#44032;&#48376;_&#54633;&#48376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4596;&#47532;&#54592;\VGT_&#54596;&#47532;&#54592;_190401_&#51473;&#48373;&#51228;&#44144;_&#52628;&#44032;&#48376;_&#54633;&#48376;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4596;&#47532;&#54592;\VGT_&#54596;&#47532;&#54592;_190401_&#51473;&#48373;&#51228;&#44144;_&#52628;&#44032;&#48376;_&#54633;&#48376;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4596;&#47532;&#54592;\VGT_&#54596;&#47532;&#54592;_190401_&#51473;&#48373;&#51228;&#44144;_&#52628;&#44032;&#48376;_&#54633;&#48376;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53356;&#47204;&#47553;\&#46041;&#45224;&#50500;\VGT\&#54596;&#47532;&#54592;\VGT_&#54596;&#47532;&#54592;_190401_&#51473;&#48373;&#51228;&#44144;_&#52628;&#44032;&#48376;_&#54633;&#48376;.xlsx" TargetMode="Externa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chartUserShapes" Target="../drawings/drawing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비교본!$I$108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비교본!$H$109:$H$113</c:f>
              <c:strCache>
                <c:ptCount val="5"/>
                <c:pt idx="0">
                  <c:v>세부/보홀</c:v>
                </c:pt>
                <c:pt idx="1">
                  <c:v>팔라완</c:v>
                </c:pt>
                <c:pt idx="2">
                  <c:v>보라카이</c:v>
                </c:pt>
                <c:pt idx="3">
                  <c:v>마닐라</c:v>
                </c:pt>
                <c:pt idx="4">
                  <c:v>전체</c:v>
                </c:pt>
              </c:strCache>
            </c:strRef>
          </c:cat>
          <c:val>
            <c:numRef>
              <c:f>비교본!$I$109:$I$113</c:f>
              <c:numCache>
                <c:formatCode>General</c:formatCode>
                <c:ptCount val="5"/>
                <c:pt idx="0">
                  <c:v>35</c:v>
                </c:pt>
                <c:pt idx="1">
                  <c:v>4</c:v>
                </c:pt>
                <c:pt idx="2">
                  <c:v>24</c:v>
                </c:pt>
                <c:pt idx="3">
                  <c:v>11</c:v>
                </c:pt>
                <c:pt idx="4">
                  <c:v>74</c:v>
                </c:pt>
              </c:numCache>
            </c:numRef>
          </c:val>
        </c:ser>
        <c:ser>
          <c:idx val="1"/>
          <c:order val="1"/>
          <c:tx>
            <c:strRef>
              <c:f>비교본!$J$108</c:f>
              <c:strCache>
                <c:ptCount val="1"/>
                <c:pt idx="0">
                  <c:v>노랑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pattFill prst="wdUpDiag">
                <a:fgClr>
                  <a:schemeClr val="accent4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비교본!$H$109:$H$113</c:f>
              <c:strCache>
                <c:ptCount val="5"/>
                <c:pt idx="0">
                  <c:v>세부/보홀</c:v>
                </c:pt>
                <c:pt idx="1">
                  <c:v>팔라완</c:v>
                </c:pt>
                <c:pt idx="2">
                  <c:v>보라카이</c:v>
                </c:pt>
                <c:pt idx="3">
                  <c:v>마닐라</c:v>
                </c:pt>
                <c:pt idx="4">
                  <c:v>전체</c:v>
                </c:pt>
              </c:strCache>
            </c:strRef>
          </c:cat>
          <c:val>
            <c:numRef>
              <c:f>비교본!$J$109:$J$113</c:f>
              <c:numCache>
                <c:formatCode>_(* #,##0_);_(* \(#,##0\);_(* "-"_);_(@_)</c:formatCode>
                <c:ptCount val="5"/>
                <c:pt idx="0">
                  <c:v>90</c:v>
                </c:pt>
                <c:pt idx="1">
                  <c:v>14</c:v>
                </c:pt>
                <c:pt idx="2">
                  <c:v>37</c:v>
                </c:pt>
                <c:pt idx="3">
                  <c:v>25</c:v>
                </c:pt>
                <c:pt idx="4">
                  <c:v>166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86059440"/>
        <c:axId val="786061680"/>
      </c:barChart>
      <c:catAx>
        <c:axId val="786059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6061680"/>
        <c:crosses val="autoZero"/>
        <c:auto val="1"/>
        <c:lblAlgn val="ctr"/>
        <c:lblOffset val="100"/>
        <c:noMultiLvlLbl val="0"/>
      </c:catAx>
      <c:valAx>
        <c:axId val="786061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6059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비교본!$I$119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비교본!$H$120:$H$124</c:f>
              <c:strCache>
                <c:ptCount val="5"/>
                <c:pt idx="0">
                  <c:v>세부/보홀</c:v>
                </c:pt>
                <c:pt idx="1">
                  <c:v>팔라완</c:v>
                </c:pt>
                <c:pt idx="2">
                  <c:v>보라카이</c:v>
                </c:pt>
                <c:pt idx="3">
                  <c:v>마닐라</c:v>
                </c:pt>
                <c:pt idx="4">
                  <c:v>전체</c:v>
                </c:pt>
              </c:strCache>
            </c:strRef>
          </c:cat>
          <c:val>
            <c:numRef>
              <c:f>비교본!$I$120:$I$124</c:f>
              <c:numCache>
                <c:formatCode>_(* #,##0_);_(* \(#,##0\);_(* "-"_);_(@_)</c:formatCode>
                <c:ptCount val="5"/>
                <c:pt idx="0">
                  <c:v>10296</c:v>
                </c:pt>
                <c:pt idx="1">
                  <c:v>99</c:v>
                </c:pt>
                <c:pt idx="2">
                  <c:v>5704</c:v>
                </c:pt>
                <c:pt idx="3">
                  <c:v>1143</c:v>
                </c:pt>
                <c:pt idx="4">
                  <c:v>17242</c:v>
                </c:pt>
              </c:numCache>
            </c:numRef>
          </c:val>
        </c:ser>
        <c:ser>
          <c:idx val="1"/>
          <c:order val="1"/>
          <c:tx>
            <c:strRef>
              <c:f>비교본!$J$119</c:f>
              <c:strCache>
                <c:ptCount val="1"/>
                <c:pt idx="0">
                  <c:v>노랑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pattFill prst="wdUpDiag">
                <a:fgClr>
                  <a:schemeClr val="accent4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비교본!$H$120:$H$124</c:f>
              <c:strCache>
                <c:ptCount val="5"/>
                <c:pt idx="0">
                  <c:v>세부/보홀</c:v>
                </c:pt>
                <c:pt idx="1">
                  <c:v>팔라완</c:v>
                </c:pt>
                <c:pt idx="2">
                  <c:v>보라카이</c:v>
                </c:pt>
                <c:pt idx="3">
                  <c:v>마닐라</c:v>
                </c:pt>
                <c:pt idx="4">
                  <c:v>전체</c:v>
                </c:pt>
              </c:strCache>
            </c:strRef>
          </c:cat>
          <c:val>
            <c:numRef>
              <c:f>비교본!$J$120:$J$124</c:f>
              <c:numCache>
                <c:formatCode>_(* #,##0_);_(* \(#,##0\);_(* "-"_);_(@_)</c:formatCode>
                <c:ptCount val="5"/>
                <c:pt idx="0">
                  <c:v>19639</c:v>
                </c:pt>
                <c:pt idx="1">
                  <c:v>3960</c:v>
                </c:pt>
                <c:pt idx="2">
                  <c:v>10897</c:v>
                </c:pt>
                <c:pt idx="3">
                  <c:v>4634</c:v>
                </c:pt>
                <c:pt idx="4">
                  <c:v>39130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28096096"/>
        <c:axId val="728099456"/>
      </c:barChart>
      <c:catAx>
        <c:axId val="728096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8099456"/>
        <c:crosses val="autoZero"/>
        <c:auto val="1"/>
        <c:lblAlgn val="ctr"/>
        <c:lblOffset val="100"/>
        <c:noMultiLvlLbl val="0"/>
      </c:catAx>
      <c:valAx>
        <c:axId val="728099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8096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20513271775139"/>
          <c:y val="6.249960891372771E-2"/>
          <c:w val="0.50049343027250126"/>
          <c:h val="0.85797176848765366"/>
        </c:manualLayout>
      </c:layout>
      <c:pieChart>
        <c:varyColors val="1"/>
        <c:ser>
          <c:idx val="0"/>
          <c:order val="0"/>
          <c:tx>
            <c:strRef>
              <c:f>비교본!$F$27</c:f>
              <c:strCache>
                <c:ptCount val="1"/>
                <c:pt idx="0">
                  <c:v>필리핀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비교본!$G$26:$H$26</c:f>
              <c:strCache>
                <c:ptCount val="2"/>
                <c:pt idx="0">
                  <c:v>출발확정</c:v>
                </c:pt>
                <c:pt idx="1">
                  <c:v>미정</c:v>
                </c:pt>
              </c:strCache>
            </c:strRef>
          </c:cat>
          <c:val>
            <c:numRef>
              <c:f>비교본!$G$27:$H$27</c:f>
              <c:numCache>
                <c:formatCode>0.00%</c:formatCode>
                <c:ptCount val="2"/>
                <c:pt idx="0">
                  <c:v>1.7399373622549588E-4</c:v>
                </c:pt>
                <c:pt idx="1">
                  <c:v>0.99982600626377449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038749024069941"/>
          <c:y val="5.9847788694894086E-2"/>
          <c:w val="0.53638108036077636"/>
          <c:h val="0.8803044226102118"/>
        </c:manualLayout>
      </c:layout>
      <c:pieChart>
        <c:varyColors val="1"/>
        <c:ser>
          <c:idx val="0"/>
          <c:order val="0"/>
          <c:tx>
            <c:strRef>
              <c:f>비교본!$F$27</c:f>
              <c:strCache>
                <c:ptCount val="1"/>
                <c:pt idx="0">
                  <c:v>필리핀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비교본!$G$26:$H$26</c:f>
              <c:strCache>
                <c:ptCount val="2"/>
                <c:pt idx="0">
                  <c:v>출발확정</c:v>
                </c:pt>
                <c:pt idx="1">
                  <c:v>미정</c:v>
                </c:pt>
              </c:strCache>
            </c:strRef>
          </c:cat>
          <c:val>
            <c:numRef>
              <c:f>비교본!$G$31:$H$31</c:f>
              <c:numCache>
                <c:formatCode>0%</c:formatCode>
                <c:ptCount val="2"/>
                <c:pt idx="0">
                  <c:v>0.15</c:v>
                </c:pt>
                <c:pt idx="1">
                  <c:v>0.85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비교본!$D$34</c:f>
              <c:strCache>
                <c:ptCount val="1"/>
                <c:pt idx="0">
                  <c:v>비율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explosion val="19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2.255555480578722E-2"/>
                  <c:y val="-0.20959761868986695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6229644005956851E-2"/>
                  <c:y val="4.0741930130035166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3.4949528190972225E-2"/>
                  <c:y val="0.14729888054461371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비교본!$B$35:$B$37</c:f>
              <c:strCache>
                <c:ptCount val="3"/>
                <c:pt idx="0">
                  <c:v>일반</c:v>
                </c:pt>
                <c:pt idx="1">
                  <c:v>라르고</c:v>
                </c:pt>
                <c:pt idx="2">
                  <c:v>라르고+</c:v>
                </c:pt>
              </c:strCache>
            </c:strRef>
          </c:cat>
          <c:val>
            <c:numRef>
              <c:f>비교본!$D$35:$D$37</c:f>
              <c:numCache>
                <c:formatCode>0%</c:formatCode>
                <c:ptCount val="3"/>
                <c:pt idx="0">
                  <c:v>0.9473378958357499</c:v>
                </c:pt>
                <c:pt idx="1">
                  <c:v>5.1618141746897113E-3</c:v>
                </c:pt>
                <c:pt idx="2">
                  <c:v>4.7500289989560379E-2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비교본!$G$34</c:f>
              <c:strCache>
                <c:ptCount val="1"/>
                <c:pt idx="0">
                  <c:v>비율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비교본!$E$35:$E$37</c:f>
              <c:strCache>
                <c:ptCount val="3"/>
                <c:pt idx="0">
                  <c:v>일반</c:v>
                </c:pt>
                <c:pt idx="1">
                  <c:v>프리미엄</c:v>
                </c:pt>
                <c:pt idx="2">
                  <c:v>라이트팩</c:v>
                </c:pt>
              </c:strCache>
            </c:strRef>
          </c:cat>
          <c:val>
            <c:numRef>
              <c:f>비교본!$G$35:$G$37</c:f>
              <c:numCache>
                <c:formatCode>0%</c:formatCode>
                <c:ptCount val="3"/>
                <c:pt idx="0">
                  <c:v>0.81024789164324051</c:v>
                </c:pt>
                <c:pt idx="1">
                  <c:v>7.4035267058522869E-2</c:v>
                </c:pt>
                <c:pt idx="2">
                  <c:v>0.11571684129823664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비교본!$C$95</c:f>
              <c:strCache>
                <c:ptCount val="1"/>
                <c:pt idx="0">
                  <c:v>개수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비교본!$B$96:$B$98</c:f>
              <c:strCache>
                <c:ptCount val="3"/>
                <c:pt idx="0">
                  <c:v>일반</c:v>
                </c:pt>
                <c:pt idx="1">
                  <c:v>프리미엄</c:v>
                </c:pt>
                <c:pt idx="2">
                  <c:v>라이트팩</c:v>
                </c:pt>
              </c:strCache>
            </c:strRef>
          </c:cat>
          <c:val>
            <c:numRef>
              <c:f>비교본!$C$96:$C$98</c:f>
              <c:numCache>
                <c:formatCode>0%</c:formatCode>
                <c:ptCount val="3"/>
                <c:pt idx="0">
                  <c:v>0.85</c:v>
                </c:pt>
                <c:pt idx="1">
                  <c:v>0.1</c:v>
                </c:pt>
                <c:pt idx="2">
                  <c:v>0.05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166980325680466"/>
          <c:y val="0.14177978370286129"/>
          <c:w val="0.33791007892679731"/>
          <c:h val="0.74526945774760189"/>
        </c:manualLayout>
      </c:layout>
      <c:pieChart>
        <c:varyColors val="1"/>
        <c:ser>
          <c:idx val="0"/>
          <c:order val="0"/>
          <c:tx>
            <c:strRef>
              <c:f>비교본!$L$95</c:f>
              <c:strCache>
                <c:ptCount val="1"/>
                <c:pt idx="0">
                  <c:v>개수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비교본!$K$96:$K$98</c:f>
              <c:strCache>
                <c:ptCount val="3"/>
                <c:pt idx="0">
                  <c:v>일반</c:v>
                </c:pt>
                <c:pt idx="1">
                  <c:v>라르고</c:v>
                </c:pt>
                <c:pt idx="2">
                  <c:v>라르고+</c:v>
                </c:pt>
              </c:strCache>
            </c:strRef>
          </c:cat>
          <c:val>
            <c:numRef>
              <c:f>비교본!$L$96:$L$98</c:f>
              <c:numCache>
                <c:formatCode>_(* #,##0_);_(* \(#,##0\);_(* "-"_);_(@_)</c:formatCode>
                <c:ptCount val="3"/>
                <c:pt idx="0" formatCode="0%">
                  <c:v>0.33333333333333331</c:v>
                </c:pt>
                <c:pt idx="1">
                  <c:v>0</c:v>
                </c:pt>
                <c:pt idx="2" formatCode="0%">
                  <c:v>0.66666666666666663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비교본!$L$129</c:f>
              <c:strCache>
                <c:ptCount val="1"/>
                <c:pt idx="0">
                  <c:v>세부/보홀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비교본!$M$128:$O$128</c:f>
              <c:strCache>
                <c:ptCount val="3"/>
                <c:pt idx="0">
                  <c:v>일반(VGT)</c:v>
                </c:pt>
                <c:pt idx="1">
                  <c:v>라르고(VGT)</c:v>
                </c:pt>
                <c:pt idx="2">
                  <c:v>라르고+(VGT)</c:v>
                </c:pt>
              </c:strCache>
            </c:strRef>
          </c:cat>
          <c:val>
            <c:numRef>
              <c:f>비교본!$M$129:$O$129</c:f>
              <c:numCache>
                <c:formatCode>0%</c:formatCode>
                <c:ptCount val="3"/>
                <c:pt idx="0">
                  <c:v>0.60805681400759148</c:v>
                </c:pt>
                <c:pt idx="1">
                  <c:v>0</c:v>
                </c:pt>
                <c:pt idx="2">
                  <c:v>0.44444444444444442</c:v>
                </c:pt>
              </c:numCache>
            </c:numRef>
          </c:val>
        </c:ser>
        <c:ser>
          <c:idx val="1"/>
          <c:order val="1"/>
          <c:tx>
            <c:strRef>
              <c:f>비교본!$L$130</c:f>
              <c:strCache>
                <c:ptCount val="1"/>
                <c:pt idx="0">
                  <c:v>팔라완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비교본!$M$128:$O$128</c:f>
              <c:strCache>
                <c:ptCount val="3"/>
                <c:pt idx="0">
                  <c:v>일반(VGT)</c:v>
                </c:pt>
                <c:pt idx="1">
                  <c:v>라르고(VGT)</c:v>
                </c:pt>
                <c:pt idx="2">
                  <c:v>라르고+(VGT)</c:v>
                </c:pt>
              </c:strCache>
            </c:strRef>
          </c:cat>
          <c:val>
            <c:numRef>
              <c:f>비교본!$M$130:$O$130</c:f>
              <c:numCache>
                <c:formatCode>0%</c:formatCode>
                <c:ptCount val="3"/>
                <c:pt idx="0">
                  <c:v>6.060977102975389E-3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비교본!$L$131</c:f>
              <c:strCache>
                <c:ptCount val="1"/>
                <c:pt idx="0">
                  <c:v>보라카이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비교본!$M$128:$O$128</c:f>
              <c:strCache>
                <c:ptCount val="3"/>
                <c:pt idx="0">
                  <c:v>일반(VGT)</c:v>
                </c:pt>
                <c:pt idx="1">
                  <c:v>라르고(VGT)</c:v>
                </c:pt>
                <c:pt idx="2">
                  <c:v>라르고+(VGT)</c:v>
                </c:pt>
              </c:strCache>
            </c:strRef>
          </c:cat>
          <c:val>
            <c:numRef>
              <c:f>비교본!$M$131:$O$131</c:f>
              <c:numCache>
                <c:formatCode>0%</c:formatCode>
                <c:ptCount val="3"/>
                <c:pt idx="0">
                  <c:v>0.3436390351414228</c:v>
                </c:pt>
                <c:pt idx="1">
                  <c:v>0</c:v>
                </c:pt>
                <c:pt idx="2">
                  <c:v>0.1111111111111111</c:v>
                </c:pt>
              </c:numCache>
            </c:numRef>
          </c:val>
        </c:ser>
        <c:ser>
          <c:idx val="3"/>
          <c:order val="3"/>
          <c:tx>
            <c:strRef>
              <c:f>비교본!$L$132</c:f>
              <c:strCache>
                <c:ptCount val="1"/>
                <c:pt idx="0">
                  <c:v>마닐라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비교본!$M$128:$O$128</c:f>
              <c:strCache>
                <c:ptCount val="3"/>
                <c:pt idx="0">
                  <c:v>일반(VGT)</c:v>
                </c:pt>
                <c:pt idx="1">
                  <c:v>라르고(VGT)</c:v>
                </c:pt>
                <c:pt idx="2">
                  <c:v>라르고+(VGT)</c:v>
                </c:pt>
              </c:strCache>
            </c:strRef>
          </c:cat>
          <c:val>
            <c:numRef>
              <c:f>비교본!$M$132:$O$132</c:f>
              <c:numCache>
                <c:formatCode>0%</c:formatCode>
                <c:ptCount val="3"/>
                <c:pt idx="0">
                  <c:v>4.2243173748010288E-2</c:v>
                </c:pt>
                <c:pt idx="1">
                  <c:v>1</c:v>
                </c:pt>
                <c:pt idx="2">
                  <c:v>0.44444444444444442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93118448"/>
        <c:axId val="293119008"/>
      </c:barChart>
      <c:catAx>
        <c:axId val="293118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3119008"/>
        <c:crosses val="autoZero"/>
        <c:auto val="1"/>
        <c:lblAlgn val="ctr"/>
        <c:lblOffset val="100"/>
        <c:noMultiLvlLbl val="0"/>
      </c:catAx>
      <c:valAx>
        <c:axId val="293119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3118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비교본!$L$129</c:f>
              <c:strCache>
                <c:ptCount val="1"/>
                <c:pt idx="0">
                  <c:v>세부/보홀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비교본!$P$128:$R$128</c:f>
              <c:strCache>
                <c:ptCount val="3"/>
                <c:pt idx="0">
                  <c:v>일반(노랑)</c:v>
                </c:pt>
                <c:pt idx="1">
                  <c:v>프리미엄(노랑)</c:v>
                </c:pt>
                <c:pt idx="2">
                  <c:v>라이트팩(노랑)</c:v>
                </c:pt>
              </c:strCache>
            </c:strRef>
          </c:cat>
          <c:val>
            <c:numRef>
              <c:f>비교본!$P$129:$R$129</c:f>
              <c:numCache>
                <c:formatCode>0%</c:formatCode>
                <c:ptCount val="3"/>
                <c:pt idx="0">
                  <c:v>0.48383535719917992</c:v>
                </c:pt>
                <c:pt idx="1">
                  <c:v>0.34898170521228855</c:v>
                </c:pt>
                <c:pt idx="2">
                  <c:v>0.72614840989399299</c:v>
                </c:pt>
              </c:numCache>
            </c:numRef>
          </c:val>
        </c:ser>
        <c:ser>
          <c:idx val="1"/>
          <c:order val="1"/>
          <c:tx>
            <c:strRef>
              <c:f>비교본!$L$130</c:f>
              <c:strCache>
                <c:ptCount val="1"/>
                <c:pt idx="0">
                  <c:v>팔라완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비교본!$P$128:$R$128</c:f>
              <c:strCache>
                <c:ptCount val="3"/>
                <c:pt idx="0">
                  <c:v>일반(노랑)</c:v>
                </c:pt>
                <c:pt idx="1">
                  <c:v>프리미엄(노랑)</c:v>
                </c:pt>
                <c:pt idx="2">
                  <c:v>라이트팩(노랑)</c:v>
                </c:pt>
              </c:strCache>
            </c:strRef>
          </c:cat>
          <c:val>
            <c:numRef>
              <c:f>비교본!$P$130:$R$130</c:f>
              <c:numCache>
                <c:formatCode>0%</c:formatCode>
                <c:ptCount val="3"/>
                <c:pt idx="0">
                  <c:v>0.10045734111338905</c:v>
                </c:pt>
                <c:pt idx="1">
                  <c:v>0.17949603037625128</c:v>
                </c:pt>
                <c:pt idx="2">
                  <c:v>5.6316254416961128E-2</c:v>
                </c:pt>
              </c:numCache>
            </c:numRef>
          </c:val>
        </c:ser>
        <c:ser>
          <c:idx val="2"/>
          <c:order val="2"/>
          <c:tx>
            <c:strRef>
              <c:f>비교본!$L$131</c:f>
              <c:strCache>
                <c:ptCount val="1"/>
                <c:pt idx="0">
                  <c:v>보라카이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비교본!$P$128:$R$128</c:f>
              <c:strCache>
                <c:ptCount val="3"/>
                <c:pt idx="0">
                  <c:v>일반(노랑)</c:v>
                </c:pt>
                <c:pt idx="1">
                  <c:v>프리미엄(노랑)</c:v>
                </c:pt>
                <c:pt idx="2">
                  <c:v>라이트팩(노랑)</c:v>
                </c:pt>
              </c:strCache>
            </c:strRef>
          </c:cat>
          <c:val>
            <c:numRef>
              <c:f>비교본!$P$131:$R$131</c:f>
              <c:numCache>
                <c:formatCode>0%</c:formatCode>
                <c:ptCount val="3"/>
                <c:pt idx="0">
                  <c:v>0.29478000315407665</c:v>
                </c:pt>
                <c:pt idx="1">
                  <c:v>0.19537452537107353</c:v>
                </c:pt>
                <c:pt idx="2">
                  <c:v>0.21753533568904593</c:v>
                </c:pt>
              </c:numCache>
            </c:numRef>
          </c:val>
        </c:ser>
        <c:ser>
          <c:idx val="3"/>
          <c:order val="3"/>
          <c:tx>
            <c:strRef>
              <c:f>비교본!$L$132</c:f>
              <c:strCache>
                <c:ptCount val="1"/>
                <c:pt idx="0">
                  <c:v>마닐라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비교본!$P$128:$R$128</c:f>
              <c:strCache>
                <c:ptCount val="3"/>
                <c:pt idx="0">
                  <c:v>일반(노랑)</c:v>
                </c:pt>
                <c:pt idx="1">
                  <c:v>프리미엄(노랑)</c:v>
                </c:pt>
                <c:pt idx="2">
                  <c:v>라이트팩(노랑)</c:v>
                </c:pt>
              </c:strCache>
            </c:strRef>
          </c:cat>
          <c:val>
            <c:numRef>
              <c:f>비교본!$P$132:$R$132</c:f>
              <c:numCache>
                <c:formatCode>0%</c:formatCode>
                <c:ptCount val="3"/>
                <c:pt idx="0">
                  <c:v>0.12092729853335436</c:v>
                </c:pt>
                <c:pt idx="1">
                  <c:v>0.27614773904038659</c:v>
                </c:pt>
                <c:pt idx="2">
                  <c:v>0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93122928"/>
        <c:axId val="293123488"/>
      </c:barChart>
      <c:catAx>
        <c:axId val="293122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3123488"/>
        <c:crosses val="autoZero"/>
        <c:auto val="1"/>
        <c:lblAlgn val="ctr"/>
        <c:lblOffset val="100"/>
        <c:noMultiLvlLbl val="0"/>
      </c:catAx>
      <c:valAx>
        <c:axId val="293123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93122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비교본!$G$68</c:f>
              <c:strCache>
                <c:ptCount val="1"/>
                <c:pt idx="0">
                  <c:v>필리핀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비교본!$H$67:$J$67</c:f>
              <c:strCache>
                <c:ptCount val="3"/>
                <c:pt idx="0">
                  <c:v>국적기</c:v>
                </c:pt>
                <c:pt idx="1">
                  <c:v>외항사</c:v>
                </c:pt>
                <c:pt idx="2">
                  <c:v>LCC</c:v>
                </c:pt>
              </c:strCache>
            </c:strRef>
          </c:cat>
          <c:val>
            <c:numRef>
              <c:f>비교본!$H$68:$J$68</c:f>
              <c:numCache>
                <c:formatCode>0%</c:formatCode>
                <c:ptCount val="3"/>
                <c:pt idx="0">
                  <c:v>0.14081893051850133</c:v>
                </c:pt>
                <c:pt idx="1">
                  <c:v>0.52238719406101375</c:v>
                </c:pt>
                <c:pt idx="2">
                  <c:v>0.33679387542048489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비교본!$G$61</c:f>
              <c:strCache>
                <c:ptCount val="1"/>
                <c:pt idx="0">
                  <c:v>필리핀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비교본!$H$60:$J$60</c:f>
              <c:strCache>
                <c:ptCount val="3"/>
                <c:pt idx="0">
                  <c:v>국적기</c:v>
                </c:pt>
                <c:pt idx="1">
                  <c:v>외항사</c:v>
                </c:pt>
                <c:pt idx="2">
                  <c:v>LCC</c:v>
                </c:pt>
              </c:strCache>
            </c:strRef>
          </c:cat>
          <c:val>
            <c:numRef>
              <c:f>비교본!$H$61:$J$61</c:f>
              <c:numCache>
                <c:formatCode>0%</c:formatCode>
                <c:ptCount val="3"/>
                <c:pt idx="0">
                  <c:v>0.11489905443393815</c:v>
                </c:pt>
                <c:pt idx="1">
                  <c:v>0.57855865065167389</c:v>
                </c:pt>
                <c:pt idx="2">
                  <c:v>0.30654229491438795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비교본!$K$138</c:f>
              <c:strCache>
                <c:ptCount val="1"/>
                <c:pt idx="0">
                  <c:v>VGT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pattFill prst="wdUpDiag">
                <a:fgClr>
                  <a:schemeClr val="accent1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비교본!$J$139:$J$143</c:f>
              <c:strCache>
                <c:ptCount val="5"/>
                <c:pt idx="0">
                  <c:v>세부/보홀</c:v>
                </c:pt>
                <c:pt idx="1">
                  <c:v>팔라완</c:v>
                </c:pt>
                <c:pt idx="2">
                  <c:v>보라카이</c:v>
                </c:pt>
                <c:pt idx="3">
                  <c:v>마닐라</c:v>
                </c:pt>
                <c:pt idx="4">
                  <c:v>전체</c:v>
                </c:pt>
              </c:strCache>
            </c:strRef>
          </c:cat>
          <c:val>
            <c:numRef>
              <c:f>비교본!$K$139:$K$143</c:f>
              <c:numCache>
                <c:formatCode>#,#0#,_-</c:formatCode>
                <c:ptCount val="5"/>
                <c:pt idx="0">
                  <c:v>701947</c:v>
                </c:pt>
                <c:pt idx="1">
                  <c:v>587232</c:v>
                </c:pt>
                <c:pt idx="2">
                  <c:v>604800</c:v>
                </c:pt>
                <c:pt idx="3">
                  <c:v>814810</c:v>
                </c:pt>
                <c:pt idx="4">
                  <c:v>676632</c:v>
                </c:pt>
              </c:numCache>
            </c:numRef>
          </c:val>
        </c:ser>
        <c:ser>
          <c:idx val="1"/>
          <c:order val="1"/>
          <c:tx>
            <c:strRef>
              <c:f>비교본!$L$138</c:f>
              <c:strCache>
                <c:ptCount val="1"/>
                <c:pt idx="0">
                  <c:v>노랑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pattFill prst="wdUpDiag">
                <a:fgClr>
                  <a:schemeClr val="accent4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비교본!$J$139:$J$143</c:f>
              <c:strCache>
                <c:ptCount val="5"/>
                <c:pt idx="0">
                  <c:v>세부/보홀</c:v>
                </c:pt>
                <c:pt idx="1">
                  <c:v>팔라완</c:v>
                </c:pt>
                <c:pt idx="2">
                  <c:v>보라카이</c:v>
                </c:pt>
                <c:pt idx="3">
                  <c:v>마닐라</c:v>
                </c:pt>
                <c:pt idx="4">
                  <c:v>전체</c:v>
                </c:pt>
              </c:strCache>
            </c:strRef>
          </c:cat>
          <c:val>
            <c:numRef>
              <c:f>비교본!$L$139:$L$143</c:f>
              <c:numCache>
                <c:formatCode>#,#0#,_-</c:formatCode>
                <c:ptCount val="5"/>
                <c:pt idx="0">
                  <c:v>610634</c:v>
                </c:pt>
                <c:pt idx="1">
                  <c:v>641626</c:v>
                </c:pt>
                <c:pt idx="2">
                  <c:v>596702</c:v>
                </c:pt>
                <c:pt idx="3">
                  <c:v>572506</c:v>
                </c:pt>
                <c:pt idx="4">
                  <c:v>605375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29062240"/>
        <c:axId val="529062800"/>
      </c:barChart>
      <c:catAx>
        <c:axId val="529062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9062800"/>
        <c:crosses val="autoZero"/>
        <c:auto val="1"/>
        <c:lblAlgn val="ctr"/>
        <c:lblOffset val="100"/>
        <c:noMultiLvlLbl val="0"/>
      </c:catAx>
      <c:valAx>
        <c:axId val="529062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0#,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9062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비교본!$M$147</c:f>
              <c:strCache>
                <c:ptCount val="1"/>
                <c:pt idx="0">
                  <c:v>일반(VGT)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-6.030788123098943E-3"/>
                  <c:y val="-9.869236501876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비교본!$L$148:$L$152</c:f>
              <c:strCache>
                <c:ptCount val="5"/>
                <c:pt idx="0">
                  <c:v>세부/보홀</c:v>
                </c:pt>
                <c:pt idx="1">
                  <c:v>팔라완</c:v>
                </c:pt>
                <c:pt idx="2">
                  <c:v>보라카이</c:v>
                </c:pt>
                <c:pt idx="3">
                  <c:v>마닐라</c:v>
                </c:pt>
                <c:pt idx="4">
                  <c:v>전체</c:v>
                </c:pt>
              </c:strCache>
            </c:strRef>
          </c:cat>
          <c:val>
            <c:numRef>
              <c:f>비교본!$M$148:$M$152</c:f>
              <c:numCache>
                <c:formatCode>#,#0#,_-</c:formatCode>
                <c:ptCount val="5"/>
                <c:pt idx="0">
                  <c:v>691682.94401933148</c:v>
                </c:pt>
                <c:pt idx="1">
                  <c:v>587232.32323232328</c:v>
                </c:pt>
                <c:pt idx="2">
                  <c:v>599114.19918047392</c:v>
                </c:pt>
                <c:pt idx="3">
                  <c:v>561521.73913043481</c:v>
                </c:pt>
                <c:pt idx="4">
                  <c:v>653471</c:v>
                </c:pt>
              </c:numCache>
            </c:numRef>
          </c:val>
        </c:ser>
        <c:ser>
          <c:idx val="1"/>
          <c:order val="1"/>
          <c:tx>
            <c:strRef>
              <c:f>비교본!$N$147</c:f>
              <c:strCache>
                <c:ptCount val="1"/>
                <c:pt idx="0">
                  <c:v>일반(노랑)</c:v>
                </c:pt>
              </c:strCache>
            </c:strRef>
          </c:tx>
          <c:spPr>
            <a:pattFill prst="wdUpDiag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6.0307881230988328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비교본!$L$148:$L$152</c:f>
              <c:strCache>
                <c:ptCount val="5"/>
                <c:pt idx="0">
                  <c:v>세부/보홀</c:v>
                </c:pt>
                <c:pt idx="1">
                  <c:v>팔라완</c:v>
                </c:pt>
                <c:pt idx="2">
                  <c:v>보라카이</c:v>
                </c:pt>
                <c:pt idx="3">
                  <c:v>마닐라</c:v>
                </c:pt>
                <c:pt idx="4">
                  <c:v>전체</c:v>
                </c:pt>
              </c:strCache>
            </c:strRef>
          </c:cat>
          <c:val>
            <c:numRef>
              <c:f>비교본!$N$148:$N$152</c:f>
              <c:numCache>
                <c:formatCode>#,#0#,_-</c:formatCode>
                <c:ptCount val="5"/>
                <c:pt idx="0">
                  <c:v>600254</c:v>
                </c:pt>
                <c:pt idx="1">
                  <c:v>579950</c:v>
                </c:pt>
                <c:pt idx="2">
                  <c:v>576300</c:v>
                </c:pt>
                <c:pt idx="3">
                  <c:v>523507</c:v>
                </c:pt>
                <c:pt idx="4">
                  <c:v>523507</c:v>
                </c:pt>
              </c:numCache>
            </c:numRef>
          </c:val>
        </c:ser>
        <c:ser>
          <c:idx val="2"/>
          <c:order val="2"/>
          <c:tx>
            <c:strRef>
              <c:f>비교본!$O$147</c:f>
              <c:strCache>
                <c:ptCount val="1"/>
                <c:pt idx="0">
                  <c:v>라르고+(VGT)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비교본!$L$148:$L$152</c:f>
              <c:strCache>
                <c:ptCount val="5"/>
                <c:pt idx="0">
                  <c:v>세부/보홀</c:v>
                </c:pt>
                <c:pt idx="1">
                  <c:v>팔라완</c:v>
                </c:pt>
                <c:pt idx="2">
                  <c:v>보라카이</c:v>
                </c:pt>
                <c:pt idx="3">
                  <c:v>마닐라</c:v>
                </c:pt>
                <c:pt idx="4">
                  <c:v>전체</c:v>
                </c:pt>
              </c:strCache>
            </c:strRef>
          </c:cat>
          <c:val>
            <c:numRef>
              <c:f>비교본!$O$148:$O$152</c:f>
              <c:numCache>
                <c:formatCode>#,#0#,_-</c:formatCode>
                <c:ptCount val="5"/>
                <c:pt idx="0">
                  <c:v>982008.24175824178</c:v>
                </c:pt>
                <c:pt idx="1">
                  <c:v>0</c:v>
                </c:pt>
                <c:pt idx="2">
                  <c:v>955483.51648351643</c:v>
                </c:pt>
                <c:pt idx="3">
                  <c:v>1282750</c:v>
                </c:pt>
                <c:pt idx="4">
                  <c:v>1112724</c:v>
                </c:pt>
              </c:numCache>
            </c:numRef>
          </c:val>
        </c:ser>
        <c:ser>
          <c:idx val="3"/>
          <c:order val="3"/>
          <c:tx>
            <c:strRef>
              <c:f>비교본!$P$147</c:f>
              <c:strCache>
                <c:ptCount val="1"/>
                <c:pt idx="0">
                  <c:v>프리미엄(노랑)</c:v>
                </c:pt>
              </c:strCache>
            </c:strRef>
          </c:tx>
          <c:spPr>
            <a:pattFill prst="wdUpDiag">
              <a:fgClr>
                <a:schemeClr val="accent2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비교본!$L$148:$L$152</c:f>
              <c:strCache>
                <c:ptCount val="5"/>
                <c:pt idx="0">
                  <c:v>세부/보홀</c:v>
                </c:pt>
                <c:pt idx="1">
                  <c:v>팔라완</c:v>
                </c:pt>
                <c:pt idx="2">
                  <c:v>보라카이</c:v>
                </c:pt>
                <c:pt idx="3">
                  <c:v>마닐라</c:v>
                </c:pt>
                <c:pt idx="4">
                  <c:v>전체</c:v>
                </c:pt>
              </c:strCache>
            </c:strRef>
          </c:cat>
          <c:val>
            <c:numRef>
              <c:f>비교본!$P$148:$P$152</c:f>
              <c:numCache>
                <c:formatCode>#,#0#,_-</c:formatCode>
                <c:ptCount val="5"/>
                <c:pt idx="0">
                  <c:v>787692</c:v>
                </c:pt>
                <c:pt idx="1">
                  <c:v>925808</c:v>
                </c:pt>
                <c:pt idx="2">
                  <c:v>1161486</c:v>
                </c:pt>
                <c:pt idx="3">
                  <c:v>807338</c:v>
                </c:pt>
                <c:pt idx="4">
                  <c:v>890938</c:v>
                </c:pt>
              </c:numCache>
            </c:numRef>
          </c:val>
        </c:ser>
        <c:ser>
          <c:idx val="4"/>
          <c:order val="4"/>
          <c:tx>
            <c:strRef>
              <c:f>비교본!$Q$147</c:f>
              <c:strCache>
                <c:ptCount val="1"/>
                <c:pt idx="0">
                  <c:v>라르고(VGT)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6.0307881230988328E-3"/>
                  <c:y val="-4.934618250938205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3.0153940615493058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비교본!$L$148:$L$152</c:f>
              <c:strCache>
                <c:ptCount val="5"/>
                <c:pt idx="0">
                  <c:v>세부/보홀</c:v>
                </c:pt>
                <c:pt idx="1">
                  <c:v>팔라완</c:v>
                </c:pt>
                <c:pt idx="2">
                  <c:v>보라카이</c:v>
                </c:pt>
                <c:pt idx="3">
                  <c:v>마닐라</c:v>
                </c:pt>
                <c:pt idx="4">
                  <c:v>전체</c:v>
                </c:pt>
              </c:strCache>
            </c:strRef>
          </c:cat>
          <c:val>
            <c:numRef>
              <c:f>비교본!$Q$148:$Q$152</c:f>
              <c:numCache>
                <c:formatCode>#,#0#,_-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864685.39325842692</c:v>
                </c:pt>
                <c:pt idx="4">
                  <c:v>864685</c:v>
                </c:pt>
              </c:numCache>
            </c:numRef>
          </c:val>
        </c:ser>
        <c:ser>
          <c:idx val="5"/>
          <c:order val="5"/>
          <c:tx>
            <c:strRef>
              <c:f>비교본!$R$147</c:f>
              <c:strCache>
                <c:ptCount val="1"/>
                <c:pt idx="0">
                  <c:v>라이트팩(노랑)</c:v>
                </c:pt>
              </c:strCache>
            </c:strRef>
          </c:tx>
          <c:spPr>
            <a:pattFill prst="wdUpDiag">
              <a:fgClr>
                <a:schemeClr val="accent4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비교본!$L$148:$L$152</c:f>
              <c:strCache>
                <c:ptCount val="5"/>
                <c:pt idx="0">
                  <c:v>세부/보홀</c:v>
                </c:pt>
                <c:pt idx="1">
                  <c:v>팔라완</c:v>
                </c:pt>
                <c:pt idx="2">
                  <c:v>보라카이</c:v>
                </c:pt>
                <c:pt idx="3">
                  <c:v>마닐라</c:v>
                </c:pt>
                <c:pt idx="4">
                  <c:v>전체</c:v>
                </c:pt>
              </c:strCache>
            </c:strRef>
          </c:cat>
          <c:val>
            <c:numRef>
              <c:f>비교본!$R$148:$R$152</c:f>
              <c:numCache>
                <c:formatCode>#,#0#,_-</c:formatCode>
                <c:ptCount val="5"/>
                <c:pt idx="0">
                  <c:v>604621</c:v>
                </c:pt>
                <c:pt idx="1">
                  <c:v>632451</c:v>
                </c:pt>
                <c:pt idx="2">
                  <c:v>465754</c:v>
                </c:pt>
                <c:pt idx="3">
                  <c:v>0</c:v>
                </c:pt>
                <c:pt idx="4">
                  <c:v>587243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31342832"/>
        <c:axId val="831343392"/>
      </c:barChart>
      <c:catAx>
        <c:axId val="831342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31343392"/>
        <c:crosses val="autoZero"/>
        <c:auto val="1"/>
        <c:lblAlgn val="ctr"/>
        <c:lblOffset val="100"/>
        <c:noMultiLvlLbl val="0"/>
      </c:catAx>
      <c:valAx>
        <c:axId val="831343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0#,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31342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비교본!$R$41</c:f>
              <c:strCache>
                <c:ptCount val="1"/>
                <c:pt idx="0">
                  <c:v>VGT 실예약인원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6959914144228469E-2"/>
                  <c:y val="-1.6189942810982237E-1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1.5418103767480427E-2"/>
                  <c:y val="-8.830979911954434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비교본!$Q$42:$Q$45</c:f>
              <c:strCache>
                <c:ptCount val="4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  <c:pt idx="3">
                  <c:v>전체</c:v>
                </c:pt>
              </c:strCache>
            </c:strRef>
          </c:cat>
          <c:val>
            <c:numRef>
              <c:f>비교본!$R$42:$R$45</c:f>
              <c:numCache>
                <c:formatCode>_(* #,##0_);_(* \(#,##0\);_(* "-"_);_(@_)</c:formatCode>
                <c:ptCount val="4"/>
                <c:pt idx="0">
                  <c:v>1014</c:v>
                </c:pt>
                <c:pt idx="1">
                  <c:v>470</c:v>
                </c:pt>
                <c:pt idx="2">
                  <c:v>394</c:v>
                </c:pt>
                <c:pt idx="3">
                  <c:v>1878</c:v>
                </c:pt>
              </c:numCache>
            </c:numRef>
          </c:val>
        </c:ser>
        <c:ser>
          <c:idx val="1"/>
          <c:order val="1"/>
          <c:tx>
            <c:strRef>
              <c:f>비교본!$S$41</c:f>
              <c:strCache>
                <c:ptCount val="1"/>
                <c:pt idx="0">
                  <c:v>노랑풍선 실예약인원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7.50633292516127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6.1672415069922836E-3"/>
                  <c:y val="-1.324646986793165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비교본!$Q$42:$Q$45</c:f>
              <c:strCache>
                <c:ptCount val="4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  <c:pt idx="3">
                  <c:v>전체</c:v>
                </c:pt>
              </c:strCache>
            </c:strRef>
          </c:cat>
          <c:val>
            <c:numRef>
              <c:f>비교본!$S$42:$S$45</c:f>
              <c:numCache>
                <c:formatCode>_(* #,##0_);_(* \(#,##0\);_(* "-"_);_(@_)</c:formatCode>
                <c:ptCount val="4"/>
                <c:pt idx="0">
                  <c:v>1000</c:v>
                </c:pt>
                <c:pt idx="1">
                  <c:v>517</c:v>
                </c:pt>
                <c:pt idx="2">
                  <c:v>240</c:v>
                </c:pt>
                <c:pt idx="3">
                  <c:v>1757</c:v>
                </c:pt>
              </c:numCache>
            </c:numRef>
          </c:val>
        </c:ser>
        <c:ser>
          <c:idx val="2"/>
          <c:order val="2"/>
          <c:tx>
            <c:strRef>
              <c:f>비교본!$T$41</c:f>
              <c:strCache>
                <c:ptCount val="1"/>
                <c:pt idx="0">
                  <c:v>VGT 허수포함 인원</c:v>
                </c:pt>
              </c:strCache>
            </c:strRef>
          </c:tx>
          <c:spPr>
            <a:pattFill prst="wdUpDiag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-4.6254311302441281E-3"/>
                  <c:y val="-9.714077903149870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비교본!$Q$42:$Q$45</c:f>
              <c:strCache>
                <c:ptCount val="4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  <c:pt idx="3">
                  <c:v>전체</c:v>
                </c:pt>
              </c:strCache>
            </c:strRef>
          </c:cat>
          <c:val>
            <c:numRef>
              <c:f>비교본!$T$42:$T$45</c:f>
              <c:numCache>
                <c:formatCode>_(* #,##0_);_(* \(#,##0\);_(* "-"_);_(@_)</c:formatCode>
                <c:ptCount val="4"/>
                <c:pt idx="0">
                  <c:v>1014</c:v>
                </c:pt>
                <c:pt idx="1">
                  <c:v>470</c:v>
                </c:pt>
                <c:pt idx="2">
                  <c:v>394</c:v>
                </c:pt>
                <c:pt idx="3">
                  <c:v>1878</c:v>
                </c:pt>
              </c:numCache>
            </c:numRef>
          </c:val>
        </c:ser>
        <c:ser>
          <c:idx val="3"/>
          <c:order val="3"/>
          <c:tx>
            <c:strRef>
              <c:f>비교본!$U$41</c:f>
              <c:strCache>
                <c:ptCount val="1"/>
                <c:pt idx="0">
                  <c:v>노랑풍선 허수포함 인원</c:v>
                </c:pt>
              </c:strCache>
            </c:strRef>
          </c:tx>
          <c:spPr>
            <a:pattFill prst="wdUpDiag">
              <a:fgClr>
                <a:schemeClr val="accent4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비교본!$Q$42:$Q$45</c:f>
              <c:strCache>
                <c:ptCount val="4"/>
                <c:pt idx="0">
                  <c:v>4월</c:v>
                </c:pt>
                <c:pt idx="1">
                  <c:v>5월</c:v>
                </c:pt>
                <c:pt idx="2">
                  <c:v>6월</c:v>
                </c:pt>
                <c:pt idx="3">
                  <c:v>전체</c:v>
                </c:pt>
              </c:strCache>
            </c:strRef>
          </c:cat>
          <c:val>
            <c:numRef>
              <c:f>비교본!$U$42:$U$45</c:f>
              <c:numCache>
                <c:formatCode>_(* #,##0_);_(* \(#,##0\);_(* "-"_);_(@_)</c:formatCode>
                <c:ptCount val="4"/>
                <c:pt idx="0">
                  <c:v>10880</c:v>
                </c:pt>
                <c:pt idx="1">
                  <c:v>5832</c:v>
                </c:pt>
                <c:pt idx="2">
                  <c:v>3789</c:v>
                </c:pt>
                <c:pt idx="3">
                  <c:v>20501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31347312"/>
        <c:axId val="831347872"/>
      </c:barChart>
      <c:catAx>
        <c:axId val="831347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31347872"/>
        <c:crosses val="autoZero"/>
        <c:auto val="1"/>
        <c:lblAlgn val="ctr"/>
        <c:lblOffset val="100"/>
        <c:noMultiLvlLbl val="0"/>
      </c:catAx>
      <c:valAx>
        <c:axId val="831347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31347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0.51898</cdr:x>
      <cdr:y>0.78499</cdr:y>
    </cdr:from>
    <cdr:to>
      <cdr:x>0.72344</cdr:x>
      <cdr:y>0.89834</cdr:y>
    </cdr:to>
    <cdr:sp macro="" textlink="">
      <cdr:nvSpPr>
        <cdr:cNvPr id="2" name="TextBox 7"/>
        <cdr:cNvSpPr txBox="1"/>
      </cdr:nvSpPr>
      <cdr:spPr>
        <a:xfrm xmlns:a="http://schemas.openxmlformats.org/drawingml/2006/main">
          <a:off x="1999656" y="1598660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(16,334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0.18586</cdr:x>
      <cdr:y>0.06</cdr:y>
    </cdr:from>
    <cdr:to>
      <cdr:x>0.33099</cdr:x>
      <cdr:y>0.17334</cdr:y>
    </cdr:to>
    <cdr:sp macro="" textlink="">
      <cdr:nvSpPr>
        <cdr:cNvPr id="3" name="TextBox 7"/>
        <cdr:cNvSpPr txBox="1"/>
      </cdr:nvSpPr>
      <cdr:spPr>
        <a:xfrm xmlns:a="http://schemas.openxmlformats.org/drawingml/2006/main">
          <a:off x="716120" y="122185"/>
          <a:ext cx="5591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(89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0.40843</cdr:x>
      <cdr:y>0.02776</cdr:y>
    </cdr:from>
    <cdr:to>
      <cdr:x>0.59203</cdr:x>
      <cdr:y>0.14111</cdr:y>
    </cdr:to>
    <cdr:sp macro="" textlink="">
      <cdr:nvSpPr>
        <cdr:cNvPr id="4" name="TextBox 7"/>
        <cdr:cNvSpPr txBox="1"/>
      </cdr:nvSpPr>
      <cdr:spPr>
        <a:xfrm xmlns:a="http://schemas.openxmlformats.org/drawingml/2006/main">
          <a:off x="1616027" y="48639"/>
          <a:ext cx="726462" cy="198568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(819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0.5463</cdr:x>
      <cdr:y>0.78492</cdr:y>
    </cdr:from>
    <cdr:to>
      <cdr:x>0.7562</cdr:x>
      <cdr:y>0.89477</cdr:y>
    </cdr:to>
    <cdr:sp macro="" textlink="">
      <cdr:nvSpPr>
        <cdr:cNvPr id="2" name="TextBox 7"/>
        <cdr:cNvSpPr txBox="1"/>
      </cdr:nvSpPr>
      <cdr:spPr>
        <a:xfrm xmlns:a="http://schemas.openxmlformats.org/drawingml/2006/main">
          <a:off x="2050456" y="1649460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(31,705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0.04602</cdr:x>
      <cdr:y>0.16132</cdr:y>
    </cdr:from>
    <cdr:to>
      <cdr:x>0.25591</cdr:x>
      <cdr:y>0.27116</cdr:y>
    </cdr:to>
    <cdr:sp macro="" textlink="">
      <cdr:nvSpPr>
        <cdr:cNvPr id="3" name="TextBox 7"/>
        <cdr:cNvSpPr txBox="1"/>
      </cdr:nvSpPr>
      <cdr:spPr>
        <a:xfrm xmlns:a="http://schemas.openxmlformats.org/drawingml/2006/main">
          <a:off x="172729" y="278830"/>
          <a:ext cx="787794" cy="189865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(2,897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  <cdr:relSizeAnchor xmlns:cdr="http://schemas.openxmlformats.org/drawingml/2006/chartDrawing">
    <cdr:from>
      <cdr:x>0.19094</cdr:x>
      <cdr:y>0.03683</cdr:y>
    </cdr:from>
    <cdr:to>
      <cdr:x>0.40084</cdr:x>
      <cdr:y>0.14668</cdr:y>
    </cdr:to>
    <cdr:sp macro="" textlink="">
      <cdr:nvSpPr>
        <cdr:cNvPr id="4" name="TextBox 7"/>
        <cdr:cNvSpPr txBox="1"/>
      </cdr:nvSpPr>
      <cdr:spPr>
        <a:xfrm xmlns:a="http://schemas.openxmlformats.org/drawingml/2006/main">
          <a:off x="716675" y="77405"/>
          <a:ext cx="787794" cy="2308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ko-KR" sz="900" dirty="0" smtClean="0">
              <a:latin typeface="+mj-lt"/>
            </a:rPr>
            <a:t>(4,528</a:t>
          </a:r>
          <a:r>
            <a:rPr lang="ko-KR" altLang="en-US" sz="900" dirty="0" smtClean="0">
              <a:latin typeface="+mj-lt"/>
            </a:rPr>
            <a:t>개</a:t>
          </a:r>
          <a:r>
            <a:rPr lang="en-US" altLang="ko-KR" sz="900" dirty="0" smtClean="0">
              <a:latin typeface="+mj-lt"/>
            </a:rPr>
            <a:t>)</a:t>
          </a:r>
          <a:endParaRPr lang="ko-KR" altLang="en-US" sz="900" dirty="0">
            <a:latin typeface="+mj-lt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0.64742</cdr:x>
      <cdr:y>0.40206</cdr:y>
    </cdr:from>
    <cdr:to>
      <cdr:x>0.73893</cdr:x>
      <cdr:y>0.51976</cdr:y>
    </cdr:to>
    <cdr:sp macro="" textlink="">
      <cdr:nvSpPr>
        <cdr:cNvPr id="2" name="TextBox 30"/>
        <cdr:cNvSpPr txBox="1"/>
      </cdr:nvSpPr>
      <cdr:spPr>
        <a:xfrm xmlns:a="http://schemas.openxmlformats.org/drawingml/2006/main">
          <a:off x="5332882" y="1156409"/>
          <a:ext cx="753724" cy="338554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altLang="ko-KR" sz="1600" b="1" dirty="0" smtClean="0">
              <a:solidFill>
                <a:srgbClr val="C00000"/>
              </a:solidFill>
              <a:latin typeface="+mj-lt"/>
            </a:rPr>
            <a:t>X12</a:t>
          </a:r>
          <a:endParaRPr lang="ko-KR" altLang="en-US" sz="1600" b="1" dirty="0">
            <a:solidFill>
              <a:srgbClr val="C00000"/>
            </a:solidFill>
            <a:latin typeface="+mj-lt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5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r">
              <a:defRPr sz="1200"/>
            </a:lvl1pPr>
          </a:lstStyle>
          <a:p>
            <a:fld id="{A0955C6A-6286-4949-9C38-5C6816709A16}" type="datetimeFigureOut">
              <a:rPr lang="ko-KR" altLang="en-US" smtClean="0"/>
              <a:pPr/>
              <a:t>2019-08-06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5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r">
              <a:defRPr sz="1200"/>
            </a:lvl1pPr>
          </a:lstStyle>
          <a:p>
            <a:fld id="{EA6DC73E-640F-427F-8594-F1EAD922FE3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3384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2"/>
            <a:ext cx="2945659" cy="498135"/>
          </a:xfrm>
          <a:prstGeom prst="rect">
            <a:avLst/>
          </a:prstGeom>
        </p:spPr>
        <p:txBody>
          <a:bodyPr vert="horz" lIns="91411" tIns="45706" rIns="91411" bIns="45706" rtlCol="0"/>
          <a:lstStyle>
            <a:lvl1pPr algn="r">
              <a:defRPr sz="1200"/>
            </a:lvl1pPr>
          </a:lstStyle>
          <a:p>
            <a:fld id="{C3EB8B3F-9BB8-45CF-84EB-0981187662AA}" type="datetimeFigureOut">
              <a:rPr lang="ko-KR" altLang="en-US" smtClean="0"/>
              <a:pPr/>
              <a:t>2019-08-06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1" tIns="45706" rIns="91411" bIns="4570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61"/>
            <a:ext cx="5438140" cy="3909239"/>
          </a:xfrm>
          <a:prstGeom prst="rect">
            <a:avLst/>
          </a:prstGeom>
        </p:spPr>
        <p:txBody>
          <a:bodyPr vert="horz" lIns="91411" tIns="45706" rIns="91411" bIns="45706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30091"/>
            <a:ext cx="2945659" cy="498134"/>
          </a:xfrm>
          <a:prstGeom prst="rect">
            <a:avLst/>
          </a:prstGeom>
        </p:spPr>
        <p:txBody>
          <a:bodyPr vert="horz" lIns="91411" tIns="45706" rIns="91411" bIns="45706" rtlCol="0" anchor="b"/>
          <a:lstStyle>
            <a:lvl1pPr algn="r">
              <a:defRPr sz="1200"/>
            </a:lvl1pPr>
          </a:lstStyle>
          <a:p>
            <a:fld id="{AF0E615B-3410-43A0-B6DB-1161CA1060F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382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28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105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8F662C83-1826-4FDF-8202-A8AA69C17CCA}" type="datetime1">
              <a:rPr lang="ko-KR" altLang="en-US" smtClean="0"/>
              <a:t>2019-08-06</a:t>
            </a:fld>
            <a:endParaRPr lang="ko-KR" alt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>
                <a:ea typeface="Tahoma" panose="020B0604030504040204" pitchFamily="34" charset="0"/>
              </a:rPr>
              <a:t>/ 20</a:t>
            </a:r>
            <a:endParaRPr lang="ko-KR" altLang="en-US" dirty="0"/>
          </a:p>
        </p:txBody>
      </p:sp>
      <p:sp>
        <p:nvSpPr>
          <p:cNvPr id="9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08203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547C085A-8814-44C9-BFB8-4CB754621C4A}" type="datetime1">
              <a:rPr lang="ko-KR" altLang="en-US" smtClean="0"/>
              <a:t>2019-08-06</a:t>
            </a:fld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>
                <a:ea typeface="Tahoma" panose="020B0604030504040204" pitchFamily="34" charset="0"/>
              </a:rPr>
              <a:t>/ 20</a:t>
            </a:r>
            <a:endParaRPr lang="ko-KR" altLang="en-US" dirty="0"/>
          </a:p>
        </p:txBody>
      </p:sp>
      <p:sp>
        <p:nvSpPr>
          <p:cNvPr id="7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04456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F3ED9-DC74-4C8C-8377-0099832BA421}" type="datetime1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74B24-6935-4E71-8911-83EF8794972C}" type="slidenum">
              <a:rPr lang="ko-KR" altLang="en-US"/>
              <a:pPr>
                <a:defRPr/>
              </a:pPr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/32</a:t>
            </a:r>
            <a:endParaRPr lang="ko-KR" altLang="en-US" dirty="0"/>
          </a:p>
        </p:txBody>
      </p:sp>
      <p:sp>
        <p:nvSpPr>
          <p:cNvPr id="5" name="바닥글 개체 틀 1"/>
          <p:cNvSpPr>
            <a:spLocks noGrp="1"/>
          </p:cNvSpPr>
          <p:nvPr>
            <p:ph type="ftr" sz="quarter" idx="12"/>
          </p:nvPr>
        </p:nvSpPr>
        <p:spPr>
          <a:xfrm>
            <a:off x="7404100" y="6584950"/>
            <a:ext cx="1739900" cy="269875"/>
          </a:xfrm>
        </p:spPr>
        <p:txBody>
          <a:bodyPr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800" b="0">
                <a:solidFill>
                  <a:schemeClr val="tx1">
                    <a:tint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ko-KR" dirty="0" smtClean="0"/>
              <a:t>IT </a:t>
            </a:r>
            <a:r>
              <a:rPr lang="ko-KR" altLang="en-US" dirty="0" smtClean="0"/>
              <a:t>미래전략부문</a:t>
            </a:r>
            <a:endParaRPr lang="ko-KR" altLang="en-US" dirty="0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37764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55AF6-6FE2-48DD-99FF-C1C068A84852}" type="datetimeFigureOut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8EE55-A442-4036-8769-465FA5838C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0739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0671D377-CDAF-4134-A811-9042D82CE6EE}" type="datetime1">
              <a:rPr lang="ko-KR" altLang="en-US" smtClean="0"/>
              <a:t>2019-08-06</a:t>
            </a:fld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 dirty="0" smtClean="0"/>
              <a:t> </a:t>
            </a:r>
            <a:r>
              <a:rPr lang="en-US" altLang="ko-KR" dirty="0" smtClean="0">
                <a:ea typeface="Tahoma" panose="020B0604030504040204" pitchFamily="34" charset="0"/>
              </a:rPr>
              <a:t>/ 12</a:t>
            </a:r>
            <a:endParaRPr lang="ko-KR" altLang="en-US" dirty="0"/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dirty="0"/>
              <a:t>IT </a:t>
            </a:r>
            <a:r>
              <a:rPr lang="ko-KR" altLang="en-US" dirty="0" smtClean="0"/>
              <a:t>미래전략부문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22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84" r:id="rId2"/>
    <p:sldLayoutId id="2147483685" r:id="rId3"/>
    <p:sldLayoutId id="2147483686" r:id="rId4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992379" y="4817927"/>
            <a:ext cx="31592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2019.04</a:t>
            </a:r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r>
              <a:rPr lang="en-US" altLang="ko-KR" sz="1200" dirty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IT</a:t>
            </a:r>
            <a:r>
              <a:rPr lang="ko-KR" altLang="en-US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미래전략부문</a:t>
            </a:r>
            <a:endParaRPr lang="en-US" altLang="ko-KR" sz="1200" dirty="0" smtClean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r>
              <a:rPr lang="ko-KR" altLang="en-US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여승은</a:t>
            </a:r>
            <a:r>
              <a:rPr lang="en-US" altLang="ko-KR" sz="1200" dirty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dirty="0" smtClean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사원</a:t>
            </a:r>
            <a:endParaRPr lang="ko-KR" altLang="en-US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7750" y="2736642"/>
            <a:ext cx="6768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VGT &amp; </a:t>
            </a:r>
            <a:r>
              <a:rPr lang="ko-KR" altLang="en-US" sz="30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노랑풍선 상품비교 분석</a:t>
            </a:r>
            <a:endParaRPr lang="en-US" altLang="ko-KR" sz="3000" b="1" dirty="0">
              <a:solidFill>
                <a:schemeClr val="accent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7750" y="3546452"/>
            <a:ext cx="6768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필리핀 상품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13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49134" y="642817"/>
            <a:ext cx="1845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목        차 </a:t>
            </a:r>
            <a:endParaRPr lang="en-US" altLang="ko-KR" sz="28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96279" y="1604402"/>
            <a:ext cx="28923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11" indent="-400011">
              <a:lnSpc>
                <a:spcPct val="150000"/>
              </a:lnSpc>
              <a:buFont typeface="+mj-lt"/>
              <a:buAutoNum type="romanUcPeriod"/>
            </a:pPr>
            <a:r>
              <a:rPr lang="en-US" altLang="ko-KR" sz="1600" b="1" dirty="0" smtClean="0">
                <a:latin typeface="+mn-ea"/>
              </a:rPr>
              <a:t>Intro </a:t>
            </a:r>
          </a:p>
          <a:p>
            <a:pPr marL="400011" indent="-400011">
              <a:lnSpc>
                <a:spcPct val="150000"/>
              </a:lnSpc>
              <a:buFont typeface="+mj-lt"/>
              <a:buAutoNum type="romanUcPeriod"/>
            </a:pPr>
            <a:endParaRPr lang="en-US" altLang="ko-KR" sz="1600" b="1" dirty="0" smtClean="0">
              <a:latin typeface="+mn-ea"/>
            </a:endParaRPr>
          </a:p>
          <a:p>
            <a:pPr marL="400011" indent="-400011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600" b="1" dirty="0" smtClean="0">
                <a:latin typeface="+mn-ea"/>
              </a:rPr>
              <a:t>요약</a:t>
            </a:r>
            <a:endParaRPr lang="en-US" altLang="ko-KR" sz="1600" b="1" dirty="0" smtClean="0">
              <a:latin typeface="+mn-ea"/>
            </a:endParaRPr>
          </a:p>
          <a:p>
            <a:pPr marL="400011" indent="-400011">
              <a:lnSpc>
                <a:spcPct val="150000"/>
              </a:lnSpc>
              <a:buFont typeface="+mj-lt"/>
              <a:buAutoNum type="romanUcPeriod"/>
            </a:pPr>
            <a:endParaRPr lang="en-US" altLang="ko-KR" sz="1600" dirty="0" smtClean="0">
              <a:latin typeface="+mn-ea"/>
            </a:endParaRPr>
          </a:p>
          <a:p>
            <a:pPr marL="400011" indent="-400011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600" b="1" dirty="0" smtClean="0">
                <a:latin typeface="+mn-ea"/>
              </a:rPr>
              <a:t>비교분석</a:t>
            </a:r>
            <a:endParaRPr lang="en-US" altLang="ko-KR" sz="1600" b="1" dirty="0" smtClean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가</a:t>
            </a:r>
            <a:r>
              <a:rPr lang="en-US" altLang="ko-KR" sz="1400" dirty="0" smtClean="0">
                <a:latin typeface="+mn-ea"/>
              </a:rPr>
              <a:t>. </a:t>
            </a:r>
            <a:r>
              <a:rPr lang="ko-KR" altLang="en-US" sz="1400" dirty="0" smtClean="0">
                <a:latin typeface="+mn-ea"/>
              </a:rPr>
              <a:t>마스터 및 행사</a:t>
            </a:r>
            <a:r>
              <a:rPr lang="en-US" altLang="ko-KR" sz="1400" dirty="0" smtClean="0">
                <a:latin typeface="+mn-ea"/>
              </a:rPr>
              <a:t> </a:t>
            </a:r>
            <a:r>
              <a:rPr lang="ko-KR" altLang="en-US" sz="1400" dirty="0" smtClean="0">
                <a:latin typeface="+mn-ea"/>
              </a:rPr>
              <a:t> </a:t>
            </a:r>
            <a:endParaRPr lang="en-US" altLang="ko-KR" sz="1400" dirty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나</a:t>
            </a:r>
            <a:r>
              <a:rPr lang="en-US" altLang="ko-KR" sz="1400" dirty="0" smtClean="0">
                <a:latin typeface="+mn-ea"/>
              </a:rPr>
              <a:t>. </a:t>
            </a:r>
            <a:r>
              <a:rPr lang="ko-KR" altLang="en-US" sz="1400" dirty="0" smtClean="0">
                <a:latin typeface="+mn-ea"/>
              </a:rPr>
              <a:t>출발확정상품</a:t>
            </a:r>
            <a:r>
              <a:rPr lang="en-US" altLang="ko-KR" sz="1400" dirty="0" smtClean="0">
                <a:latin typeface="+mn-ea"/>
              </a:rPr>
              <a:t> </a:t>
            </a:r>
          </a:p>
          <a:p>
            <a:pPr marL="457154" lvl="2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다</a:t>
            </a:r>
            <a:r>
              <a:rPr lang="en-US" altLang="ko-KR" sz="1400" dirty="0" smtClean="0">
                <a:latin typeface="+mn-ea"/>
              </a:rPr>
              <a:t>. </a:t>
            </a:r>
            <a:r>
              <a:rPr lang="ko-KR" altLang="en-US" sz="1400" dirty="0" smtClean="0">
                <a:latin typeface="+mn-ea"/>
              </a:rPr>
              <a:t>등급별 행사</a:t>
            </a:r>
            <a:endParaRPr lang="en-US" altLang="ko-KR" sz="1400" dirty="0" smtClean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라</a:t>
            </a:r>
            <a:r>
              <a:rPr lang="en-US" altLang="ko-KR" sz="1400" dirty="0" smtClean="0">
                <a:latin typeface="+mn-ea"/>
              </a:rPr>
              <a:t>. </a:t>
            </a:r>
            <a:r>
              <a:rPr lang="ko-KR" altLang="en-US" sz="1400" dirty="0" smtClean="0">
                <a:latin typeface="+mn-ea"/>
              </a:rPr>
              <a:t>지역 및 등급별 행사 </a:t>
            </a:r>
            <a:endParaRPr lang="en-US" altLang="ko-KR" sz="1400" dirty="0" smtClean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마</a:t>
            </a:r>
            <a:r>
              <a:rPr lang="en-US" altLang="ko-KR" sz="1400" dirty="0" smtClean="0">
                <a:latin typeface="+mn-ea"/>
              </a:rPr>
              <a:t>. </a:t>
            </a:r>
            <a:r>
              <a:rPr lang="ko-KR" altLang="en-US" sz="1400" dirty="0" smtClean="0">
                <a:latin typeface="+mn-ea"/>
              </a:rPr>
              <a:t>항공</a:t>
            </a:r>
            <a:endParaRPr lang="en-US" altLang="ko-KR" sz="1400" dirty="0" smtClean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바</a:t>
            </a:r>
            <a:r>
              <a:rPr lang="en-US" altLang="ko-KR" sz="1400" dirty="0" smtClean="0">
                <a:latin typeface="+mn-ea"/>
              </a:rPr>
              <a:t>. </a:t>
            </a:r>
            <a:r>
              <a:rPr lang="ko-KR" altLang="en-US" sz="1400" dirty="0" smtClean="0">
                <a:latin typeface="+mn-ea"/>
              </a:rPr>
              <a:t>전체 상품가격 </a:t>
            </a:r>
            <a:endParaRPr lang="en-US" altLang="ko-KR" sz="1400" dirty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사</a:t>
            </a:r>
            <a:r>
              <a:rPr lang="en-US" altLang="ko-KR" sz="1400" dirty="0" smtClean="0">
                <a:latin typeface="+mn-ea"/>
              </a:rPr>
              <a:t>. </a:t>
            </a:r>
            <a:r>
              <a:rPr lang="ko-KR" altLang="en-US" sz="1400" dirty="0" smtClean="0">
                <a:latin typeface="+mn-ea"/>
              </a:rPr>
              <a:t>지역 및 등급별 상품가격</a:t>
            </a:r>
            <a:endParaRPr lang="en-US" altLang="ko-KR" sz="1400" dirty="0" smtClean="0">
              <a:latin typeface="+mn-ea"/>
            </a:endParaRPr>
          </a:p>
          <a:p>
            <a:pPr marL="457154" lvl="2">
              <a:lnSpc>
                <a:spcPct val="150000"/>
              </a:lnSpc>
            </a:pPr>
            <a:r>
              <a:rPr lang="ko-KR" altLang="en-US" sz="1400" dirty="0" smtClean="0">
                <a:latin typeface="+mn-ea"/>
              </a:rPr>
              <a:t>아</a:t>
            </a:r>
            <a:r>
              <a:rPr lang="en-US" altLang="ko-KR" sz="1400" dirty="0" smtClean="0">
                <a:latin typeface="+mn-ea"/>
              </a:rPr>
              <a:t>. </a:t>
            </a:r>
            <a:r>
              <a:rPr lang="ko-KR" altLang="en-US" sz="1400" dirty="0" smtClean="0">
                <a:latin typeface="+mn-ea"/>
              </a:rPr>
              <a:t>월별 예약인원</a:t>
            </a:r>
            <a:endParaRPr lang="en-US" altLang="ko-KR" sz="14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42838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62037" y="1900842"/>
            <a:ext cx="761992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b="1" dirty="0" smtClean="0">
                <a:latin typeface="+mn-ea"/>
              </a:rPr>
              <a:t>분석목적</a:t>
            </a:r>
            <a:endParaRPr lang="en-US" altLang="ko-KR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+mn-ea"/>
              </a:rPr>
              <a:t>      : </a:t>
            </a:r>
            <a:r>
              <a:rPr lang="ko-KR" altLang="en-US" sz="1600" dirty="0" err="1" smtClean="0">
                <a:latin typeface="+mn-ea"/>
              </a:rPr>
              <a:t>참좋은여행과</a:t>
            </a:r>
            <a:r>
              <a:rPr lang="ko-KR" altLang="en-US" sz="1600" dirty="0" smtClean="0">
                <a:latin typeface="+mn-ea"/>
              </a:rPr>
              <a:t> 노랑풍선</a:t>
            </a:r>
            <a:r>
              <a:rPr lang="ko-KR" altLang="ko-KR" sz="1600" dirty="0" smtClean="0">
                <a:latin typeface="+mn-ea"/>
              </a:rPr>
              <a:t> </a:t>
            </a:r>
            <a:r>
              <a:rPr lang="ko-KR" altLang="en-US" sz="1600" dirty="0" smtClean="0">
                <a:latin typeface="+mn-ea"/>
              </a:rPr>
              <a:t>상품 비교 및 자사의 전략적 </a:t>
            </a:r>
            <a:r>
              <a:rPr lang="ko-KR" altLang="en-US" sz="1600" dirty="0" err="1" smtClean="0">
                <a:latin typeface="+mn-ea"/>
              </a:rPr>
              <a:t>포지셔닝</a:t>
            </a:r>
            <a:r>
              <a:rPr lang="ko-KR" altLang="en-US" sz="1600" dirty="0" smtClean="0">
                <a:latin typeface="+mn-ea"/>
              </a:rPr>
              <a:t> 분석</a:t>
            </a:r>
            <a:endParaRPr lang="en-US" altLang="ko-KR" sz="16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b="1" dirty="0" smtClean="0">
                <a:latin typeface="+mn-ea"/>
              </a:rPr>
              <a:t>2. </a:t>
            </a:r>
            <a:r>
              <a:rPr lang="ko-KR" altLang="en-US" b="1" dirty="0" smtClean="0">
                <a:latin typeface="+mn-ea"/>
              </a:rPr>
              <a:t>분석범위</a:t>
            </a:r>
            <a:endParaRPr lang="en-US" altLang="ko-KR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 smtClean="0">
                <a:latin typeface="+mn-ea"/>
              </a:rPr>
              <a:t>      : </a:t>
            </a:r>
            <a:r>
              <a:rPr lang="en-US" altLang="ko-KR" sz="1600" b="1" dirty="0" smtClean="0">
                <a:latin typeface="+mn-ea"/>
              </a:rPr>
              <a:t>2019</a:t>
            </a:r>
            <a:r>
              <a:rPr lang="ko-KR" altLang="en-US" sz="1600" b="1" dirty="0" smtClean="0">
                <a:latin typeface="+mn-ea"/>
              </a:rPr>
              <a:t>년 </a:t>
            </a:r>
            <a:r>
              <a:rPr lang="en-US" altLang="ko-KR" sz="1600" b="1" dirty="0">
                <a:latin typeface="+mn-ea"/>
              </a:rPr>
              <a:t>4</a:t>
            </a:r>
            <a:r>
              <a:rPr lang="ko-KR" altLang="en-US" sz="1600" b="1" dirty="0" smtClean="0">
                <a:latin typeface="+mn-ea"/>
              </a:rPr>
              <a:t>월</a:t>
            </a:r>
            <a:r>
              <a:rPr lang="en-US" altLang="ko-KR" sz="1600" b="1" dirty="0" smtClean="0">
                <a:latin typeface="+mn-ea"/>
              </a:rPr>
              <a:t>~6</a:t>
            </a:r>
            <a:r>
              <a:rPr lang="ko-KR" altLang="en-US" sz="1600" b="1" dirty="0" smtClean="0">
                <a:latin typeface="+mn-ea"/>
              </a:rPr>
              <a:t>월 필리핀 패키지</a:t>
            </a:r>
            <a:r>
              <a:rPr lang="en-US" altLang="ko-KR" sz="1200" dirty="0" smtClean="0">
                <a:latin typeface="+mn-ea"/>
              </a:rPr>
              <a:t>(</a:t>
            </a:r>
            <a:r>
              <a:rPr lang="ko-KR" altLang="en-US" sz="1200" dirty="0" smtClean="0">
                <a:latin typeface="+mn-ea"/>
              </a:rPr>
              <a:t>지방출발 상품 제외</a:t>
            </a:r>
            <a:r>
              <a:rPr lang="en-US" altLang="ko-KR" sz="1200" dirty="0" smtClean="0"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b="1" dirty="0" smtClean="0">
                <a:latin typeface="+mn-ea"/>
              </a:rPr>
              <a:t>3. </a:t>
            </a:r>
            <a:r>
              <a:rPr lang="ko-KR" altLang="en-US" b="1" dirty="0" smtClean="0">
                <a:latin typeface="+mn-ea"/>
              </a:rPr>
              <a:t>분석방법</a:t>
            </a:r>
            <a:r>
              <a:rPr lang="en-US" altLang="ko-KR" sz="1600" b="1" dirty="0">
                <a:latin typeface="+mn-ea"/>
              </a:rPr>
              <a:t/>
            </a:r>
            <a:br>
              <a:rPr lang="en-US" altLang="ko-KR" sz="1600" b="1" dirty="0">
                <a:latin typeface="+mn-ea"/>
              </a:rPr>
            </a:br>
            <a:r>
              <a:rPr lang="en-US" altLang="ko-KR" sz="1600" b="1" dirty="0">
                <a:latin typeface="+mn-ea"/>
              </a:rPr>
              <a:t>     : VGT </a:t>
            </a:r>
            <a:r>
              <a:rPr lang="ko-KR" altLang="en-US" sz="1600" b="1" dirty="0">
                <a:latin typeface="+mn-ea"/>
              </a:rPr>
              <a:t>약 </a:t>
            </a:r>
            <a:r>
              <a:rPr lang="en-US" altLang="ko-KR" sz="1600" b="1" dirty="0" smtClean="0">
                <a:latin typeface="+mn-ea"/>
              </a:rPr>
              <a:t>17,242</a:t>
            </a:r>
            <a:r>
              <a:rPr lang="ko-KR" altLang="en-US" sz="1600" b="1" dirty="0" smtClean="0">
                <a:latin typeface="+mn-ea"/>
              </a:rPr>
              <a:t>건</a:t>
            </a:r>
            <a:r>
              <a:rPr lang="en-US" altLang="ko-KR" sz="1600" b="1" dirty="0">
                <a:latin typeface="+mn-ea"/>
              </a:rPr>
              <a:t>, </a:t>
            </a:r>
            <a:r>
              <a:rPr lang="ko-KR" altLang="en-US" sz="1600" b="1" dirty="0">
                <a:latin typeface="+mn-ea"/>
              </a:rPr>
              <a:t>노랑풍선 약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39,130</a:t>
            </a:r>
            <a:r>
              <a:rPr lang="ko-KR" altLang="en-US" sz="1600" b="1" dirty="0" smtClean="0">
                <a:latin typeface="+mn-ea"/>
              </a:rPr>
              <a:t>건</a:t>
            </a:r>
            <a:r>
              <a:rPr lang="ko-KR" altLang="en-US" sz="1600" dirty="0" smtClean="0">
                <a:latin typeface="+mn-ea"/>
              </a:rPr>
              <a:t>의 </a:t>
            </a:r>
            <a:r>
              <a:rPr lang="ko-KR" altLang="en-US" sz="1600" dirty="0">
                <a:latin typeface="+mn-ea"/>
              </a:rPr>
              <a:t>행사 상품 데이터 </a:t>
            </a:r>
            <a:r>
              <a:rPr lang="ko-KR" altLang="en-US" sz="1600" dirty="0" smtClean="0">
                <a:latin typeface="+mn-ea"/>
              </a:rPr>
              <a:t>분석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Ⅰ</a:t>
            </a:r>
            <a:r>
              <a:rPr lang="en-US" altLang="ko-KR" sz="3200" dirty="0" smtClean="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Intro</a:t>
            </a:r>
            <a:endParaRPr lang="en-US" altLang="ko-KR" sz="3200" dirty="0">
              <a:solidFill>
                <a:schemeClr val="accent3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날짜 개체 틀 1"/>
          <p:cNvSpPr>
            <a:spLocks noGrp="1"/>
          </p:cNvSpPr>
          <p:nvPr>
            <p:ph type="dt" sz="half" idx="4294967295"/>
          </p:nvPr>
        </p:nvSpPr>
        <p:spPr>
          <a:xfrm>
            <a:off x="-612475" y="6664352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3498475" y="6664352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3</a:t>
            </a:r>
            <a:r>
              <a:rPr lang="ko-KR" altLang="en-US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 </a:t>
            </a:r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/ 12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8" name="바닥글 개체 틀 3"/>
          <p:cNvSpPr>
            <a:spLocks noGrp="1"/>
          </p:cNvSpPr>
          <p:nvPr>
            <p:ph type="ftr" sz="quarter" idx="4294967295"/>
          </p:nvPr>
        </p:nvSpPr>
        <p:spPr>
          <a:xfrm>
            <a:off x="7699075" y="6651471"/>
            <a:ext cx="1740568" cy="19545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IT </a:t>
            </a:r>
            <a:r>
              <a:rPr lang="ko-KR" altLang="en-US" sz="800" dirty="0" smtClean="0">
                <a:solidFill>
                  <a:schemeClr val="accent5">
                    <a:lumMod val="50000"/>
                  </a:schemeClr>
                </a:solidFill>
                <a:latin typeface="+mj-lt"/>
              </a:rPr>
              <a:t>미래전략부문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1846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448670"/>
              </p:ext>
            </p:extLst>
          </p:nvPr>
        </p:nvGraphicFramePr>
        <p:xfrm>
          <a:off x="609669" y="1034352"/>
          <a:ext cx="7923144" cy="39946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0786"/>
                <a:gridCol w="1980786"/>
                <a:gridCol w="1980786"/>
                <a:gridCol w="1980786"/>
              </a:tblGrid>
              <a:tr h="59469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참좋은여행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노랑풍선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노랑풍선 </a:t>
                      </a:r>
                      <a:r>
                        <a:rPr lang="ko-KR" altLang="en-US" sz="1400" b="1" u="none" strike="noStrike" dirty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대비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475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마스터상품 수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74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166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45%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544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행사상품 수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17,242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39,130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44%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5475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평균 </a:t>
                      </a:r>
                      <a:r>
                        <a:rPr lang="ko-KR" altLang="en-US" sz="12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상품가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676,632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605,375</a:t>
                      </a:r>
                      <a:endParaRPr lang="ko-KR" altLang="en-US" sz="12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112%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5475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u="none" strike="noStrike" dirty="0" smtClean="0"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출발확정행사 수</a:t>
                      </a:r>
                      <a:endParaRPr lang="en-US" altLang="ko-KR" sz="1200" b="1" u="none" strike="noStrike" dirty="0" smtClean="0"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5,830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0.1%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5475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출발확정행사 비율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0.02%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-14.98%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5475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전체상품 </a:t>
                      </a:r>
                      <a:r>
                        <a:rPr lang="ko-KR" altLang="en-US" sz="1200" b="1" u="none" strike="noStrike" dirty="0" err="1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실예약인원</a:t>
                      </a:r>
                      <a:endParaRPr lang="en-US" altLang="ko-KR" sz="1200" b="1" u="none" strike="noStrike" dirty="0" smtClean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1,878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1,757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107%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5475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전체상품 예약인원</a:t>
                      </a:r>
                      <a:r>
                        <a:rPr lang="en-US" altLang="ko-KR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/>
                      </a:r>
                      <a:br>
                        <a:rPr lang="en-US" altLang="ko-KR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</a:br>
                      <a:r>
                        <a:rPr lang="en-US" altLang="ko-KR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허수포함</a:t>
                      </a:r>
                      <a:r>
                        <a:rPr lang="en-US" altLang="ko-KR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1,878</a:t>
                      </a:r>
                      <a:r>
                        <a:rPr lang="en-US" altLang="ko-KR" sz="1200" b="0" i="0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200" b="0" i="0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허수 </a:t>
                      </a:r>
                      <a:r>
                        <a:rPr lang="ko-KR" altLang="en-US" sz="1200" b="0" i="0" u="none" strike="noStrike" kern="1200" dirty="0" err="1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미운영</a:t>
                      </a:r>
                      <a:r>
                        <a:rPr lang="en-US" altLang="ko-KR" sz="1200" b="0" i="0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endParaRPr lang="ko-KR" altLang="en-US" sz="1200" b="0" i="0" u="none" strike="noStrike" kern="1200" dirty="0" smtClean="0">
                        <a:solidFill>
                          <a:srgbClr val="C00000"/>
                        </a:solidFill>
                        <a:effectLst/>
                        <a:latin typeface="+mn-lt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20,501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4995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출발확정행사 예약인원</a:t>
                      </a:r>
                      <a:r>
                        <a:rPr lang="en-US" altLang="ko-KR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/>
                      </a:r>
                      <a:br>
                        <a:rPr lang="en-US" altLang="ko-KR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</a:br>
                      <a:r>
                        <a:rPr lang="en-US" altLang="ko-KR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허수포함</a:t>
                      </a:r>
                      <a:r>
                        <a:rPr lang="en-US" altLang="ko-KR" sz="1200" b="1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27(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허수 </a:t>
                      </a:r>
                      <a:r>
                        <a:rPr lang="ko-KR" altLang="en-US" sz="1200" b="0" i="0" u="none" strike="noStrike" dirty="0" err="1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미운영</a:t>
                      </a:r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2,281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1%</a:t>
                      </a:r>
                      <a:endParaRPr lang="en-US" altLang="ko-KR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4995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출발확정상품수당</a:t>
                      </a:r>
                      <a:endParaRPr lang="en-US" altLang="ko-KR" sz="1200" b="1" i="0" u="none" strike="noStrike" dirty="0" smtClean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평균 예약인원</a:t>
                      </a:r>
                      <a:endParaRPr lang="ko-KR" alt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9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명</a:t>
                      </a:r>
                      <a:endParaRPr lang="ko-KR" alt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나눔고딕" panose="020D0604000000000000" pitchFamily="50" charset="-127"/>
                        </a:rPr>
                        <a:t>명</a:t>
                      </a:r>
                      <a:endParaRPr lang="en-US" altLang="ko-KR" sz="1200" b="0" i="0" u="none" strike="noStrike" dirty="0" smtClean="0">
                        <a:solidFill>
                          <a:srgbClr val="C00000"/>
                        </a:solidFill>
                        <a:effectLst/>
                        <a:latin typeface="+mj-lt"/>
                        <a:ea typeface="나눔고딕" panose="020D0604000000000000" pitchFamily="50" charset="-127"/>
                      </a:endParaRPr>
                    </a:p>
                  </a:txBody>
                  <a:tcPr marL="6052" marR="6052" marT="605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300%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527" y="212002"/>
            <a:ext cx="5834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Ⅱ. </a:t>
            </a:r>
            <a:r>
              <a:rPr lang="ko-KR" altLang="en-US" dirty="0"/>
              <a:t>요약</a:t>
            </a:r>
            <a:endParaRPr lang="en-US" altLang="ko-KR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날짜 개체 틀 1"/>
          <p:cNvSpPr>
            <a:spLocks noGrp="1"/>
          </p:cNvSpPr>
          <p:nvPr>
            <p:ph type="dt" sz="half" idx="4294967295"/>
          </p:nvPr>
        </p:nvSpPr>
        <p:spPr>
          <a:xfrm>
            <a:off x="-612475" y="6664352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8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3543300" y="6664352"/>
            <a:ext cx="2057400" cy="18257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dirty="0">
                <a:solidFill>
                  <a:schemeClr val="accent5">
                    <a:lumMod val="50000"/>
                  </a:schemeClr>
                </a:solidFill>
                <a:latin typeface="+mn-ea"/>
              </a:rPr>
              <a:t>4</a:t>
            </a:r>
            <a:r>
              <a:rPr lang="ko-KR" altLang="en-US" sz="8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/ 12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바닥글 개체 틀 3"/>
          <p:cNvSpPr>
            <a:spLocks noGrp="1"/>
          </p:cNvSpPr>
          <p:nvPr>
            <p:ph type="ftr" sz="quarter" idx="4294967295"/>
          </p:nvPr>
        </p:nvSpPr>
        <p:spPr>
          <a:xfrm>
            <a:off x="7699075" y="6651471"/>
            <a:ext cx="1740568" cy="19545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ko-KR" sz="8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IT </a:t>
            </a:r>
            <a:r>
              <a:rPr lang="ko-KR" altLang="en-US" sz="800" dirty="0" smtClean="0">
                <a:solidFill>
                  <a:schemeClr val="accent5">
                    <a:lumMod val="50000"/>
                  </a:schemeClr>
                </a:solidFill>
                <a:latin typeface="+mn-ea"/>
              </a:rPr>
              <a:t>미래전략부문</a:t>
            </a:r>
            <a:endParaRPr lang="ko-KR" altLang="en-US" sz="800" dirty="0">
              <a:solidFill>
                <a:schemeClr val="accent5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61572" y="5032558"/>
            <a:ext cx="79565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노랑풍선 </a:t>
            </a:r>
            <a:r>
              <a:rPr lang="ko-KR" altLang="en-US" sz="1400" dirty="0">
                <a:latin typeface="+mj-lt"/>
              </a:rPr>
              <a:t>대비 </a:t>
            </a:r>
            <a:r>
              <a:rPr lang="ko-KR" altLang="en-US" sz="1400" b="1" dirty="0">
                <a:latin typeface="+mj-lt"/>
              </a:rPr>
              <a:t>출발확정 </a:t>
            </a:r>
            <a:r>
              <a:rPr lang="ko-KR" altLang="en-US" sz="1400" b="1" dirty="0" smtClean="0">
                <a:latin typeface="+mj-lt"/>
              </a:rPr>
              <a:t>행사비율이 낮음</a:t>
            </a:r>
            <a:endParaRPr lang="en-US" altLang="ko-KR" sz="1400" b="1" dirty="0" smtClean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출발확정 </a:t>
            </a:r>
            <a:r>
              <a:rPr lang="ko-KR" altLang="en-US" sz="1400" b="1" dirty="0" smtClean="0">
                <a:latin typeface="+mj-lt"/>
              </a:rPr>
              <a:t>행사비율이 낮은 원인으로 </a:t>
            </a:r>
            <a:r>
              <a:rPr lang="ko-KR" altLang="en-US" sz="1400" dirty="0" smtClean="0">
                <a:latin typeface="+mj-lt"/>
              </a:rPr>
              <a:t>① 대부분의 상품들이 최소출발 인원이 </a:t>
            </a:r>
            <a:r>
              <a:rPr lang="en-US" altLang="ko-KR" sz="1400" dirty="0" smtClean="0">
                <a:latin typeface="+mj-lt"/>
              </a:rPr>
              <a:t>1</a:t>
            </a:r>
            <a:r>
              <a:rPr lang="ko-KR" altLang="en-US" sz="1400" dirty="0" smtClean="0">
                <a:latin typeface="+mj-lt"/>
              </a:rPr>
              <a:t>명 또는 </a:t>
            </a:r>
            <a:r>
              <a:rPr lang="en-US" altLang="ko-KR" sz="1400" dirty="0" smtClean="0">
                <a:latin typeface="+mj-lt"/>
              </a:rPr>
              <a:t>2</a:t>
            </a:r>
            <a:r>
              <a:rPr lang="ko-KR" altLang="en-US" sz="1400" dirty="0" smtClean="0">
                <a:latin typeface="+mj-lt"/>
              </a:rPr>
              <a:t>명</a:t>
            </a:r>
            <a:endParaRPr lang="en-US" altLang="ko-KR" sz="1400" dirty="0" smtClean="0">
              <a:latin typeface="+mj-lt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096340" y="5986451"/>
            <a:ext cx="4348920" cy="550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/>
              <a:t> </a:t>
            </a:r>
            <a:r>
              <a:rPr lang="en-US" altLang="ko-KR" sz="1400" dirty="0" smtClean="0"/>
              <a:t>② </a:t>
            </a:r>
            <a:r>
              <a:rPr lang="ko-KR" altLang="en-US" sz="1400" dirty="0" smtClean="0"/>
              <a:t>항공객실 실시간 체크로 </a:t>
            </a:r>
            <a:r>
              <a:rPr lang="ko-KR" altLang="en-US" sz="1400" b="1" dirty="0" smtClean="0">
                <a:solidFill>
                  <a:srgbClr val="C00000"/>
                </a:solidFill>
              </a:rPr>
              <a:t>출발확정이 의미 없는 지역</a:t>
            </a:r>
            <a:endParaRPr lang="en-US" altLang="ko-KR" sz="1400" b="1" dirty="0" smtClean="0">
              <a:solidFill>
                <a:srgbClr val="C00000"/>
              </a:solidFill>
            </a:endParaRPr>
          </a:p>
          <a:p>
            <a:pPr algn="r">
              <a:lnSpc>
                <a:spcPct val="150000"/>
              </a:lnSpc>
            </a:pPr>
            <a:r>
              <a:rPr lang="en-US" altLang="ko-KR" sz="1050" dirty="0" smtClean="0"/>
              <a:t>(</a:t>
            </a:r>
            <a:r>
              <a:rPr lang="ko-KR" altLang="en-US" sz="1050" dirty="0" smtClean="0"/>
              <a:t>출처 </a:t>
            </a:r>
            <a:r>
              <a:rPr lang="en-US" altLang="ko-KR" sz="1050" dirty="0" smtClean="0"/>
              <a:t>– </a:t>
            </a:r>
            <a:r>
              <a:rPr lang="ko-KR" altLang="en-US" sz="1050" dirty="0" smtClean="0"/>
              <a:t>필리핀</a:t>
            </a:r>
            <a:r>
              <a:rPr lang="en-US" altLang="ko-KR" sz="1050" dirty="0" smtClean="0"/>
              <a:t>,</a:t>
            </a:r>
            <a:r>
              <a:rPr lang="ko-KR" altLang="en-US" sz="1050" dirty="0" err="1" smtClean="0"/>
              <a:t>싱가폴</a:t>
            </a:r>
            <a:r>
              <a:rPr lang="ko-KR" altLang="en-US" sz="1050" dirty="0" smtClean="0"/>
              <a:t> 말레이시아</a:t>
            </a:r>
            <a:r>
              <a:rPr lang="en-US" altLang="ko-KR" sz="1050" dirty="0" smtClean="0"/>
              <a:t> </a:t>
            </a:r>
            <a:r>
              <a:rPr lang="ko-KR" altLang="en-US" sz="1050" dirty="0" smtClean="0"/>
              <a:t>팀</a:t>
            </a:r>
            <a:r>
              <a:rPr lang="en-US" altLang="ko-KR" sz="1050" dirty="0" smtClean="0"/>
              <a:t>)</a:t>
            </a:r>
            <a:r>
              <a:rPr lang="ko-KR" altLang="en-US" sz="1050" dirty="0" smtClean="0"/>
              <a:t> 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414965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433970" y="1219512"/>
            <a:ext cx="201593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60959" y="1215949"/>
            <a:ext cx="18865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마스터 상품 개수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2" y="1220490"/>
            <a:ext cx="19431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527" y="212002"/>
            <a:ext cx="8989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 smtClean="0"/>
              <a:t>Ⅲ. </a:t>
            </a:r>
            <a:r>
              <a:rPr lang="ko-KR" altLang="en-US" dirty="0" smtClean="0"/>
              <a:t>비교 분석 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마스터 및 행사</a:t>
            </a:r>
            <a:r>
              <a:rPr lang="en-US" altLang="ko-KR" sz="2000" b="1" dirty="0" smtClean="0"/>
              <a:t>)</a:t>
            </a:r>
            <a:endParaRPr lang="ko-KR" altLang="en-US" b="1" dirty="0"/>
          </a:p>
        </p:txBody>
      </p:sp>
      <p:sp>
        <p:nvSpPr>
          <p:cNvPr id="25" name="직사각형 24"/>
          <p:cNvSpPr/>
          <p:nvPr/>
        </p:nvSpPr>
        <p:spPr bwMode="auto">
          <a:xfrm>
            <a:off x="424738" y="1219511"/>
            <a:ext cx="3851427" cy="264512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433978" y="1219511"/>
            <a:ext cx="4091457" cy="264512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433979" y="1225195"/>
            <a:ext cx="220353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4433977" y="1208041"/>
            <a:ext cx="22035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지역별 행사 상품 개수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49488" y="4818217"/>
            <a:ext cx="479966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j-lt"/>
              </a:rPr>
              <a:t>마스터 당 행사 상품 수 </a:t>
            </a:r>
            <a:r>
              <a:rPr lang="en-US" altLang="ko-KR" sz="1300" dirty="0" smtClean="0">
                <a:latin typeface="+mj-lt"/>
              </a:rPr>
              <a:t>: VGT –</a:t>
            </a:r>
            <a:r>
              <a:rPr lang="en-US" altLang="ko-KR" sz="1300" b="1" dirty="0" smtClean="0">
                <a:solidFill>
                  <a:srgbClr val="C00000"/>
                </a:solidFill>
                <a:latin typeface="+mj-lt"/>
              </a:rPr>
              <a:t>233</a:t>
            </a:r>
            <a:r>
              <a:rPr lang="ko-KR" altLang="en-US" sz="1300" dirty="0" smtClean="0">
                <a:latin typeface="+mj-lt"/>
              </a:rPr>
              <a:t>개</a:t>
            </a:r>
            <a:r>
              <a:rPr lang="en-US" altLang="ko-KR" sz="1300" dirty="0" smtClean="0">
                <a:latin typeface="+mj-lt"/>
              </a:rPr>
              <a:t>, </a:t>
            </a:r>
            <a:r>
              <a:rPr lang="ko-KR" altLang="en-US" sz="1300" dirty="0" smtClean="0">
                <a:latin typeface="+mj-lt"/>
              </a:rPr>
              <a:t>노랑풍선 </a:t>
            </a:r>
            <a:r>
              <a:rPr lang="en-US" altLang="ko-KR" sz="1300" dirty="0" smtClean="0">
                <a:latin typeface="+mj-lt"/>
              </a:rPr>
              <a:t>–</a:t>
            </a:r>
            <a:r>
              <a:rPr lang="en-US" altLang="ko-KR" sz="1300" b="1" dirty="0" smtClean="0">
                <a:solidFill>
                  <a:srgbClr val="C00000"/>
                </a:solidFill>
                <a:latin typeface="+mj-lt"/>
              </a:rPr>
              <a:t>236</a:t>
            </a:r>
            <a:r>
              <a:rPr lang="ko-KR" altLang="en-US" sz="1300" dirty="0" smtClean="0">
                <a:latin typeface="+mj-lt"/>
              </a:rPr>
              <a:t>개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300" dirty="0" smtClean="0">
                <a:latin typeface="+mj-lt"/>
              </a:rPr>
              <a:t>노랑풍선 대비 행사 및 마스터개수 약 </a:t>
            </a:r>
            <a:r>
              <a:rPr lang="ko-KR" altLang="en-US" sz="1300" dirty="0" err="1" smtClean="0">
                <a:latin typeface="+mj-lt"/>
              </a:rPr>
              <a:t>두배</a:t>
            </a:r>
            <a:r>
              <a:rPr lang="ko-KR" altLang="en-US" sz="1300" dirty="0" smtClean="0">
                <a:latin typeface="+mj-lt"/>
              </a:rPr>
              <a:t> 차이</a:t>
            </a:r>
            <a:endParaRPr lang="en-US" altLang="ko-KR" sz="1300" dirty="0" smtClean="0">
              <a:latin typeface="+mj-lt"/>
            </a:endParaRPr>
          </a:p>
        </p:txBody>
      </p:sp>
      <p:sp>
        <p:nvSpPr>
          <p:cNvPr id="20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2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5/ 12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8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18" name="차트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0837681"/>
              </p:ext>
            </p:extLst>
          </p:nvPr>
        </p:nvGraphicFramePr>
        <p:xfrm>
          <a:off x="433970" y="1553413"/>
          <a:ext cx="3842195" cy="2311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차트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5229677"/>
              </p:ext>
            </p:extLst>
          </p:nvPr>
        </p:nvGraphicFramePr>
        <p:xfrm>
          <a:off x="4433978" y="1485041"/>
          <a:ext cx="4091458" cy="2379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44903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470508" y="1058145"/>
            <a:ext cx="2372267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87760" y="1043028"/>
            <a:ext cx="23722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accent1"/>
                </a:solidFill>
                <a:latin typeface="+mn-ea"/>
                <a:ea typeface="+mn-ea"/>
              </a:rPr>
              <a:t>VGT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출발확정상품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54402" y="1059123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78528" y="1058144"/>
            <a:ext cx="3835395" cy="267709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693969" y="1058145"/>
            <a:ext cx="3830961" cy="2677092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693970" y="1063828"/>
            <a:ext cx="2583580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8" y="212002"/>
            <a:ext cx="8828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출발확정상품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4693971" y="1043027"/>
            <a:ext cx="276325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4"/>
                </a:solidFill>
                <a:latin typeface="+mn-ea"/>
                <a:ea typeface="+mn-ea"/>
              </a:rPr>
              <a:t>노랑풍선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출발확정상품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21"/>
          <p:cNvSpPr txBox="1">
            <a:spLocks noChangeArrowheads="1"/>
          </p:cNvSpPr>
          <p:nvPr/>
        </p:nvSpPr>
        <p:spPr bwMode="auto">
          <a:xfrm>
            <a:off x="2111190" y="4722741"/>
            <a:ext cx="50936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  <a:ea typeface="+mn-ea"/>
              </a:rPr>
              <a:t>자사 출발확정 </a:t>
            </a:r>
            <a:r>
              <a:rPr lang="ko-KR" altLang="en-US" sz="1400" dirty="0" err="1" smtClean="0">
                <a:latin typeface="+mj-lt"/>
                <a:ea typeface="+mn-ea"/>
              </a:rPr>
              <a:t>미체크로</a:t>
            </a:r>
            <a:r>
              <a:rPr lang="ko-KR" altLang="en-US" sz="1400" dirty="0" smtClean="0">
                <a:latin typeface="+mj-lt"/>
                <a:ea typeface="+mn-ea"/>
              </a:rPr>
              <a:t> 인한 </a:t>
            </a:r>
            <a:r>
              <a:rPr lang="ko-KR" altLang="en-US" sz="1400" b="1" dirty="0" smtClean="0">
                <a:latin typeface="+mj-lt"/>
                <a:ea typeface="+mn-ea"/>
              </a:rPr>
              <a:t>정확한 비율 측정 불가능</a:t>
            </a:r>
            <a:endParaRPr lang="en-US" altLang="ko-KR" sz="1400" b="1" dirty="0" smtClean="0">
              <a:latin typeface="+mj-lt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  <a:ea typeface="+mn-ea"/>
              </a:rPr>
              <a:t>노랑풍선의 경우 </a:t>
            </a:r>
            <a:r>
              <a:rPr lang="ko-KR" altLang="en-US" sz="1400" b="1" dirty="0" smtClean="0">
                <a:latin typeface="+mj-lt"/>
                <a:ea typeface="+mn-ea"/>
              </a:rPr>
              <a:t>출발확정</a:t>
            </a:r>
            <a:r>
              <a:rPr lang="ko-KR" altLang="en-US" sz="1400" dirty="0" smtClean="0">
                <a:latin typeface="+mj-lt"/>
                <a:ea typeface="+mn-ea"/>
              </a:rPr>
              <a:t> </a:t>
            </a:r>
            <a:r>
              <a:rPr lang="ko-KR" altLang="en-US" sz="1400" b="1" dirty="0" smtClean="0">
                <a:latin typeface="+mj-lt"/>
                <a:ea typeface="+mn-ea"/>
              </a:rPr>
              <a:t>행사 비율 </a:t>
            </a:r>
            <a:r>
              <a:rPr lang="en-US" altLang="ko-KR" sz="1400" b="1" dirty="0" smtClean="0">
                <a:latin typeface="+mj-lt"/>
                <a:ea typeface="+mn-ea"/>
              </a:rPr>
              <a:t>15%</a:t>
            </a:r>
          </a:p>
        </p:txBody>
      </p:sp>
      <p:graphicFrame>
        <p:nvGraphicFramePr>
          <p:cNvPr id="51" name="차트 5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5178207"/>
              </p:ext>
            </p:extLst>
          </p:nvPr>
        </p:nvGraphicFramePr>
        <p:xfrm>
          <a:off x="507665" y="1455197"/>
          <a:ext cx="3835395" cy="22373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2" name="차트 5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8200683"/>
              </p:ext>
            </p:extLst>
          </p:nvPr>
        </p:nvGraphicFramePr>
        <p:xfrm>
          <a:off x="4693969" y="1440610"/>
          <a:ext cx="3830961" cy="2216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1" name="TextBox 7"/>
          <p:cNvSpPr txBox="1"/>
          <p:nvPr/>
        </p:nvSpPr>
        <p:spPr>
          <a:xfrm>
            <a:off x="1323396" y="3431716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(17,239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62" name="TextBox 7"/>
          <p:cNvSpPr txBox="1"/>
          <p:nvPr/>
        </p:nvSpPr>
        <p:spPr>
          <a:xfrm>
            <a:off x="3412092" y="1451894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(3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63" name="TextBox 7"/>
          <p:cNvSpPr txBox="1"/>
          <p:nvPr/>
        </p:nvSpPr>
        <p:spPr>
          <a:xfrm>
            <a:off x="5114493" y="3389854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(33,300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64" name="TextBox 7"/>
          <p:cNvSpPr txBox="1"/>
          <p:nvPr/>
        </p:nvSpPr>
        <p:spPr>
          <a:xfrm>
            <a:off x="6693630" y="1489649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(5,830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21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22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6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12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3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4356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416717" y="1039957"/>
            <a:ext cx="283544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08087" y="1028487"/>
            <a:ext cx="291685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accent1"/>
                </a:solidFill>
                <a:latin typeface="+mn-ea"/>
                <a:ea typeface="+mn-ea"/>
              </a:rPr>
              <a:t>VGT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전체 상품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00611" y="1040935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16111" y="1039957"/>
            <a:ext cx="3936430" cy="2035453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640179" y="1039957"/>
            <a:ext cx="3753322" cy="2004039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640178" y="1045640"/>
            <a:ext cx="3175354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TextBox 35"/>
          <p:cNvSpPr txBox="1">
            <a:spLocks noChangeArrowheads="1"/>
          </p:cNvSpPr>
          <p:nvPr/>
        </p:nvSpPr>
        <p:spPr bwMode="auto">
          <a:xfrm>
            <a:off x="4640178" y="1028486"/>
            <a:ext cx="317535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4"/>
                </a:solidFill>
                <a:latin typeface="+mn-ea"/>
                <a:ea typeface="+mn-ea"/>
              </a:rPr>
              <a:t>노랑풍선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전체 상품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7" y="212002"/>
            <a:ext cx="88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 smtClean="0"/>
              <a:t>Ⅲ. </a:t>
            </a:r>
            <a:r>
              <a:rPr lang="ko-KR" altLang="en-US" dirty="0" smtClean="0"/>
              <a:t>비교 분석 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등급별 행사</a:t>
            </a:r>
            <a:r>
              <a:rPr lang="en-US" altLang="ko-KR" sz="2000" b="1" dirty="0" smtClean="0"/>
              <a:t>)</a:t>
            </a:r>
            <a:endParaRPr lang="ko-KR" altLang="en-US" sz="2000" b="1" dirty="0"/>
          </a:p>
        </p:txBody>
      </p:sp>
      <p:cxnSp>
        <p:nvCxnSpPr>
          <p:cNvPr id="32" name="직선 연결선 31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95205" y="5539875"/>
            <a:ext cx="88108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j-lt"/>
              </a:rPr>
              <a:t>VGT, </a:t>
            </a:r>
            <a:r>
              <a:rPr lang="ko-KR" altLang="en-US" sz="1400" dirty="0" smtClean="0">
                <a:latin typeface="+mj-lt"/>
              </a:rPr>
              <a:t>노랑풍선 </a:t>
            </a:r>
            <a:r>
              <a:rPr lang="ko-KR" altLang="en-US" sz="1400" b="1" dirty="0" smtClean="0">
                <a:latin typeface="+mj-lt"/>
              </a:rPr>
              <a:t>모두 일반 상품</a:t>
            </a:r>
            <a:r>
              <a:rPr lang="ko-KR" altLang="en-US" sz="1400" dirty="0" smtClean="0">
                <a:latin typeface="+mj-lt"/>
              </a:rPr>
              <a:t>의 비율이 높음 </a:t>
            </a:r>
            <a:r>
              <a:rPr lang="en-US" altLang="ko-KR" sz="1100" b="1" dirty="0" smtClean="0">
                <a:solidFill>
                  <a:srgbClr val="C00000"/>
                </a:solidFill>
                <a:latin typeface="+mj-lt"/>
              </a:rPr>
              <a:t>(</a:t>
            </a:r>
            <a:r>
              <a:rPr lang="ko-KR" altLang="en-US" sz="1100" b="1" dirty="0" smtClean="0">
                <a:solidFill>
                  <a:srgbClr val="C00000"/>
                </a:solidFill>
                <a:latin typeface="+mj-lt"/>
              </a:rPr>
              <a:t>자사 출발확정 </a:t>
            </a:r>
            <a:r>
              <a:rPr lang="ko-KR" altLang="en-US" sz="1100" b="1" dirty="0" err="1" smtClean="0">
                <a:solidFill>
                  <a:srgbClr val="C00000"/>
                </a:solidFill>
                <a:latin typeface="+mj-lt"/>
              </a:rPr>
              <a:t>미체크로</a:t>
            </a:r>
            <a:r>
              <a:rPr lang="ko-KR" altLang="en-US" sz="1100" b="1" dirty="0" smtClean="0">
                <a:solidFill>
                  <a:srgbClr val="C00000"/>
                </a:solidFill>
                <a:latin typeface="+mj-lt"/>
              </a:rPr>
              <a:t> 정확한 측정 불가능</a:t>
            </a:r>
            <a:r>
              <a:rPr lang="en-US" altLang="ko-KR" sz="1100" b="1" dirty="0" smtClean="0">
                <a:solidFill>
                  <a:srgbClr val="C00000"/>
                </a:solidFill>
                <a:latin typeface="+mj-lt"/>
              </a:rPr>
              <a:t>)</a:t>
            </a: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노랑풍선의 경우 </a:t>
            </a:r>
            <a:r>
              <a:rPr lang="ko-KR" altLang="en-US" sz="1400" b="1" dirty="0" smtClean="0">
                <a:latin typeface="+mj-lt"/>
              </a:rPr>
              <a:t>전체 상품</a:t>
            </a:r>
            <a:r>
              <a:rPr lang="ko-KR" altLang="en-US" sz="1400" dirty="0" smtClean="0">
                <a:latin typeface="+mj-lt"/>
              </a:rPr>
              <a:t>에서는 </a:t>
            </a:r>
            <a:r>
              <a:rPr lang="ko-KR" altLang="en-US" sz="1400" dirty="0" err="1" smtClean="0">
                <a:latin typeface="+mj-lt"/>
              </a:rPr>
              <a:t>라이트팩의</a:t>
            </a:r>
            <a:r>
              <a:rPr lang="ko-KR" altLang="en-US" sz="1400" dirty="0" smtClean="0">
                <a:latin typeface="+mj-lt"/>
              </a:rPr>
              <a:t> 비율이 높으나</a:t>
            </a:r>
            <a:r>
              <a:rPr lang="en-US" altLang="ko-KR" sz="1400" dirty="0" smtClean="0">
                <a:latin typeface="+mj-lt"/>
              </a:rPr>
              <a:t>, </a:t>
            </a:r>
            <a:r>
              <a:rPr lang="ko-KR" altLang="en-US" sz="1400" b="1" dirty="0" smtClean="0">
                <a:latin typeface="+mj-lt"/>
              </a:rPr>
              <a:t>출발확정상품</a:t>
            </a:r>
            <a:r>
              <a:rPr lang="ko-KR" altLang="en-US" sz="1400" dirty="0" smtClean="0">
                <a:latin typeface="+mj-lt"/>
              </a:rPr>
              <a:t>에서는 프리미엄의 비율이 높음</a:t>
            </a:r>
            <a:endParaRPr lang="en-US" altLang="ko-KR" sz="1400" dirty="0" smtClean="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55373" y="5205354"/>
            <a:ext cx="396081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프리미엄 </a:t>
            </a:r>
            <a:r>
              <a:rPr lang="en-US" altLang="ko-KR" sz="900" dirty="0"/>
              <a:t>: </a:t>
            </a:r>
            <a:r>
              <a:rPr lang="ko-KR" altLang="en-US" sz="900" dirty="0" smtClean="0"/>
              <a:t>항공</a:t>
            </a:r>
            <a:r>
              <a:rPr lang="en-US" altLang="ko-KR" sz="900" dirty="0"/>
              <a:t>, </a:t>
            </a:r>
            <a:r>
              <a:rPr lang="ko-KR" altLang="en-US" sz="900" dirty="0"/>
              <a:t>숙박</a:t>
            </a:r>
            <a:r>
              <a:rPr lang="en-US" altLang="ko-KR" sz="900" dirty="0"/>
              <a:t>, </a:t>
            </a:r>
            <a:r>
              <a:rPr lang="ko-KR" altLang="en-US" sz="900" dirty="0"/>
              <a:t>일정 </a:t>
            </a:r>
            <a:r>
              <a:rPr lang="ko-KR" altLang="en-US" sz="900" dirty="0" smtClean="0"/>
              <a:t>등을 최상위로 </a:t>
            </a:r>
            <a:r>
              <a:rPr lang="ko-KR" altLang="en-US" sz="900" dirty="0"/>
              <a:t>업그레이드한 </a:t>
            </a:r>
            <a:r>
              <a:rPr lang="ko-KR" altLang="en-US" sz="900" dirty="0" smtClean="0"/>
              <a:t>상품</a:t>
            </a:r>
            <a:endParaRPr lang="en-US" altLang="ko-KR" sz="9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 err="1" smtClean="0"/>
              <a:t>라이트팩</a:t>
            </a:r>
            <a:r>
              <a:rPr lang="ko-KR" altLang="en-US" sz="900" dirty="0" smtClean="0"/>
              <a:t> </a:t>
            </a:r>
            <a:r>
              <a:rPr lang="en-US" altLang="ko-KR" sz="900" dirty="0" smtClean="0"/>
              <a:t>: </a:t>
            </a:r>
            <a:r>
              <a:rPr lang="ko-KR" altLang="en-US" sz="900" dirty="0" smtClean="0"/>
              <a:t>자유시간이 포함된 </a:t>
            </a:r>
            <a:r>
              <a:rPr lang="ko-KR" altLang="en-US" sz="900" dirty="0" err="1" smtClean="0"/>
              <a:t>패키지형</a:t>
            </a:r>
            <a:r>
              <a:rPr lang="en-US" altLang="ko-KR" sz="900" dirty="0" smtClean="0"/>
              <a:t>, </a:t>
            </a:r>
            <a:r>
              <a:rPr lang="ko-KR" altLang="en-US" sz="900" dirty="0" err="1" smtClean="0"/>
              <a:t>원데이</a:t>
            </a:r>
            <a:r>
              <a:rPr lang="ko-KR" altLang="en-US" sz="900" dirty="0" smtClean="0"/>
              <a:t> 투어를 포함한 </a:t>
            </a:r>
            <a:r>
              <a:rPr lang="ko-KR" altLang="en-US" sz="900" dirty="0" err="1" smtClean="0"/>
              <a:t>자유여행형</a:t>
            </a:r>
            <a:endParaRPr lang="ko-KR" altLang="en-US" sz="900" dirty="0"/>
          </a:p>
        </p:txBody>
      </p:sp>
      <p:graphicFrame>
        <p:nvGraphicFramePr>
          <p:cNvPr id="21" name="차트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109686"/>
              </p:ext>
            </p:extLst>
          </p:nvPr>
        </p:nvGraphicFramePr>
        <p:xfrm>
          <a:off x="404462" y="1315515"/>
          <a:ext cx="3956705" cy="1751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차트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9105712"/>
              </p:ext>
            </p:extLst>
          </p:nvPr>
        </p:nvGraphicFramePr>
        <p:xfrm>
          <a:off x="4640177" y="1315515"/>
          <a:ext cx="3753323" cy="1728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Box 35"/>
          <p:cNvSpPr txBox="1">
            <a:spLocks noChangeArrowheads="1"/>
          </p:cNvSpPr>
          <p:nvPr/>
        </p:nvSpPr>
        <p:spPr bwMode="auto">
          <a:xfrm>
            <a:off x="424736" y="3170210"/>
            <a:ext cx="257817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VGT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상품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415505" y="3181680"/>
            <a:ext cx="3936430" cy="20443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15505" y="3193150"/>
            <a:ext cx="3936430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8" name="TextBox 35"/>
          <p:cNvSpPr txBox="1">
            <a:spLocks noChangeArrowheads="1"/>
          </p:cNvSpPr>
          <p:nvPr/>
        </p:nvSpPr>
        <p:spPr bwMode="auto">
          <a:xfrm>
            <a:off x="415504" y="3181680"/>
            <a:ext cx="374121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accent1"/>
                </a:solidFill>
                <a:latin typeface="+mn-ea"/>
                <a:ea typeface="+mn-ea"/>
              </a:rPr>
              <a:t>VGT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출발확정상품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9" name="TextBox 35"/>
          <p:cNvSpPr txBox="1">
            <a:spLocks noChangeArrowheads="1"/>
          </p:cNvSpPr>
          <p:nvPr/>
        </p:nvSpPr>
        <p:spPr bwMode="auto">
          <a:xfrm>
            <a:off x="4891380" y="3177400"/>
            <a:ext cx="1943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0" name="직사각형 39"/>
          <p:cNvSpPr/>
          <p:nvPr/>
        </p:nvSpPr>
        <p:spPr bwMode="auto">
          <a:xfrm>
            <a:off x="4630948" y="3176422"/>
            <a:ext cx="3753322" cy="204437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630946" y="3182105"/>
            <a:ext cx="3753323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42" name="TextBox 35"/>
          <p:cNvSpPr txBox="1">
            <a:spLocks noChangeArrowheads="1"/>
          </p:cNvSpPr>
          <p:nvPr/>
        </p:nvSpPr>
        <p:spPr bwMode="auto">
          <a:xfrm>
            <a:off x="4630946" y="3164951"/>
            <a:ext cx="37440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4"/>
                </a:solidFill>
                <a:latin typeface="+mn-ea"/>
                <a:ea typeface="+mn-ea"/>
              </a:rPr>
              <a:t>노랑풍선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출발확정상품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aphicFrame>
        <p:nvGraphicFramePr>
          <p:cNvPr id="44" name="차트 4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3070340"/>
              </p:ext>
            </p:extLst>
          </p:nvPr>
        </p:nvGraphicFramePr>
        <p:xfrm>
          <a:off x="4630947" y="3409694"/>
          <a:ext cx="3753324" cy="18110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5" name="차트 4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839714"/>
              </p:ext>
            </p:extLst>
          </p:nvPr>
        </p:nvGraphicFramePr>
        <p:xfrm>
          <a:off x="408087" y="3458679"/>
          <a:ext cx="3886386" cy="17621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7" name="TextBox 7"/>
          <p:cNvSpPr txBox="1"/>
          <p:nvPr/>
        </p:nvSpPr>
        <p:spPr>
          <a:xfrm>
            <a:off x="1028700" y="4627617"/>
            <a:ext cx="7264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</a:t>
            </a:r>
            <a:r>
              <a:rPr lang="en-US" altLang="ko-KR" sz="900" dirty="0">
                <a:latin typeface="+mj-lt"/>
              </a:rPr>
              <a:t>2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48" name="TextBox 7"/>
          <p:cNvSpPr txBox="1"/>
          <p:nvPr/>
        </p:nvSpPr>
        <p:spPr>
          <a:xfrm>
            <a:off x="2639677" y="3856721"/>
            <a:ext cx="7264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(1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49" name="TextBox 7"/>
          <p:cNvSpPr txBox="1"/>
          <p:nvPr/>
        </p:nvSpPr>
        <p:spPr>
          <a:xfrm>
            <a:off x="6535780" y="4811641"/>
            <a:ext cx="7264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(4,951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50" name="TextBox 7"/>
          <p:cNvSpPr txBox="1"/>
          <p:nvPr/>
        </p:nvSpPr>
        <p:spPr>
          <a:xfrm>
            <a:off x="5237469" y="3625821"/>
            <a:ext cx="7264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(591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51" name="TextBox 7"/>
          <p:cNvSpPr txBox="1"/>
          <p:nvPr/>
        </p:nvSpPr>
        <p:spPr>
          <a:xfrm>
            <a:off x="6108020" y="3458679"/>
            <a:ext cx="7264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(288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33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36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</p:spPr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7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12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3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0550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433969" y="1039957"/>
            <a:ext cx="407582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33967" y="1036394"/>
            <a:ext cx="373259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accent1"/>
                </a:solidFill>
                <a:latin typeface="+mn-ea"/>
                <a:ea typeface="+mn-ea"/>
              </a:rPr>
              <a:t>VGT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전체 상품 지역 및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24736" y="1039957"/>
            <a:ext cx="4075827" cy="314385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7" y="212002"/>
            <a:ext cx="88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 smtClean="0"/>
              <a:t>Ⅲ. </a:t>
            </a:r>
            <a:r>
              <a:rPr lang="ko-KR" altLang="en-US" dirty="0" smtClean="0"/>
              <a:t>비교 분석 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지역 및 등급별 행사</a:t>
            </a:r>
            <a:r>
              <a:rPr lang="en-US" altLang="ko-KR" sz="2000" b="1" dirty="0" smtClean="0"/>
              <a:t>)</a:t>
            </a:r>
            <a:endParaRPr lang="ko-KR" altLang="en-US" sz="2000" b="1" dirty="0"/>
          </a:p>
        </p:txBody>
      </p:sp>
      <p:cxnSp>
        <p:nvCxnSpPr>
          <p:cNvPr id="32" name="직선 연결선 31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3967" y="5618500"/>
            <a:ext cx="99264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자사 </a:t>
            </a:r>
            <a:r>
              <a:rPr lang="ko-KR" altLang="en-US" sz="1400" dirty="0" err="1" smtClean="0">
                <a:latin typeface="+mj-lt"/>
              </a:rPr>
              <a:t>라르고</a:t>
            </a:r>
            <a:r>
              <a:rPr lang="ko-KR" altLang="en-US" sz="1400" dirty="0" smtClean="0">
                <a:latin typeface="+mj-lt"/>
              </a:rPr>
              <a:t> 상품의 경우 </a:t>
            </a:r>
            <a:r>
              <a:rPr lang="ko-KR" altLang="en-US" sz="1400" b="1" dirty="0" smtClean="0">
                <a:latin typeface="+mj-lt"/>
              </a:rPr>
              <a:t>마닐라 지역만 운영</a:t>
            </a:r>
            <a:endParaRPr lang="en-US" altLang="ko-KR" sz="1400" b="1" dirty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자사의 경우 </a:t>
            </a:r>
            <a:r>
              <a:rPr lang="ko-KR" altLang="en-US" sz="1400" dirty="0" err="1" smtClean="0">
                <a:latin typeface="+mj-lt"/>
              </a:rPr>
              <a:t>팔라완</a:t>
            </a:r>
            <a:r>
              <a:rPr lang="ko-KR" altLang="en-US" sz="1400" dirty="0" smtClean="0">
                <a:latin typeface="+mj-lt"/>
              </a:rPr>
              <a:t> 상품을 거의 운영하지 않고 있으나</a:t>
            </a:r>
            <a:r>
              <a:rPr lang="en-US" altLang="ko-KR" sz="1400" dirty="0" smtClean="0">
                <a:latin typeface="+mj-lt"/>
              </a:rPr>
              <a:t>, </a:t>
            </a:r>
            <a:r>
              <a:rPr lang="ko-KR" altLang="en-US" sz="1400" b="1" dirty="0" smtClean="0">
                <a:latin typeface="+mj-lt"/>
              </a:rPr>
              <a:t>노랑풍선의 경우 모든 등급별로 </a:t>
            </a:r>
            <a:r>
              <a:rPr lang="ko-KR" altLang="en-US" sz="1400" b="1" dirty="0" err="1" smtClean="0">
                <a:latin typeface="+mj-lt"/>
              </a:rPr>
              <a:t>팔라완</a:t>
            </a:r>
            <a:r>
              <a:rPr lang="ko-KR" altLang="en-US" sz="1400" b="1" dirty="0" smtClean="0">
                <a:latin typeface="+mj-lt"/>
              </a:rPr>
              <a:t> 상품을 </a:t>
            </a:r>
            <a:r>
              <a:rPr lang="ko-KR" altLang="en-US" sz="1400" b="1" dirty="0" err="1" smtClean="0">
                <a:latin typeface="+mj-lt"/>
              </a:rPr>
              <a:t>운영중</a:t>
            </a:r>
            <a:endParaRPr lang="en-US" altLang="ko-KR" sz="1400" b="1" dirty="0" smtClean="0">
              <a:latin typeface="+mj-lt"/>
            </a:endParaRPr>
          </a:p>
        </p:txBody>
      </p:sp>
      <p:sp>
        <p:nvSpPr>
          <p:cNvPr id="54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55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</p:spPr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8</a:t>
            </a:r>
            <a:r>
              <a:rPr lang="en-US" altLang="ko-KR" dirty="0" smtClean="0">
                <a:latin typeface="+mn-ea"/>
                <a:ea typeface="+mn-ea"/>
              </a:rPr>
              <a:t> / 13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374347"/>
              </p:ext>
            </p:extLst>
          </p:nvPr>
        </p:nvGraphicFramePr>
        <p:xfrm>
          <a:off x="649288" y="4318213"/>
          <a:ext cx="7883525" cy="13113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2947"/>
                <a:gridCol w="1136763"/>
                <a:gridCol w="1136763"/>
                <a:gridCol w="1136763"/>
                <a:gridCol w="1136763"/>
                <a:gridCol w="1136763"/>
                <a:gridCol w="1136763"/>
              </a:tblGrid>
              <a:tr h="236058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지역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일반</a:t>
                      </a:r>
                      <a:r>
                        <a:rPr lang="en-US" altLang="ko-KR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VGT)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라르고</a:t>
                      </a:r>
                      <a:r>
                        <a:rPr lang="en-US" altLang="ko-KR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VGT)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라르고</a:t>
                      </a:r>
                      <a:r>
                        <a:rPr lang="en-US" altLang="ko-KR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+(</a:t>
                      </a:r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VGT)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일반</a:t>
                      </a:r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노랑</a:t>
                      </a:r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)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프리미엄</a:t>
                      </a:r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노랑</a:t>
                      </a:r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)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라이트팩</a:t>
                      </a:r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노랑</a:t>
                      </a:r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)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1506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세부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보홀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9,932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364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15,340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1,011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3,288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06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팔라완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3,185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520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255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06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보라카이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5,613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9,346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566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985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06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마닐라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690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364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3,834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061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합계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16,334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819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31,705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2,897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4,528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4752928" y="1039957"/>
            <a:ext cx="407582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TextBox 35"/>
          <p:cNvSpPr txBox="1">
            <a:spLocks noChangeArrowheads="1"/>
          </p:cNvSpPr>
          <p:nvPr/>
        </p:nvSpPr>
        <p:spPr bwMode="auto">
          <a:xfrm>
            <a:off x="4762157" y="1036394"/>
            <a:ext cx="377065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4"/>
                </a:solidFill>
                <a:latin typeface="+mn-ea"/>
                <a:ea typeface="+mn-ea"/>
              </a:rPr>
              <a:t>노랑풍선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전체 상품 지역 및 등급별 행사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(4,6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4752926" y="1039957"/>
            <a:ext cx="4075827" cy="314385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graphicFrame>
        <p:nvGraphicFramePr>
          <p:cNvPr id="20" name="차트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6263908"/>
              </p:ext>
            </p:extLst>
          </p:nvPr>
        </p:nvGraphicFramePr>
        <p:xfrm>
          <a:off x="433968" y="1305486"/>
          <a:ext cx="4066595" cy="2878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차트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5816040"/>
              </p:ext>
            </p:extLst>
          </p:nvPr>
        </p:nvGraphicFramePr>
        <p:xfrm>
          <a:off x="4752927" y="1305486"/>
          <a:ext cx="4075826" cy="2878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151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464639" y="1025045"/>
            <a:ext cx="2099982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73264" y="1017921"/>
            <a:ext cx="23092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dirty="0" smtClean="0">
                <a:solidFill>
                  <a:schemeClr val="accent1"/>
                </a:solidFill>
                <a:latin typeface="+mn-ea"/>
                <a:ea typeface="+mn-ea"/>
              </a:rPr>
              <a:t>VGT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이용 항공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TextBox 35"/>
          <p:cNvSpPr txBox="1">
            <a:spLocks noChangeArrowheads="1"/>
          </p:cNvSpPr>
          <p:nvPr/>
        </p:nvSpPr>
        <p:spPr bwMode="auto">
          <a:xfrm>
            <a:off x="4939906" y="1026023"/>
            <a:ext cx="194310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연도별 선행예약 추이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(20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대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64031" y="1025044"/>
            <a:ext cx="3845338" cy="1937757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528" y="212002"/>
            <a:ext cx="8828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항공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sp>
        <p:nvSpPr>
          <p:cNvPr id="17" name="TextBox 21"/>
          <p:cNvSpPr txBox="1">
            <a:spLocks noChangeArrowheads="1"/>
          </p:cNvSpPr>
          <p:nvPr/>
        </p:nvSpPr>
        <p:spPr bwMode="auto">
          <a:xfrm>
            <a:off x="2128470" y="5415771"/>
            <a:ext cx="507362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n-ea"/>
                <a:ea typeface="+mn-ea"/>
              </a:rPr>
              <a:t>VGT, </a:t>
            </a:r>
            <a:r>
              <a:rPr lang="ko-KR" altLang="en-US" sz="1400" dirty="0" smtClean="0">
                <a:latin typeface="+mn-ea"/>
                <a:ea typeface="+mn-ea"/>
              </a:rPr>
              <a:t>노랑풍선</a:t>
            </a: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ko-KR" altLang="en-US" sz="1400" dirty="0" smtClean="0">
                <a:latin typeface="+mn-ea"/>
                <a:ea typeface="+mn-ea"/>
              </a:rPr>
              <a:t>모두</a:t>
            </a:r>
            <a:r>
              <a:rPr lang="en-US" altLang="ko-KR" sz="1400" dirty="0" smtClean="0">
                <a:latin typeface="+mn-ea"/>
                <a:ea typeface="+mn-ea"/>
              </a:rPr>
              <a:t> </a:t>
            </a:r>
            <a:r>
              <a:rPr lang="ko-KR" altLang="en-US" sz="1400" b="1" dirty="0" err="1" smtClean="0">
                <a:latin typeface="+mn-ea"/>
                <a:ea typeface="+mn-ea"/>
              </a:rPr>
              <a:t>외항사를</a:t>
            </a:r>
            <a:r>
              <a:rPr lang="ko-KR" altLang="en-US" sz="1400" b="1" dirty="0" smtClean="0">
                <a:latin typeface="+mn-ea"/>
                <a:ea typeface="+mn-ea"/>
              </a:rPr>
              <a:t> 이용</a:t>
            </a:r>
            <a:r>
              <a:rPr lang="ko-KR" altLang="en-US" sz="1400" dirty="0" smtClean="0">
                <a:latin typeface="+mn-ea"/>
                <a:ea typeface="+mn-ea"/>
              </a:rPr>
              <a:t>하는 비율이 높음</a:t>
            </a:r>
            <a:endParaRPr lang="en-US" altLang="ko-KR" sz="1400" dirty="0" smtClean="0">
              <a:latin typeface="+mn-ea"/>
              <a:ea typeface="+mn-ea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n-ea"/>
                <a:ea typeface="+mn-ea"/>
              </a:rPr>
              <a:t>노랑풍선 </a:t>
            </a:r>
            <a:r>
              <a:rPr lang="en-US" altLang="ko-KR" sz="1400" dirty="0" smtClean="0">
                <a:latin typeface="+mn-ea"/>
                <a:ea typeface="+mn-ea"/>
              </a:rPr>
              <a:t>-</a:t>
            </a:r>
            <a:r>
              <a:rPr lang="ko-KR" altLang="en-US" sz="1400" dirty="0" smtClean="0">
                <a:latin typeface="+mn-ea"/>
                <a:ea typeface="+mn-ea"/>
              </a:rPr>
              <a:t> </a:t>
            </a:r>
            <a:r>
              <a:rPr lang="en-US" altLang="ko-KR" sz="1400" b="1" dirty="0" smtClean="0">
                <a:latin typeface="+mn-ea"/>
                <a:ea typeface="+mn-ea"/>
              </a:rPr>
              <a:t>5</a:t>
            </a:r>
            <a:r>
              <a:rPr lang="ko-KR" altLang="en-US" sz="1400" b="1" dirty="0" smtClean="0">
                <a:latin typeface="+mn-ea"/>
                <a:ea typeface="+mn-ea"/>
              </a:rPr>
              <a:t>종류의 </a:t>
            </a:r>
            <a:r>
              <a:rPr lang="en-US" altLang="ko-KR" sz="1400" b="1" dirty="0" smtClean="0">
                <a:latin typeface="+mn-ea"/>
                <a:ea typeface="+mn-ea"/>
              </a:rPr>
              <a:t>LCC</a:t>
            </a:r>
            <a:r>
              <a:rPr lang="en-US" altLang="ko-KR" sz="1400" dirty="0" smtClean="0">
                <a:latin typeface="+mn-ea"/>
                <a:ea typeface="+mn-ea"/>
              </a:rPr>
              <a:t> </a:t>
            </a:r>
            <a:r>
              <a:rPr lang="ko-KR" altLang="en-US" sz="1400" b="1" dirty="0" smtClean="0">
                <a:latin typeface="+mn-ea"/>
                <a:ea typeface="+mn-ea"/>
              </a:rPr>
              <a:t>이용 </a:t>
            </a:r>
            <a:r>
              <a:rPr lang="en-US" altLang="ko-KR" sz="1400" dirty="0" smtClean="0">
                <a:latin typeface="+mn-ea"/>
                <a:ea typeface="+mn-ea"/>
              </a:rPr>
              <a:t>VGT – </a:t>
            </a:r>
            <a:r>
              <a:rPr lang="en-US" altLang="ko-KR" sz="1400" b="1" dirty="0" smtClean="0">
                <a:latin typeface="+mn-ea"/>
                <a:ea typeface="+mn-ea"/>
              </a:rPr>
              <a:t>4</a:t>
            </a:r>
            <a:r>
              <a:rPr lang="ko-KR" altLang="en-US" sz="1400" b="1" dirty="0" smtClean="0">
                <a:latin typeface="+mn-ea"/>
                <a:ea typeface="+mn-ea"/>
              </a:rPr>
              <a:t>종류의 </a:t>
            </a:r>
            <a:r>
              <a:rPr lang="en-US" altLang="ko-KR" sz="1400" b="1" dirty="0" smtClean="0">
                <a:latin typeface="+mn-ea"/>
                <a:ea typeface="+mn-ea"/>
              </a:rPr>
              <a:t>LCC </a:t>
            </a:r>
            <a:r>
              <a:rPr lang="ko-KR" altLang="en-US" sz="1400" b="1" dirty="0" smtClean="0">
                <a:latin typeface="+mn-ea"/>
                <a:ea typeface="+mn-ea"/>
              </a:rPr>
              <a:t>이용</a:t>
            </a:r>
            <a:endParaRPr lang="en-US" altLang="ko-KR" sz="1400" dirty="0" smtClean="0">
              <a:latin typeface="+mn-ea"/>
              <a:ea typeface="+mn-ea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 bwMode="auto">
          <a:xfrm>
            <a:off x="4687475" y="1025044"/>
            <a:ext cx="3845338" cy="1937757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687475" y="1033147"/>
            <a:ext cx="2404121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TextBox 35"/>
          <p:cNvSpPr txBox="1">
            <a:spLocks noChangeArrowheads="1"/>
          </p:cNvSpPr>
          <p:nvPr/>
        </p:nvSpPr>
        <p:spPr bwMode="auto">
          <a:xfrm>
            <a:off x="4705980" y="1035847"/>
            <a:ext cx="238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accent4"/>
                </a:solidFill>
                <a:latin typeface="+mn-ea"/>
                <a:ea typeface="+mn-ea"/>
              </a:rPr>
              <a:t>노랑풍선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 이용 항공 비율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</a:t>
            </a:r>
            <a:endParaRPr lang="ko-KR" altLang="en-US" sz="12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aphicFrame>
        <p:nvGraphicFramePr>
          <p:cNvPr id="24" name="차트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5654313"/>
              </p:ext>
            </p:extLst>
          </p:nvPr>
        </p:nvGraphicFramePr>
        <p:xfrm>
          <a:off x="401602" y="1294919"/>
          <a:ext cx="3907767" cy="1795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차트 2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5576293"/>
              </p:ext>
            </p:extLst>
          </p:nvPr>
        </p:nvGraphicFramePr>
        <p:xfrm>
          <a:off x="4705980" y="1312847"/>
          <a:ext cx="3826832" cy="1741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TextBox 7"/>
          <p:cNvSpPr txBox="1"/>
          <p:nvPr/>
        </p:nvSpPr>
        <p:spPr>
          <a:xfrm>
            <a:off x="2564620" y="2616554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(9,007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36" name="TextBox 7"/>
          <p:cNvSpPr txBox="1"/>
          <p:nvPr/>
        </p:nvSpPr>
        <p:spPr>
          <a:xfrm>
            <a:off x="674097" y="1809275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(5,807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37" name="TextBox 7"/>
          <p:cNvSpPr txBox="1"/>
          <p:nvPr/>
        </p:nvSpPr>
        <p:spPr>
          <a:xfrm>
            <a:off x="2170723" y="1389818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(2,428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38" name="TextBox 7"/>
          <p:cNvSpPr txBox="1"/>
          <p:nvPr/>
        </p:nvSpPr>
        <p:spPr>
          <a:xfrm>
            <a:off x="6762656" y="2437495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(22,639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39" name="TextBox 7"/>
          <p:cNvSpPr txBox="1"/>
          <p:nvPr/>
        </p:nvSpPr>
        <p:spPr>
          <a:xfrm>
            <a:off x="4950689" y="1770323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(11,995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40" name="TextBox 7"/>
          <p:cNvSpPr txBox="1"/>
          <p:nvPr/>
        </p:nvSpPr>
        <p:spPr>
          <a:xfrm>
            <a:off x="6414304" y="1389818"/>
            <a:ext cx="7877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 smtClean="0">
                <a:latin typeface="+mj-lt"/>
              </a:rPr>
              <a:t>(4,496</a:t>
            </a:r>
            <a:r>
              <a:rPr lang="ko-KR" altLang="en-US" sz="900" dirty="0" smtClean="0">
                <a:latin typeface="+mj-lt"/>
              </a:rPr>
              <a:t>개</a:t>
            </a:r>
            <a:r>
              <a:rPr lang="en-US" altLang="ko-KR" sz="900" dirty="0" smtClean="0">
                <a:latin typeface="+mj-lt"/>
              </a:rPr>
              <a:t>)</a:t>
            </a:r>
            <a:endParaRPr lang="ko-KR" altLang="en-US" sz="900" dirty="0">
              <a:latin typeface="+mj-lt"/>
            </a:endParaRPr>
          </a:p>
        </p:txBody>
      </p:sp>
      <p:sp>
        <p:nvSpPr>
          <p:cNvPr id="23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27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8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12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9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592705"/>
              </p:ext>
            </p:extLst>
          </p:nvPr>
        </p:nvGraphicFramePr>
        <p:xfrm>
          <a:off x="576263" y="3094997"/>
          <a:ext cx="7883193" cy="222902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8121"/>
                <a:gridCol w="813134"/>
                <a:gridCol w="813134"/>
                <a:gridCol w="813134"/>
                <a:gridCol w="813134"/>
                <a:gridCol w="813134"/>
                <a:gridCol w="813134"/>
                <a:gridCol w="813134"/>
                <a:gridCol w="813134"/>
              </a:tblGrid>
              <a:tr h="17093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구분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세부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보홀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팔라완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보라카이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마닐라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458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j-lt"/>
                        </a:rPr>
                        <a:t>VGT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노랑풍선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j-lt"/>
                        </a:rPr>
                        <a:t>VGT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노랑풍선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j-lt"/>
                        </a:rPr>
                        <a:t>VGT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노랑풍선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j-lt"/>
                        </a:rPr>
                        <a:t>VGT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j-lt"/>
                        </a:rPr>
                        <a:t>노랑풍선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1279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대한항공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82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2,216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9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아시아나항공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2,253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2,280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9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진에어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2,331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2,450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975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1,077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9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에어서울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561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951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9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제주항공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1,841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2,821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621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9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이스타항공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99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3,960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9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티웨이항공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115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9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필리핀항공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2,269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3,576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1,665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2,618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881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2,825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79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세부퍼시픽항공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441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2,004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1,263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2,050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169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1,073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79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팬퍼시픽항공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2,736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79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필리핀에어아시아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1,556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794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에어아시아제스트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1,079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1,240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맑은 고딕" panose="020B0503020000020004" pitchFamily="50" charset="-127"/>
                      </a:endParaRPr>
                    </a:p>
                  </a:txBody>
                  <a:tcPr marL="5915" marR="5915" marT="5915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883008" y="5324026"/>
            <a:ext cx="18027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행사기준 지역별 이용 항공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44161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344320" y="1219512"/>
            <a:ext cx="3198980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335067" y="1215949"/>
            <a:ext cx="32082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전체 상품 평균 가격 비교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335089" y="1219510"/>
            <a:ext cx="8197724" cy="2843531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27" y="212002"/>
            <a:ext cx="88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전체 상품가격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cxnSp>
        <p:nvCxnSpPr>
          <p:cNvPr id="20" name="직선 연결선 19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1224951" y="4665661"/>
            <a:ext cx="747047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b="1" dirty="0" err="1" smtClean="0"/>
              <a:t>팔라완을</a:t>
            </a:r>
            <a:r>
              <a:rPr lang="ko-KR" altLang="en-US" sz="1400" b="1" dirty="0" smtClean="0"/>
              <a:t> 제외한</a:t>
            </a:r>
            <a:r>
              <a:rPr lang="ko-KR" altLang="en-US" sz="1400" dirty="0" smtClean="0"/>
              <a:t> 나머지 지역의 경우 노랑풍선 대비 높은 가격대 형성</a:t>
            </a:r>
            <a:endParaRPr lang="en-US" altLang="ko-KR" sz="1400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/>
              <a:t>특히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마닐라 지역의 가격차이가 가장 크게 나타남</a:t>
            </a:r>
            <a:endParaRPr lang="en-US" altLang="ko-KR" sz="1400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/>
              <a:t>양사 주력 판매지역인 </a:t>
            </a:r>
            <a:r>
              <a:rPr lang="ko-KR" altLang="en-US" sz="1400" b="1" dirty="0" smtClean="0"/>
              <a:t>세부</a:t>
            </a:r>
            <a:r>
              <a:rPr lang="en-US" altLang="ko-KR" sz="1400" b="1" dirty="0" smtClean="0"/>
              <a:t>/</a:t>
            </a:r>
            <a:r>
              <a:rPr lang="ko-KR" altLang="en-US" sz="1400" b="1" dirty="0" smtClean="0"/>
              <a:t>보홀 지역의 경우에도 노랑풍선 대비 높은 가격대 형성</a:t>
            </a:r>
          </a:p>
        </p:txBody>
      </p:sp>
      <p:sp>
        <p:nvSpPr>
          <p:cNvPr id="19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24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9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12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8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26" name="차트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7527974"/>
              </p:ext>
            </p:extLst>
          </p:nvPr>
        </p:nvGraphicFramePr>
        <p:xfrm>
          <a:off x="335067" y="1489387"/>
          <a:ext cx="8118820" cy="2573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4420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/>
        </p:nvSpPr>
        <p:spPr>
          <a:xfrm>
            <a:off x="344321" y="1219512"/>
            <a:ext cx="3528940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335067" y="1215949"/>
            <a:ext cx="38487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지역 및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등급별 평균 가격 비교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단위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- 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천원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27" y="212002"/>
            <a:ext cx="88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지역 및 등급별 상품가격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cxnSp>
        <p:nvCxnSpPr>
          <p:cNvPr id="20" name="직선 연결선 19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날짜 개체 틀 1"/>
          <p:cNvSpPr>
            <a:spLocks noGrp="1"/>
          </p:cNvSpPr>
          <p:nvPr>
            <p:ph type="dt" sz="half" idx="2"/>
          </p:nvPr>
        </p:nvSpPr>
        <p:spPr>
          <a:xfrm>
            <a:off x="0" y="6675428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24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543300" y="6664352"/>
            <a:ext cx="2057400" cy="182572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9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12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8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5" name="직사각형 14"/>
          <p:cNvSpPr/>
          <p:nvPr/>
        </p:nvSpPr>
        <p:spPr bwMode="auto">
          <a:xfrm>
            <a:off x="344320" y="1219510"/>
            <a:ext cx="8423443" cy="2843531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graphicFrame>
        <p:nvGraphicFramePr>
          <p:cNvPr id="23" name="차트 2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3749549"/>
              </p:ext>
            </p:extLst>
          </p:nvPr>
        </p:nvGraphicFramePr>
        <p:xfrm>
          <a:off x="344320" y="1489388"/>
          <a:ext cx="8423443" cy="2573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897147" y="4665661"/>
            <a:ext cx="747047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/>
              <a:t>일반 상품 </a:t>
            </a:r>
            <a:r>
              <a:rPr lang="en-US" altLang="ko-KR" sz="1400" dirty="0"/>
              <a:t>:</a:t>
            </a:r>
            <a:r>
              <a:rPr lang="ko-KR" altLang="en-US" sz="1400" dirty="0" smtClean="0"/>
              <a:t> 모든 지역이 노랑풍선 대비 </a:t>
            </a:r>
            <a:r>
              <a:rPr lang="ko-KR" altLang="en-US" sz="1400" b="1" dirty="0" smtClean="0"/>
              <a:t>고가 형성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err="1" smtClean="0"/>
              <a:t>라르고</a:t>
            </a:r>
            <a:r>
              <a:rPr lang="en-US" altLang="ko-KR" sz="1400" dirty="0" smtClean="0"/>
              <a:t>+</a:t>
            </a:r>
            <a:r>
              <a:rPr lang="ko-KR" altLang="en-US" sz="1400" dirty="0"/>
              <a:t> </a:t>
            </a:r>
            <a:r>
              <a:rPr lang="en-US" altLang="ko-KR" sz="1400" dirty="0"/>
              <a:t>:</a:t>
            </a:r>
            <a:r>
              <a:rPr lang="ko-KR" altLang="en-US" sz="1400" dirty="0" smtClean="0"/>
              <a:t> </a:t>
            </a:r>
            <a:r>
              <a:rPr lang="ko-KR" altLang="en-US" sz="1400" dirty="0" err="1" smtClean="0"/>
              <a:t>보라카이</a:t>
            </a:r>
            <a:r>
              <a:rPr lang="ko-KR" altLang="en-US" sz="1400" dirty="0" smtClean="0"/>
              <a:t> 지역만 노랑풍선 대비 </a:t>
            </a:r>
            <a:r>
              <a:rPr lang="ko-KR" altLang="en-US" sz="1400" b="1" dirty="0" smtClean="0"/>
              <a:t>저가 형성</a:t>
            </a:r>
            <a:endParaRPr lang="en-US" altLang="ko-KR" sz="1400" b="1" dirty="0" smtClean="0"/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/>
              <a:t>마닐라 지역의 경우 노랑풍선 프리미엄 상품이 </a:t>
            </a:r>
            <a:r>
              <a:rPr lang="ko-KR" altLang="en-US" sz="1400" b="1" dirty="0" smtClean="0"/>
              <a:t>자사 </a:t>
            </a:r>
            <a:r>
              <a:rPr lang="ko-KR" altLang="en-US" sz="1400" b="1" dirty="0" err="1" smtClean="0"/>
              <a:t>라르고</a:t>
            </a:r>
            <a:r>
              <a:rPr lang="ko-KR" altLang="en-US" sz="1400" b="1" dirty="0" smtClean="0"/>
              <a:t> 상품보다 저렴한 가격 형성  </a:t>
            </a:r>
          </a:p>
        </p:txBody>
      </p:sp>
    </p:spTree>
    <p:extLst>
      <p:ext uri="{BB962C8B-B14F-4D97-AF65-F5344CB8AC3E}">
        <p14:creationId xmlns:p14="http://schemas.microsoft.com/office/powerpoint/2010/main" val="248938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</a:rPr>
              <a:t>2019-04-03</a:t>
            </a:r>
            <a:endParaRPr lang="ko-KR" altLang="en-US" dirty="0"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197802-7672-4A71-82A0-78001C8EF422}" type="slidenum">
              <a:rPr lang="ko-KR" altLang="en-US" smtClean="0">
                <a:latin typeface="+mn-ea"/>
                <a:ea typeface="+mn-ea"/>
              </a:rPr>
              <a:pPr/>
              <a:t>12</a:t>
            </a:fld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/ 12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33969" y="1219512"/>
            <a:ext cx="3861985" cy="26987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5" name="TextBox 35"/>
          <p:cNvSpPr txBox="1">
            <a:spLocks noChangeArrowheads="1"/>
          </p:cNvSpPr>
          <p:nvPr/>
        </p:nvSpPr>
        <p:spPr bwMode="auto">
          <a:xfrm>
            <a:off x="442853" y="1193801"/>
            <a:ext cx="38623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전체 상품 월별 예약인원  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(4~6</a:t>
            </a:r>
            <a:r>
              <a:rPr lang="ko-KR" altLang="en-US" sz="1200" b="1" dirty="0" smtClean="0">
                <a:solidFill>
                  <a:schemeClr val="bg1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chemeClr val="bg1"/>
                </a:solidFill>
                <a:latin typeface="+mn-ea"/>
                <a:ea typeface="+mn-ea"/>
              </a:rPr>
              <a:t>), </a:t>
            </a:r>
            <a:r>
              <a:rPr lang="ko-KR" altLang="en-US" sz="1050" b="1" dirty="0" err="1" smtClean="0">
                <a:solidFill>
                  <a:schemeClr val="accent2"/>
                </a:solidFill>
                <a:latin typeface="+mn-ea"/>
              </a:rPr>
              <a:t>실예약</a:t>
            </a:r>
            <a:r>
              <a:rPr lang="ko-KR" altLang="en-US" sz="1050" b="1" dirty="0" smtClean="0">
                <a:solidFill>
                  <a:schemeClr val="accent2"/>
                </a:solidFill>
                <a:latin typeface="+mn-ea"/>
              </a:rPr>
              <a:t> 및</a:t>
            </a:r>
            <a:r>
              <a:rPr lang="en-US" altLang="ko-KR" sz="1050" b="1" dirty="0" smtClean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1050" b="1" dirty="0" smtClean="0">
                <a:solidFill>
                  <a:schemeClr val="accent2"/>
                </a:solidFill>
                <a:latin typeface="+mn-ea"/>
                <a:ea typeface="+mn-ea"/>
              </a:rPr>
              <a:t>허수포함 인원</a:t>
            </a:r>
            <a:endParaRPr lang="ko-KR" altLang="en-US" sz="105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24738" y="1219512"/>
            <a:ext cx="8167170" cy="3191124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26" name="바닥글 개체 틀 3"/>
          <p:cNvSpPr>
            <a:spLocks noGrp="1"/>
          </p:cNvSpPr>
          <p:nvPr>
            <p:ph type="ftr" sz="quarter" idx="3"/>
          </p:nvPr>
        </p:nvSpPr>
        <p:spPr>
          <a:xfrm>
            <a:off x="7403433" y="6667407"/>
            <a:ext cx="1740568" cy="195453"/>
          </a:xfrm>
        </p:spPr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IT </a:t>
            </a:r>
            <a:r>
              <a:rPr lang="ko-KR" altLang="en-US" dirty="0" smtClean="0">
                <a:latin typeface="+mn-ea"/>
                <a:ea typeface="+mn-ea"/>
              </a:rPr>
              <a:t>미래전략부문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527" y="212002"/>
            <a:ext cx="8828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3200">
                <a:solidFill>
                  <a:schemeClr val="accent3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en-US" altLang="ko-KR" dirty="0"/>
              <a:t>Ⅲ. </a:t>
            </a:r>
            <a:r>
              <a:rPr lang="ko-KR" altLang="en-US" dirty="0"/>
              <a:t>비교 </a:t>
            </a:r>
            <a:r>
              <a:rPr lang="ko-KR" altLang="en-US" dirty="0" smtClean="0"/>
              <a:t>분석 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월별 예약인원</a:t>
            </a:r>
            <a:r>
              <a:rPr lang="en-US" altLang="ko-KR" sz="2000" dirty="0" smtClean="0"/>
              <a:t>)</a:t>
            </a:r>
            <a:endParaRPr lang="en-US" altLang="ko-KR" sz="2000" dirty="0"/>
          </a:p>
        </p:txBody>
      </p:sp>
      <p:cxnSp>
        <p:nvCxnSpPr>
          <p:cNvPr id="38" name="직선 연결선 37"/>
          <p:cNvCxnSpPr/>
          <p:nvPr/>
        </p:nvCxnSpPr>
        <p:spPr>
          <a:xfrm>
            <a:off x="241540" y="888521"/>
            <a:ext cx="866092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98591" y="5054086"/>
            <a:ext cx="63997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ko-KR" sz="1400" dirty="0" smtClean="0">
                <a:latin typeface="+mj-lt"/>
              </a:rPr>
              <a:t>VGT</a:t>
            </a:r>
            <a:r>
              <a:rPr lang="ko-KR" altLang="en-US" sz="1400" dirty="0" smtClean="0">
                <a:latin typeface="+mj-lt"/>
              </a:rPr>
              <a:t> </a:t>
            </a:r>
            <a:r>
              <a:rPr lang="ko-KR" altLang="en-US" sz="1400" b="1" dirty="0" smtClean="0">
                <a:latin typeface="+mj-lt"/>
              </a:rPr>
              <a:t>허수 </a:t>
            </a:r>
            <a:r>
              <a:rPr lang="ko-KR" altLang="en-US" sz="1400" b="1" dirty="0" err="1" smtClean="0">
                <a:latin typeface="+mj-lt"/>
              </a:rPr>
              <a:t>미운영</a:t>
            </a:r>
            <a:endParaRPr lang="en-US" altLang="ko-KR" sz="1400" dirty="0">
              <a:latin typeface="+mj-lt"/>
            </a:endParaRPr>
          </a:p>
          <a:p>
            <a:pPr marL="285750" indent="-285750" latinLnBrk="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ko-KR" altLang="en-US" sz="1400" dirty="0" smtClean="0">
                <a:latin typeface="+mj-lt"/>
              </a:rPr>
              <a:t>노랑풍선 허수인원은 </a:t>
            </a:r>
            <a:r>
              <a:rPr lang="ko-KR" altLang="en-US" sz="1400" dirty="0" err="1" smtClean="0">
                <a:latin typeface="+mj-lt"/>
              </a:rPr>
              <a:t>실예약인원의</a:t>
            </a:r>
            <a:r>
              <a:rPr lang="ko-KR" altLang="en-US" sz="1400" dirty="0" smtClean="0">
                <a:latin typeface="+mj-lt"/>
              </a:rPr>
              <a:t> </a:t>
            </a:r>
            <a:r>
              <a:rPr lang="ko-KR" altLang="en-US" sz="1400" b="1" dirty="0" smtClean="0">
                <a:latin typeface="+mj-lt"/>
              </a:rPr>
              <a:t>약 </a:t>
            </a:r>
            <a:r>
              <a:rPr lang="en-US" altLang="ko-KR" sz="1400" b="1" dirty="0" smtClean="0">
                <a:latin typeface="+mj-lt"/>
              </a:rPr>
              <a:t>12</a:t>
            </a:r>
            <a:r>
              <a:rPr lang="ko-KR" altLang="en-US" sz="1400" b="1" dirty="0" smtClean="0">
                <a:latin typeface="+mj-lt"/>
              </a:rPr>
              <a:t>배</a:t>
            </a:r>
            <a:endParaRPr lang="en-US" altLang="ko-KR" sz="1400" b="1" dirty="0">
              <a:latin typeface="+mj-lt"/>
            </a:endParaRPr>
          </a:p>
        </p:txBody>
      </p:sp>
      <p:graphicFrame>
        <p:nvGraphicFramePr>
          <p:cNvPr id="13" name="차트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7521557"/>
              </p:ext>
            </p:extLst>
          </p:nvPr>
        </p:nvGraphicFramePr>
        <p:xfrm>
          <a:off x="423637" y="1489388"/>
          <a:ext cx="8237070" cy="2876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5" name="직선 화살표 연결선 14"/>
          <p:cNvCxnSpPr/>
          <p:nvPr/>
        </p:nvCxnSpPr>
        <p:spPr>
          <a:xfrm flipH="1">
            <a:off x="6185140" y="2053087"/>
            <a:ext cx="422695" cy="1587260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98591" y="4436514"/>
            <a:ext cx="5993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출처</a:t>
            </a:r>
            <a:r>
              <a:rPr lang="en-US" altLang="ko-KR" sz="900" dirty="0" smtClean="0"/>
              <a:t> : VGT </a:t>
            </a:r>
            <a:r>
              <a:rPr lang="ko-KR" altLang="en-US" sz="900" dirty="0" err="1" smtClean="0"/>
              <a:t>실예약인원</a:t>
            </a:r>
            <a:r>
              <a:rPr lang="en-US" altLang="ko-KR" sz="900" dirty="0" smtClean="0"/>
              <a:t>, </a:t>
            </a:r>
            <a:r>
              <a:rPr lang="ko-KR" altLang="en-US" sz="900" dirty="0" smtClean="0"/>
              <a:t>허수예약 </a:t>
            </a:r>
            <a:r>
              <a:rPr lang="en-US" altLang="ko-KR" sz="900" dirty="0" smtClean="0"/>
              <a:t>– </a:t>
            </a:r>
            <a:r>
              <a:rPr lang="ko-KR" altLang="en-US" sz="900" dirty="0" smtClean="0"/>
              <a:t>사내</a:t>
            </a:r>
            <a:r>
              <a:rPr lang="en-US" altLang="ko-KR" sz="900" dirty="0" smtClean="0"/>
              <a:t>D.B</a:t>
            </a:r>
            <a:r>
              <a:rPr lang="ko-KR" altLang="en-US" sz="900" dirty="0"/>
              <a:t>사내</a:t>
            </a:r>
            <a:r>
              <a:rPr lang="en-US" altLang="ko-KR" sz="900" dirty="0"/>
              <a:t>D.B(3</a:t>
            </a:r>
            <a:r>
              <a:rPr lang="ko-KR" altLang="en-US" sz="900" dirty="0"/>
              <a:t>월</a:t>
            </a:r>
            <a:r>
              <a:rPr lang="en-US" altLang="ko-KR" sz="900" dirty="0"/>
              <a:t>29</a:t>
            </a:r>
            <a:r>
              <a:rPr lang="ko-KR" altLang="en-US" sz="900" dirty="0"/>
              <a:t>일 기준</a:t>
            </a:r>
            <a:r>
              <a:rPr lang="en-US" altLang="ko-KR" sz="900" dirty="0"/>
              <a:t>) </a:t>
            </a:r>
            <a:r>
              <a:rPr lang="en-US" altLang="ko-KR" sz="900" dirty="0" smtClean="0"/>
              <a:t> </a:t>
            </a:r>
          </a:p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ko-KR" altLang="en-US" sz="900" dirty="0" smtClean="0"/>
              <a:t>노랑풍선 </a:t>
            </a:r>
            <a:r>
              <a:rPr lang="ko-KR" altLang="en-US" sz="900" dirty="0" err="1" smtClean="0"/>
              <a:t>실예약인원</a:t>
            </a:r>
            <a:r>
              <a:rPr lang="ko-KR" altLang="en-US" sz="900" dirty="0" smtClean="0"/>
              <a:t> </a:t>
            </a:r>
            <a:r>
              <a:rPr lang="en-US" altLang="ko-KR" sz="900" dirty="0" smtClean="0"/>
              <a:t>– </a:t>
            </a:r>
            <a:r>
              <a:rPr lang="ko-KR" altLang="en-US" sz="900" dirty="0" err="1" smtClean="0"/>
              <a:t>기획감사팀</a:t>
            </a:r>
            <a:r>
              <a:rPr lang="en-US" altLang="ko-KR" sz="900" dirty="0" smtClean="0"/>
              <a:t>(</a:t>
            </a:r>
            <a:r>
              <a:rPr lang="ko-KR" altLang="en-US" sz="900" dirty="0" smtClean="0"/>
              <a:t>세부</a:t>
            </a:r>
            <a:r>
              <a:rPr lang="en-US" altLang="ko-KR" sz="900" dirty="0" smtClean="0"/>
              <a:t>,</a:t>
            </a:r>
            <a:r>
              <a:rPr lang="ko-KR" altLang="en-US" sz="900" dirty="0" smtClean="0"/>
              <a:t>마닐라</a:t>
            </a:r>
            <a:r>
              <a:rPr lang="en-US" altLang="ko-KR" sz="900" dirty="0" smtClean="0"/>
              <a:t>,</a:t>
            </a:r>
            <a:r>
              <a:rPr lang="ko-KR" altLang="en-US" sz="900" dirty="0" err="1" smtClean="0"/>
              <a:t>보라카이</a:t>
            </a:r>
            <a:r>
              <a:rPr lang="ko-KR" altLang="en-US" sz="900" dirty="0" smtClean="0"/>
              <a:t> 노선</a:t>
            </a:r>
            <a:r>
              <a:rPr lang="en-US" altLang="ko-KR" sz="900" dirty="0" smtClean="0"/>
              <a:t>, 19</a:t>
            </a:r>
            <a:r>
              <a:rPr lang="ko-KR" altLang="en-US" sz="900" dirty="0" smtClean="0"/>
              <a:t>년 </a:t>
            </a:r>
            <a:r>
              <a:rPr lang="en-US" altLang="ko-KR" sz="900" dirty="0" smtClean="0"/>
              <a:t>3</a:t>
            </a:r>
            <a:r>
              <a:rPr lang="ko-KR" altLang="en-US" sz="900" dirty="0" smtClean="0"/>
              <a:t>월 </a:t>
            </a:r>
            <a:r>
              <a:rPr lang="en-US" altLang="ko-KR" sz="900" dirty="0" smtClean="0"/>
              <a:t>27</a:t>
            </a:r>
            <a:r>
              <a:rPr lang="ko-KR" altLang="en-US" sz="900" dirty="0" smtClean="0"/>
              <a:t>일 기준</a:t>
            </a:r>
            <a:r>
              <a:rPr lang="en-US" altLang="ko-KR" sz="900" dirty="0" smtClean="0"/>
              <a:t>), </a:t>
            </a:r>
            <a:r>
              <a:rPr lang="ko-KR" altLang="en-US" sz="900" dirty="0" smtClean="0"/>
              <a:t>허수예약 </a:t>
            </a:r>
            <a:r>
              <a:rPr lang="en-US" altLang="ko-KR" sz="900" dirty="0" smtClean="0"/>
              <a:t>- </a:t>
            </a:r>
            <a:r>
              <a:rPr lang="ko-KR" altLang="en-US" sz="900" dirty="0" err="1" smtClean="0"/>
              <a:t>크롤링데이터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65194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131534</TotalTime>
  <Words>1032</Words>
  <Application>Microsoft Office PowerPoint</Application>
  <PresentationFormat>화면 슬라이드 쇼(4:3)</PresentationFormat>
  <Paragraphs>344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굴림</vt:lpstr>
      <vt:lpstr>나눔고딕</vt:lpstr>
      <vt:lpstr>나눔고딕 ExtraBold</vt:lpstr>
      <vt:lpstr>맑은 고딕</vt:lpstr>
      <vt:lpstr>Arial</vt:lpstr>
      <vt:lpstr>Tahoma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>yeo seungeun</cp:lastModifiedBy>
  <cp:revision>4372</cp:revision>
  <cp:lastPrinted>2019-04-05T06:48:37Z</cp:lastPrinted>
  <dcterms:created xsi:type="dcterms:W3CDTF">2014-03-24T10:18:17Z</dcterms:created>
  <dcterms:modified xsi:type="dcterms:W3CDTF">2019-08-06T06:42:42Z</dcterms:modified>
</cp:coreProperties>
</file>