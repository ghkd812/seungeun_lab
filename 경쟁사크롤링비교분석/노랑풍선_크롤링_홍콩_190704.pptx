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2.xml" ContentType="application/vnd.openxmlformats-officedocument.drawingml.chartshapes+xml"/>
  <Override PartName="/ppt/notesSlides/notesSlide3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3.xml" ContentType="application/vnd.openxmlformats-officedocument.drawingml.chartshape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4.xml" ContentType="application/vnd.openxmlformats-officedocument.drawingml.chartshape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5.xml" ContentType="application/vnd.openxmlformats-officedocument.drawingml.chartshape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rawings/drawing6.xml" ContentType="application/vnd.openxmlformats-officedocument.drawingml.chartshapes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drawings/drawing7.xml" ContentType="application/vnd.openxmlformats-officedocument.drawingml.chartshapes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drawings/drawing8.xml" ContentType="application/vnd.openxmlformats-officedocument.drawingml.chartshapes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drawings/drawing9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547" r:id="rId3"/>
    <p:sldId id="518" r:id="rId4"/>
    <p:sldId id="522" r:id="rId5"/>
    <p:sldId id="517" r:id="rId6"/>
    <p:sldId id="551" r:id="rId7"/>
    <p:sldId id="519" r:id="rId8"/>
    <p:sldId id="548" r:id="rId9"/>
    <p:sldId id="550" r:id="rId10"/>
    <p:sldId id="552" r:id="rId11"/>
    <p:sldId id="553" r:id="rId12"/>
    <p:sldId id="554" r:id="rId13"/>
    <p:sldId id="555" r:id="rId14"/>
    <p:sldId id="556" r:id="rId15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93" userDrawn="1">
          <p15:clr>
            <a:srgbClr val="A4A3A4"/>
          </p15:clr>
        </p15:guide>
        <p15:guide id="2" pos="2857" userDrawn="1">
          <p15:clr>
            <a:srgbClr val="A4A3A4"/>
          </p15:clr>
        </p15:guide>
        <p15:guide id="3" orient="horz" pos="2750" userDrawn="1">
          <p15:clr>
            <a:srgbClr val="A4A3A4"/>
          </p15:clr>
        </p15:guide>
        <p15:guide id="4" pos="385" userDrawn="1">
          <p15:clr>
            <a:srgbClr val="A4A3A4"/>
          </p15:clr>
        </p15:guide>
        <p15:guide id="5" pos="53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5381"/>
    <a:srgbClr val="FF3737"/>
    <a:srgbClr val="317CC1"/>
    <a:srgbClr val="DC5E5E"/>
    <a:srgbClr val="FF7C80"/>
    <a:srgbClr val="E5675D"/>
    <a:srgbClr val="6DA6D9"/>
    <a:srgbClr val="E07B52"/>
    <a:srgbClr val="FF9966"/>
    <a:srgbClr val="5265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68" autoAdjust="0"/>
    <p:restoredTop sz="94684" autoAdjust="0"/>
  </p:normalViewPr>
  <p:slideViewPr>
    <p:cSldViewPr snapToGrid="0" showGuides="1">
      <p:cViewPr varScale="1">
        <p:scale>
          <a:sx n="106" d="100"/>
          <a:sy n="106" d="100"/>
        </p:scale>
        <p:origin x="2058" y="90"/>
      </p:cViewPr>
      <p:guideLst>
        <p:guide orient="horz" pos="3793"/>
        <p:guide pos="2857"/>
        <p:guide orient="horz" pos="2750"/>
        <p:guide pos="385"/>
        <p:guide pos="537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97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54861;&#53097;&#47560;&#52852;&#50724;&#45824;&#47564;\VGT\&#54861;&#53097;&#47560;&#52852;&#50724;_VG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54861;&#53097;&#47560;&#52852;&#50724;&#45824;&#47564;\VGT\&#54861;&#53097;&#47560;&#52852;&#50724;_VG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54861;&#53097;&#47560;&#52852;&#50724;&#45824;&#47564;\VGT\&#54861;&#53097;&#47560;&#52852;&#50724;_VGT.xlsx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54861;&#53097;&#47560;&#52852;&#50724;&#45824;&#47564;\VGT\&#54861;&#53097;&#47560;&#52852;&#50724;_VGT.xlsx" TargetMode="Externa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2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54861;&#53097;&#47560;&#52852;&#50724;&#45824;&#47564;\VGT\&#54861;&#53097;&#47560;&#52852;&#50724;_VGT.xlsx" TargetMode="Externa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3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54861;&#53097;&#47560;&#52852;&#50724;&#45824;&#47564;\VGT\&#54861;&#53097;&#47560;&#52852;&#50724;_VGT.xlsx" TargetMode="Externa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4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54861;&#53097;&#47560;&#52852;&#50724;&#45824;&#47564;\VGT\&#54861;&#53097;&#47560;&#52852;&#50724;_VGT.xlsx" TargetMode="Externa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5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54861;&#53097;&#47560;&#52852;&#50724;&#45824;&#47564;\VGT\&#54861;&#53097;&#47560;&#52852;&#50724;_VGT.xlsx" TargetMode="Externa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chartUserShapes" Target="../drawings/drawing6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54861;&#53097;&#47560;&#52852;&#50724;&#45824;&#47564;\VGT\&#54861;&#53097;&#47560;&#52852;&#50724;_VGT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54861;&#53097;&#47560;&#52852;&#50724;&#45824;&#47564;\VGT\&#54861;&#53097;&#47560;&#52852;&#50724;_VGT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54861;&#53097;&#47560;&#52852;&#50724;&#45824;&#47564;\VGT\&#54861;&#53097;&#47560;&#52852;&#50724;_VGT.xlsx" TargetMode="External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chartUserShapes" Target="../drawings/drawing7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54861;&#53097;&#47560;&#52852;&#50724;&#45824;&#47564;\VGT\&#54861;&#53097;&#47560;&#52852;&#50724;_VGT.xlsx" TargetMode="Externa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chartUserShapes" Target="../drawings/drawing8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54861;&#53097;&#47560;&#52852;&#50724;&#45824;&#47564;\VGT\&#54861;&#53097;&#47560;&#52852;&#50724;_VGT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54861;&#53097;&#47560;&#52852;&#50724;&#45824;&#47564;\VGT\&#54861;&#53097;&#47560;&#52852;&#50724;_VGT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54861;&#53097;&#47560;&#52852;&#50724;&#45824;&#47564;\VGT\&#54861;&#53097;&#47560;&#52852;&#50724;_VGT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54861;&#53097;&#47560;&#52852;&#50724;&#45824;&#47564;\VGT\&#54861;&#53097;&#47560;&#52852;&#50724;_VGT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54861;&#53097;&#47560;&#52852;&#50724;&#45824;&#47564;\VGT\&#54861;&#53097;&#47560;&#52852;&#50724;_VGT.xlsx" TargetMode="External"/><Relationship Id="rId2" Type="http://schemas.microsoft.com/office/2011/relationships/chartColorStyle" Target="colors17.xml"/><Relationship Id="rId1" Type="http://schemas.microsoft.com/office/2011/relationships/chartStyle" Target="style17.xml"/><Relationship Id="rId4" Type="http://schemas.openxmlformats.org/officeDocument/2006/relationships/chartUserShapes" Target="../drawings/drawing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정리본!$C$6</c:f>
              <c:strCache>
                <c:ptCount val="1"/>
                <c:pt idx="0">
                  <c:v>VGT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pattFill prst="wdUpDiag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정리본!$B$7:$B$9</c:f>
              <c:strCache>
                <c:ptCount val="3"/>
                <c:pt idx="0">
                  <c:v>홍콩/마카오</c:v>
                </c:pt>
                <c:pt idx="1">
                  <c:v>대만</c:v>
                </c:pt>
                <c:pt idx="2">
                  <c:v>전체</c:v>
                </c:pt>
              </c:strCache>
            </c:strRef>
          </c:cat>
          <c:val>
            <c:numRef>
              <c:f>정리본!$C$7:$C$9</c:f>
              <c:numCache>
                <c:formatCode>General</c:formatCode>
                <c:ptCount val="3"/>
                <c:pt idx="0">
                  <c:v>28</c:v>
                </c:pt>
                <c:pt idx="1">
                  <c:v>22</c:v>
                </c:pt>
                <c:pt idx="2">
                  <c:v>50</c:v>
                </c:pt>
              </c:numCache>
            </c:numRef>
          </c:val>
        </c:ser>
        <c:ser>
          <c:idx val="1"/>
          <c:order val="1"/>
          <c:tx>
            <c:strRef>
              <c:f>정리본!$D$6</c:f>
              <c:strCache>
                <c:ptCount val="1"/>
                <c:pt idx="0">
                  <c:v>노랑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pattFill prst="wdUpDiag">
                <a:fgClr>
                  <a:schemeClr val="accent4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정리본!$B$7:$B$9</c:f>
              <c:strCache>
                <c:ptCount val="3"/>
                <c:pt idx="0">
                  <c:v>홍콩/마카오</c:v>
                </c:pt>
                <c:pt idx="1">
                  <c:v>대만</c:v>
                </c:pt>
                <c:pt idx="2">
                  <c:v>전체</c:v>
                </c:pt>
              </c:strCache>
            </c:strRef>
          </c:cat>
          <c:val>
            <c:numRef>
              <c:f>정리본!$D$7:$D$9</c:f>
              <c:numCache>
                <c:formatCode>General</c:formatCode>
                <c:ptCount val="3"/>
                <c:pt idx="0">
                  <c:v>37</c:v>
                </c:pt>
                <c:pt idx="1">
                  <c:v>19</c:v>
                </c:pt>
                <c:pt idx="2">
                  <c:v>56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28096096"/>
        <c:axId val="728094976"/>
      </c:barChart>
      <c:catAx>
        <c:axId val="728096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28094976"/>
        <c:crosses val="autoZero"/>
        <c:auto val="1"/>
        <c:lblAlgn val="ctr"/>
        <c:lblOffset val="100"/>
        <c:noMultiLvlLbl val="0"/>
      </c:catAx>
      <c:valAx>
        <c:axId val="728094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280960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정리본!$C$15</c:f>
              <c:strCache>
                <c:ptCount val="1"/>
                <c:pt idx="0">
                  <c:v>VGT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pattFill prst="wdUpDiag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정리본!$B$16:$B$18</c:f>
              <c:strCache>
                <c:ptCount val="3"/>
                <c:pt idx="0">
                  <c:v>홍콩/마카오</c:v>
                </c:pt>
                <c:pt idx="1">
                  <c:v>대만</c:v>
                </c:pt>
                <c:pt idx="2">
                  <c:v>전체</c:v>
                </c:pt>
              </c:strCache>
            </c:strRef>
          </c:cat>
          <c:val>
            <c:numRef>
              <c:f>정리본!$C$16:$C$18</c:f>
              <c:numCache>
                <c:formatCode>_(* #,##0_);_(* \(#,##0\);_(* "-"_);_(@_)</c:formatCode>
                <c:ptCount val="3"/>
                <c:pt idx="0">
                  <c:v>6877</c:v>
                </c:pt>
                <c:pt idx="1">
                  <c:v>4297</c:v>
                </c:pt>
                <c:pt idx="2">
                  <c:v>11174</c:v>
                </c:pt>
              </c:numCache>
            </c:numRef>
          </c:val>
        </c:ser>
        <c:ser>
          <c:idx val="1"/>
          <c:order val="1"/>
          <c:tx>
            <c:strRef>
              <c:f>정리본!$D$15</c:f>
              <c:strCache>
                <c:ptCount val="1"/>
                <c:pt idx="0">
                  <c:v>노랑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pattFill prst="wdUpDiag">
                <a:fgClr>
                  <a:schemeClr val="accent4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정리본!$B$16:$B$18</c:f>
              <c:strCache>
                <c:ptCount val="3"/>
                <c:pt idx="0">
                  <c:v>홍콩/마카오</c:v>
                </c:pt>
                <c:pt idx="1">
                  <c:v>대만</c:v>
                </c:pt>
                <c:pt idx="2">
                  <c:v>전체</c:v>
                </c:pt>
              </c:strCache>
            </c:strRef>
          </c:cat>
          <c:val>
            <c:numRef>
              <c:f>정리본!$D$16:$D$18</c:f>
              <c:numCache>
                <c:formatCode>_(* #,##0_);_(* \(#,##0\);_(* "-"_);_(@_)</c:formatCode>
                <c:ptCount val="3"/>
                <c:pt idx="0">
                  <c:v>2561</c:v>
                </c:pt>
                <c:pt idx="1">
                  <c:v>2594</c:v>
                </c:pt>
                <c:pt idx="2">
                  <c:v>5155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28101696"/>
        <c:axId val="728098896"/>
      </c:barChart>
      <c:catAx>
        <c:axId val="728101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28098896"/>
        <c:crosses val="autoZero"/>
        <c:auto val="1"/>
        <c:lblAlgn val="ctr"/>
        <c:lblOffset val="100"/>
        <c:noMultiLvlLbl val="0"/>
      </c:catAx>
      <c:valAx>
        <c:axId val="728098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28101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정리본!$G$30</c:f>
              <c:strCache>
                <c:ptCount val="1"/>
                <c:pt idx="0">
                  <c:v>출발확정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정리본!$F$31:$F$32</c:f>
              <c:strCache>
                <c:ptCount val="2"/>
                <c:pt idx="0">
                  <c:v>홍콩/마카오</c:v>
                </c:pt>
                <c:pt idx="1">
                  <c:v>대만</c:v>
                </c:pt>
              </c:strCache>
            </c:strRef>
          </c:cat>
          <c:val>
            <c:numRef>
              <c:f>정리본!$G$31:$G$32</c:f>
              <c:numCache>
                <c:formatCode>0%</c:formatCode>
                <c:ptCount val="2"/>
                <c:pt idx="0">
                  <c:v>0.87575757575757573</c:v>
                </c:pt>
                <c:pt idx="1">
                  <c:v>0.12424242424242424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정리본!$G$37</c:f>
              <c:strCache>
                <c:ptCount val="1"/>
                <c:pt idx="0">
                  <c:v>출발확정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정리본!$F$38:$F$39</c:f>
              <c:strCache>
                <c:ptCount val="2"/>
                <c:pt idx="0">
                  <c:v>홍콩/마카오</c:v>
                </c:pt>
                <c:pt idx="1">
                  <c:v>대만</c:v>
                </c:pt>
              </c:strCache>
            </c:strRef>
          </c:cat>
          <c:val>
            <c:numRef>
              <c:f>정리본!$G$38:$G$39</c:f>
              <c:numCache>
                <c:formatCode>0%</c:formatCode>
                <c:ptCount val="2"/>
                <c:pt idx="0">
                  <c:v>0.87323943661971826</c:v>
                </c:pt>
                <c:pt idx="1">
                  <c:v>0.12676056338028169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정리본!$F$96</c:f>
              <c:strCache>
                <c:ptCount val="1"/>
                <c:pt idx="0">
                  <c:v>개수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정리본!$E$97:$E$99</c:f>
              <c:strCache>
                <c:ptCount val="3"/>
                <c:pt idx="0">
                  <c:v>일반</c:v>
                </c:pt>
                <c:pt idx="1">
                  <c:v>라르고</c:v>
                </c:pt>
                <c:pt idx="2">
                  <c:v>라르고+</c:v>
                </c:pt>
              </c:strCache>
            </c:strRef>
          </c:cat>
          <c:val>
            <c:numRef>
              <c:f>정리본!$F$97:$F$99</c:f>
              <c:numCache>
                <c:formatCode>0%</c:formatCode>
                <c:ptCount val="3"/>
                <c:pt idx="0">
                  <c:v>0.92321460533381061</c:v>
                </c:pt>
                <c:pt idx="1">
                  <c:v>7.6785394666189374E-2</c:v>
                </c:pt>
                <c:pt idx="2">
                  <c:v>0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정리본!$F$103</c:f>
              <c:strCache>
                <c:ptCount val="1"/>
                <c:pt idx="0">
                  <c:v>개수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정리본!$E$104:$E$106</c:f>
              <c:strCache>
                <c:ptCount val="3"/>
                <c:pt idx="0">
                  <c:v>일반</c:v>
                </c:pt>
                <c:pt idx="1">
                  <c:v>프리미엄</c:v>
                </c:pt>
                <c:pt idx="2">
                  <c:v>라이트팩</c:v>
                </c:pt>
              </c:strCache>
            </c:strRef>
          </c:cat>
          <c:val>
            <c:numRef>
              <c:f>정리본!$F$104:$F$106</c:f>
              <c:numCache>
                <c:formatCode>0%</c:formatCode>
                <c:ptCount val="3"/>
                <c:pt idx="0">
                  <c:v>0.57769156159068868</c:v>
                </c:pt>
                <c:pt idx="1">
                  <c:v>0.21959262851600389</c:v>
                </c:pt>
                <c:pt idx="2">
                  <c:v>0.20271580989330748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정리본!$F$110</c:f>
              <c:strCache>
                <c:ptCount val="1"/>
                <c:pt idx="0">
                  <c:v>개수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정리본!$E$111:$E$113</c:f>
              <c:strCache>
                <c:ptCount val="3"/>
                <c:pt idx="0">
                  <c:v>일반</c:v>
                </c:pt>
                <c:pt idx="1">
                  <c:v>프리미엄</c:v>
                </c:pt>
                <c:pt idx="2">
                  <c:v>라이트팩</c:v>
                </c:pt>
              </c:strCache>
            </c:strRef>
          </c:cat>
          <c:val>
            <c:numRef>
              <c:f>정리본!$F$111:$F$113</c:f>
              <c:numCache>
                <c:formatCode>0%</c:formatCode>
                <c:ptCount val="3"/>
                <c:pt idx="0">
                  <c:v>0.49295774647887325</c:v>
                </c:pt>
                <c:pt idx="1">
                  <c:v>9.3896713615023476E-3</c:v>
                </c:pt>
                <c:pt idx="2">
                  <c:v>0.49765258215962443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정리본!$F$89</c:f>
              <c:strCache>
                <c:ptCount val="1"/>
                <c:pt idx="0">
                  <c:v>개수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정리본!$E$90:$E$92</c:f>
              <c:strCache>
                <c:ptCount val="3"/>
                <c:pt idx="0">
                  <c:v>일반</c:v>
                </c:pt>
                <c:pt idx="1">
                  <c:v>라르고</c:v>
                </c:pt>
                <c:pt idx="2">
                  <c:v>라르고+</c:v>
                </c:pt>
              </c:strCache>
            </c:strRef>
          </c:cat>
          <c:val>
            <c:numRef>
              <c:f>정리본!$F$90:$F$92</c:f>
              <c:numCache>
                <c:formatCode>0%</c:formatCode>
                <c:ptCount val="3"/>
                <c:pt idx="0">
                  <c:v>0.9363636363636364</c:v>
                </c:pt>
                <c:pt idx="1">
                  <c:v>6.363636363636363E-2</c:v>
                </c:pt>
                <c:pt idx="2">
                  <c:v>0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정리본!$G$57</c:f>
              <c:strCache>
                <c:ptCount val="1"/>
                <c:pt idx="0">
                  <c:v>대만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정리본!$H$56:$J$56</c:f>
              <c:strCache>
                <c:ptCount val="3"/>
                <c:pt idx="0">
                  <c:v>일반(VGT)</c:v>
                </c:pt>
                <c:pt idx="1">
                  <c:v>라르고(VGT)</c:v>
                </c:pt>
                <c:pt idx="2">
                  <c:v>라르고+(VGT)</c:v>
                </c:pt>
              </c:strCache>
            </c:strRef>
          </c:cat>
          <c:val>
            <c:numRef>
              <c:f>정리본!$H$57:$J$57</c:f>
              <c:numCache>
                <c:formatCode>0%</c:formatCode>
                <c:ptCount val="3"/>
                <c:pt idx="0">
                  <c:v>0.35982939123691354</c:v>
                </c:pt>
                <c:pt idx="1">
                  <c:v>0.68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정리본!$G$58</c:f>
              <c:strCache>
                <c:ptCount val="1"/>
                <c:pt idx="0">
                  <c:v>홍콩/마카오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정리본!$H$56:$J$56</c:f>
              <c:strCache>
                <c:ptCount val="3"/>
                <c:pt idx="0">
                  <c:v>일반(VGT)</c:v>
                </c:pt>
                <c:pt idx="1">
                  <c:v>라르고(VGT)</c:v>
                </c:pt>
                <c:pt idx="2">
                  <c:v>라르고+(VGT)</c:v>
                </c:pt>
              </c:strCache>
            </c:strRef>
          </c:cat>
          <c:val>
            <c:numRef>
              <c:f>정리본!$H$58:$J$58</c:f>
              <c:numCache>
                <c:formatCode>0%</c:formatCode>
                <c:ptCount val="3"/>
                <c:pt idx="0">
                  <c:v>0.64</c:v>
                </c:pt>
                <c:pt idx="1">
                  <c:v>0.32</c:v>
                </c:pt>
                <c:pt idx="2">
                  <c:v>0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27228864"/>
        <c:axId val="527227184"/>
      </c:barChart>
      <c:catAx>
        <c:axId val="527228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7227184"/>
        <c:crosses val="autoZero"/>
        <c:auto val="1"/>
        <c:lblAlgn val="ctr"/>
        <c:lblOffset val="100"/>
        <c:noMultiLvlLbl val="0"/>
      </c:catAx>
      <c:valAx>
        <c:axId val="527227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7228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989956255468067"/>
          <c:y val="0.4894900116652085"/>
          <c:w val="0.17878215223097113"/>
          <c:h val="0.156251093613298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정리본!$G$71</c:f>
              <c:strCache>
                <c:ptCount val="1"/>
                <c:pt idx="0">
                  <c:v>대만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정리본!$H$70:$J$70</c:f>
              <c:strCache>
                <c:ptCount val="3"/>
                <c:pt idx="0">
                  <c:v>일반(노랑)</c:v>
                </c:pt>
                <c:pt idx="1">
                  <c:v>프리미엄(노랑)</c:v>
                </c:pt>
                <c:pt idx="2">
                  <c:v>라이트팩(노랑)</c:v>
                </c:pt>
              </c:strCache>
            </c:strRef>
          </c:cat>
          <c:val>
            <c:numRef>
              <c:f>정리본!$H$71:$J$71</c:f>
              <c:numCache>
                <c:formatCode>0%</c:formatCode>
                <c:ptCount val="3"/>
                <c:pt idx="0">
                  <c:v>0.60745466756212219</c:v>
                </c:pt>
                <c:pt idx="1">
                  <c:v>0.47526501766784451</c:v>
                </c:pt>
                <c:pt idx="2">
                  <c:v>0.23636363636363636</c:v>
                </c:pt>
              </c:numCache>
            </c:numRef>
          </c:val>
        </c:ser>
        <c:ser>
          <c:idx val="1"/>
          <c:order val="1"/>
          <c:tx>
            <c:strRef>
              <c:f>정리본!$G$72</c:f>
              <c:strCache>
                <c:ptCount val="1"/>
                <c:pt idx="0">
                  <c:v>홍콩/마카오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정리본!$H$70:$J$70</c:f>
              <c:strCache>
                <c:ptCount val="3"/>
                <c:pt idx="0">
                  <c:v>일반(노랑)</c:v>
                </c:pt>
                <c:pt idx="1">
                  <c:v>프리미엄(노랑)</c:v>
                </c:pt>
                <c:pt idx="2">
                  <c:v>라이트팩(노랑)</c:v>
                </c:pt>
              </c:strCache>
            </c:strRef>
          </c:cat>
          <c:val>
            <c:numRef>
              <c:f>정리본!$H$72:$J$72</c:f>
              <c:numCache>
                <c:formatCode>0%</c:formatCode>
                <c:ptCount val="3"/>
                <c:pt idx="0">
                  <c:v>0.39254533243787776</c:v>
                </c:pt>
                <c:pt idx="1">
                  <c:v>0.52473498233215543</c:v>
                </c:pt>
                <c:pt idx="2">
                  <c:v>0.76363636363636367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53010784"/>
        <c:axId val="353008544"/>
      </c:barChart>
      <c:catAx>
        <c:axId val="353010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53008544"/>
        <c:crosses val="autoZero"/>
        <c:auto val="1"/>
        <c:lblAlgn val="ctr"/>
        <c:lblOffset val="100"/>
        <c:noMultiLvlLbl val="0"/>
      </c:catAx>
      <c:valAx>
        <c:axId val="353008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53010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정리본!$H$128</c:f>
              <c:strCache>
                <c:ptCount val="1"/>
                <c:pt idx="0">
                  <c:v>홍콩/마카오/대만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정리본!$I$127:$K$127</c:f>
              <c:strCache>
                <c:ptCount val="3"/>
                <c:pt idx="0">
                  <c:v>국적기</c:v>
                </c:pt>
                <c:pt idx="1">
                  <c:v>LCC</c:v>
                </c:pt>
                <c:pt idx="2">
                  <c:v>외항사</c:v>
                </c:pt>
              </c:strCache>
            </c:strRef>
          </c:cat>
          <c:val>
            <c:numRef>
              <c:f>정리본!$I$128:$K$128</c:f>
              <c:numCache>
                <c:formatCode>0%</c:formatCode>
                <c:ptCount val="3"/>
                <c:pt idx="0">
                  <c:v>0.57356362985502063</c:v>
                </c:pt>
                <c:pt idx="1">
                  <c:v>0.37712546984070161</c:v>
                </c:pt>
                <c:pt idx="2">
                  <c:v>4.9310900304277788E-2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정리본!$H$136</c:f>
              <c:strCache>
                <c:ptCount val="1"/>
                <c:pt idx="0">
                  <c:v>홍콩/마카오/대만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정리본!$I$127:$K$127</c:f>
              <c:strCache>
                <c:ptCount val="3"/>
                <c:pt idx="0">
                  <c:v>국적기</c:v>
                </c:pt>
                <c:pt idx="1">
                  <c:v>LCC</c:v>
                </c:pt>
                <c:pt idx="2">
                  <c:v>외항사</c:v>
                </c:pt>
              </c:strCache>
            </c:strRef>
          </c:cat>
          <c:val>
            <c:numRef>
              <c:f>정리본!$I$136:$K$136</c:f>
              <c:numCache>
                <c:formatCode>0%</c:formatCode>
                <c:ptCount val="3"/>
                <c:pt idx="0">
                  <c:v>0.43705140640155188</c:v>
                </c:pt>
                <c:pt idx="1">
                  <c:v>0.23161978661493696</c:v>
                </c:pt>
                <c:pt idx="2">
                  <c:v>0.33132880698351114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정리본!$C$187</c:f>
              <c:strCache>
                <c:ptCount val="1"/>
                <c:pt idx="0">
                  <c:v>VGT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pattFill prst="wdUpDiag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정리본!$B$188:$B$190</c:f>
              <c:strCache>
                <c:ptCount val="3"/>
                <c:pt idx="0">
                  <c:v>홍콩/마카오</c:v>
                </c:pt>
                <c:pt idx="1">
                  <c:v>대만</c:v>
                </c:pt>
                <c:pt idx="2">
                  <c:v>전체</c:v>
                </c:pt>
              </c:strCache>
            </c:strRef>
          </c:cat>
          <c:val>
            <c:numRef>
              <c:f>정리본!$C$188:$C$190</c:f>
              <c:numCache>
                <c:formatCode>#,#0#,_-</c:formatCode>
                <c:ptCount val="3"/>
                <c:pt idx="0">
                  <c:v>705283.26305074885</c:v>
                </c:pt>
                <c:pt idx="1">
                  <c:v>680871.30556202005</c:v>
                </c:pt>
                <c:pt idx="2">
                  <c:v>695895.56112403795</c:v>
                </c:pt>
              </c:numCache>
            </c:numRef>
          </c:val>
        </c:ser>
        <c:ser>
          <c:idx val="1"/>
          <c:order val="1"/>
          <c:tx>
            <c:strRef>
              <c:f>정리본!$D$187</c:f>
              <c:strCache>
                <c:ptCount val="1"/>
                <c:pt idx="0">
                  <c:v>노랑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pattFill prst="wdUpDiag">
                <a:fgClr>
                  <a:schemeClr val="accent4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정리본!$B$188:$B$190</c:f>
              <c:strCache>
                <c:ptCount val="3"/>
                <c:pt idx="0">
                  <c:v>홍콩/마카오</c:v>
                </c:pt>
                <c:pt idx="1">
                  <c:v>대만</c:v>
                </c:pt>
                <c:pt idx="2">
                  <c:v>전체</c:v>
                </c:pt>
              </c:strCache>
            </c:strRef>
          </c:cat>
          <c:val>
            <c:numRef>
              <c:f>정리본!$D$188:$D$190</c:f>
              <c:numCache>
                <c:formatCode>#,#0#,_-</c:formatCode>
                <c:ptCount val="3"/>
                <c:pt idx="0">
                  <c:v>762967.66887934401</c:v>
                </c:pt>
                <c:pt idx="1">
                  <c:v>747361.60370084806</c:v>
                </c:pt>
                <c:pt idx="2">
                  <c:v>755114.68477206596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10758368"/>
        <c:axId val="810758928"/>
      </c:barChart>
      <c:catAx>
        <c:axId val="810758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0758928"/>
        <c:crosses val="autoZero"/>
        <c:auto val="1"/>
        <c:lblAlgn val="ctr"/>
        <c:lblOffset val="100"/>
        <c:noMultiLvlLbl val="0"/>
      </c:catAx>
      <c:valAx>
        <c:axId val="810758928"/>
        <c:scaling>
          <c:orientation val="minMax"/>
          <c:max val="120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0#,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07583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정리본!$C$195</c:f>
              <c:strCache>
                <c:ptCount val="1"/>
                <c:pt idx="0">
                  <c:v>VGT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pattFill prst="wdUpDiag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정리본!$B$196:$B$198</c:f>
              <c:strCache>
                <c:ptCount val="3"/>
                <c:pt idx="0">
                  <c:v>홍콩/마카오</c:v>
                </c:pt>
                <c:pt idx="1">
                  <c:v>대만</c:v>
                </c:pt>
                <c:pt idx="2">
                  <c:v>전체</c:v>
                </c:pt>
              </c:strCache>
            </c:strRef>
          </c:cat>
          <c:val>
            <c:numRef>
              <c:f>정리본!$C$196:$C$198</c:f>
              <c:numCache>
                <c:formatCode>#,#0#,_-</c:formatCode>
                <c:ptCount val="3"/>
                <c:pt idx="0">
                  <c:v>762830.44982698967</c:v>
                </c:pt>
                <c:pt idx="1">
                  <c:v>952487.80487804883</c:v>
                </c:pt>
                <c:pt idx="2">
                  <c:v>786393.93939393945</c:v>
                </c:pt>
              </c:numCache>
            </c:numRef>
          </c:val>
        </c:ser>
        <c:ser>
          <c:idx val="1"/>
          <c:order val="1"/>
          <c:tx>
            <c:strRef>
              <c:f>정리본!$D$195</c:f>
              <c:strCache>
                <c:ptCount val="1"/>
                <c:pt idx="0">
                  <c:v>노랑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pattFill prst="wdUpDiag">
                <a:fgClr>
                  <a:schemeClr val="accent4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정리본!$B$196:$B$198</c:f>
              <c:strCache>
                <c:ptCount val="3"/>
                <c:pt idx="0">
                  <c:v>홍콩/마카오</c:v>
                </c:pt>
                <c:pt idx="1">
                  <c:v>대만</c:v>
                </c:pt>
                <c:pt idx="2">
                  <c:v>전체</c:v>
                </c:pt>
              </c:strCache>
            </c:strRef>
          </c:cat>
          <c:val>
            <c:numRef>
              <c:f>정리본!$D$196:$D$198</c:f>
              <c:numCache>
                <c:formatCode>#,#0#,_-</c:formatCode>
                <c:ptCount val="3"/>
                <c:pt idx="0">
                  <c:v>804598.92473118275</c:v>
                </c:pt>
                <c:pt idx="1">
                  <c:v>740222.22222222225</c:v>
                </c:pt>
                <c:pt idx="2">
                  <c:v>796438.49765258213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10196832"/>
        <c:axId val="810197392"/>
      </c:barChart>
      <c:catAx>
        <c:axId val="810196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0197392"/>
        <c:crosses val="autoZero"/>
        <c:auto val="1"/>
        <c:lblAlgn val="ctr"/>
        <c:lblOffset val="100"/>
        <c:noMultiLvlLbl val="0"/>
      </c:catAx>
      <c:valAx>
        <c:axId val="810197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0#,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0196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정리본!$H$228</c:f>
              <c:strCache>
                <c:ptCount val="1"/>
                <c:pt idx="0">
                  <c:v>일반(VGT)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정리본!$G$229:$G$231</c:f>
              <c:strCache>
                <c:ptCount val="3"/>
                <c:pt idx="0">
                  <c:v>홍콩/마카오</c:v>
                </c:pt>
                <c:pt idx="1">
                  <c:v>대만</c:v>
                </c:pt>
                <c:pt idx="2">
                  <c:v>전체</c:v>
                </c:pt>
              </c:strCache>
            </c:strRef>
          </c:cat>
          <c:val>
            <c:numRef>
              <c:f>정리본!$H$229:$H$231</c:f>
              <c:numCache>
                <c:formatCode>#,#0#,_-</c:formatCode>
                <c:ptCount val="3"/>
                <c:pt idx="0">
                  <c:v>755527.97202797199</c:v>
                </c:pt>
                <c:pt idx="1">
                  <c:v>1097565.2173913044</c:v>
                </c:pt>
                <c:pt idx="2">
                  <c:v>780987.0550161812</c:v>
                </c:pt>
              </c:numCache>
            </c:numRef>
          </c:val>
        </c:ser>
        <c:ser>
          <c:idx val="1"/>
          <c:order val="1"/>
          <c:tx>
            <c:strRef>
              <c:f>정리본!$I$228</c:f>
              <c:strCache>
                <c:ptCount val="1"/>
                <c:pt idx="0">
                  <c:v>일반(노랑)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정리본!$G$229:$G$231</c:f>
              <c:strCache>
                <c:ptCount val="3"/>
                <c:pt idx="0">
                  <c:v>홍콩/마카오</c:v>
                </c:pt>
                <c:pt idx="1">
                  <c:v>대만</c:v>
                </c:pt>
                <c:pt idx="2">
                  <c:v>전체</c:v>
                </c:pt>
              </c:strCache>
            </c:strRef>
          </c:cat>
          <c:val>
            <c:numRef>
              <c:f>정리본!$I$229:$I$231</c:f>
              <c:numCache>
                <c:formatCode>#,#0#,_-</c:formatCode>
                <c:ptCount val="3"/>
                <c:pt idx="0">
                  <c:v>962061.90476190473</c:v>
                </c:pt>
                <c:pt idx="1">
                  <c:v>776761.90476190473</c:v>
                </c:pt>
                <c:pt idx="2">
                  <c:v>925001.90476190473</c:v>
                </c:pt>
              </c:numCache>
            </c:numRef>
          </c:val>
        </c:ser>
        <c:ser>
          <c:idx val="2"/>
          <c:order val="2"/>
          <c:tx>
            <c:strRef>
              <c:f>정리본!$J$228</c:f>
              <c:strCache>
                <c:ptCount val="1"/>
                <c:pt idx="0">
                  <c:v>라르고+(VGT)</c:v>
                </c:pt>
              </c:strCache>
            </c:strRef>
          </c:tx>
          <c:spPr>
            <a:pattFill prst="dkHorz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정리본!$G$229:$G$231</c:f>
              <c:strCache>
                <c:ptCount val="3"/>
                <c:pt idx="0">
                  <c:v>홍콩/마카오</c:v>
                </c:pt>
                <c:pt idx="1">
                  <c:v>대만</c:v>
                </c:pt>
                <c:pt idx="2">
                  <c:v>전체</c:v>
                </c:pt>
              </c:strCache>
            </c:strRef>
          </c:cat>
          <c:val>
            <c:numRef>
              <c:f>정리본!$J$229:$J$231</c:f>
              <c:numCache>
                <c:formatCode>#,#0#,_-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3"/>
          <c:order val="3"/>
          <c:tx>
            <c:strRef>
              <c:f>정리본!$K$228</c:f>
              <c:strCache>
                <c:ptCount val="1"/>
                <c:pt idx="0">
                  <c:v>프리미엄(노랑)</c:v>
                </c:pt>
              </c:strCache>
            </c:strRef>
          </c:tx>
          <c:spPr>
            <a:pattFill prst="dkHorz">
              <a:fgClr>
                <a:schemeClr val="accent4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정리본!$G$229:$G$231</c:f>
              <c:strCache>
                <c:ptCount val="3"/>
                <c:pt idx="0">
                  <c:v>홍콩/마카오</c:v>
                </c:pt>
                <c:pt idx="1">
                  <c:v>대만</c:v>
                </c:pt>
                <c:pt idx="2">
                  <c:v>전체</c:v>
                </c:pt>
              </c:strCache>
            </c:strRef>
          </c:cat>
          <c:val>
            <c:numRef>
              <c:f>정리본!$K$229:$K$231</c:f>
              <c:numCache>
                <c:formatCode>#,#0#,_-</c:formatCode>
                <c:ptCount val="3"/>
                <c:pt idx="0">
                  <c:v>1410600</c:v>
                </c:pt>
                <c:pt idx="1">
                  <c:v>0</c:v>
                </c:pt>
                <c:pt idx="2">
                  <c:v>1410600</c:v>
                </c:pt>
              </c:numCache>
            </c:numRef>
          </c:val>
        </c:ser>
        <c:ser>
          <c:idx val="4"/>
          <c:order val="4"/>
          <c:tx>
            <c:strRef>
              <c:f>정리본!$L$228</c:f>
              <c:strCache>
                <c:ptCount val="1"/>
                <c:pt idx="0">
                  <c:v>라르고(VGT)</c:v>
                </c:pt>
              </c:strCache>
            </c:strRef>
          </c:tx>
          <c:spPr>
            <a:pattFill prst="ltVert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정리본!$G$229:$G$231</c:f>
              <c:strCache>
                <c:ptCount val="3"/>
                <c:pt idx="0">
                  <c:v>홍콩/마카오</c:v>
                </c:pt>
                <c:pt idx="1">
                  <c:v>대만</c:v>
                </c:pt>
                <c:pt idx="2">
                  <c:v>전체</c:v>
                </c:pt>
              </c:strCache>
            </c:strRef>
          </c:cat>
          <c:val>
            <c:numRef>
              <c:f>정리본!$L$229:$L$231</c:f>
              <c:numCache>
                <c:formatCode>#,#0#,_-</c:formatCode>
                <c:ptCount val="3"/>
                <c:pt idx="0">
                  <c:v>1459000</c:v>
                </c:pt>
                <c:pt idx="1">
                  <c:v>767111.11111111112</c:v>
                </c:pt>
                <c:pt idx="2">
                  <c:v>865952.38095238095</c:v>
                </c:pt>
              </c:numCache>
            </c:numRef>
          </c:val>
        </c:ser>
        <c:ser>
          <c:idx val="5"/>
          <c:order val="5"/>
          <c:tx>
            <c:strRef>
              <c:f>정리본!$M$228</c:f>
              <c:strCache>
                <c:ptCount val="1"/>
                <c:pt idx="0">
                  <c:v>라이트팩(노랑)</c:v>
                </c:pt>
              </c:strCache>
            </c:strRef>
          </c:tx>
          <c:spPr>
            <a:pattFill prst="dkVert">
              <a:fgClr>
                <a:schemeClr val="accent4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정리본!$G$229:$G$231</c:f>
              <c:strCache>
                <c:ptCount val="3"/>
                <c:pt idx="0">
                  <c:v>홍콩/마카오</c:v>
                </c:pt>
                <c:pt idx="1">
                  <c:v>대만</c:v>
                </c:pt>
                <c:pt idx="2">
                  <c:v>전체</c:v>
                </c:pt>
              </c:strCache>
            </c:strRef>
          </c:cat>
          <c:val>
            <c:numRef>
              <c:f>정리본!$M$229:$M$231</c:f>
              <c:numCache>
                <c:formatCode>#,#0#,_-</c:formatCode>
                <c:ptCount val="3"/>
                <c:pt idx="0">
                  <c:v>660210</c:v>
                </c:pt>
                <c:pt idx="1">
                  <c:v>612333.33333333337</c:v>
                </c:pt>
                <c:pt idx="2">
                  <c:v>657500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10202432"/>
        <c:axId val="810202992"/>
      </c:barChart>
      <c:catAx>
        <c:axId val="810202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0202992"/>
        <c:crosses val="autoZero"/>
        <c:auto val="1"/>
        <c:lblAlgn val="ctr"/>
        <c:lblOffset val="100"/>
        <c:noMultiLvlLbl val="0"/>
      </c:catAx>
      <c:valAx>
        <c:axId val="810202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0#,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02024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정리본!$H$221</c:f>
              <c:strCache>
                <c:ptCount val="1"/>
                <c:pt idx="0">
                  <c:v>일반(VGT)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정리본!$G$222:$G$224</c:f>
              <c:strCache>
                <c:ptCount val="3"/>
                <c:pt idx="0">
                  <c:v>홍콩/마카오</c:v>
                </c:pt>
                <c:pt idx="1">
                  <c:v>대만</c:v>
                </c:pt>
                <c:pt idx="2">
                  <c:v>전체</c:v>
                </c:pt>
              </c:strCache>
            </c:strRef>
          </c:cat>
          <c:val>
            <c:numRef>
              <c:f>정리본!$H$222:$H$224</c:f>
              <c:numCache>
                <c:formatCode>#,#0#,_-</c:formatCode>
                <c:ptCount val="3"/>
                <c:pt idx="0">
                  <c:v>703346.15384615387</c:v>
                </c:pt>
                <c:pt idx="1">
                  <c:v>675612.60775862064</c:v>
                </c:pt>
                <c:pt idx="2">
                  <c:v>693366.80884063593</c:v>
                </c:pt>
              </c:numCache>
            </c:numRef>
          </c:val>
        </c:ser>
        <c:ser>
          <c:idx val="1"/>
          <c:order val="1"/>
          <c:tx>
            <c:strRef>
              <c:f>정리본!$I$221</c:f>
              <c:strCache>
                <c:ptCount val="1"/>
                <c:pt idx="0">
                  <c:v>일반(노랑)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정리본!$G$222:$G$224</c:f>
              <c:strCache>
                <c:ptCount val="3"/>
                <c:pt idx="0">
                  <c:v>홍콩/마카오</c:v>
                </c:pt>
                <c:pt idx="1">
                  <c:v>대만</c:v>
                </c:pt>
                <c:pt idx="2">
                  <c:v>전체</c:v>
                </c:pt>
              </c:strCache>
            </c:strRef>
          </c:cat>
          <c:val>
            <c:numRef>
              <c:f>정리본!$I$222:$I$224</c:f>
              <c:numCache>
                <c:formatCode>#,#0#,_-</c:formatCode>
                <c:ptCount val="3"/>
                <c:pt idx="0">
                  <c:v>738133.78956372966</c:v>
                </c:pt>
                <c:pt idx="1">
                  <c:v>659736.81592039799</c:v>
                </c:pt>
                <c:pt idx="2">
                  <c:v>690511.18200134323</c:v>
                </c:pt>
              </c:numCache>
            </c:numRef>
          </c:val>
        </c:ser>
        <c:ser>
          <c:idx val="2"/>
          <c:order val="2"/>
          <c:tx>
            <c:strRef>
              <c:f>정리본!$J$221</c:f>
              <c:strCache>
                <c:ptCount val="1"/>
                <c:pt idx="0">
                  <c:v>라르고+(VGT)</c:v>
                </c:pt>
              </c:strCache>
            </c:strRef>
          </c:tx>
          <c:spPr>
            <a:pattFill prst="dkHorz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정리본!$G$222:$G$224</c:f>
              <c:strCache>
                <c:ptCount val="3"/>
                <c:pt idx="0">
                  <c:v>홍콩/마카오</c:v>
                </c:pt>
                <c:pt idx="1">
                  <c:v>대만</c:v>
                </c:pt>
                <c:pt idx="2">
                  <c:v>전체</c:v>
                </c:pt>
              </c:strCache>
            </c:strRef>
          </c:cat>
          <c:val>
            <c:numRef>
              <c:f>정리본!$J$222:$J$224</c:f>
              <c:numCache>
                <c:formatCode>#,#0#,_-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3"/>
          <c:order val="3"/>
          <c:tx>
            <c:strRef>
              <c:f>정리본!$K$221</c:f>
              <c:strCache>
                <c:ptCount val="1"/>
                <c:pt idx="0">
                  <c:v>프리미엄(노랑)</c:v>
                </c:pt>
              </c:strCache>
            </c:strRef>
          </c:tx>
          <c:spPr>
            <a:pattFill prst="dkHorz">
              <a:fgClr>
                <a:schemeClr val="accent4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정리본!$G$222:$G$224</c:f>
              <c:strCache>
                <c:ptCount val="3"/>
                <c:pt idx="0">
                  <c:v>홍콩/마카오</c:v>
                </c:pt>
                <c:pt idx="1">
                  <c:v>대만</c:v>
                </c:pt>
                <c:pt idx="2">
                  <c:v>전체</c:v>
                </c:pt>
              </c:strCache>
            </c:strRef>
          </c:cat>
          <c:val>
            <c:numRef>
              <c:f>정리본!$K$222:$K$224</c:f>
              <c:numCache>
                <c:formatCode>#,#0#,_-</c:formatCode>
                <c:ptCount val="3"/>
                <c:pt idx="0">
                  <c:v>1084824.5791245792</c:v>
                </c:pt>
                <c:pt idx="1">
                  <c:v>1131360.594795539</c:v>
                </c:pt>
                <c:pt idx="2">
                  <c:v>1106941.519434629</c:v>
                </c:pt>
              </c:numCache>
            </c:numRef>
          </c:val>
        </c:ser>
        <c:ser>
          <c:idx val="4"/>
          <c:order val="4"/>
          <c:tx>
            <c:strRef>
              <c:f>정리본!$L$221</c:f>
              <c:strCache>
                <c:ptCount val="1"/>
                <c:pt idx="0">
                  <c:v>라르고(VGT)</c:v>
                </c:pt>
              </c:strCache>
            </c:strRef>
          </c:tx>
          <c:spPr>
            <a:pattFill prst="ltVert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정리본!$G$222:$G$224</c:f>
              <c:strCache>
                <c:ptCount val="3"/>
                <c:pt idx="0">
                  <c:v>홍콩/마카오</c:v>
                </c:pt>
                <c:pt idx="1">
                  <c:v>대만</c:v>
                </c:pt>
                <c:pt idx="2">
                  <c:v>전체</c:v>
                </c:pt>
              </c:strCache>
            </c:strRef>
          </c:cat>
          <c:val>
            <c:numRef>
              <c:f>정리본!$L$222:$L$224</c:f>
              <c:numCache>
                <c:formatCode>#,#0#,_-</c:formatCode>
                <c:ptCount val="3"/>
                <c:pt idx="0">
                  <c:v>752142.85714285716</c:v>
                </c:pt>
                <c:pt idx="1">
                  <c:v>714239.31623931625</c:v>
                </c:pt>
                <c:pt idx="2">
                  <c:v>726299.53379953385</c:v>
                </c:pt>
              </c:numCache>
            </c:numRef>
          </c:val>
        </c:ser>
        <c:ser>
          <c:idx val="5"/>
          <c:order val="5"/>
          <c:tx>
            <c:strRef>
              <c:f>정리본!$M$221</c:f>
              <c:strCache>
                <c:ptCount val="1"/>
                <c:pt idx="0">
                  <c:v>라이트팩(노랑)</c:v>
                </c:pt>
              </c:strCache>
            </c:strRef>
          </c:tx>
          <c:spPr>
            <a:pattFill prst="dkVert">
              <a:fgClr>
                <a:schemeClr val="accent4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정리본!$G$222:$G$224</c:f>
              <c:strCache>
                <c:ptCount val="3"/>
                <c:pt idx="0">
                  <c:v>홍콩/마카오</c:v>
                </c:pt>
                <c:pt idx="1">
                  <c:v>대만</c:v>
                </c:pt>
                <c:pt idx="2">
                  <c:v>전체</c:v>
                </c:pt>
              </c:strCache>
            </c:strRef>
          </c:cat>
          <c:val>
            <c:numRef>
              <c:f>정리본!$M$222:$M$224</c:f>
              <c:numCache>
                <c:formatCode>#,#0#,_-</c:formatCode>
                <c:ptCount val="3"/>
                <c:pt idx="0">
                  <c:v>559769.42355889722</c:v>
                </c:pt>
                <c:pt idx="1">
                  <c:v>552712.95546558709</c:v>
                </c:pt>
                <c:pt idx="2">
                  <c:v>558101.53110047849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95214624"/>
        <c:axId val="795215184"/>
      </c:barChart>
      <c:catAx>
        <c:axId val="795214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95215184"/>
        <c:crosses val="autoZero"/>
        <c:auto val="1"/>
        <c:lblAlgn val="ctr"/>
        <c:lblOffset val="100"/>
        <c:noMultiLvlLbl val="0"/>
      </c:catAx>
      <c:valAx>
        <c:axId val="795215184"/>
        <c:scaling>
          <c:orientation val="minMax"/>
          <c:max val="160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0#,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95214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정리본!$C$252</c:f>
              <c:strCache>
                <c:ptCount val="1"/>
                <c:pt idx="0">
                  <c:v>VGT 실예약인원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4.6679826865624824E-3"/>
                  <c:y val="2.207744977988600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정리본!$B$253:$B$255</c:f>
              <c:strCache>
                <c:ptCount val="3"/>
                <c:pt idx="0">
                  <c:v>8월</c:v>
                </c:pt>
                <c:pt idx="1">
                  <c:v>9월</c:v>
                </c:pt>
                <c:pt idx="2">
                  <c:v>전체</c:v>
                </c:pt>
              </c:strCache>
            </c:strRef>
          </c:cat>
          <c:val>
            <c:numRef>
              <c:f>정리본!$C$253:$C$255</c:f>
              <c:numCache>
                <c:formatCode>_(* #,##0_);_(* \(#,##0\);_(* "-"_);_(@_)</c:formatCode>
                <c:ptCount val="3"/>
                <c:pt idx="0">
                  <c:v>493</c:v>
                </c:pt>
                <c:pt idx="1">
                  <c:v>409</c:v>
                </c:pt>
                <c:pt idx="2">
                  <c:v>902</c:v>
                </c:pt>
              </c:numCache>
            </c:numRef>
          </c:val>
        </c:ser>
        <c:ser>
          <c:idx val="1"/>
          <c:order val="1"/>
          <c:tx>
            <c:strRef>
              <c:f>정리본!$D$252</c:f>
              <c:strCache>
                <c:ptCount val="1"/>
                <c:pt idx="0">
                  <c:v>노랑풍선 실예약인원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정리본!$B$253:$B$255</c:f>
              <c:strCache>
                <c:ptCount val="3"/>
                <c:pt idx="0">
                  <c:v>8월</c:v>
                </c:pt>
                <c:pt idx="1">
                  <c:v>9월</c:v>
                </c:pt>
                <c:pt idx="2">
                  <c:v>전체</c:v>
                </c:pt>
              </c:strCache>
            </c:strRef>
          </c:cat>
          <c:val>
            <c:numRef>
              <c:f>정리본!$D$253:$D$255</c:f>
              <c:numCache>
                <c:formatCode>_(* #,##0_);_(* \(#,##0\);_(* "-"_);_(@_)</c:formatCode>
                <c:ptCount val="3"/>
                <c:pt idx="0">
                  <c:v>453</c:v>
                </c:pt>
                <c:pt idx="1">
                  <c:v>322</c:v>
                </c:pt>
                <c:pt idx="2">
                  <c:v>775</c:v>
                </c:pt>
              </c:numCache>
            </c:numRef>
          </c:val>
        </c:ser>
        <c:ser>
          <c:idx val="2"/>
          <c:order val="2"/>
          <c:tx>
            <c:strRef>
              <c:f>정리본!$E$252</c:f>
              <c:strCache>
                <c:ptCount val="1"/>
                <c:pt idx="0">
                  <c:v>VGT 허수포함 인원</c:v>
                </c:pt>
              </c:strCache>
            </c:strRef>
          </c:tx>
          <c:spPr>
            <a:pattFill prst="wdUpDiag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정리본!$B$253:$B$255</c:f>
              <c:strCache>
                <c:ptCount val="3"/>
                <c:pt idx="0">
                  <c:v>8월</c:v>
                </c:pt>
                <c:pt idx="1">
                  <c:v>9월</c:v>
                </c:pt>
                <c:pt idx="2">
                  <c:v>전체</c:v>
                </c:pt>
              </c:strCache>
            </c:strRef>
          </c:cat>
          <c:val>
            <c:numRef>
              <c:f>정리본!$E$253:$E$255</c:f>
              <c:numCache>
                <c:formatCode>_(* #,##0_);_(* \(#,##0\);_(* "-"_);_(@_)</c:formatCode>
                <c:ptCount val="3"/>
                <c:pt idx="0">
                  <c:v>504</c:v>
                </c:pt>
                <c:pt idx="1">
                  <c:v>490</c:v>
                </c:pt>
                <c:pt idx="2">
                  <c:v>994</c:v>
                </c:pt>
              </c:numCache>
            </c:numRef>
          </c:val>
        </c:ser>
        <c:ser>
          <c:idx val="3"/>
          <c:order val="3"/>
          <c:tx>
            <c:strRef>
              <c:f>정리본!$F$252</c:f>
              <c:strCache>
                <c:ptCount val="1"/>
                <c:pt idx="0">
                  <c:v>노랑풍선 허수포함 인원</c:v>
                </c:pt>
              </c:strCache>
            </c:strRef>
          </c:tx>
          <c:spPr>
            <a:pattFill prst="wdUpDiag">
              <a:fgClr>
                <a:schemeClr val="accent4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정리본!$B$253:$B$255</c:f>
              <c:strCache>
                <c:ptCount val="3"/>
                <c:pt idx="0">
                  <c:v>8월</c:v>
                </c:pt>
                <c:pt idx="1">
                  <c:v>9월</c:v>
                </c:pt>
                <c:pt idx="2">
                  <c:v>전체</c:v>
                </c:pt>
              </c:strCache>
            </c:strRef>
          </c:cat>
          <c:val>
            <c:numRef>
              <c:f>정리본!$F$253:$F$255</c:f>
              <c:numCache>
                <c:formatCode>_(* #,##0_);_(* \(#,##0\);_(* "-"_);_(@_)</c:formatCode>
                <c:ptCount val="3"/>
                <c:pt idx="0">
                  <c:v>997</c:v>
                </c:pt>
                <c:pt idx="1">
                  <c:v>757</c:v>
                </c:pt>
                <c:pt idx="2">
                  <c:v>1754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21899360"/>
        <c:axId val="821899920"/>
      </c:barChart>
      <c:catAx>
        <c:axId val="821899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21899920"/>
        <c:crosses val="autoZero"/>
        <c:auto val="1"/>
        <c:lblAlgn val="ctr"/>
        <c:lblOffset val="100"/>
        <c:noMultiLvlLbl val="0"/>
      </c:catAx>
      <c:valAx>
        <c:axId val="821899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21899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0.53146</cdr:x>
      <cdr:y>0.79617</cdr:y>
    </cdr:from>
    <cdr:to>
      <cdr:x>0.72303</cdr:x>
      <cdr:y>0.90549</cdr:y>
    </cdr:to>
    <cdr:sp macro="" textlink="">
      <cdr:nvSpPr>
        <cdr:cNvPr id="2" name="TextBox 7"/>
        <cdr:cNvSpPr txBox="1"/>
      </cdr:nvSpPr>
      <cdr:spPr>
        <a:xfrm xmlns:a="http://schemas.openxmlformats.org/drawingml/2006/main">
          <a:off x="2033449" y="1681057"/>
          <a:ext cx="732982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(289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0.21661</cdr:x>
      <cdr:y>0.02768</cdr:y>
    </cdr:from>
    <cdr:to>
      <cdr:x>0.40818</cdr:x>
      <cdr:y>0.13701</cdr:y>
    </cdr:to>
    <cdr:sp macro="" textlink="">
      <cdr:nvSpPr>
        <cdr:cNvPr id="3" name="TextBox 7"/>
        <cdr:cNvSpPr txBox="1"/>
      </cdr:nvSpPr>
      <cdr:spPr>
        <a:xfrm xmlns:a="http://schemas.openxmlformats.org/drawingml/2006/main">
          <a:off x="828775" y="58451"/>
          <a:ext cx="732982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(41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0.47953</cdr:x>
      <cdr:y>0.82806</cdr:y>
    </cdr:from>
    <cdr:to>
      <cdr:x>0.67086</cdr:x>
      <cdr:y>0.94035</cdr:y>
    </cdr:to>
    <cdr:sp macro="" textlink="">
      <cdr:nvSpPr>
        <cdr:cNvPr id="2" name="TextBox 7"/>
        <cdr:cNvSpPr txBox="1"/>
      </cdr:nvSpPr>
      <cdr:spPr>
        <a:xfrm xmlns:a="http://schemas.openxmlformats.org/drawingml/2006/main">
          <a:off x="1837044" y="1702272"/>
          <a:ext cx="732982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(186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0.22592</cdr:x>
      <cdr:y>0.04004</cdr:y>
    </cdr:from>
    <cdr:to>
      <cdr:x>0.41725</cdr:x>
      <cdr:y>0.15233</cdr:y>
    </cdr:to>
    <cdr:sp macro="" textlink="">
      <cdr:nvSpPr>
        <cdr:cNvPr id="3" name="TextBox 7"/>
        <cdr:cNvSpPr txBox="1"/>
      </cdr:nvSpPr>
      <cdr:spPr>
        <a:xfrm xmlns:a="http://schemas.openxmlformats.org/drawingml/2006/main">
          <a:off x="865493" y="82317"/>
          <a:ext cx="732982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(27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0.51936</cdr:x>
      <cdr:y>0.77098</cdr:y>
    </cdr:from>
    <cdr:to>
      <cdr:x>0.71996</cdr:x>
      <cdr:y>0.90514</cdr:y>
    </cdr:to>
    <cdr:sp macro="" textlink="">
      <cdr:nvSpPr>
        <cdr:cNvPr id="2" name="TextBox 7"/>
        <cdr:cNvSpPr txBox="1"/>
      </cdr:nvSpPr>
      <cdr:spPr>
        <a:xfrm xmlns:a="http://schemas.openxmlformats.org/drawingml/2006/main">
          <a:off x="2039629" y="1326593"/>
          <a:ext cx="787794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(10,316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0.19017</cdr:x>
      <cdr:y>0.03699</cdr:y>
    </cdr:from>
    <cdr:to>
      <cdr:x>0.39077</cdr:x>
      <cdr:y>0.17114</cdr:y>
    </cdr:to>
    <cdr:sp macro="" textlink="">
      <cdr:nvSpPr>
        <cdr:cNvPr id="3" name="TextBox 7"/>
        <cdr:cNvSpPr txBox="1"/>
      </cdr:nvSpPr>
      <cdr:spPr>
        <a:xfrm xmlns:a="http://schemas.openxmlformats.org/drawingml/2006/main">
          <a:off x="746821" y="63647"/>
          <a:ext cx="787794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(858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0.5672</cdr:x>
      <cdr:y>0.5134</cdr:y>
    </cdr:from>
    <cdr:to>
      <cdr:x>0.77813</cdr:x>
      <cdr:y>0.64755</cdr:y>
    </cdr:to>
    <cdr:sp macro="" textlink="">
      <cdr:nvSpPr>
        <cdr:cNvPr id="2" name="TextBox 7"/>
        <cdr:cNvSpPr txBox="1"/>
      </cdr:nvSpPr>
      <cdr:spPr>
        <a:xfrm xmlns:a="http://schemas.openxmlformats.org/drawingml/2006/main">
          <a:off x="2118423" y="883379"/>
          <a:ext cx="787794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(2,978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0.06726</cdr:x>
      <cdr:y>0.59423</cdr:y>
    </cdr:from>
    <cdr:to>
      <cdr:x>0.27819</cdr:x>
      <cdr:y>0.72839</cdr:y>
    </cdr:to>
    <cdr:sp macro="" textlink="">
      <cdr:nvSpPr>
        <cdr:cNvPr id="3" name="TextBox 7"/>
        <cdr:cNvSpPr txBox="1"/>
      </cdr:nvSpPr>
      <cdr:spPr>
        <a:xfrm xmlns:a="http://schemas.openxmlformats.org/drawingml/2006/main">
          <a:off x="251202" y="1022466"/>
          <a:ext cx="787794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(1,132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0.11893</cdr:x>
      <cdr:y>0.12511</cdr:y>
    </cdr:from>
    <cdr:to>
      <cdr:x>0.32986</cdr:x>
      <cdr:y>0.25926</cdr:y>
    </cdr:to>
    <cdr:sp macro="" textlink="">
      <cdr:nvSpPr>
        <cdr:cNvPr id="4" name="TextBox 7"/>
        <cdr:cNvSpPr txBox="1"/>
      </cdr:nvSpPr>
      <cdr:spPr>
        <a:xfrm xmlns:a="http://schemas.openxmlformats.org/drawingml/2006/main">
          <a:off x="444190" y="215271"/>
          <a:ext cx="787794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(1,045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0.10068</cdr:x>
      <cdr:y>0.4093</cdr:y>
    </cdr:from>
    <cdr:to>
      <cdr:x>0.31058</cdr:x>
      <cdr:y>0.54269</cdr:y>
    </cdr:to>
    <cdr:sp macro="" textlink="">
      <cdr:nvSpPr>
        <cdr:cNvPr id="2" name="TextBox 7"/>
        <cdr:cNvSpPr txBox="1"/>
      </cdr:nvSpPr>
      <cdr:spPr>
        <a:xfrm xmlns:a="http://schemas.openxmlformats.org/drawingml/2006/main">
          <a:off x="377902" y="708268"/>
          <a:ext cx="787794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(106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0.56418</cdr:x>
      <cdr:y>0.37827</cdr:y>
    </cdr:from>
    <cdr:to>
      <cdr:x>0.77407</cdr:x>
      <cdr:y>0.51167</cdr:y>
    </cdr:to>
    <cdr:sp macro="" textlink="">
      <cdr:nvSpPr>
        <cdr:cNvPr id="3" name="TextBox 7"/>
        <cdr:cNvSpPr txBox="1"/>
      </cdr:nvSpPr>
      <cdr:spPr>
        <a:xfrm xmlns:a="http://schemas.openxmlformats.org/drawingml/2006/main">
          <a:off x="2117542" y="654587"/>
          <a:ext cx="787794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(105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0.42547</cdr:x>
      <cdr:y>0.84255</cdr:y>
    </cdr:from>
    <cdr:to>
      <cdr:x>0.63536</cdr:x>
      <cdr:y>0.97594</cdr:y>
    </cdr:to>
    <cdr:sp macro="" textlink="">
      <cdr:nvSpPr>
        <cdr:cNvPr id="4" name="TextBox 7"/>
        <cdr:cNvSpPr txBox="1"/>
      </cdr:nvSpPr>
      <cdr:spPr>
        <a:xfrm xmlns:a="http://schemas.openxmlformats.org/drawingml/2006/main">
          <a:off x="1596909" y="1457985"/>
          <a:ext cx="787794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</a:t>
          </a:r>
          <a:r>
            <a:rPr lang="en-US" altLang="ko-KR" sz="900" dirty="0">
              <a:latin typeface="+mj-lt"/>
            </a:rPr>
            <a:t>2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0.50709</cdr:x>
      <cdr:y>0.78358</cdr:y>
    </cdr:from>
    <cdr:to>
      <cdr:x>0.70769</cdr:x>
      <cdr:y>0.9189</cdr:y>
    </cdr:to>
    <cdr:sp macro="" textlink="">
      <cdr:nvSpPr>
        <cdr:cNvPr id="2" name="TextBox 7"/>
        <cdr:cNvSpPr txBox="1"/>
      </cdr:nvSpPr>
      <cdr:spPr>
        <a:xfrm xmlns:a="http://schemas.openxmlformats.org/drawingml/2006/main">
          <a:off x="1991427" y="1336664"/>
          <a:ext cx="787794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(309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0.21513</cdr:x>
      <cdr:y>0.02619</cdr:y>
    </cdr:from>
    <cdr:to>
      <cdr:x>0.41573</cdr:x>
      <cdr:y>0.16151</cdr:y>
    </cdr:to>
    <cdr:sp macro="" textlink="">
      <cdr:nvSpPr>
        <cdr:cNvPr id="3" name="TextBox 7"/>
        <cdr:cNvSpPr txBox="1"/>
      </cdr:nvSpPr>
      <cdr:spPr>
        <a:xfrm xmlns:a="http://schemas.openxmlformats.org/drawingml/2006/main">
          <a:off x="844870" y="44678"/>
          <a:ext cx="787794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(21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0.5631</cdr:x>
      <cdr:y>0.48551</cdr:y>
    </cdr:from>
    <cdr:to>
      <cdr:x>0.76847</cdr:x>
      <cdr:y>0.62518</cdr:y>
    </cdr:to>
    <cdr:sp macro="" textlink="">
      <cdr:nvSpPr>
        <cdr:cNvPr id="2" name="TextBox 7"/>
        <cdr:cNvSpPr txBox="1"/>
      </cdr:nvSpPr>
      <cdr:spPr>
        <a:xfrm xmlns:a="http://schemas.openxmlformats.org/drawingml/2006/main">
          <a:off x="2160123" y="802375"/>
          <a:ext cx="787794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(6,409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0.09562</cdr:x>
      <cdr:y>0.41374</cdr:y>
    </cdr:from>
    <cdr:to>
      <cdr:x>0.30099</cdr:x>
      <cdr:y>0.55342</cdr:y>
    </cdr:to>
    <cdr:sp macro="" textlink="">
      <cdr:nvSpPr>
        <cdr:cNvPr id="3" name="TextBox 7"/>
        <cdr:cNvSpPr txBox="1"/>
      </cdr:nvSpPr>
      <cdr:spPr>
        <a:xfrm xmlns:a="http://schemas.openxmlformats.org/drawingml/2006/main">
          <a:off x="366821" y="683776"/>
          <a:ext cx="787794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(4,214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0.23168</cdr:x>
      <cdr:y>0.03998</cdr:y>
    </cdr:from>
    <cdr:to>
      <cdr:x>0.43704</cdr:x>
      <cdr:y>0.17965</cdr:y>
    </cdr:to>
    <cdr:sp macro="" textlink="">
      <cdr:nvSpPr>
        <cdr:cNvPr id="4" name="TextBox 7"/>
        <cdr:cNvSpPr txBox="1"/>
      </cdr:nvSpPr>
      <cdr:spPr>
        <a:xfrm xmlns:a="http://schemas.openxmlformats.org/drawingml/2006/main">
          <a:off x="888734" y="66068"/>
          <a:ext cx="787794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(551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</c:userShapes>
</file>

<file path=ppt/drawings/drawing8.xml><?xml version="1.0" encoding="utf-8"?>
<c:userShapes xmlns:c="http://schemas.openxmlformats.org/drawingml/2006/chart">
  <cdr:relSizeAnchor xmlns:cdr="http://schemas.openxmlformats.org/drawingml/2006/chartDrawing">
    <cdr:from>
      <cdr:x>0.56889</cdr:x>
      <cdr:y>0.33424</cdr:y>
    </cdr:from>
    <cdr:to>
      <cdr:x>0.77475</cdr:x>
      <cdr:y>0.47384</cdr:y>
    </cdr:to>
    <cdr:sp macro="" textlink="">
      <cdr:nvSpPr>
        <cdr:cNvPr id="2" name="TextBox 7"/>
        <cdr:cNvSpPr txBox="1"/>
      </cdr:nvSpPr>
      <cdr:spPr>
        <a:xfrm xmlns:a="http://schemas.openxmlformats.org/drawingml/2006/main">
          <a:off x="2177028" y="552655"/>
          <a:ext cx="787794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(2,253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0.10915</cdr:x>
      <cdr:y>0.26444</cdr:y>
    </cdr:from>
    <cdr:to>
      <cdr:x>0.31501</cdr:x>
      <cdr:y>0.40404</cdr:y>
    </cdr:to>
    <cdr:sp macro="" textlink="">
      <cdr:nvSpPr>
        <cdr:cNvPr id="3" name="TextBox 7"/>
        <cdr:cNvSpPr txBox="1"/>
      </cdr:nvSpPr>
      <cdr:spPr>
        <a:xfrm xmlns:a="http://schemas.openxmlformats.org/drawingml/2006/main">
          <a:off x="417683" y="437239"/>
          <a:ext cx="787794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(1,708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0.2338</cdr:x>
      <cdr:y>0.82754</cdr:y>
    </cdr:from>
    <cdr:to>
      <cdr:x>0.43966</cdr:x>
      <cdr:y>0.96714</cdr:y>
    </cdr:to>
    <cdr:sp macro="" textlink="">
      <cdr:nvSpPr>
        <cdr:cNvPr id="4" name="TextBox 7"/>
        <cdr:cNvSpPr txBox="1"/>
      </cdr:nvSpPr>
      <cdr:spPr>
        <a:xfrm xmlns:a="http://schemas.openxmlformats.org/drawingml/2006/main">
          <a:off x="894720" y="1368317"/>
          <a:ext cx="787794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(1,194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</c:userShapes>
</file>

<file path=ppt/drawings/drawing9.xml><?xml version="1.0" encoding="utf-8"?>
<c:userShapes xmlns:c="http://schemas.openxmlformats.org/drawingml/2006/chart">
  <cdr:relSizeAnchor xmlns:cdr="http://schemas.openxmlformats.org/drawingml/2006/chartDrawing">
    <cdr:from>
      <cdr:x>0.66624</cdr:x>
      <cdr:y>0.12736</cdr:y>
    </cdr:from>
    <cdr:to>
      <cdr:x>0.72935</cdr:x>
      <cdr:y>0.46398</cdr:y>
    </cdr:to>
    <cdr:cxnSp macro="">
      <cdr:nvCxnSpPr>
        <cdr:cNvPr id="2" name="직선 화살표 연결선 1"/>
        <cdr:cNvCxnSpPr/>
      </cdr:nvCxnSpPr>
      <cdr:spPr>
        <a:xfrm xmlns:a="http://schemas.openxmlformats.org/drawingml/2006/main" flipH="1">
          <a:off x="5437844" y="366307"/>
          <a:ext cx="515103" cy="968210"/>
        </a:xfrm>
        <a:prstGeom xmlns:a="http://schemas.openxmlformats.org/drawingml/2006/main" prst="straightConnector1">
          <a:avLst/>
        </a:prstGeom>
        <a:ln xmlns:a="http://schemas.openxmlformats.org/drawingml/2006/main" w="28575">
          <a:solidFill>
            <a:srgbClr val="C00000"/>
          </a:solidFill>
          <a:prstDash val="sysDot"/>
          <a:headEnd type="triangle"/>
          <a:tailEnd type="non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0.62307</cdr:x>
      <cdr:y>0.14521</cdr:y>
    </cdr:from>
    <cdr:to>
      <cdr:x>0.71542</cdr:x>
      <cdr:y>0.26292</cdr:y>
    </cdr:to>
    <cdr:sp macro="" textlink="">
      <cdr:nvSpPr>
        <cdr:cNvPr id="3" name="TextBox 30"/>
        <cdr:cNvSpPr txBox="1"/>
      </cdr:nvSpPr>
      <cdr:spPr>
        <a:xfrm xmlns:a="http://schemas.openxmlformats.org/drawingml/2006/main">
          <a:off x="5085509" y="417654"/>
          <a:ext cx="753724" cy="338554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altLang="ko-KR" sz="1600" b="1" dirty="0" smtClean="0">
              <a:solidFill>
                <a:srgbClr val="C00000"/>
              </a:solidFill>
              <a:latin typeface="+mj-lt"/>
            </a:rPr>
            <a:t>X2.3</a:t>
          </a:r>
          <a:endParaRPr lang="ko-KR" altLang="en-US" sz="1600" b="1" dirty="0">
            <a:solidFill>
              <a:srgbClr val="C00000"/>
            </a:solidFill>
            <a:latin typeface="+mj-lt"/>
          </a:endParaRPr>
        </a:p>
      </cdr:txBody>
    </cdr:sp>
  </cdr:relSizeAnchor>
  <cdr:relSizeAnchor xmlns:cdr="http://schemas.openxmlformats.org/drawingml/2006/chartDrawing">
    <cdr:from>
      <cdr:x>0.62281</cdr:x>
      <cdr:y>0.37358</cdr:y>
    </cdr:from>
    <cdr:to>
      <cdr:x>0.70958</cdr:x>
      <cdr:y>0.43628</cdr:y>
    </cdr:to>
    <cdr:cxnSp macro="">
      <cdr:nvCxnSpPr>
        <cdr:cNvPr id="5" name="직선 화살표 연결선 4"/>
        <cdr:cNvCxnSpPr/>
      </cdr:nvCxnSpPr>
      <cdr:spPr>
        <a:xfrm xmlns:a="http://schemas.openxmlformats.org/drawingml/2006/main" flipH="1">
          <a:off x="5083370" y="1074519"/>
          <a:ext cx="708213" cy="180324"/>
        </a:xfrm>
        <a:prstGeom xmlns:a="http://schemas.openxmlformats.org/drawingml/2006/main" prst="straightConnector1">
          <a:avLst/>
        </a:prstGeom>
        <a:ln xmlns:a="http://schemas.openxmlformats.org/drawingml/2006/main" w="28575">
          <a:solidFill>
            <a:srgbClr val="C00000"/>
          </a:solidFill>
          <a:prstDash val="sysDot"/>
          <a:headEnd type="triangle"/>
          <a:tailEnd type="non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8135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5" y="2"/>
            <a:ext cx="2945659" cy="498135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r">
              <a:defRPr sz="1200"/>
            </a:lvl1pPr>
          </a:lstStyle>
          <a:p>
            <a:fld id="{A0955C6A-6286-4949-9C38-5C6816709A16}" type="datetimeFigureOut">
              <a:rPr lang="ko-KR" altLang="en-US" smtClean="0"/>
              <a:pPr/>
              <a:t>2019-08-06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430091"/>
            <a:ext cx="2945659" cy="498134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5" y="9430091"/>
            <a:ext cx="2945659" cy="498134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r">
              <a:defRPr sz="1200"/>
            </a:lvl1pPr>
          </a:lstStyle>
          <a:p>
            <a:fld id="{EA6DC73E-640F-427F-8594-F1EAD922FE3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53384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8135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5" y="2"/>
            <a:ext cx="2945659" cy="498135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r">
              <a:defRPr sz="1200"/>
            </a:lvl1pPr>
          </a:lstStyle>
          <a:p>
            <a:fld id="{C3EB8B3F-9BB8-45CF-84EB-0981187662AA}" type="datetimeFigureOut">
              <a:rPr lang="ko-KR" altLang="en-US" smtClean="0"/>
              <a:pPr/>
              <a:t>2019-08-06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1" tIns="45706" rIns="91411" bIns="4570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961"/>
            <a:ext cx="5438140" cy="3909239"/>
          </a:xfrm>
          <a:prstGeom prst="rect">
            <a:avLst/>
          </a:prstGeom>
        </p:spPr>
        <p:txBody>
          <a:bodyPr vert="horz" lIns="91411" tIns="45706" rIns="91411" bIns="45706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30091"/>
            <a:ext cx="2945659" cy="498134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5" y="9430091"/>
            <a:ext cx="2945659" cy="498134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r">
              <a:defRPr sz="1200"/>
            </a:lvl1pPr>
          </a:lstStyle>
          <a:p>
            <a:fld id="{AF0E615B-3410-43A0-B6DB-1161CA1060F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382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15B-3410-43A0-B6DB-1161CA1060FC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28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15B-3410-43A0-B6DB-1161CA1060FC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105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15B-3410-43A0-B6DB-1161CA1060FC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097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fld id="{8F662C83-1826-4FDF-8202-A8AA69C17CCA}" type="datetime1">
              <a:rPr lang="ko-KR" altLang="en-US" smtClean="0"/>
              <a:t>2019-08-06</a:t>
            </a:fld>
            <a:endParaRPr lang="ko-KR" alt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굴림" panose="020B0600000101010101" pitchFamily="50" charset="-127"/>
                <a:cs typeface="Tahoma" panose="020B0604030504040204" pitchFamily="34" charset="0"/>
              </a:defRPr>
            </a:lvl1pPr>
          </a:lstStyle>
          <a:p>
            <a:fld id="{B0197802-7672-4A71-82A0-78001C8EF422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>
                <a:ea typeface="Tahoma" panose="020B0604030504040204" pitchFamily="34" charset="0"/>
              </a:rPr>
              <a:t>/ 20</a:t>
            </a:r>
            <a:endParaRPr lang="ko-KR" altLang="en-US" dirty="0"/>
          </a:p>
        </p:txBody>
      </p:sp>
      <p:sp>
        <p:nvSpPr>
          <p:cNvPr id="9" name="바닥글 개체 틀 1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r>
              <a:rPr lang="en-US" altLang="ko-KR" dirty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08203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fld id="{547C085A-8814-44C9-BFB8-4CB754621C4A}" type="datetime1">
              <a:rPr lang="ko-KR" altLang="en-US" smtClean="0"/>
              <a:t>2019-08-06</a:t>
            </a:fld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굴림" panose="020B0600000101010101" pitchFamily="50" charset="-127"/>
                <a:cs typeface="Tahoma" panose="020B0604030504040204" pitchFamily="34" charset="0"/>
              </a:defRPr>
            </a:lvl1pPr>
          </a:lstStyle>
          <a:p>
            <a:fld id="{B0197802-7672-4A71-82A0-78001C8EF422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>
                <a:ea typeface="Tahoma" panose="020B0604030504040204" pitchFamily="34" charset="0"/>
              </a:rPr>
              <a:t>/ 20</a:t>
            </a:r>
            <a:endParaRPr lang="ko-KR" altLang="en-US" dirty="0"/>
          </a:p>
        </p:txBody>
      </p:sp>
      <p:sp>
        <p:nvSpPr>
          <p:cNvPr id="7" name="바닥글 개체 틀 1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r>
              <a:rPr lang="en-US" altLang="ko-KR" dirty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04456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F3ED9-DC74-4C8C-8377-0099832BA421}" type="datetime1">
              <a:rPr lang="ko-KR" altLang="en-US" smtClean="0"/>
              <a:t>2019-08-06</a:t>
            </a:fld>
            <a:endParaRPr lang="ko-KR" alt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74B24-6935-4E71-8911-83EF8794972C}" type="slidenum">
              <a:rPr lang="ko-KR" altLang="en-US"/>
              <a:pPr>
                <a:defRPr/>
              </a:pPr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/32</a:t>
            </a:r>
            <a:endParaRPr lang="ko-KR" altLang="en-US" dirty="0"/>
          </a:p>
        </p:txBody>
      </p:sp>
      <p:sp>
        <p:nvSpPr>
          <p:cNvPr id="5" name="바닥글 개체 틀 1"/>
          <p:cNvSpPr>
            <a:spLocks noGrp="1"/>
          </p:cNvSpPr>
          <p:nvPr>
            <p:ph type="ftr" sz="quarter" idx="12"/>
          </p:nvPr>
        </p:nvSpPr>
        <p:spPr>
          <a:xfrm>
            <a:off x="7404100" y="6584950"/>
            <a:ext cx="1739900" cy="269875"/>
          </a:xfrm>
        </p:spPr>
        <p:txBody>
          <a:bodyPr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800" b="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37764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55AF6-6FE2-48DD-99FF-C1C068A84852}" type="datetimeFigureOut">
              <a:rPr lang="ko-KR" altLang="en-US" smtClean="0"/>
              <a:t>2019-08-06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8EE55-A442-4036-8769-465FA5838C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40739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fld id="{0671D377-CDAF-4134-A811-9042D82CE6EE}" type="datetime1">
              <a:rPr lang="ko-KR" altLang="en-US" smtClean="0"/>
              <a:t>2019-08-06</a:t>
            </a:fld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굴림" panose="020B0600000101010101" pitchFamily="50" charset="-127"/>
                <a:cs typeface="Tahoma" panose="020B0604030504040204" pitchFamily="34" charset="0"/>
              </a:defRPr>
            </a:lvl1pPr>
          </a:lstStyle>
          <a:p>
            <a:fld id="{B0197802-7672-4A71-82A0-78001C8EF422}" type="slidenum">
              <a:rPr lang="ko-KR" altLang="en-US" smtClean="0"/>
              <a:pPr/>
              <a:t>‹#›</a:t>
            </a:fld>
            <a:r>
              <a:rPr lang="ko-KR" altLang="en-US" dirty="0" smtClean="0"/>
              <a:t> </a:t>
            </a:r>
            <a:r>
              <a:rPr lang="en-US" altLang="ko-KR" dirty="0" smtClean="0">
                <a:ea typeface="Tahoma" panose="020B0604030504040204" pitchFamily="34" charset="0"/>
              </a:rPr>
              <a:t>/ 12</a:t>
            </a:r>
            <a:endParaRPr lang="ko-KR" altLang="en-US" dirty="0"/>
          </a:p>
        </p:txBody>
      </p:sp>
      <p:sp>
        <p:nvSpPr>
          <p:cNvPr id="2" name="바닥글 개체 틀 1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r>
              <a:rPr lang="en-US" altLang="ko-KR" dirty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221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84" r:id="rId2"/>
    <p:sldLayoutId id="2147483685" r:id="rId3"/>
    <p:sldLayoutId id="2147483686" r:id="rId4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992379" y="4817927"/>
            <a:ext cx="31592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2019.07</a:t>
            </a:r>
            <a:endParaRPr lang="en-US" altLang="ko-KR" sz="1200" dirty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algn="ctr"/>
            <a:endParaRPr lang="en-US" altLang="ko-KR" sz="1200" dirty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algn="ctr"/>
            <a:r>
              <a:rPr lang="en-US" altLang="ko-KR" sz="1200" dirty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IT</a:t>
            </a:r>
            <a:r>
              <a:rPr lang="ko-KR" altLang="en-US" sz="1200" dirty="0" smtClean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미래전략부문</a:t>
            </a:r>
            <a:endParaRPr lang="en-US" altLang="ko-KR" sz="1200" dirty="0" smtClean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algn="ctr"/>
            <a:endParaRPr lang="en-US" altLang="ko-KR" sz="1200" dirty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algn="ctr"/>
            <a:r>
              <a:rPr lang="ko-KR" altLang="en-US" sz="1200" dirty="0" smtClean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여승은</a:t>
            </a:r>
            <a:r>
              <a:rPr lang="en-US" altLang="ko-KR" sz="1200" dirty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dirty="0" smtClean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사원</a:t>
            </a:r>
            <a:endParaRPr lang="ko-KR" altLang="en-US" sz="1200" dirty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7750" y="2736642"/>
            <a:ext cx="67685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 smtClean="0">
                <a:solidFill>
                  <a:schemeClr val="accent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VGT &amp; </a:t>
            </a:r>
            <a:r>
              <a:rPr lang="ko-KR" altLang="en-US" sz="3000" b="1" dirty="0" smtClean="0">
                <a:solidFill>
                  <a:schemeClr val="accent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노랑풍선 상품비교 분석</a:t>
            </a:r>
            <a:endParaRPr lang="en-US" altLang="ko-KR" sz="3000" b="1" dirty="0">
              <a:solidFill>
                <a:schemeClr val="accent1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7750" y="3546452"/>
            <a:ext cx="6768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accent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홍콩</a:t>
            </a:r>
            <a:r>
              <a:rPr lang="en-US" altLang="ko-KR" sz="1600" b="1" dirty="0" smtClean="0">
                <a:solidFill>
                  <a:schemeClr val="accent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  <a:r>
              <a:rPr lang="ko-KR" altLang="en-US" sz="1600" b="1" dirty="0" smtClean="0">
                <a:solidFill>
                  <a:schemeClr val="accent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마카오</a:t>
            </a:r>
            <a:r>
              <a:rPr lang="en-US" altLang="ko-KR" sz="1600" b="1" dirty="0" smtClean="0">
                <a:solidFill>
                  <a:schemeClr val="accent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  <a:r>
              <a:rPr lang="ko-KR" altLang="en-US" sz="1600" b="1" dirty="0" smtClean="0">
                <a:solidFill>
                  <a:schemeClr val="accent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대만 상품</a:t>
            </a:r>
            <a:endParaRPr lang="en-US" altLang="ko-KR" sz="1600" b="1" dirty="0">
              <a:solidFill>
                <a:schemeClr val="accent1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130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26772" y="280507"/>
            <a:ext cx="1845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목        차 </a:t>
            </a:r>
            <a:endParaRPr lang="en-US" altLang="ko-KR" sz="28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203449" y="1127741"/>
            <a:ext cx="2892378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11" indent="-400011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600" b="1" dirty="0" smtClean="0">
                <a:latin typeface="+mn-ea"/>
              </a:rPr>
              <a:t>개요</a:t>
            </a:r>
            <a:r>
              <a:rPr lang="en-US" altLang="ko-KR" sz="1600" b="1" dirty="0" smtClean="0">
                <a:latin typeface="+mn-ea"/>
              </a:rPr>
              <a:t> </a:t>
            </a:r>
          </a:p>
          <a:p>
            <a:pPr marL="400011" indent="-400011">
              <a:lnSpc>
                <a:spcPct val="150000"/>
              </a:lnSpc>
              <a:buFont typeface="+mj-lt"/>
              <a:buAutoNum type="romanUcPeriod"/>
            </a:pPr>
            <a:endParaRPr lang="en-US" altLang="ko-KR" sz="1600" b="1" dirty="0" smtClean="0">
              <a:latin typeface="+mn-ea"/>
            </a:endParaRPr>
          </a:p>
          <a:p>
            <a:pPr marL="400011" indent="-400011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600" b="1" dirty="0" smtClean="0">
                <a:latin typeface="+mn-ea"/>
              </a:rPr>
              <a:t>분석요약</a:t>
            </a:r>
            <a:endParaRPr lang="en-US" altLang="ko-KR" sz="1600" b="1" dirty="0" smtClean="0">
              <a:latin typeface="+mn-ea"/>
            </a:endParaRPr>
          </a:p>
          <a:p>
            <a:pPr marL="400011" indent="-400011">
              <a:lnSpc>
                <a:spcPct val="150000"/>
              </a:lnSpc>
              <a:buFont typeface="+mj-lt"/>
              <a:buAutoNum type="romanUcPeriod"/>
            </a:pPr>
            <a:endParaRPr lang="en-US" altLang="ko-KR" sz="1600" dirty="0" smtClean="0">
              <a:latin typeface="+mn-ea"/>
            </a:endParaRPr>
          </a:p>
          <a:p>
            <a:pPr marL="400011" indent="-400011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600" b="1" dirty="0" smtClean="0">
                <a:latin typeface="+mn-ea"/>
              </a:rPr>
              <a:t>상세 비교분석</a:t>
            </a:r>
            <a:endParaRPr lang="en-US" altLang="ko-KR" sz="1600" b="1" dirty="0" smtClean="0">
              <a:latin typeface="+mn-ea"/>
            </a:endParaRPr>
          </a:p>
          <a:p>
            <a:pPr marL="457154" lvl="2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가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마스터 및 행사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 </a:t>
            </a:r>
            <a:endParaRPr lang="en-US" altLang="ko-KR" sz="1400" dirty="0">
              <a:latin typeface="+mn-ea"/>
            </a:endParaRPr>
          </a:p>
          <a:p>
            <a:pPr marL="457154" lvl="2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나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출발확정상품</a:t>
            </a:r>
            <a:r>
              <a:rPr lang="en-US" altLang="ko-KR" sz="1400" dirty="0">
                <a:latin typeface="+mn-ea"/>
              </a:rPr>
              <a:t> </a:t>
            </a:r>
          </a:p>
          <a:p>
            <a:pPr marL="457154" lvl="2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등급별 행사</a:t>
            </a:r>
            <a:endParaRPr lang="en-US" altLang="ko-KR" sz="1400" dirty="0">
              <a:latin typeface="+mn-ea"/>
            </a:endParaRPr>
          </a:p>
          <a:p>
            <a:pPr marL="457154" lvl="2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라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지역 및 등급별 행사 </a:t>
            </a:r>
            <a:endParaRPr lang="en-US" altLang="ko-KR" sz="1400" dirty="0">
              <a:latin typeface="+mn-ea"/>
            </a:endParaRPr>
          </a:p>
          <a:p>
            <a:pPr marL="457154" lvl="2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마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항공</a:t>
            </a:r>
            <a:endParaRPr lang="en-US" altLang="ko-KR" sz="1400" dirty="0">
              <a:latin typeface="+mn-ea"/>
            </a:endParaRPr>
          </a:p>
          <a:p>
            <a:pPr marL="457154" lvl="2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바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평균 상품가격 </a:t>
            </a:r>
            <a:endParaRPr lang="en-US" altLang="ko-KR" sz="1400" dirty="0">
              <a:latin typeface="+mn-ea"/>
            </a:endParaRPr>
          </a:p>
          <a:p>
            <a:pPr marL="457154" lvl="2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사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지역 및 등급별 상품가격</a:t>
            </a:r>
            <a:endParaRPr lang="en-US" altLang="ko-KR" sz="1400" dirty="0">
              <a:latin typeface="+mn-ea"/>
            </a:endParaRPr>
          </a:p>
          <a:p>
            <a:pPr marL="457154" lvl="2">
              <a:lnSpc>
                <a:spcPct val="150000"/>
              </a:lnSpc>
            </a:pPr>
            <a:r>
              <a:rPr lang="ko-KR" altLang="en-US" sz="1400" dirty="0" smtClean="0">
                <a:latin typeface="+mn-ea"/>
              </a:rPr>
              <a:t>아</a:t>
            </a:r>
            <a:r>
              <a:rPr lang="en-US" altLang="ko-KR" sz="1400" dirty="0" smtClean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월별 </a:t>
            </a:r>
            <a:r>
              <a:rPr lang="ko-KR" altLang="en-US" sz="1400" dirty="0" smtClean="0">
                <a:latin typeface="+mn-ea"/>
              </a:rPr>
              <a:t>예약인원</a:t>
            </a:r>
            <a:endParaRPr lang="en-US" altLang="ko-KR" sz="1400" dirty="0" smtClean="0">
              <a:latin typeface="+mn-ea"/>
            </a:endParaRPr>
          </a:p>
          <a:p>
            <a:pPr marL="457154" lvl="2">
              <a:lnSpc>
                <a:spcPct val="150000"/>
              </a:lnSpc>
            </a:pPr>
            <a:endParaRPr lang="en-US" altLang="ko-KR" sz="1400" dirty="0" smtClean="0">
              <a:latin typeface="+mn-ea"/>
            </a:endParaRPr>
          </a:p>
          <a:p>
            <a:pPr marL="400011" indent="-400011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600" b="1" dirty="0" smtClean="0">
                <a:latin typeface="+mn-ea"/>
              </a:rPr>
              <a:t>시사점</a:t>
            </a:r>
            <a:endParaRPr lang="en-US" altLang="ko-KR" sz="160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42838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41403" y="1866336"/>
            <a:ext cx="846105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 smtClean="0">
                <a:latin typeface="+mn-ea"/>
              </a:rPr>
              <a:t>분석목적</a:t>
            </a:r>
            <a:endParaRPr lang="en-US" altLang="ko-KR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latin typeface="+mn-ea"/>
              </a:rPr>
              <a:t>      : </a:t>
            </a:r>
            <a:r>
              <a:rPr lang="ko-KR" altLang="en-US" sz="1600" dirty="0" err="1" smtClean="0">
                <a:latin typeface="+mn-ea"/>
              </a:rPr>
              <a:t>참좋은여행과</a:t>
            </a:r>
            <a:r>
              <a:rPr lang="ko-KR" altLang="en-US" sz="1600" dirty="0" smtClean="0">
                <a:latin typeface="+mn-ea"/>
              </a:rPr>
              <a:t> 노랑풍선</a:t>
            </a:r>
            <a:r>
              <a:rPr lang="ko-KR" altLang="ko-KR" sz="1600" dirty="0" smtClean="0">
                <a:latin typeface="+mn-ea"/>
              </a:rPr>
              <a:t> </a:t>
            </a:r>
            <a:r>
              <a:rPr lang="ko-KR" altLang="en-US" sz="1600" dirty="0" smtClean="0">
                <a:latin typeface="+mn-ea"/>
              </a:rPr>
              <a:t>상품 비교 및 자사의 전략적 </a:t>
            </a:r>
            <a:r>
              <a:rPr lang="ko-KR" altLang="en-US" sz="1600" dirty="0" err="1" smtClean="0">
                <a:latin typeface="+mn-ea"/>
              </a:rPr>
              <a:t>포지셔닝</a:t>
            </a:r>
            <a:r>
              <a:rPr lang="ko-KR" altLang="en-US" sz="1600" dirty="0" smtClean="0">
                <a:latin typeface="+mn-ea"/>
              </a:rPr>
              <a:t> 분석</a:t>
            </a:r>
            <a:endParaRPr lang="en-US" altLang="ko-KR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b="1" dirty="0" smtClean="0">
                <a:latin typeface="+mn-ea"/>
              </a:rPr>
              <a:t>2. </a:t>
            </a:r>
            <a:r>
              <a:rPr lang="ko-KR" altLang="en-US" b="1" dirty="0" smtClean="0">
                <a:latin typeface="+mn-ea"/>
              </a:rPr>
              <a:t>분석범위</a:t>
            </a:r>
            <a:endParaRPr lang="en-US" altLang="ko-KR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latin typeface="+mn-ea"/>
              </a:rPr>
              <a:t>      : </a:t>
            </a:r>
            <a:r>
              <a:rPr lang="en-US" altLang="ko-KR" sz="1600" b="1" dirty="0" smtClean="0">
                <a:latin typeface="+mn-ea"/>
              </a:rPr>
              <a:t>2019</a:t>
            </a:r>
            <a:r>
              <a:rPr lang="ko-KR" altLang="en-US" sz="1600" b="1" dirty="0" smtClean="0">
                <a:latin typeface="+mn-ea"/>
              </a:rPr>
              <a:t>년 </a:t>
            </a:r>
            <a:r>
              <a:rPr lang="en-US" altLang="ko-KR" sz="1600" b="1" dirty="0">
                <a:latin typeface="+mn-ea"/>
              </a:rPr>
              <a:t>8</a:t>
            </a:r>
            <a:r>
              <a:rPr lang="ko-KR" altLang="en-US" sz="1600" b="1" dirty="0" smtClean="0">
                <a:latin typeface="+mn-ea"/>
              </a:rPr>
              <a:t>월</a:t>
            </a:r>
            <a:r>
              <a:rPr lang="en-US" altLang="ko-KR" sz="1600" b="1" dirty="0" smtClean="0">
                <a:latin typeface="+mn-ea"/>
              </a:rPr>
              <a:t>~9</a:t>
            </a:r>
            <a:r>
              <a:rPr lang="ko-KR" altLang="en-US" sz="1600" b="1" dirty="0" smtClean="0">
                <a:latin typeface="+mn-ea"/>
              </a:rPr>
              <a:t>월 홍콩</a:t>
            </a:r>
            <a:r>
              <a:rPr lang="en-US" altLang="ko-KR" sz="1600" b="1" dirty="0" smtClean="0">
                <a:latin typeface="+mn-ea"/>
              </a:rPr>
              <a:t>/</a:t>
            </a:r>
            <a:r>
              <a:rPr lang="ko-KR" altLang="en-US" sz="1600" b="1" dirty="0" smtClean="0">
                <a:latin typeface="+mn-ea"/>
              </a:rPr>
              <a:t>마카오</a:t>
            </a:r>
            <a:r>
              <a:rPr lang="en-US" altLang="ko-KR" sz="1600" b="1" dirty="0" smtClean="0">
                <a:latin typeface="+mn-ea"/>
              </a:rPr>
              <a:t>/</a:t>
            </a:r>
            <a:r>
              <a:rPr lang="ko-KR" altLang="en-US" sz="1600" b="1" dirty="0" smtClean="0">
                <a:latin typeface="+mn-ea"/>
              </a:rPr>
              <a:t>대만 패키지</a:t>
            </a:r>
            <a:r>
              <a:rPr lang="en-US" altLang="ko-KR" sz="1200" dirty="0" smtClean="0">
                <a:latin typeface="+mn-ea"/>
              </a:rPr>
              <a:t>(</a:t>
            </a:r>
            <a:r>
              <a:rPr lang="ko-KR" altLang="en-US" sz="1200" dirty="0" smtClean="0">
                <a:latin typeface="+mn-ea"/>
              </a:rPr>
              <a:t>지방출발 상품 제외</a:t>
            </a:r>
            <a:r>
              <a:rPr lang="en-US" altLang="ko-KR" sz="1200" dirty="0" smtClean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b="1" dirty="0" smtClean="0">
                <a:latin typeface="+mn-ea"/>
              </a:rPr>
              <a:t>3. </a:t>
            </a:r>
            <a:r>
              <a:rPr lang="ko-KR" altLang="en-US" b="1" dirty="0" smtClean="0">
                <a:latin typeface="+mn-ea"/>
              </a:rPr>
              <a:t>분석방법</a:t>
            </a:r>
            <a:r>
              <a:rPr lang="en-US" altLang="ko-KR" sz="1600" b="1" dirty="0">
                <a:latin typeface="+mn-ea"/>
              </a:rPr>
              <a:t/>
            </a:r>
            <a:br>
              <a:rPr lang="en-US" altLang="ko-KR" sz="1600" b="1" dirty="0">
                <a:latin typeface="+mn-ea"/>
              </a:rPr>
            </a:br>
            <a:r>
              <a:rPr lang="en-US" altLang="ko-KR" sz="1600" b="1" dirty="0">
                <a:latin typeface="+mn-ea"/>
              </a:rPr>
              <a:t>     </a:t>
            </a:r>
            <a:r>
              <a:rPr lang="en-US" altLang="ko-KR" sz="1600" b="1" dirty="0" smtClean="0">
                <a:latin typeface="+mn-ea"/>
              </a:rPr>
              <a:t>: VGT </a:t>
            </a:r>
            <a:r>
              <a:rPr lang="ko-KR" altLang="en-US" sz="1600" b="1" dirty="0">
                <a:latin typeface="+mn-ea"/>
              </a:rPr>
              <a:t>약 </a:t>
            </a:r>
            <a:r>
              <a:rPr lang="en-US" altLang="ko-KR" sz="1600" b="1" dirty="0" smtClean="0">
                <a:latin typeface="+mn-ea"/>
              </a:rPr>
              <a:t>11,174</a:t>
            </a:r>
            <a:r>
              <a:rPr lang="ko-KR" altLang="en-US" sz="1600" b="1" dirty="0" smtClean="0">
                <a:latin typeface="+mn-ea"/>
              </a:rPr>
              <a:t>건</a:t>
            </a:r>
            <a:r>
              <a:rPr lang="en-US" altLang="ko-KR" sz="1600" b="1" dirty="0" smtClean="0">
                <a:latin typeface="+mn-ea"/>
              </a:rPr>
              <a:t>, </a:t>
            </a:r>
            <a:r>
              <a:rPr lang="ko-KR" altLang="en-US" sz="1600" b="1" dirty="0" smtClean="0">
                <a:latin typeface="+mn-ea"/>
              </a:rPr>
              <a:t>노랑풍선 약</a:t>
            </a:r>
            <a:r>
              <a:rPr lang="en-US" altLang="ko-KR" sz="1600" b="1" dirty="0" smtClean="0">
                <a:latin typeface="+mn-ea"/>
              </a:rPr>
              <a:t> 5,155</a:t>
            </a:r>
            <a:r>
              <a:rPr lang="ko-KR" altLang="en-US" sz="1600" b="1" dirty="0" smtClean="0">
                <a:latin typeface="+mn-ea"/>
              </a:rPr>
              <a:t>건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행사 상품 </a:t>
            </a:r>
            <a:r>
              <a:rPr lang="ko-KR" altLang="en-US" sz="1600" dirty="0" smtClean="0">
                <a:latin typeface="+mn-ea"/>
              </a:rPr>
              <a:t>데이터 </a:t>
            </a:r>
            <a:r>
              <a:rPr lang="ko-KR" altLang="en-US" sz="1600" dirty="0" err="1" smtClean="0">
                <a:latin typeface="+mn-ea"/>
              </a:rPr>
              <a:t>크롤링</a:t>
            </a:r>
            <a:r>
              <a:rPr lang="ko-KR" altLang="en-US" sz="1600" dirty="0" smtClean="0">
                <a:latin typeface="+mn-ea"/>
              </a:rPr>
              <a:t> 분석</a:t>
            </a:r>
            <a:endParaRPr lang="en-US" altLang="ko-KR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 smtClean="0">
                <a:latin typeface="+mn-ea"/>
              </a:rPr>
              <a:t>       </a:t>
            </a:r>
            <a:r>
              <a:rPr lang="ko-KR" altLang="en-US" sz="1600" b="1" dirty="0" smtClean="0">
                <a:latin typeface="+mn-ea"/>
              </a:rPr>
              <a:t>홍콩</a:t>
            </a:r>
            <a:r>
              <a:rPr lang="en-US" altLang="ko-KR" sz="1600" b="1" dirty="0" smtClean="0">
                <a:latin typeface="+mn-ea"/>
              </a:rPr>
              <a:t>/</a:t>
            </a:r>
            <a:r>
              <a:rPr lang="ko-KR" altLang="en-US" sz="1600" b="1" dirty="0" smtClean="0">
                <a:latin typeface="+mn-ea"/>
              </a:rPr>
              <a:t>마카오</a:t>
            </a:r>
            <a:r>
              <a:rPr lang="en-US" altLang="ko-KR" sz="1600" b="1" dirty="0" smtClean="0">
                <a:latin typeface="+mn-ea"/>
              </a:rPr>
              <a:t>, </a:t>
            </a:r>
            <a:r>
              <a:rPr lang="ko-KR" altLang="en-US" sz="1600" b="1" dirty="0" smtClean="0">
                <a:latin typeface="+mn-ea"/>
              </a:rPr>
              <a:t>대만으로 </a:t>
            </a:r>
            <a:r>
              <a:rPr lang="en-US" altLang="ko-KR" sz="1600" b="1" dirty="0" smtClean="0">
                <a:latin typeface="+mn-ea"/>
              </a:rPr>
              <a:t>2</a:t>
            </a:r>
            <a:r>
              <a:rPr lang="ko-KR" altLang="en-US" sz="1600" b="1" dirty="0" smtClean="0">
                <a:latin typeface="+mn-ea"/>
              </a:rPr>
              <a:t>개 지역으로 분류</a:t>
            </a:r>
            <a:endParaRPr lang="en-US" altLang="ko-KR" sz="1600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+mn-ea"/>
              </a:rPr>
              <a:t> </a:t>
            </a:r>
            <a:r>
              <a:rPr lang="en-US" altLang="ko-KR" sz="1200" b="1" dirty="0" smtClean="0">
                <a:latin typeface="+mn-ea"/>
              </a:rPr>
              <a:t>      </a:t>
            </a:r>
            <a:r>
              <a:rPr lang="en-US" altLang="ko-KR" sz="1200" dirty="0" smtClean="0">
                <a:latin typeface="+mn-ea"/>
              </a:rPr>
              <a:t> (</a:t>
            </a:r>
            <a:r>
              <a:rPr lang="ko-KR" altLang="en-US" sz="1200" dirty="0" smtClean="0">
                <a:latin typeface="+mn-ea"/>
              </a:rPr>
              <a:t>자사 상품의 경우 카테고리가 홍콩</a:t>
            </a:r>
            <a:r>
              <a:rPr lang="en-US" altLang="ko-KR" sz="1200" dirty="0" smtClean="0">
                <a:latin typeface="+mn-ea"/>
              </a:rPr>
              <a:t>, </a:t>
            </a:r>
            <a:r>
              <a:rPr lang="ko-KR" altLang="en-US" sz="1200" dirty="0" smtClean="0">
                <a:latin typeface="+mn-ea"/>
              </a:rPr>
              <a:t>마카오가 합쳐져 있고 노랑풍선의 경우도 두 지역이 합쳐진 상품들이 대부분</a:t>
            </a:r>
            <a:r>
              <a:rPr lang="en-US" altLang="ko-KR" sz="1200" dirty="0" smtClean="0">
                <a:latin typeface="+mn-ea"/>
              </a:rPr>
              <a:t>)</a:t>
            </a:r>
            <a:endParaRPr lang="en-US" altLang="ko-KR" sz="1200" dirty="0">
              <a:latin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Ⅰ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개요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날짜 개체 틀 1"/>
          <p:cNvSpPr>
            <a:spLocks noGrp="1"/>
          </p:cNvSpPr>
          <p:nvPr>
            <p:ph type="dt" sz="half" idx="4294967295"/>
          </p:nvPr>
        </p:nvSpPr>
        <p:spPr>
          <a:xfrm>
            <a:off x="-612475" y="6664352"/>
            <a:ext cx="2057400" cy="182572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dirty="0" smtClean="0">
                <a:latin typeface="+mn-ea"/>
              </a:rPr>
              <a:t>2019-07-05</a:t>
            </a:r>
            <a:endParaRPr lang="ko-KR" altLang="en-US" dirty="0">
              <a:latin typeface="+mn-ea"/>
            </a:endParaRP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3498475" y="6664352"/>
            <a:ext cx="2057400" cy="182572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3</a:t>
            </a:r>
            <a:r>
              <a:rPr lang="ko-KR" altLang="en-US" sz="800" dirty="0" smtClean="0">
                <a:solidFill>
                  <a:schemeClr val="accent5">
                    <a:lumMod val="50000"/>
                  </a:schemeClr>
                </a:solidFill>
                <a:latin typeface="+mj-lt"/>
              </a:rPr>
              <a:t> </a:t>
            </a:r>
            <a:r>
              <a:rPr lang="en-US" altLang="ko-KR" sz="800" dirty="0" smtClean="0">
                <a:solidFill>
                  <a:schemeClr val="accent5">
                    <a:lumMod val="50000"/>
                  </a:schemeClr>
                </a:solidFill>
                <a:latin typeface="+mj-lt"/>
              </a:rPr>
              <a:t>/ 14</a:t>
            </a:r>
            <a:endParaRPr lang="ko-KR" altLang="en-US" sz="800" dirty="0">
              <a:solidFill>
                <a:schemeClr val="accent5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바닥글 개체 틀 3"/>
          <p:cNvSpPr>
            <a:spLocks noGrp="1"/>
          </p:cNvSpPr>
          <p:nvPr>
            <p:ph type="ftr" sz="quarter" idx="4294967295"/>
          </p:nvPr>
        </p:nvSpPr>
        <p:spPr>
          <a:xfrm>
            <a:off x="7699075" y="6651471"/>
            <a:ext cx="1740568" cy="19545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sz="800" dirty="0" smtClean="0">
                <a:solidFill>
                  <a:schemeClr val="accent5">
                    <a:lumMod val="50000"/>
                  </a:schemeClr>
                </a:solidFill>
                <a:latin typeface="+mj-lt"/>
              </a:rPr>
              <a:t>IT </a:t>
            </a:r>
            <a:r>
              <a:rPr lang="ko-KR" altLang="en-US" sz="800" dirty="0" smtClean="0">
                <a:solidFill>
                  <a:schemeClr val="accent5">
                    <a:lumMod val="50000"/>
                  </a:schemeClr>
                </a:solidFill>
                <a:latin typeface="+mj-lt"/>
              </a:rPr>
              <a:t>미래전략부문</a:t>
            </a:r>
            <a:endParaRPr lang="ko-KR" altLang="en-US" sz="800" dirty="0">
              <a:solidFill>
                <a:schemeClr val="accent5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18465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27082"/>
              </p:ext>
            </p:extLst>
          </p:nvPr>
        </p:nvGraphicFramePr>
        <p:xfrm>
          <a:off x="609669" y="1209929"/>
          <a:ext cx="7923144" cy="39946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80786"/>
                <a:gridCol w="1980786"/>
                <a:gridCol w="1980786"/>
                <a:gridCol w="1980786"/>
              </a:tblGrid>
              <a:tr h="59469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err="1" smtClean="0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참좋은여행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노랑풍선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노랑풍선 </a:t>
                      </a:r>
                      <a:r>
                        <a:rPr lang="ko-KR" altLang="en-US" sz="14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대비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5475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마스터상품 수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50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56</a:t>
                      </a: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89%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544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행사상품 수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11,174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5,155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217%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5475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평균 </a:t>
                      </a:r>
                      <a:r>
                        <a:rPr lang="ko-KR" altLang="en-US" sz="12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상품가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695,896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>755,115</a:t>
                      </a: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92%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5475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출발확정행사 수</a:t>
                      </a:r>
                      <a:endParaRPr lang="en-US" altLang="ko-KR" sz="1200" b="1" u="none" strike="noStrike" dirty="0" smtClean="0"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330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213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155%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5475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출발확정행사 비율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5475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전체상품 </a:t>
                      </a:r>
                      <a:r>
                        <a:rPr lang="ko-KR" altLang="en-US" sz="1200" b="1" u="none" strike="noStrike" dirty="0" err="1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실예약인원</a:t>
                      </a:r>
                      <a:endParaRPr lang="en-US" altLang="ko-KR" sz="1200" b="1" u="none" strike="noStrike" dirty="0" smtClean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902</a:t>
                      </a:r>
                      <a:endParaRPr lang="ko-KR" alt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775</a:t>
                      </a:r>
                      <a:endParaRPr lang="ko-KR" alt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116%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5475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>전체상품 예약인원</a:t>
                      </a:r>
                      <a:r>
                        <a:rPr lang="en-US" altLang="ko-KR" sz="1200" b="1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/>
                      </a:r>
                      <a:br>
                        <a:rPr lang="en-US" altLang="ko-KR" sz="1200" b="1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lang="en-US" altLang="ko-KR" sz="1200" b="1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200" b="1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>허수포함</a:t>
                      </a:r>
                      <a:r>
                        <a:rPr lang="en-US" altLang="ko-KR" sz="1200" b="1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>994</a:t>
                      </a:r>
                      <a:endParaRPr lang="ko-KR" altLang="en-US" sz="1200" b="0" i="0" u="none" strike="noStrike" kern="1200" dirty="0" smtClean="0">
                        <a:solidFill>
                          <a:srgbClr val="C00000"/>
                        </a:solidFill>
                        <a:effectLst/>
                        <a:latin typeface="+mn-lt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1,754</a:t>
                      </a:r>
                      <a:endParaRPr lang="ko-KR" alt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57%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44995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출발확정행사 예약인원</a:t>
                      </a:r>
                      <a:r>
                        <a:rPr lang="en-US" altLang="ko-KR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허수포함</a:t>
                      </a:r>
                      <a:r>
                        <a:rPr lang="en-US" altLang="ko-KR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651</a:t>
                      </a:r>
                      <a:endParaRPr lang="ko-KR" alt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397</a:t>
                      </a: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164%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44995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출발확정상품수당</a:t>
                      </a:r>
                      <a:endParaRPr lang="en-US" altLang="ko-KR" sz="1200" b="1" i="0" u="none" strike="noStrike" dirty="0" smtClean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평균 예약인원</a:t>
                      </a:r>
                      <a:endParaRPr lang="ko-KR" altLang="en-US" sz="12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명</a:t>
                      </a:r>
                      <a:endParaRPr lang="ko-KR" alt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명</a:t>
                      </a:r>
                      <a:endParaRPr lang="en-US" altLang="ko-KR" sz="1200" b="0" i="0" u="none" strike="noStrike" dirty="0" smtClean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Ⅱ. </a:t>
            </a:r>
            <a:r>
              <a:rPr lang="ko-KR" altLang="en-US" dirty="0" smtClean="0"/>
              <a:t>분석요약</a:t>
            </a:r>
            <a:endParaRPr lang="en-US" altLang="ko-KR" dirty="0"/>
          </a:p>
        </p:txBody>
      </p:sp>
      <p:cxnSp>
        <p:nvCxnSpPr>
          <p:cNvPr id="6" name="직선 연결선 5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날짜 개체 틀 1"/>
          <p:cNvSpPr>
            <a:spLocks noGrp="1"/>
          </p:cNvSpPr>
          <p:nvPr>
            <p:ph type="dt" sz="half" idx="4294967295"/>
          </p:nvPr>
        </p:nvSpPr>
        <p:spPr>
          <a:xfrm>
            <a:off x="-612475" y="6664352"/>
            <a:ext cx="2057400" cy="182572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dirty="0" smtClean="0">
                <a:latin typeface="+mn-ea"/>
              </a:rPr>
              <a:t>2019-07-05</a:t>
            </a:r>
            <a:endParaRPr lang="ko-KR" altLang="en-US" dirty="0">
              <a:latin typeface="+mn-ea"/>
            </a:endParaRPr>
          </a:p>
        </p:txBody>
      </p:sp>
      <p:sp>
        <p:nvSpPr>
          <p:cNvPr id="8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3506788" y="6684559"/>
            <a:ext cx="2057400" cy="182572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4</a:t>
            </a:r>
            <a:r>
              <a:rPr lang="ko-KR" altLang="en-US" sz="800" dirty="0" smtClean="0">
                <a:solidFill>
                  <a:schemeClr val="accent5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800" dirty="0" smtClean="0">
                <a:solidFill>
                  <a:schemeClr val="accent5">
                    <a:lumMod val="50000"/>
                  </a:schemeClr>
                </a:solidFill>
                <a:latin typeface="+mn-ea"/>
              </a:rPr>
              <a:t>/ 14</a:t>
            </a:r>
            <a:endParaRPr lang="ko-KR" altLang="en-US" sz="800" dirty="0">
              <a:solidFill>
                <a:schemeClr val="accent5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9" name="바닥글 개체 틀 3"/>
          <p:cNvSpPr>
            <a:spLocks noGrp="1"/>
          </p:cNvSpPr>
          <p:nvPr>
            <p:ph type="ftr" sz="quarter" idx="4294967295"/>
          </p:nvPr>
        </p:nvSpPr>
        <p:spPr>
          <a:xfrm>
            <a:off x="7699075" y="6651471"/>
            <a:ext cx="1740568" cy="19545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sz="800" dirty="0" smtClean="0">
                <a:solidFill>
                  <a:schemeClr val="accent5">
                    <a:lumMod val="50000"/>
                  </a:schemeClr>
                </a:solidFill>
                <a:latin typeface="+mn-ea"/>
              </a:rPr>
              <a:t>IT </a:t>
            </a:r>
            <a:r>
              <a:rPr lang="ko-KR" altLang="en-US" sz="800" dirty="0" smtClean="0">
                <a:solidFill>
                  <a:schemeClr val="accent5">
                    <a:lumMod val="50000"/>
                  </a:schemeClr>
                </a:solidFill>
                <a:latin typeface="+mn-ea"/>
              </a:rPr>
              <a:t>미래전략부문</a:t>
            </a:r>
            <a:endParaRPr lang="ko-KR" altLang="en-US" sz="800" dirty="0">
              <a:solidFill>
                <a:schemeClr val="accent5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2478" y="5400391"/>
            <a:ext cx="775904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dirty="0" smtClean="0">
                <a:latin typeface="+mj-lt"/>
              </a:rPr>
              <a:t>노랑풍선 대비 행사상품 수 차이가 약 </a:t>
            </a:r>
            <a:r>
              <a:rPr lang="en-US" altLang="ko-KR" sz="1300" b="1" dirty="0">
                <a:latin typeface="+mj-lt"/>
              </a:rPr>
              <a:t>2</a:t>
            </a:r>
            <a:r>
              <a:rPr lang="ko-KR" altLang="en-US" sz="1300" b="1" dirty="0" smtClean="0">
                <a:latin typeface="+mj-lt"/>
              </a:rPr>
              <a:t>배 높음</a:t>
            </a:r>
            <a:r>
              <a:rPr lang="en-US" altLang="ko-KR" sz="1300" dirty="0" smtClean="0">
                <a:latin typeface="+mj-lt"/>
              </a:rPr>
              <a:t>, </a:t>
            </a:r>
            <a:r>
              <a:rPr lang="ko-KR" altLang="en-US" sz="1300" dirty="0" smtClean="0">
                <a:latin typeface="+mj-lt"/>
              </a:rPr>
              <a:t>출발확정행사 수의</a:t>
            </a:r>
            <a:r>
              <a:rPr lang="ko-KR" altLang="en-US" sz="1300" b="1" dirty="0" smtClean="0">
                <a:latin typeface="+mj-lt"/>
              </a:rPr>
              <a:t> 경우 약 </a:t>
            </a:r>
            <a:r>
              <a:rPr lang="en-US" altLang="ko-KR" sz="1300" b="1" dirty="0" smtClean="0">
                <a:latin typeface="+mj-lt"/>
              </a:rPr>
              <a:t>1.5</a:t>
            </a:r>
            <a:r>
              <a:rPr lang="ko-KR" altLang="en-US" sz="1300" b="1" dirty="0" smtClean="0">
                <a:latin typeface="+mj-lt"/>
              </a:rPr>
              <a:t>배 정도 높은 행사 수 보유</a:t>
            </a:r>
            <a:endParaRPr lang="en-US" altLang="ko-KR" sz="1300" b="1" dirty="0" smtClean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dirty="0" smtClean="0">
                <a:latin typeface="+mj-lt"/>
              </a:rPr>
              <a:t>송객인원의 경우 </a:t>
            </a:r>
            <a:r>
              <a:rPr lang="en-US" altLang="ko-KR" sz="1300" dirty="0" smtClean="0">
                <a:latin typeface="+mj-lt"/>
              </a:rPr>
              <a:t>VGT</a:t>
            </a:r>
            <a:r>
              <a:rPr lang="ko-KR" altLang="en-US" sz="1300" dirty="0" smtClean="0">
                <a:latin typeface="+mj-lt"/>
              </a:rPr>
              <a:t>가 약 </a:t>
            </a:r>
            <a:r>
              <a:rPr lang="en-US" altLang="ko-KR" sz="1300" dirty="0" smtClean="0">
                <a:latin typeface="+mj-lt"/>
              </a:rPr>
              <a:t>16% </a:t>
            </a:r>
            <a:r>
              <a:rPr lang="ko-KR" altLang="en-US" sz="1300" dirty="0" smtClean="0">
                <a:latin typeface="+mj-lt"/>
              </a:rPr>
              <a:t>앞서고 있음</a:t>
            </a:r>
            <a:endParaRPr lang="en-US" altLang="ko-KR" sz="1300" dirty="0" smtClea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49656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/>
          <p:cNvSpPr/>
          <p:nvPr/>
        </p:nvSpPr>
        <p:spPr>
          <a:xfrm>
            <a:off x="433970" y="1219512"/>
            <a:ext cx="201593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60959" y="1215949"/>
            <a:ext cx="188653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마스터 상품 개수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(8~9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00612" y="1220490"/>
            <a:ext cx="194310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527" y="212002"/>
            <a:ext cx="67701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 smtClean="0"/>
              <a:t>Ⅲ-</a:t>
            </a:r>
            <a:r>
              <a:rPr lang="ko-KR" altLang="en-US" dirty="0" smtClean="0"/>
              <a:t>가</a:t>
            </a:r>
            <a:r>
              <a:rPr lang="en-US" altLang="ko-KR" dirty="0" smtClean="0"/>
              <a:t>. </a:t>
            </a:r>
            <a:r>
              <a:rPr lang="ko-KR" altLang="en-US" dirty="0" smtClean="0"/>
              <a:t>상세 비교분석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마스터 및 행사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  <p:sp>
        <p:nvSpPr>
          <p:cNvPr id="25" name="직사각형 24"/>
          <p:cNvSpPr/>
          <p:nvPr/>
        </p:nvSpPr>
        <p:spPr bwMode="auto">
          <a:xfrm>
            <a:off x="424738" y="1219511"/>
            <a:ext cx="3851427" cy="264512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4433978" y="1219511"/>
            <a:ext cx="4091457" cy="264512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433979" y="1225195"/>
            <a:ext cx="220353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4433977" y="1208041"/>
            <a:ext cx="22035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지역별 행사 상품 개수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</a:rPr>
              <a:t>(8~9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월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957930" y="4718471"/>
            <a:ext cx="656750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dirty="0" smtClean="0">
                <a:latin typeface="+mj-lt"/>
              </a:rPr>
              <a:t>마스터 당 행사 상품 수 </a:t>
            </a:r>
            <a:r>
              <a:rPr lang="en-US" altLang="ko-KR" sz="1300" dirty="0" smtClean="0">
                <a:latin typeface="+mj-lt"/>
              </a:rPr>
              <a:t>: VGT – </a:t>
            </a:r>
            <a:r>
              <a:rPr lang="en-US" altLang="ko-KR" sz="1300" b="1" dirty="0" smtClean="0">
                <a:solidFill>
                  <a:srgbClr val="C00000"/>
                </a:solidFill>
                <a:latin typeface="+mj-lt"/>
              </a:rPr>
              <a:t>223</a:t>
            </a:r>
            <a:r>
              <a:rPr lang="ko-KR" altLang="en-US" sz="1300" dirty="0" smtClean="0">
                <a:latin typeface="+mj-lt"/>
              </a:rPr>
              <a:t>개</a:t>
            </a:r>
            <a:r>
              <a:rPr lang="en-US" altLang="ko-KR" sz="1300" dirty="0" smtClean="0">
                <a:latin typeface="+mj-lt"/>
              </a:rPr>
              <a:t>, </a:t>
            </a:r>
            <a:r>
              <a:rPr lang="ko-KR" altLang="en-US" sz="1300" dirty="0" smtClean="0">
                <a:latin typeface="+mj-lt"/>
              </a:rPr>
              <a:t>노랑풍선 </a:t>
            </a:r>
            <a:r>
              <a:rPr lang="en-US" altLang="ko-KR" sz="1300" dirty="0" smtClean="0">
                <a:latin typeface="+mj-lt"/>
              </a:rPr>
              <a:t>– </a:t>
            </a:r>
            <a:r>
              <a:rPr lang="en-US" altLang="ko-KR" sz="1300" b="1" dirty="0" smtClean="0">
                <a:solidFill>
                  <a:srgbClr val="C00000"/>
                </a:solidFill>
                <a:latin typeface="+mj-lt"/>
              </a:rPr>
              <a:t>92</a:t>
            </a:r>
            <a:r>
              <a:rPr lang="ko-KR" altLang="en-US" sz="1300" dirty="0" smtClean="0">
                <a:latin typeface="+mj-lt"/>
              </a:rPr>
              <a:t>개</a:t>
            </a:r>
            <a:endParaRPr lang="en-US" altLang="ko-KR" sz="1300" dirty="0" smtClean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b="1" dirty="0" smtClean="0">
                <a:latin typeface="+mj-lt"/>
              </a:rPr>
              <a:t>상품의 다양성은 비슷한 수준이지만 행사 개수에서 약 </a:t>
            </a:r>
            <a:r>
              <a:rPr lang="en-US" altLang="ko-KR" sz="1300" b="1" dirty="0" smtClean="0">
                <a:latin typeface="+mj-lt"/>
              </a:rPr>
              <a:t>2</a:t>
            </a:r>
            <a:r>
              <a:rPr lang="ko-KR" altLang="en-US" sz="1300" b="1" dirty="0" smtClean="0">
                <a:latin typeface="+mj-lt"/>
              </a:rPr>
              <a:t>배의 차이</a:t>
            </a:r>
            <a:endParaRPr lang="en-US" altLang="ko-KR" sz="1300" b="1" dirty="0" smtClean="0">
              <a:latin typeface="+mj-lt"/>
            </a:endParaRPr>
          </a:p>
        </p:txBody>
      </p:sp>
      <p:sp>
        <p:nvSpPr>
          <p:cNvPr id="20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</a:rPr>
              <a:t>2019-07-05</a:t>
            </a:r>
            <a:endParaRPr lang="ko-KR" altLang="en-US" dirty="0">
              <a:latin typeface="+mn-ea"/>
            </a:endParaRPr>
          </a:p>
        </p:txBody>
      </p:sp>
      <p:sp>
        <p:nvSpPr>
          <p:cNvPr id="2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5 / 14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8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graphicFrame>
        <p:nvGraphicFramePr>
          <p:cNvPr id="18" name="차트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2713706"/>
              </p:ext>
            </p:extLst>
          </p:nvPr>
        </p:nvGraphicFramePr>
        <p:xfrm>
          <a:off x="460959" y="1492948"/>
          <a:ext cx="3815206" cy="23716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" name="차트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9299979"/>
              </p:ext>
            </p:extLst>
          </p:nvPr>
        </p:nvGraphicFramePr>
        <p:xfrm>
          <a:off x="4433977" y="1492948"/>
          <a:ext cx="4098836" cy="23716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44903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/>
        </p:nvSpPr>
        <p:spPr>
          <a:xfrm>
            <a:off x="73528" y="212002"/>
            <a:ext cx="8828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 smtClean="0"/>
              <a:t>Ⅲ-</a:t>
            </a:r>
            <a:r>
              <a:rPr lang="ko-KR" altLang="en-US" dirty="0" smtClean="0"/>
              <a:t>나</a:t>
            </a:r>
            <a:r>
              <a:rPr lang="en-US" altLang="ko-KR" dirty="0" smtClean="0"/>
              <a:t>. </a:t>
            </a:r>
            <a:r>
              <a:rPr lang="ko-KR" altLang="en-US" dirty="0" smtClean="0"/>
              <a:t>상세 비교분석 </a:t>
            </a:r>
            <a:r>
              <a:rPr lang="en-US" altLang="ko-KR" dirty="0" smtClean="0"/>
              <a:t>(</a:t>
            </a:r>
            <a:r>
              <a:rPr lang="ko-KR" altLang="en-US" dirty="0" smtClean="0"/>
              <a:t>출발확정상품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  <p:cxnSp>
        <p:nvCxnSpPr>
          <p:cNvPr id="38" name="직선 연결선 37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21"/>
          <p:cNvSpPr txBox="1">
            <a:spLocks noChangeArrowheads="1"/>
          </p:cNvSpPr>
          <p:nvPr/>
        </p:nvSpPr>
        <p:spPr bwMode="auto">
          <a:xfrm>
            <a:off x="2057400" y="4542755"/>
            <a:ext cx="5355271" cy="12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300" dirty="0" smtClean="0">
                <a:latin typeface="+mj-lt"/>
                <a:ea typeface="+mn-ea"/>
              </a:rPr>
              <a:t>VGT </a:t>
            </a:r>
            <a:r>
              <a:rPr lang="ko-KR" altLang="en-US" sz="1300" b="1" dirty="0" smtClean="0">
                <a:latin typeface="+mj-lt"/>
                <a:ea typeface="+mn-ea"/>
              </a:rPr>
              <a:t>미정행사</a:t>
            </a:r>
            <a:r>
              <a:rPr lang="ko-KR" altLang="en-US" sz="1300" dirty="0" smtClean="0">
                <a:latin typeface="+mj-lt"/>
                <a:ea typeface="+mn-ea"/>
              </a:rPr>
              <a:t> </a:t>
            </a:r>
            <a:r>
              <a:rPr lang="en-US" altLang="ko-KR" sz="1300" dirty="0" smtClean="0">
                <a:latin typeface="+mj-lt"/>
                <a:ea typeface="+mn-ea"/>
              </a:rPr>
              <a:t>: 10,844</a:t>
            </a:r>
            <a:r>
              <a:rPr lang="ko-KR" altLang="en-US" sz="1300" dirty="0" smtClean="0">
                <a:latin typeface="+mj-lt"/>
                <a:ea typeface="+mn-ea"/>
              </a:rPr>
              <a:t>개</a:t>
            </a:r>
            <a:r>
              <a:rPr lang="en-US" altLang="ko-KR" sz="1300" dirty="0" smtClean="0">
                <a:latin typeface="+mj-lt"/>
                <a:ea typeface="+mn-ea"/>
              </a:rPr>
              <a:t>(97%), </a:t>
            </a:r>
            <a:r>
              <a:rPr lang="ko-KR" altLang="en-US" sz="1300" b="1" dirty="0" smtClean="0">
                <a:latin typeface="+mj-lt"/>
                <a:ea typeface="+mn-ea"/>
              </a:rPr>
              <a:t>출발확정행사</a:t>
            </a:r>
            <a:r>
              <a:rPr lang="ko-KR" altLang="en-US" sz="1300" dirty="0" smtClean="0">
                <a:latin typeface="+mj-lt"/>
                <a:ea typeface="+mn-ea"/>
              </a:rPr>
              <a:t> </a:t>
            </a:r>
            <a:r>
              <a:rPr lang="en-US" altLang="ko-KR" sz="1300" dirty="0" smtClean="0">
                <a:latin typeface="+mj-lt"/>
                <a:ea typeface="+mn-ea"/>
              </a:rPr>
              <a:t>: 330</a:t>
            </a:r>
            <a:r>
              <a:rPr lang="ko-KR" altLang="en-US" sz="1300" dirty="0" smtClean="0">
                <a:latin typeface="+mj-lt"/>
                <a:ea typeface="+mn-ea"/>
              </a:rPr>
              <a:t>개</a:t>
            </a:r>
            <a:r>
              <a:rPr lang="en-US" altLang="ko-KR" sz="1300" dirty="0" smtClean="0">
                <a:latin typeface="+mj-lt"/>
                <a:ea typeface="+mn-ea"/>
              </a:rPr>
              <a:t>(3%)</a:t>
            </a: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dirty="0" smtClean="0">
                <a:latin typeface="+mj-lt"/>
                <a:ea typeface="+mn-ea"/>
              </a:rPr>
              <a:t>노랑풍선 </a:t>
            </a:r>
            <a:r>
              <a:rPr lang="ko-KR" altLang="en-US" sz="1300" b="1" dirty="0" smtClean="0">
                <a:latin typeface="+mj-lt"/>
                <a:ea typeface="+mn-ea"/>
              </a:rPr>
              <a:t>미정행사</a:t>
            </a:r>
            <a:r>
              <a:rPr lang="ko-KR" altLang="en-US" sz="1300" dirty="0" smtClean="0">
                <a:latin typeface="+mj-lt"/>
                <a:ea typeface="+mn-ea"/>
              </a:rPr>
              <a:t> </a:t>
            </a:r>
            <a:r>
              <a:rPr lang="en-US" altLang="ko-KR" sz="1300" dirty="0" smtClean="0">
                <a:latin typeface="+mj-lt"/>
                <a:ea typeface="+mn-ea"/>
              </a:rPr>
              <a:t>: 4,942(96%), </a:t>
            </a:r>
            <a:r>
              <a:rPr lang="ko-KR" altLang="en-US" sz="1300" b="1" dirty="0" smtClean="0">
                <a:latin typeface="+mj-lt"/>
                <a:ea typeface="+mn-ea"/>
              </a:rPr>
              <a:t>출발확정행사</a:t>
            </a:r>
            <a:r>
              <a:rPr lang="ko-KR" altLang="en-US" sz="1300" dirty="0" smtClean="0">
                <a:latin typeface="+mj-lt"/>
                <a:ea typeface="+mn-ea"/>
              </a:rPr>
              <a:t> </a:t>
            </a:r>
            <a:r>
              <a:rPr lang="en-US" altLang="ko-KR" sz="1300" dirty="0" smtClean="0">
                <a:latin typeface="+mj-lt"/>
                <a:ea typeface="+mn-ea"/>
              </a:rPr>
              <a:t>: 213</a:t>
            </a:r>
            <a:r>
              <a:rPr lang="ko-KR" altLang="en-US" sz="1300" dirty="0" smtClean="0">
                <a:latin typeface="+mj-lt"/>
                <a:ea typeface="+mn-ea"/>
              </a:rPr>
              <a:t>개</a:t>
            </a:r>
            <a:r>
              <a:rPr lang="en-US" altLang="ko-KR" sz="1300" dirty="0" smtClean="0">
                <a:latin typeface="+mj-lt"/>
                <a:ea typeface="+mn-ea"/>
              </a:rPr>
              <a:t>(4%)</a:t>
            </a: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dirty="0" smtClean="0">
                <a:latin typeface="+mj-lt"/>
                <a:ea typeface="+mn-ea"/>
              </a:rPr>
              <a:t>출발확정행사의 경우 </a:t>
            </a:r>
            <a:r>
              <a:rPr lang="ko-KR" altLang="en-US" sz="1300" b="1" dirty="0" smtClean="0">
                <a:latin typeface="+mj-lt"/>
                <a:ea typeface="+mn-ea"/>
              </a:rPr>
              <a:t>양사 모두 비슷한 비율로 상품 분포</a:t>
            </a:r>
            <a:endParaRPr lang="en-US" altLang="ko-KR" sz="1300" b="1" dirty="0" smtClean="0">
              <a:latin typeface="+mj-lt"/>
              <a:ea typeface="+mn-ea"/>
            </a:endParaRPr>
          </a:p>
        </p:txBody>
      </p:sp>
      <p:sp>
        <p:nvSpPr>
          <p:cNvPr id="27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</a:rPr>
              <a:t>2019-07-05</a:t>
            </a:r>
            <a:endParaRPr lang="ko-KR" altLang="en-US" dirty="0">
              <a:latin typeface="+mn-ea"/>
            </a:endParaRPr>
          </a:p>
        </p:txBody>
      </p:sp>
      <p:sp>
        <p:nvSpPr>
          <p:cNvPr id="28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6 / 14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9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95643" y="1342829"/>
            <a:ext cx="2766431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" name="TextBox 35"/>
          <p:cNvSpPr txBox="1">
            <a:spLocks noChangeArrowheads="1"/>
          </p:cNvSpPr>
          <p:nvPr/>
        </p:nvSpPr>
        <p:spPr bwMode="auto">
          <a:xfrm>
            <a:off x="495643" y="1336677"/>
            <a:ext cx="283921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accent1"/>
                </a:solidFill>
                <a:latin typeface="+mn-ea"/>
                <a:ea typeface="+mn-ea"/>
              </a:rPr>
              <a:t>VGT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지역별 출발확정행사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</a:rPr>
              <a:t>(8~9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TextBox 35"/>
          <p:cNvSpPr txBox="1">
            <a:spLocks noChangeArrowheads="1"/>
          </p:cNvSpPr>
          <p:nvPr/>
        </p:nvSpPr>
        <p:spPr bwMode="auto">
          <a:xfrm>
            <a:off x="4962285" y="1343807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1" name="직사각형 30"/>
          <p:cNvSpPr/>
          <p:nvPr/>
        </p:nvSpPr>
        <p:spPr bwMode="auto">
          <a:xfrm>
            <a:off x="486411" y="1342828"/>
            <a:ext cx="3835395" cy="2400211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33" name="직사각형 32"/>
          <p:cNvSpPr/>
          <p:nvPr/>
        </p:nvSpPr>
        <p:spPr bwMode="auto">
          <a:xfrm>
            <a:off x="4701852" y="1342829"/>
            <a:ext cx="3830961" cy="240021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4701852" y="1348512"/>
            <a:ext cx="3051539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4701854" y="1354606"/>
            <a:ext cx="30515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accent4"/>
                </a:solidFill>
                <a:latin typeface="+mn-ea"/>
                <a:ea typeface="+mn-ea"/>
              </a:rPr>
              <a:t>노랑풍선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지역별 출발확정행사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</a:rPr>
              <a:t>(8~9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월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34" name="차트 3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170148"/>
              </p:ext>
            </p:extLst>
          </p:nvPr>
        </p:nvGraphicFramePr>
        <p:xfrm>
          <a:off x="495643" y="1631605"/>
          <a:ext cx="3826163" cy="21114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5" name="차트 3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4304280"/>
              </p:ext>
            </p:extLst>
          </p:nvPr>
        </p:nvGraphicFramePr>
        <p:xfrm>
          <a:off x="4701852" y="1637699"/>
          <a:ext cx="3830961" cy="2105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00912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/>
          <p:cNvSpPr/>
          <p:nvPr/>
        </p:nvSpPr>
        <p:spPr>
          <a:xfrm>
            <a:off x="416717" y="1039957"/>
            <a:ext cx="283544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08087" y="1028487"/>
            <a:ext cx="291685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accent1"/>
                </a:solidFill>
                <a:latin typeface="+mn-ea"/>
                <a:ea typeface="+mn-ea"/>
              </a:rPr>
              <a:t>VGT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전체 행사 등급별 행사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</a:rPr>
              <a:t>(8~9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월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00611" y="1040935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416111" y="1039957"/>
            <a:ext cx="3936430" cy="203545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4640179" y="1039957"/>
            <a:ext cx="3753322" cy="2004039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640178" y="1045640"/>
            <a:ext cx="3175354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4640178" y="1028486"/>
            <a:ext cx="31753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accent4"/>
                </a:solidFill>
                <a:latin typeface="+mn-ea"/>
                <a:ea typeface="+mn-ea"/>
              </a:rPr>
              <a:t>노랑풍선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 전체 행사 등급별 행사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</a:rPr>
              <a:t>(8~9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월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527" y="212002"/>
            <a:ext cx="8828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 smtClean="0"/>
              <a:t>Ⅲ-</a:t>
            </a:r>
            <a:r>
              <a:rPr lang="ko-KR" altLang="en-US" dirty="0" smtClean="0"/>
              <a:t>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상세 비교분석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등급별 행사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cxnSp>
        <p:nvCxnSpPr>
          <p:cNvPr id="32" name="직선 연결선 31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87550" y="5399186"/>
            <a:ext cx="828573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300" dirty="0" smtClean="0">
                <a:latin typeface="+mj-lt"/>
              </a:rPr>
              <a:t>VGT : </a:t>
            </a:r>
            <a:r>
              <a:rPr lang="ko-KR" altLang="en-US" sz="1300" dirty="0" err="1" smtClean="0">
                <a:latin typeface="+mj-lt"/>
              </a:rPr>
              <a:t>라르고</a:t>
            </a:r>
            <a:r>
              <a:rPr lang="ko-KR" altLang="en-US" sz="1300" dirty="0" smtClean="0">
                <a:latin typeface="+mj-lt"/>
              </a:rPr>
              <a:t> 행사 비율은 낮고</a:t>
            </a:r>
            <a:r>
              <a:rPr lang="en-US" altLang="ko-KR" sz="1300" dirty="0" smtClean="0">
                <a:latin typeface="+mj-lt"/>
              </a:rPr>
              <a:t>, </a:t>
            </a:r>
            <a:r>
              <a:rPr lang="ko-KR" altLang="en-US" sz="1300" b="1" dirty="0" smtClean="0">
                <a:latin typeface="+mj-lt"/>
              </a:rPr>
              <a:t>실질적인 </a:t>
            </a:r>
            <a:r>
              <a:rPr lang="ko-KR" altLang="en-US" sz="1300" b="1" dirty="0" err="1" smtClean="0">
                <a:latin typeface="+mj-lt"/>
              </a:rPr>
              <a:t>모객은</a:t>
            </a:r>
            <a:r>
              <a:rPr lang="ko-KR" altLang="en-US" sz="1300" b="1" dirty="0" smtClean="0">
                <a:latin typeface="+mj-lt"/>
              </a:rPr>
              <a:t> 일반상품 중심</a:t>
            </a:r>
            <a:r>
              <a:rPr lang="en-US" altLang="ko-KR" sz="1300" b="1" dirty="0" smtClean="0">
                <a:latin typeface="+mj-lt"/>
              </a:rPr>
              <a:t>, </a:t>
            </a:r>
            <a:r>
              <a:rPr lang="ko-KR" altLang="en-US" sz="1300" b="1" dirty="0" err="1" smtClean="0">
                <a:latin typeface="+mj-lt"/>
              </a:rPr>
              <a:t>라르고</a:t>
            </a:r>
            <a:r>
              <a:rPr lang="en-US" altLang="ko-KR" sz="1300" b="1" dirty="0" smtClean="0">
                <a:latin typeface="+mj-lt"/>
              </a:rPr>
              <a:t>+ </a:t>
            </a:r>
            <a:r>
              <a:rPr lang="ko-KR" altLang="en-US" sz="1300" b="1" dirty="0" smtClean="0">
                <a:latin typeface="+mj-lt"/>
              </a:rPr>
              <a:t>상품은 </a:t>
            </a:r>
            <a:r>
              <a:rPr lang="ko-KR" altLang="en-US" sz="1300" b="1" dirty="0" err="1" smtClean="0">
                <a:latin typeface="+mj-lt"/>
              </a:rPr>
              <a:t>미운영</a:t>
            </a:r>
            <a:endParaRPr lang="en-US" altLang="ko-KR" sz="1300" b="1" dirty="0" smtClean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dirty="0" smtClean="0">
                <a:latin typeface="+mj-lt"/>
              </a:rPr>
              <a:t>노랑풍선 </a:t>
            </a:r>
            <a:r>
              <a:rPr lang="en-US" altLang="ko-KR" sz="1300" dirty="0" smtClean="0">
                <a:latin typeface="+mj-lt"/>
              </a:rPr>
              <a:t>: </a:t>
            </a:r>
            <a:r>
              <a:rPr lang="ko-KR" altLang="en-US" sz="1300" b="1" dirty="0" smtClean="0">
                <a:latin typeface="+mj-lt"/>
              </a:rPr>
              <a:t>전체행사 기준</a:t>
            </a:r>
            <a:r>
              <a:rPr lang="ko-KR" altLang="en-US" sz="1300" dirty="0" smtClean="0">
                <a:latin typeface="+mj-lt"/>
              </a:rPr>
              <a:t> 일반상품과 브랜드 상품이 </a:t>
            </a:r>
            <a:r>
              <a:rPr lang="en-US" altLang="ko-KR" sz="1300" dirty="0" smtClean="0">
                <a:latin typeface="+mj-lt"/>
              </a:rPr>
              <a:t>VGT</a:t>
            </a:r>
            <a:r>
              <a:rPr lang="ko-KR" altLang="en-US" sz="1300" dirty="0" smtClean="0">
                <a:latin typeface="+mj-lt"/>
              </a:rPr>
              <a:t>와 반대로 고르게 분포</a:t>
            </a:r>
            <a:endParaRPr lang="en-US" altLang="ko-KR" sz="1300" dirty="0">
              <a:latin typeface="+mj-lt"/>
            </a:endParaRPr>
          </a:p>
          <a:p>
            <a:pPr latinLnBrk="0">
              <a:lnSpc>
                <a:spcPct val="200000"/>
              </a:lnSpc>
              <a:spcBef>
                <a:spcPct val="0"/>
              </a:spcBef>
            </a:pPr>
            <a:r>
              <a:rPr lang="ko-KR" altLang="en-US" sz="1300" b="1" dirty="0" smtClean="0">
                <a:latin typeface="+mj-lt"/>
              </a:rPr>
              <a:t>      출발확정행사 기준 </a:t>
            </a:r>
            <a:r>
              <a:rPr lang="ko-KR" altLang="en-US" sz="1300" dirty="0" smtClean="0">
                <a:latin typeface="+mj-lt"/>
              </a:rPr>
              <a:t>프리미엄 행사 거의 없음 </a:t>
            </a:r>
            <a:r>
              <a:rPr lang="en-US" altLang="ko-KR" sz="1300" dirty="0" smtClean="0">
                <a:latin typeface="+mj-lt"/>
              </a:rPr>
              <a:t>- &gt; </a:t>
            </a:r>
            <a:r>
              <a:rPr lang="ko-KR" altLang="en-US" sz="1300" dirty="0" smtClean="0">
                <a:latin typeface="+mj-lt"/>
              </a:rPr>
              <a:t>실질적으로는 프리미엄을 제외하고 </a:t>
            </a:r>
            <a:r>
              <a:rPr lang="ko-KR" altLang="en-US" sz="1300" b="1" dirty="0" err="1" smtClean="0">
                <a:latin typeface="+mj-lt"/>
              </a:rPr>
              <a:t>라이트팩</a:t>
            </a:r>
            <a:r>
              <a:rPr lang="ko-KR" altLang="en-US" sz="1300" b="1" dirty="0" smtClean="0">
                <a:latin typeface="+mj-lt"/>
              </a:rPr>
              <a:t> 상품</a:t>
            </a:r>
            <a:r>
              <a:rPr lang="ko-KR" altLang="en-US" sz="1300" dirty="0" smtClean="0">
                <a:latin typeface="+mj-lt"/>
              </a:rPr>
              <a:t>에 주력</a:t>
            </a:r>
            <a:endParaRPr lang="en-US" altLang="ko-KR" sz="1300" dirty="0" smtClean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55373" y="5144972"/>
            <a:ext cx="396081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 smtClean="0"/>
              <a:t>프리미엄 </a:t>
            </a:r>
            <a:r>
              <a:rPr lang="en-US" altLang="ko-KR" sz="900" dirty="0"/>
              <a:t>: </a:t>
            </a:r>
            <a:r>
              <a:rPr lang="ko-KR" altLang="en-US" sz="900" dirty="0" smtClean="0"/>
              <a:t>항공</a:t>
            </a:r>
            <a:r>
              <a:rPr lang="en-US" altLang="ko-KR" sz="900" dirty="0"/>
              <a:t>, </a:t>
            </a:r>
            <a:r>
              <a:rPr lang="ko-KR" altLang="en-US" sz="900" dirty="0"/>
              <a:t>숙박</a:t>
            </a:r>
            <a:r>
              <a:rPr lang="en-US" altLang="ko-KR" sz="900" dirty="0"/>
              <a:t>, </a:t>
            </a:r>
            <a:r>
              <a:rPr lang="ko-KR" altLang="en-US" sz="900" dirty="0"/>
              <a:t>일정 </a:t>
            </a:r>
            <a:r>
              <a:rPr lang="ko-KR" altLang="en-US" sz="900" dirty="0" smtClean="0"/>
              <a:t>등을 최상위로 </a:t>
            </a:r>
            <a:r>
              <a:rPr lang="ko-KR" altLang="en-US" sz="900" dirty="0"/>
              <a:t>업그레이드한 </a:t>
            </a:r>
            <a:r>
              <a:rPr lang="ko-KR" altLang="en-US" sz="900" dirty="0" smtClean="0"/>
              <a:t>상품</a:t>
            </a:r>
            <a:endParaRPr lang="en-US" altLang="ko-KR" sz="900" dirty="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dirty="0" err="1" smtClean="0"/>
              <a:t>라이트팩</a:t>
            </a:r>
            <a:r>
              <a:rPr lang="ko-KR" altLang="en-US" sz="900" dirty="0" smtClean="0"/>
              <a:t> </a:t>
            </a:r>
            <a:r>
              <a:rPr lang="en-US" altLang="ko-KR" sz="900" dirty="0" smtClean="0"/>
              <a:t>: </a:t>
            </a:r>
            <a:r>
              <a:rPr lang="ko-KR" altLang="en-US" sz="900" dirty="0" smtClean="0"/>
              <a:t>자유시간이 포함된 </a:t>
            </a:r>
            <a:r>
              <a:rPr lang="ko-KR" altLang="en-US" sz="900" dirty="0" err="1" smtClean="0"/>
              <a:t>패키지형</a:t>
            </a:r>
            <a:r>
              <a:rPr lang="en-US" altLang="ko-KR" sz="900" dirty="0" smtClean="0"/>
              <a:t>, </a:t>
            </a:r>
            <a:r>
              <a:rPr lang="ko-KR" altLang="en-US" sz="900" dirty="0" err="1" smtClean="0"/>
              <a:t>원데이</a:t>
            </a:r>
            <a:r>
              <a:rPr lang="ko-KR" altLang="en-US" sz="900" dirty="0" smtClean="0"/>
              <a:t> 투어를 포함한 </a:t>
            </a:r>
            <a:r>
              <a:rPr lang="ko-KR" altLang="en-US" sz="900" dirty="0" err="1" smtClean="0"/>
              <a:t>자유여행형</a:t>
            </a:r>
            <a:endParaRPr lang="ko-KR" altLang="en-US" sz="900" dirty="0"/>
          </a:p>
        </p:txBody>
      </p:sp>
      <p:sp>
        <p:nvSpPr>
          <p:cNvPr id="24" name="TextBox 35"/>
          <p:cNvSpPr txBox="1">
            <a:spLocks noChangeArrowheads="1"/>
          </p:cNvSpPr>
          <p:nvPr/>
        </p:nvSpPr>
        <p:spPr bwMode="auto">
          <a:xfrm>
            <a:off x="424736" y="3170210"/>
            <a:ext cx="257817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VGT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상품 등급별 행사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(4~6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7" name="직사각형 26"/>
          <p:cNvSpPr/>
          <p:nvPr/>
        </p:nvSpPr>
        <p:spPr bwMode="auto">
          <a:xfrm>
            <a:off x="415505" y="3138550"/>
            <a:ext cx="3936430" cy="204437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415505" y="3150020"/>
            <a:ext cx="3936430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8" name="TextBox 35"/>
          <p:cNvSpPr txBox="1">
            <a:spLocks noChangeArrowheads="1"/>
          </p:cNvSpPr>
          <p:nvPr/>
        </p:nvSpPr>
        <p:spPr bwMode="auto">
          <a:xfrm>
            <a:off x="415504" y="3138550"/>
            <a:ext cx="374121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accent1"/>
                </a:solidFill>
                <a:latin typeface="+mn-ea"/>
                <a:ea typeface="+mn-ea"/>
              </a:rPr>
              <a:t>VGT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출발확정행사 등급별 행사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</a:rPr>
              <a:t>(8~9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월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9" name="TextBox 35"/>
          <p:cNvSpPr txBox="1">
            <a:spLocks noChangeArrowheads="1"/>
          </p:cNvSpPr>
          <p:nvPr/>
        </p:nvSpPr>
        <p:spPr bwMode="auto">
          <a:xfrm>
            <a:off x="4891380" y="313427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0" name="직사각형 39"/>
          <p:cNvSpPr/>
          <p:nvPr/>
        </p:nvSpPr>
        <p:spPr bwMode="auto">
          <a:xfrm>
            <a:off x="4630948" y="3133292"/>
            <a:ext cx="3753322" cy="204437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4630946" y="3138975"/>
            <a:ext cx="375332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42" name="TextBox 35"/>
          <p:cNvSpPr txBox="1">
            <a:spLocks noChangeArrowheads="1"/>
          </p:cNvSpPr>
          <p:nvPr/>
        </p:nvSpPr>
        <p:spPr bwMode="auto">
          <a:xfrm>
            <a:off x="4630946" y="3130447"/>
            <a:ext cx="37440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accent4"/>
                </a:solidFill>
                <a:latin typeface="+mn-ea"/>
                <a:ea typeface="+mn-ea"/>
              </a:rPr>
              <a:t>노랑풍선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 출발확정행사 등급별 행사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</a:rPr>
              <a:t>(8~9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월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3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</a:rPr>
              <a:t>2019-07-05</a:t>
            </a:r>
            <a:endParaRPr lang="ko-KR" altLang="en-US" dirty="0">
              <a:latin typeface="+mn-ea"/>
            </a:endParaRPr>
          </a:p>
        </p:txBody>
      </p:sp>
      <p:sp>
        <p:nvSpPr>
          <p:cNvPr id="36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</p:spPr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7</a:t>
            </a:r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14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3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graphicFrame>
        <p:nvGraphicFramePr>
          <p:cNvPr id="45" name="차트 4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5786517"/>
              </p:ext>
            </p:extLst>
          </p:nvPr>
        </p:nvGraphicFramePr>
        <p:xfrm>
          <a:off x="424736" y="1323348"/>
          <a:ext cx="3927199" cy="1720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7" name="차트 4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4866636"/>
              </p:ext>
            </p:extLst>
          </p:nvPr>
        </p:nvGraphicFramePr>
        <p:xfrm>
          <a:off x="4640178" y="1323348"/>
          <a:ext cx="3734860" cy="1720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8" name="차트 4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3281899"/>
              </p:ext>
            </p:extLst>
          </p:nvPr>
        </p:nvGraphicFramePr>
        <p:xfrm>
          <a:off x="4630946" y="3447209"/>
          <a:ext cx="3753323" cy="17304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9" name="차트 4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4601837"/>
              </p:ext>
            </p:extLst>
          </p:nvPr>
        </p:nvGraphicFramePr>
        <p:xfrm>
          <a:off x="424736" y="3452048"/>
          <a:ext cx="3927199" cy="17058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4105508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/>
          <p:cNvSpPr/>
          <p:nvPr/>
        </p:nvSpPr>
        <p:spPr>
          <a:xfrm>
            <a:off x="433969" y="1039957"/>
            <a:ext cx="4075825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33967" y="1036394"/>
            <a:ext cx="373259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accent1"/>
                </a:solidFill>
                <a:latin typeface="+mn-ea"/>
                <a:ea typeface="+mn-ea"/>
              </a:rPr>
              <a:t>VGT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전체 상품 지역 및 등급별 행사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</a:rPr>
              <a:t>(8~9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월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424736" y="1039957"/>
            <a:ext cx="4075827" cy="2919568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527" y="212002"/>
            <a:ext cx="8828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 smtClean="0"/>
              <a:t>Ⅲ-</a:t>
            </a:r>
            <a:r>
              <a:rPr lang="ko-KR" altLang="en-US" dirty="0" smtClean="0"/>
              <a:t>라</a:t>
            </a:r>
            <a:r>
              <a:rPr lang="en-US" altLang="ko-KR" dirty="0" smtClean="0"/>
              <a:t>. </a:t>
            </a:r>
            <a:r>
              <a:rPr lang="ko-KR" altLang="en-US" dirty="0" smtClean="0"/>
              <a:t>상세 비교분석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지역 및 등급별 행사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cxnSp>
        <p:nvCxnSpPr>
          <p:cNvPr id="32" name="직선 연결선 31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</a:rPr>
              <a:t>2019-07-05</a:t>
            </a:r>
            <a:endParaRPr lang="ko-KR" altLang="en-US" dirty="0">
              <a:latin typeface="+mn-ea"/>
            </a:endParaRPr>
          </a:p>
        </p:txBody>
      </p:sp>
      <p:sp>
        <p:nvSpPr>
          <p:cNvPr id="55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</p:spPr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8</a:t>
            </a:r>
            <a:r>
              <a:rPr lang="en-US" altLang="ko-KR" dirty="0" smtClean="0">
                <a:latin typeface="+mn-ea"/>
                <a:ea typeface="+mn-ea"/>
              </a:rPr>
              <a:t> / 14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5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287096"/>
              </p:ext>
            </p:extLst>
          </p:nvPr>
        </p:nvGraphicFramePr>
        <p:xfrm>
          <a:off x="649288" y="4265041"/>
          <a:ext cx="7883525" cy="770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2947"/>
                <a:gridCol w="1136763"/>
                <a:gridCol w="1136763"/>
                <a:gridCol w="1136763"/>
                <a:gridCol w="1136763"/>
                <a:gridCol w="1136763"/>
                <a:gridCol w="1136763"/>
              </a:tblGrid>
              <a:tr h="206465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지역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일반</a:t>
                      </a:r>
                      <a:r>
                        <a:rPr lang="en-US" altLang="ko-KR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VGT)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라르고</a:t>
                      </a:r>
                      <a:r>
                        <a:rPr lang="en-US" altLang="ko-KR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VGT)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라르고</a:t>
                      </a:r>
                      <a:r>
                        <a:rPr lang="en-US" altLang="ko-KR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+(</a:t>
                      </a:r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VGT)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일반</a:t>
                      </a:r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노랑</a:t>
                      </a:r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)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프리미엄</a:t>
                      </a:r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노랑</a:t>
                      </a:r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)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라이트팩</a:t>
                      </a:r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노랑</a:t>
                      </a:r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)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88101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홍콩</a:t>
                      </a:r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마카오</a:t>
                      </a:r>
                      <a:endParaRPr lang="en-US" altLang="ko-KR" sz="1000" b="1" i="0" u="none" strike="noStrike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6,604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1,169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101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대만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101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합계</a:t>
                      </a:r>
                      <a:endParaRPr lang="en-US" altLang="ko-KR" sz="1000" b="1" i="0" u="none" strike="noStrike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10,316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2,978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1,132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1,045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직사각형 16"/>
          <p:cNvSpPr/>
          <p:nvPr/>
        </p:nvSpPr>
        <p:spPr>
          <a:xfrm>
            <a:off x="4752928" y="1039957"/>
            <a:ext cx="4075825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4762157" y="1036394"/>
            <a:ext cx="377065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accent4"/>
                </a:solidFill>
                <a:latin typeface="+mn-ea"/>
                <a:ea typeface="+mn-ea"/>
              </a:rPr>
              <a:t>노랑풍선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 전체 상품 지역 및 등급별 행사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</a:rPr>
              <a:t>(8~9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월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4752926" y="1039957"/>
            <a:ext cx="4075827" cy="2919568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31337" y="5371690"/>
            <a:ext cx="816534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300" dirty="0" smtClean="0">
                <a:latin typeface="+mj-lt"/>
              </a:rPr>
              <a:t>VGT</a:t>
            </a:r>
            <a:r>
              <a:rPr lang="ko-KR" altLang="en-US" sz="1300" dirty="0" smtClean="0">
                <a:latin typeface="+mj-lt"/>
              </a:rPr>
              <a:t>의 경우 일반상품 주력은 </a:t>
            </a:r>
            <a:r>
              <a:rPr lang="ko-KR" altLang="en-US" sz="1300" b="1" dirty="0" smtClean="0">
                <a:latin typeface="+mj-lt"/>
              </a:rPr>
              <a:t>홍콩</a:t>
            </a:r>
            <a:r>
              <a:rPr lang="en-US" altLang="ko-KR" sz="1300" b="1" dirty="0" smtClean="0">
                <a:latin typeface="+mj-lt"/>
              </a:rPr>
              <a:t>/</a:t>
            </a:r>
            <a:r>
              <a:rPr lang="ko-KR" altLang="en-US" sz="1300" b="1" dirty="0" smtClean="0">
                <a:latin typeface="+mj-lt"/>
              </a:rPr>
              <a:t>마카오</a:t>
            </a:r>
            <a:r>
              <a:rPr lang="en-US" altLang="ko-KR" sz="1300" dirty="0" smtClean="0">
                <a:latin typeface="+mj-lt"/>
              </a:rPr>
              <a:t>, </a:t>
            </a:r>
            <a:r>
              <a:rPr lang="ko-KR" altLang="en-US" sz="1300" dirty="0" smtClean="0">
                <a:latin typeface="+mj-lt"/>
              </a:rPr>
              <a:t>브랜드</a:t>
            </a:r>
            <a:r>
              <a:rPr lang="en-US" altLang="ko-KR" sz="1300" dirty="0">
                <a:latin typeface="+mj-lt"/>
              </a:rPr>
              <a:t> </a:t>
            </a:r>
            <a:r>
              <a:rPr lang="ko-KR" altLang="en-US" sz="1300" dirty="0" smtClean="0">
                <a:latin typeface="+mj-lt"/>
              </a:rPr>
              <a:t>상품의 경우 </a:t>
            </a:r>
            <a:r>
              <a:rPr lang="ko-KR" altLang="en-US" sz="1300" b="1" dirty="0" smtClean="0">
                <a:latin typeface="+mj-lt"/>
              </a:rPr>
              <a:t>대만</a:t>
            </a:r>
            <a:endParaRPr lang="en-US" altLang="ko-KR" sz="1300" b="1" dirty="0" smtClean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dirty="0" smtClean="0">
                <a:latin typeface="+mj-lt"/>
              </a:rPr>
              <a:t>이와 반대의 전략으로</a:t>
            </a:r>
            <a:r>
              <a:rPr lang="en-US" altLang="ko-KR" sz="1300" dirty="0" smtClean="0">
                <a:latin typeface="+mj-lt"/>
              </a:rPr>
              <a:t>, </a:t>
            </a:r>
            <a:r>
              <a:rPr lang="ko-KR" altLang="en-US" sz="1300" dirty="0" smtClean="0">
                <a:latin typeface="+mj-lt"/>
              </a:rPr>
              <a:t>노랑풍선의 경우 일반상품 주력은 </a:t>
            </a:r>
            <a:r>
              <a:rPr lang="ko-KR" altLang="en-US" sz="1300" b="1" dirty="0" smtClean="0">
                <a:latin typeface="+mj-lt"/>
              </a:rPr>
              <a:t>대만</a:t>
            </a:r>
            <a:r>
              <a:rPr lang="en-US" altLang="ko-KR" sz="1300" dirty="0" smtClean="0">
                <a:latin typeface="+mj-lt"/>
              </a:rPr>
              <a:t>, </a:t>
            </a:r>
            <a:r>
              <a:rPr lang="ko-KR" altLang="en-US" sz="1300" dirty="0" smtClean="0">
                <a:latin typeface="+mj-lt"/>
              </a:rPr>
              <a:t>브랜드 상품은 </a:t>
            </a:r>
            <a:r>
              <a:rPr lang="ko-KR" altLang="en-US" sz="1300" b="1" dirty="0" smtClean="0">
                <a:latin typeface="+mj-lt"/>
              </a:rPr>
              <a:t>홍콩</a:t>
            </a:r>
            <a:r>
              <a:rPr lang="en-US" altLang="ko-KR" sz="1300" b="1" dirty="0" smtClean="0">
                <a:latin typeface="+mj-lt"/>
              </a:rPr>
              <a:t>/</a:t>
            </a:r>
            <a:r>
              <a:rPr lang="ko-KR" altLang="en-US" sz="1300" b="1" dirty="0" smtClean="0">
                <a:latin typeface="+mj-lt"/>
              </a:rPr>
              <a:t>마카오에 </a:t>
            </a:r>
            <a:r>
              <a:rPr lang="ko-KR" altLang="en-US" sz="1300" dirty="0" smtClean="0">
                <a:latin typeface="+mj-lt"/>
              </a:rPr>
              <a:t>주력 </a:t>
            </a:r>
            <a:endParaRPr lang="en-US" altLang="ko-KR" sz="1300" dirty="0" smtClean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endParaRPr lang="en-US" altLang="ko-KR" sz="1300" dirty="0" smtClean="0">
              <a:latin typeface="+mj-lt"/>
            </a:endParaRPr>
          </a:p>
        </p:txBody>
      </p:sp>
      <p:graphicFrame>
        <p:nvGraphicFramePr>
          <p:cNvPr id="26" name="차트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7325167"/>
              </p:ext>
            </p:extLst>
          </p:nvPr>
        </p:nvGraphicFramePr>
        <p:xfrm>
          <a:off x="424736" y="1342385"/>
          <a:ext cx="4085058" cy="26171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7" name="차트 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6382114"/>
              </p:ext>
            </p:extLst>
          </p:nvPr>
        </p:nvGraphicFramePr>
        <p:xfrm>
          <a:off x="4752926" y="1309832"/>
          <a:ext cx="4075827" cy="26496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1513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/>
          <p:cNvSpPr/>
          <p:nvPr/>
        </p:nvSpPr>
        <p:spPr>
          <a:xfrm>
            <a:off x="464639" y="1025045"/>
            <a:ext cx="209998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73264" y="1017921"/>
            <a:ext cx="23092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accent1"/>
                </a:solidFill>
                <a:latin typeface="+mn-ea"/>
                <a:ea typeface="+mn-ea"/>
              </a:rPr>
              <a:t>VGT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 이용 항공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</a:rPr>
              <a:t>(8~9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월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39906" y="1026023"/>
            <a:ext cx="194310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464031" y="1025044"/>
            <a:ext cx="3845338" cy="1937757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528" y="212002"/>
            <a:ext cx="8828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 smtClean="0"/>
              <a:t>Ⅲ-</a:t>
            </a:r>
            <a:r>
              <a:rPr lang="ko-KR" altLang="en-US" dirty="0" smtClean="0"/>
              <a:t>마</a:t>
            </a:r>
            <a:r>
              <a:rPr lang="en-US" altLang="ko-KR" dirty="0" smtClean="0"/>
              <a:t>. </a:t>
            </a:r>
            <a:r>
              <a:rPr lang="ko-KR" altLang="en-US" dirty="0" smtClean="0"/>
              <a:t>상세 비교분석 </a:t>
            </a:r>
            <a:r>
              <a:rPr lang="en-US" altLang="ko-KR" dirty="0" smtClean="0"/>
              <a:t>(</a:t>
            </a:r>
            <a:r>
              <a:rPr lang="ko-KR" altLang="en-US" dirty="0" smtClean="0"/>
              <a:t>항공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  <p:sp>
        <p:nvSpPr>
          <p:cNvPr id="17" name="TextBox 21"/>
          <p:cNvSpPr txBox="1">
            <a:spLocks noChangeArrowheads="1"/>
          </p:cNvSpPr>
          <p:nvPr/>
        </p:nvSpPr>
        <p:spPr bwMode="auto">
          <a:xfrm>
            <a:off x="1342192" y="5822754"/>
            <a:ext cx="6877034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300" dirty="0" smtClean="0">
                <a:latin typeface="+mn-ea"/>
                <a:ea typeface="+mn-ea"/>
              </a:rPr>
              <a:t>VGT</a:t>
            </a:r>
            <a:r>
              <a:rPr lang="ko-KR" altLang="en-US" sz="1300" dirty="0" smtClean="0">
                <a:latin typeface="+mn-ea"/>
                <a:ea typeface="+mn-ea"/>
              </a:rPr>
              <a:t>의 경우 </a:t>
            </a:r>
            <a:r>
              <a:rPr lang="ko-KR" altLang="en-US" sz="1300" b="1" dirty="0" smtClean="0">
                <a:latin typeface="+mn-ea"/>
                <a:ea typeface="+mn-ea"/>
              </a:rPr>
              <a:t>국적기와 </a:t>
            </a:r>
            <a:r>
              <a:rPr lang="en-US" altLang="ko-KR" sz="1300" b="1" dirty="0" smtClean="0">
                <a:latin typeface="+mn-ea"/>
                <a:ea typeface="+mn-ea"/>
              </a:rPr>
              <a:t>LCC</a:t>
            </a:r>
            <a:r>
              <a:rPr lang="ko-KR" altLang="en-US" sz="1300" dirty="0" smtClean="0">
                <a:latin typeface="+mn-ea"/>
                <a:ea typeface="+mn-ea"/>
              </a:rPr>
              <a:t>를 이용하는 비율이 높음</a:t>
            </a:r>
            <a:endParaRPr lang="en-US" altLang="ko-KR" sz="1300" dirty="0" smtClean="0">
              <a:latin typeface="+mn-ea"/>
              <a:ea typeface="+mn-ea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dirty="0" smtClean="0">
                <a:latin typeface="+mn-ea"/>
                <a:ea typeface="+mn-ea"/>
              </a:rPr>
              <a:t>노랑풍선의 경우 </a:t>
            </a:r>
            <a:r>
              <a:rPr lang="en-US" altLang="ko-KR" sz="1300" dirty="0" smtClean="0">
                <a:latin typeface="+mn-ea"/>
                <a:ea typeface="+mn-ea"/>
              </a:rPr>
              <a:t>LCC</a:t>
            </a:r>
            <a:r>
              <a:rPr lang="ko-KR" altLang="en-US" sz="1300" dirty="0" smtClean="0">
                <a:latin typeface="+mn-ea"/>
                <a:ea typeface="+mn-ea"/>
              </a:rPr>
              <a:t>의 비율도 적진 않지만 주로 </a:t>
            </a:r>
            <a:r>
              <a:rPr lang="ko-KR" altLang="en-US" sz="1300" b="1" dirty="0" smtClean="0">
                <a:latin typeface="+mn-ea"/>
                <a:ea typeface="+mn-ea"/>
              </a:rPr>
              <a:t>국적기와 </a:t>
            </a:r>
            <a:r>
              <a:rPr lang="ko-KR" altLang="en-US" sz="1300" b="1" dirty="0" err="1" smtClean="0">
                <a:latin typeface="+mn-ea"/>
                <a:ea typeface="+mn-ea"/>
              </a:rPr>
              <a:t>외항사</a:t>
            </a:r>
            <a:r>
              <a:rPr lang="ko-KR" altLang="en-US" sz="1300" dirty="0" err="1" smtClean="0">
                <a:latin typeface="+mn-ea"/>
                <a:ea typeface="+mn-ea"/>
              </a:rPr>
              <a:t>를</a:t>
            </a:r>
            <a:r>
              <a:rPr lang="ko-KR" altLang="en-US" sz="1300" dirty="0" smtClean="0">
                <a:latin typeface="+mn-ea"/>
                <a:ea typeface="+mn-ea"/>
              </a:rPr>
              <a:t> 이용하는 비율이 높음 </a:t>
            </a:r>
            <a:endParaRPr lang="en-US" altLang="ko-KR" sz="1300" dirty="0" smtClean="0">
              <a:latin typeface="+mn-ea"/>
              <a:ea typeface="+mn-ea"/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/>
        </p:nvSpPr>
        <p:spPr bwMode="auto">
          <a:xfrm>
            <a:off x="4687475" y="1025044"/>
            <a:ext cx="3845338" cy="1937757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687475" y="1033147"/>
            <a:ext cx="2404121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TextBox 35"/>
          <p:cNvSpPr txBox="1">
            <a:spLocks noChangeArrowheads="1"/>
          </p:cNvSpPr>
          <p:nvPr/>
        </p:nvSpPr>
        <p:spPr bwMode="auto">
          <a:xfrm>
            <a:off x="4705980" y="1035847"/>
            <a:ext cx="238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accent4"/>
                </a:solidFill>
                <a:latin typeface="+mn-ea"/>
                <a:ea typeface="+mn-ea"/>
              </a:rPr>
              <a:t>노랑풍선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 이용 항공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</a:rPr>
              <a:t>(8~9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월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3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</a:rPr>
              <a:t>2019-07-05</a:t>
            </a:r>
            <a:endParaRPr lang="ko-KR" altLang="en-US" dirty="0">
              <a:latin typeface="+mn-ea"/>
            </a:endParaRPr>
          </a:p>
        </p:txBody>
      </p:sp>
      <p:sp>
        <p:nvSpPr>
          <p:cNvPr id="27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</p:spPr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9</a:t>
            </a:r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14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9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568133"/>
              </p:ext>
            </p:extLst>
          </p:nvPr>
        </p:nvGraphicFramePr>
        <p:xfrm>
          <a:off x="589946" y="3125815"/>
          <a:ext cx="7891083" cy="275272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48451"/>
                <a:gridCol w="1385658"/>
                <a:gridCol w="1385658"/>
                <a:gridCol w="1385658"/>
                <a:gridCol w="1385658"/>
              </a:tblGrid>
              <a:tr h="133479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홍콩</a:t>
                      </a:r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마카오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대만</a:t>
                      </a:r>
                      <a:endParaRPr lang="en-US" altLang="ko-KR" sz="1000" b="1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334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VGT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노랑풍선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VGT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노랑풍선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13347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대한항공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2,440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656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399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420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47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아시아나항공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1,941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1,629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568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47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이스타항공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434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235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771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47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에어서울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348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47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제주항공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274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47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티웨이항공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226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47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진에어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1,290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265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871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549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47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캐세이퍼시픽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3347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홍콩항공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3347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타이항공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3347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중화항공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274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312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3347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스쿠트타이거항공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3347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홍콩익스프레스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3347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에어마카오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417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3347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에바항공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591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901296" y="5878540"/>
            <a:ext cx="18027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 smtClean="0"/>
              <a:t>행사기준 지역별 이용 항공</a:t>
            </a:r>
            <a:endParaRPr lang="ko-KR" altLang="en-US" sz="900" dirty="0"/>
          </a:p>
        </p:txBody>
      </p:sp>
      <p:graphicFrame>
        <p:nvGraphicFramePr>
          <p:cNvPr id="28" name="차트 2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8887479"/>
              </p:ext>
            </p:extLst>
          </p:nvPr>
        </p:nvGraphicFramePr>
        <p:xfrm>
          <a:off x="473264" y="1310146"/>
          <a:ext cx="3836105" cy="16526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3" name="차트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7020162"/>
              </p:ext>
            </p:extLst>
          </p:nvPr>
        </p:nvGraphicFramePr>
        <p:xfrm>
          <a:off x="4705980" y="1309318"/>
          <a:ext cx="3826833" cy="1653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41619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/>
          <p:cNvSpPr/>
          <p:nvPr/>
        </p:nvSpPr>
        <p:spPr>
          <a:xfrm>
            <a:off x="330719" y="1070222"/>
            <a:ext cx="301392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279530" y="1061934"/>
            <a:ext cx="315346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accent2"/>
                </a:solidFill>
                <a:latin typeface="+mn-ea"/>
                <a:ea typeface="+mn-ea"/>
              </a:rPr>
              <a:t>전체 상품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평균 가격 비교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(8~9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단위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천원</a:t>
            </a:r>
            <a:endParaRPr lang="ko-KR" altLang="en-US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797363" y="107120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321489" y="1070221"/>
            <a:ext cx="4035119" cy="2722762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27" y="212002"/>
            <a:ext cx="8828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 smtClean="0"/>
              <a:t>Ⅲ-</a:t>
            </a:r>
            <a:r>
              <a:rPr lang="ko-KR" altLang="en-US" dirty="0" smtClean="0"/>
              <a:t>바</a:t>
            </a:r>
            <a:r>
              <a:rPr lang="en-US" altLang="ko-KR" dirty="0" smtClean="0"/>
              <a:t>. </a:t>
            </a:r>
            <a:r>
              <a:rPr lang="ko-KR" altLang="en-US" dirty="0" smtClean="0"/>
              <a:t>상세 비교분석 </a:t>
            </a:r>
            <a:r>
              <a:rPr lang="en-US" altLang="ko-KR" dirty="0" smtClean="0"/>
              <a:t>(</a:t>
            </a:r>
            <a:r>
              <a:rPr lang="ko-KR" altLang="en-US" dirty="0" smtClean="0"/>
              <a:t>평균 상품가격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  <p:cxnSp>
        <p:nvCxnSpPr>
          <p:cNvPr id="20" name="직선 연결선 19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4662348" y="1077345"/>
            <a:ext cx="3424415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 bwMode="auto">
          <a:xfrm>
            <a:off x="4653118" y="1085553"/>
            <a:ext cx="4174694" cy="2722762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3" name="TextBox 35"/>
          <p:cNvSpPr txBox="1">
            <a:spLocks noChangeArrowheads="1"/>
          </p:cNvSpPr>
          <p:nvPr/>
        </p:nvSpPr>
        <p:spPr bwMode="auto">
          <a:xfrm>
            <a:off x="4653385" y="1068019"/>
            <a:ext cx="352235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accent2"/>
                </a:solidFill>
                <a:latin typeface="+mn-ea"/>
                <a:ea typeface="+mn-ea"/>
              </a:rPr>
              <a:t>출발확정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상품 평균 가격 비교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(8~9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단위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천원</a:t>
            </a:r>
            <a:endParaRPr lang="ko-KR" altLang="en-US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321489" y="3755920"/>
            <a:ext cx="8818484" cy="329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dirty="0" smtClean="0">
                <a:latin typeface="+mj-lt"/>
                <a:ea typeface="+mn-ea"/>
              </a:rPr>
              <a:t>출발확정 상품기준으로는 대만의 경우 노랑풍선이 약 </a:t>
            </a:r>
            <a:r>
              <a:rPr lang="en-US" altLang="ko-KR" sz="1300" dirty="0" smtClean="0">
                <a:latin typeface="+mj-lt"/>
                <a:ea typeface="+mn-ea"/>
              </a:rPr>
              <a:t>1.2</a:t>
            </a:r>
            <a:r>
              <a:rPr lang="ko-KR" altLang="en-US" sz="1300" dirty="0" smtClean="0">
                <a:latin typeface="+mj-lt"/>
                <a:ea typeface="+mn-ea"/>
              </a:rPr>
              <a:t>배 저렴한 가격</a:t>
            </a:r>
            <a:endParaRPr lang="en-US" altLang="ko-KR" sz="1300" dirty="0" smtClean="0">
              <a:latin typeface="+mj-lt"/>
              <a:ea typeface="+mn-ea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dirty="0" smtClean="0">
                <a:latin typeface="+mj-lt"/>
                <a:ea typeface="+mn-ea"/>
              </a:rPr>
              <a:t>특이사항으로 출발확정에서 </a:t>
            </a:r>
            <a:r>
              <a:rPr lang="en-US" altLang="ko-KR" sz="1300" dirty="0" smtClean="0">
                <a:latin typeface="+mj-lt"/>
                <a:ea typeface="+mn-ea"/>
              </a:rPr>
              <a:t>VGT</a:t>
            </a:r>
            <a:r>
              <a:rPr lang="ko-KR" altLang="en-US" sz="1300" dirty="0" smtClean="0">
                <a:latin typeface="+mj-lt"/>
                <a:ea typeface="+mn-ea"/>
              </a:rPr>
              <a:t>의 대만상품의 가격은 증가 했지만 노랑풍선의 경우 비슷한 이유</a:t>
            </a:r>
            <a:endParaRPr lang="en-US" altLang="ko-KR" sz="1300" dirty="0" smtClean="0">
              <a:latin typeface="+mj-lt"/>
              <a:ea typeface="+mn-ea"/>
            </a:endParaRPr>
          </a:p>
          <a:p>
            <a:pPr latinLnBrk="0">
              <a:lnSpc>
                <a:spcPct val="200000"/>
              </a:lnSpc>
              <a:spcBef>
                <a:spcPct val="0"/>
              </a:spcBef>
              <a:buNone/>
            </a:pPr>
            <a:r>
              <a:rPr lang="en-US" altLang="ko-KR" sz="1300" dirty="0">
                <a:latin typeface="+mj-lt"/>
                <a:ea typeface="+mn-ea"/>
              </a:rPr>
              <a:t> </a:t>
            </a:r>
            <a:r>
              <a:rPr lang="en-US" altLang="ko-KR" sz="1300" dirty="0" smtClean="0">
                <a:latin typeface="+mj-lt"/>
                <a:ea typeface="+mn-ea"/>
              </a:rPr>
              <a:t>     -&gt; </a:t>
            </a:r>
            <a:r>
              <a:rPr lang="ko-KR" altLang="en-US" sz="1300" dirty="0" smtClean="0">
                <a:latin typeface="+mj-lt"/>
                <a:ea typeface="+mn-ea"/>
              </a:rPr>
              <a:t>노랑 전체 상품 </a:t>
            </a:r>
            <a:r>
              <a:rPr lang="en-US" altLang="ko-KR" sz="1300" dirty="0" smtClean="0">
                <a:latin typeface="+mj-lt"/>
                <a:ea typeface="+mn-ea"/>
              </a:rPr>
              <a:t>:</a:t>
            </a:r>
            <a:r>
              <a:rPr lang="ko-KR" altLang="en-US" sz="1300" dirty="0" smtClean="0">
                <a:latin typeface="+mj-lt"/>
                <a:ea typeface="+mn-ea"/>
              </a:rPr>
              <a:t> </a:t>
            </a:r>
            <a:r>
              <a:rPr lang="ko-KR" altLang="en-US" sz="1300" b="1" dirty="0" smtClean="0">
                <a:latin typeface="+mj-lt"/>
                <a:ea typeface="+mn-ea"/>
              </a:rPr>
              <a:t>대만지역에 프리미엄 상품이 존재</a:t>
            </a:r>
            <a:r>
              <a:rPr lang="en-US" altLang="ko-KR" sz="1300" dirty="0">
                <a:latin typeface="+mj-lt"/>
                <a:ea typeface="+mn-ea"/>
              </a:rPr>
              <a:t>,</a:t>
            </a:r>
            <a:r>
              <a:rPr lang="en-US" altLang="ko-KR" sz="1300" dirty="0" smtClean="0">
                <a:latin typeface="+mj-lt"/>
                <a:ea typeface="+mn-ea"/>
              </a:rPr>
              <a:t> </a:t>
            </a:r>
          </a:p>
          <a:p>
            <a:pPr latinLnBrk="0">
              <a:lnSpc>
                <a:spcPct val="200000"/>
              </a:lnSpc>
              <a:spcBef>
                <a:spcPct val="0"/>
              </a:spcBef>
              <a:buNone/>
            </a:pPr>
            <a:r>
              <a:rPr lang="en-US" altLang="ko-KR" sz="1300" dirty="0">
                <a:latin typeface="+mj-lt"/>
                <a:ea typeface="+mn-ea"/>
              </a:rPr>
              <a:t> </a:t>
            </a:r>
            <a:r>
              <a:rPr lang="en-US" altLang="ko-KR" sz="1300" dirty="0" smtClean="0">
                <a:latin typeface="+mj-lt"/>
                <a:ea typeface="+mn-ea"/>
              </a:rPr>
              <a:t>         </a:t>
            </a:r>
            <a:r>
              <a:rPr lang="ko-KR" altLang="en-US" sz="1300" dirty="0" smtClean="0">
                <a:latin typeface="+mj-lt"/>
                <a:ea typeface="+mn-ea"/>
              </a:rPr>
              <a:t>노랑 출발확정 상품 </a:t>
            </a:r>
            <a:r>
              <a:rPr lang="en-US" altLang="ko-KR" sz="1300" dirty="0" smtClean="0">
                <a:latin typeface="+mj-lt"/>
                <a:ea typeface="+mn-ea"/>
              </a:rPr>
              <a:t>: </a:t>
            </a:r>
            <a:r>
              <a:rPr lang="ko-KR" altLang="en-US" sz="1300" b="1" dirty="0" smtClean="0">
                <a:latin typeface="+mj-lt"/>
                <a:ea typeface="+mn-ea"/>
              </a:rPr>
              <a:t>실질적으로 대만지역에  프리미엄 상품이 없음 </a:t>
            </a:r>
            <a:r>
              <a:rPr lang="en-US" altLang="ko-KR" sz="1200" dirty="0" smtClean="0">
                <a:latin typeface="+mj-lt"/>
                <a:ea typeface="+mn-ea"/>
              </a:rPr>
              <a:t>(11, 12</a:t>
            </a:r>
            <a:r>
              <a:rPr lang="ko-KR" altLang="en-US" sz="1200" dirty="0" smtClean="0">
                <a:latin typeface="+mj-lt"/>
                <a:ea typeface="+mn-ea"/>
              </a:rPr>
              <a:t>페이지 참조</a:t>
            </a:r>
            <a:r>
              <a:rPr lang="en-US" altLang="ko-KR" sz="1200" dirty="0" smtClean="0">
                <a:latin typeface="+mj-lt"/>
                <a:ea typeface="+mn-ea"/>
              </a:rPr>
              <a:t>)</a:t>
            </a: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300" dirty="0" smtClean="0">
                <a:latin typeface="+mj-lt"/>
                <a:ea typeface="+mn-ea"/>
              </a:rPr>
              <a:t>VGT</a:t>
            </a:r>
            <a:r>
              <a:rPr lang="ko-KR" altLang="en-US" sz="1300" dirty="0" smtClean="0">
                <a:latin typeface="+mj-lt"/>
                <a:ea typeface="+mn-ea"/>
              </a:rPr>
              <a:t>의 경우 단순히 저가 상품을 노출시킨 뒤 </a:t>
            </a:r>
            <a:r>
              <a:rPr lang="ko-KR" altLang="en-US" sz="1300" b="1" dirty="0" smtClean="0">
                <a:latin typeface="+mj-lt"/>
                <a:ea typeface="+mn-ea"/>
              </a:rPr>
              <a:t>상대적으로 고가 상품으로 예약 유도 </a:t>
            </a:r>
            <a:r>
              <a:rPr lang="en-US" altLang="ko-KR" sz="1200" dirty="0" smtClean="0">
                <a:latin typeface="+mj-lt"/>
                <a:ea typeface="+mn-ea"/>
              </a:rPr>
              <a:t>(</a:t>
            </a:r>
            <a:r>
              <a:rPr lang="ko-KR" altLang="en-US" sz="1200" dirty="0" smtClean="0">
                <a:latin typeface="+mj-lt"/>
                <a:ea typeface="+mn-ea"/>
              </a:rPr>
              <a:t>노랑풍선 홍콩</a:t>
            </a:r>
            <a:r>
              <a:rPr lang="en-US" altLang="ko-KR" sz="1200" dirty="0" smtClean="0">
                <a:latin typeface="+mj-lt"/>
                <a:ea typeface="+mn-ea"/>
              </a:rPr>
              <a:t>/</a:t>
            </a:r>
            <a:r>
              <a:rPr lang="ko-KR" altLang="en-US" sz="1200" dirty="0" smtClean="0">
                <a:latin typeface="+mj-lt"/>
                <a:ea typeface="+mn-ea"/>
              </a:rPr>
              <a:t>마카오도 동일</a:t>
            </a:r>
            <a:r>
              <a:rPr lang="en-US" altLang="ko-KR" sz="1200" dirty="0" smtClean="0">
                <a:latin typeface="+mj-lt"/>
                <a:ea typeface="+mn-ea"/>
              </a:rPr>
              <a:t>)</a:t>
            </a: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dirty="0" smtClean="0">
                <a:latin typeface="+mj-lt"/>
                <a:ea typeface="+mn-ea"/>
              </a:rPr>
              <a:t>노랑풍선의 대만의 경우 고가의 </a:t>
            </a:r>
            <a:r>
              <a:rPr lang="ko-KR" altLang="en-US" sz="1300" b="1" dirty="0" smtClean="0">
                <a:latin typeface="+mj-lt"/>
                <a:ea typeface="+mn-ea"/>
              </a:rPr>
              <a:t>프리미엄 상품을 노출시킨 뒤 상대적으로 저가인 일반상품</a:t>
            </a:r>
            <a:r>
              <a:rPr lang="en-US" altLang="ko-KR" sz="1300" b="1" dirty="0" smtClean="0">
                <a:latin typeface="+mj-lt"/>
                <a:ea typeface="+mn-ea"/>
              </a:rPr>
              <a:t>,</a:t>
            </a:r>
            <a:r>
              <a:rPr lang="ko-KR" altLang="en-US" sz="1300" b="1" dirty="0" smtClean="0">
                <a:latin typeface="+mj-lt"/>
                <a:ea typeface="+mn-ea"/>
              </a:rPr>
              <a:t> </a:t>
            </a:r>
            <a:r>
              <a:rPr lang="ko-KR" altLang="en-US" sz="1300" b="1" dirty="0" err="1" smtClean="0">
                <a:latin typeface="+mj-lt"/>
                <a:ea typeface="+mn-ea"/>
              </a:rPr>
              <a:t>라이트팩으로</a:t>
            </a:r>
            <a:r>
              <a:rPr lang="en-US" altLang="ko-KR" sz="1300" b="1" dirty="0" smtClean="0">
                <a:latin typeface="+mj-lt"/>
                <a:ea typeface="+mn-ea"/>
              </a:rPr>
              <a:t> </a:t>
            </a:r>
            <a:r>
              <a:rPr lang="ko-KR" altLang="en-US" sz="1300" b="1" dirty="0" smtClean="0">
                <a:latin typeface="+mj-lt"/>
                <a:ea typeface="+mn-ea"/>
              </a:rPr>
              <a:t>예약을 유도</a:t>
            </a:r>
            <a:endParaRPr lang="en-US" altLang="ko-KR" sz="1300" b="1" dirty="0" smtClean="0">
              <a:latin typeface="+mj-lt"/>
              <a:ea typeface="+mn-ea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dirty="0" smtClean="0">
                <a:latin typeface="+mj-lt"/>
                <a:ea typeface="+mn-ea"/>
              </a:rPr>
              <a:t>또한</a:t>
            </a:r>
            <a:r>
              <a:rPr lang="en-US" altLang="ko-KR" sz="1300" dirty="0" smtClean="0">
                <a:latin typeface="+mj-lt"/>
                <a:ea typeface="+mn-ea"/>
              </a:rPr>
              <a:t>, </a:t>
            </a:r>
            <a:r>
              <a:rPr lang="ko-KR" altLang="en-US" sz="1300" dirty="0" smtClean="0">
                <a:latin typeface="+mj-lt"/>
                <a:ea typeface="+mn-ea"/>
              </a:rPr>
              <a:t>일반상품과 </a:t>
            </a:r>
            <a:r>
              <a:rPr lang="ko-KR" altLang="en-US" sz="1300" dirty="0" err="1" smtClean="0">
                <a:latin typeface="+mj-lt"/>
                <a:ea typeface="+mn-ea"/>
              </a:rPr>
              <a:t>라이트팩</a:t>
            </a:r>
            <a:r>
              <a:rPr lang="ko-KR" altLang="en-US" sz="1300" dirty="0" smtClean="0">
                <a:latin typeface="+mj-lt"/>
                <a:ea typeface="+mn-ea"/>
              </a:rPr>
              <a:t> 상품의 경우 저가 상품을 노출 시킨 뒤 상대적으로 고가 상품으로 유도 </a:t>
            </a:r>
            <a:r>
              <a:rPr lang="en-US" altLang="ko-KR" sz="1200" dirty="0" smtClean="0">
                <a:latin typeface="+mj-lt"/>
                <a:ea typeface="+mn-ea"/>
              </a:rPr>
              <a:t>(11,12</a:t>
            </a:r>
            <a:r>
              <a:rPr lang="ko-KR" altLang="en-US" sz="1200" dirty="0" smtClean="0">
                <a:latin typeface="+mj-lt"/>
                <a:ea typeface="+mn-ea"/>
              </a:rPr>
              <a:t>페이지 참조</a:t>
            </a:r>
            <a:r>
              <a:rPr lang="en-US" altLang="ko-KR" sz="1200" dirty="0" smtClean="0">
                <a:latin typeface="+mj-lt"/>
                <a:ea typeface="+mn-ea"/>
              </a:rPr>
              <a:t>)</a:t>
            </a:r>
            <a:endParaRPr lang="en-US" altLang="ko-KR" sz="1200" dirty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endParaRPr lang="en-US" altLang="ko-KR" sz="1300" dirty="0" smtClean="0">
              <a:latin typeface="+mj-lt"/>
              <a:ea typeface="+mn-ea"/>
            </a:endParaRPr>
          </a:p>
        </p:txBody>
      </p:sp>
      <p:sp>
        <p:nvSpPr>
          <p:cNvPr id="28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</a:rPr>
              <a:t>2019-07-05</a:t>
            </a:r>
            <a:endParaRPr lang="ko-KR" altLang="en-US" dirty="0">
              <a:latin typeface="+mn-ea"/>
            </a:endParaRPr>
          </a:p>
        </p:txBody>
      </p:sp>
      <p:sp>
        <p:nvSpPr>
          <p:cNvPr id="2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10</a:t>
            </a:r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14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0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graphicFrame>
        <p:nvGraphicFramePr>
          <p:cNvPr id="24" name="차트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1661730"/>
              </p:ext>
            </p:extLst>
          </p:nvPr>
        </p:nvGraphicFramePr>
        <p:xfrm>
          <a:off x="355471" y="1347220"/>
          <a:ext cx="4001137" cy="2445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6" name="차트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4317782"/>
              </p:ext>
            </p:extLst>
          </p:nvPr>
        </p:nvGraphicFramePr>
        <p:xfrm>
          <a:off x="4662348" y="1349287"/>
          <a:ext cx="4165464" cy="24436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28941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613742" y="1225321"/>
            <a:ext cx="17515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28" y="212002"/>
            <a:ext cx="8828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 smtClean="0"/>
              <a:t>Ⅲ-</a:t>
            </a:r>
            <a:r>
              <a:rPr lang="ko-KR" altLang="en-US" dirty="0" smtClean="0"/>
              <a:t>사</a:t>
            </a:r>
            <a:r>
              <a:rPr lang="en-US" altLang="ko-KR" dirty="0" smtClean="0"/>
              <a:t>. </a:t>
            </a:r>
            <a:r>
              <a:rPr lang="ko-KR" altLang="en-US" dirty="0" smtClean="0"/>
              <a:t>상세 비교분석 </a:t>
            </a:r>
            <a:r>
              <a:rPr lang="en-US" altLang="ko-KR" dirty="0" smtClean="0"/>
              <a:t>(</a:t>
            </a:r>
            <a:r>
              <a:rPr lang="ko-KR" altLang="en-US" dirty="0" smtClean="0"/>
              <a:t>지역 및 등급별 상품가격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endParaRPr lang="en-US" altLang="ko-KR" dirty="0"/>
          </a:p>
        </p:txBody>
      </p:sp>
      <p:cxnSp>
        <p:nvCxnSpPr>
          <p:cNvPr id="20" name="직선 연결선 19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35"/>
          <p:cNvSpPr txBox="1">
            <a:spLocks noChangeArrowheads="1"/>
          </p:cNvSpPr>
          <p:nvPr/>
        </p:nvSpPr>
        <p:spPr bwMode="auto">
          <a:xfrm>
            <a:off x="4632247" y="1198142"/>
            <a:ext cx="26259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별 평균 가격 비교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),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단위 </a:t>
            </a:r>
            <a:r>
              <a:rPr lang="en-US" altLang="ko-KR" sz="1100" b="1" dirty="0" smtClean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천원</a:t>
            </a:r>
            <a:endParaRPr lang="ko-KR" altLang="en-US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0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</a:rPr>
              <a:t>2019-07-05</a:t>
            </a:r>
            <a:endParaRPr lang="ko-KR" altLang="en-US" dirty="0">
              <a:latin typeface="+mn-ea"/>
            </a:endParaRPr>
          </a:p>
        </p:txBody>
      </p:sp>
      <p:sp>
        <p:nvSpPr>
          <p:cNvPr id="41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471863" y="6666595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11 / 14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2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1" name="TextBox 21"/>
          <p:cNvSpPr txBox="1">
            <a:spLocks noChangeArrowheads="1"/>
          </p:cNvSpPr>
          <p:nvPr/>
        </p:nvSpPr>
        <p:spPr bwMode="auto">
          <a:xfrm>
            <a:off x="484034" y="4101774"/>
            <a:ext cx="8296426" cy="2492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b="1" dirty="0" smtClean="0">
                <a:latin typeface="+mn-ea"/>
                <a:ea typeface="+mn-ea"/>
              </a:rPr>
              <a:t>홍콩</a:t>
            </a:r>
            <a:r>
              <a:rPr lang="en-US" altLang="ko-KR" sz="1300" b="1" dirty="0" smtClean="0">
                <a:latin typeface="+mn-ea"/>
                <a:ea typeface="+mn-ea"/>
              </a:rPr>
              <a:t>/</a:t>
            </a:r>
            <a:r>
              <a:rPr lang="ko-KR" altLang="en-US" sz="1300" b="1" dirty="0" smtClean="0">
                <a:latin typeface="+mn-ea"/>
                <a:ea typeface="+mn-ea"/>
              </a:rPr>
              <a:t>마카오</a:t>
            </a:r>
            <a:r>
              <a:rPr lang="ko-KR" altLang="en-US" sz="1300" dirty="0" smtClean="0">
                <a:latin typeface="+mn-ea"/>
                <a:ea typeface="+mn-ea"/>
              </a:rPr>
              <a:t>의 경우 노랑풍선이 고가</a:t>
            </a:r>
            <a:r>
              <a:rPr lang="en-US" altLang="ko-KR" sz="1300" dirty="0" smtClean="0">
                <a:latin typeface="+mn-ea"/>
                <a:ea typeface="+mn-ea"/>
              </a:rPr>
              <a:t>, </a:t>
            </a:r>
            <a:r>
              <a:rPr lang="ko-KR" altLang="en-US" sz="1300" b="1" dirty="0" smtClean="0">
                <a:latin typeface="+mn-ea"/>
                <a:ea typeface="+mn-ea"/>
              </a:rPr>
              <a:t>대만</a:t>
            </a:r>
            <a:r>
              <a:rPr lang="ko-KR" altLang="en-US" sz="1300" dirty="0" smtClean="0">
                <a:latin typeface="+mn-ea"/>
                <a:ea typeface="+mn-ea"/>
              </a:rPr>
              <a:t>의 경우 </a:t>
            </a:r>
            <a:r>
              <a:rPr lang="en-US" altLang="ko-KR" sz="1300" dirty="0" smtClean="0">
                <a:latin typeface="+mn-ea"/>
                <a:ea typeface="+mn-ea"/>
              </a:rPr>
              <a:t>VGT</a:t>
            </a:r>
            <a:r>
              <a:rPr lang="ko-KR" altLang="en-US" sz="1300" dirty="0" smtClean="0">
                <a:latin typeface="+mn-ea"/>
                <a:ea typeface="+mn-ea"/>
              </a:rPr>
              <a:t>가 고가 형성</a:t>
            </a:r>
            <a:endParaRPr lang="en-US" altLang="ko-KR" sz="1300" dirty="0" smtClean="0">
              <a:latin typeface="+mn-ea"/>
              <a:ea typeface="+mn-ea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dirty="0" smtClean="0">
                <a:latin typeface="+mn-ea"/>
                <a:ea typeface="+mn-ea"/>
              </a:rPr>
              <a:t>노랑풍선의 경우 </a:t>
            </a:r>
            <a:r>
              <a:rPr lang="ko-KR" altLang="en-US" sz="1300" b="1" dirty="0" smtClean="0">
                <a:latin typeface="+mn-ea"/>
                <a:ea typeface="+mn-ea"/>
              </a:rPr>
              <a:t>대만지역에 프리미엄 출발확정 상품이 없음</a:t>
            </a:r>
            <a:endParaRPr lang="en-US" altLang="ko-KR" sz="1300" b="1" dirty="0" smtClean="0">
              <a:latin typeface="+mn-ea"/>
              <a:ea typeface="+mn-ea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dirty="0" smtClean="0">
                <a:latin typeface="+mn-ea"/>
                <a:ea typeface="+mn-ea"/>
              </a:rPr>
              <a:t>특이사항으로</a:t>
            </a:r>
            <a:r>
              <a:rPr lang="en-US" altLang="ko-KR" sz="1300" dirty="0" smtClean="0">
                <a:latin typeface="+mn-ea"/>
                <a:ea typeface="+mn-ea"/>
              </a:rPr>
              <a:t>, VGT </a:t>
            </a:r>
            <a:r>
              <a:rPr lang="ko-KR" altLang="en-US" sz="1300" dirty="0" smtClean="0">
                <a:latin typeface="+mn-ea"/>
                <a:ea typeface="+mn-ea"/>
              </a:rPr>
              <a:t>대만지역의 경우 </a:t>
            </a:r>
            <a:r>
              <a:rPr lang="ko-KR" altLang="en-US" sz="1300" b="1" dirty="0" smtClean="0">
                <a:latin typeface="+mn-ea"/>
                <a:ea typeface="+mn-ea"/>
              </a:rPr>
              <a:t>일반상품이 </a:t>
            </a:r>
            <a:r>
              <a:rPr lang="ko-KR" altLang="en-US" sz="1300" b="1" dirty="0" err="1" smtClean="0">
                <a:latin typeface="+mn-ea"/>
                <a:ea typeface="+mn-ea"/>
              </a:rPr>
              <a:t>라르고</a:t>
            </a:r>
            <a:r>
              <a:rPr lang="ko-KR" altLang="en-US" sz="1300" b="1" dirty="0" smtClean="0">
                <a:latin typeface="+mn-ea"/>
                <a:ea typeface="+mn-ea"/>
              </a:rPr>
              <a:t> 상품보다 고가로 형성</a:t>
            </a:r>
            <a:endParaRPr lang="en-US" altLang="ko-KR" sz="1300" b="1" dirty="0" smtClean="0">
              <a:latin typeface="+mn-ea"/>
              <a:ea typeface="+mn-ea"/>
            </a:endParaRPr>
          </a:p>
          <a:p>
            <a:pPr latinLnBrk="0">
              <a:lnSpc>
                <a:spcPct val="200000"/>
              </a:lnSpc>
              <a:spcBef>
                <a:spcPct val="0"/>
              </a:spcBef>
              <a:buNone/>
            </a:pPr>
            <a:r>
              <a:rPr lang="en-US" altLang="ko-KR" sz="1300" dirty="0">
                <a:latin typeface="+mn-ea"/>
                <a:ea typeface="+mn-ea"/>
              </a:rPr>
              <a:t> </a:t>
            </a:r>
            <a:r>
              <a:rPr lang="en-US" altLang="ko-KR" sz="1300" dirty="0" smtClean="0">
                <a:latin typeface="+mn-ea"/>
                <a:ea typeface="+mn-ea"/>
              </a:rPr>
              <a:t>     </a:t>
            </a:r>
            <a:r>
              <a:rPr lang="ko-KR" altLang="en-US" sz="1300" dirty="0" smtClean="0">
                <a:latin typeface="+mn-ea"/>
                <a:ea typeface="+mn-ea"/>
              </a:rPr>
              <a:t>원인으로</a:t>
            </a:r>
            <a:r>
              <a:rPr lang="en-US" altLang="ko-KR" sz="1300" dirty="0" smtClean="0">
                <a:latin typeface="+mn-ea"/>
                <a:ea typeface="+mn-ea"/>
              </a:rPr>
              <a:t>, </a:t>
            </a:r>
            <a:r>
              <a:rPr lang="ko-KR" altLang="en-US" sz="1300" dirty="0" smtClean="0">
                <a:latin typeface="+mn-ea"/>
                <a:ea typeface="+mn-ea"/>
              </a:rPr>
              <a:t>출발확정 상품이 대부분 </a:t>
            </a:r>
            <a:r>
              <a:rPr lang="ko-KR" altLang="en-US" sz="1300" b="1" dirty="0" smtClean="0">
                <a:latin typeface="+mn-ea"/>
                <a:ea typeface="+mn-ea"/>
              </a:rPr>
              <a:t>일반상품으로 집중되어 있기 때문</a:t>
            </a:r>
            <a:endParaRPr lang="en-US" altLang="ko-KR" sz="1300" b="1" dirty="0" smtClean="0">
              <a:latin typeface="+mn-ea"/>
              <a:ea typeface="+mn-ea"/>
            </a:endParaRPr>
          </a:p>
          <a:p>
            <a:pPr latinLnBrk="0">
              <a:lnSpc>
                <a:spcPct val="200000"/>
              </a:lnSpc>
              <a:spcBef>
                <a:spcPct val="0"/>
              </a:spcBef>
              <a:buNone/>
            </a:pPr>
            <a:r>
              <a:rPr lang="en-US" altLang="ko-KR" sz="1300" dirty="0">
                <a:latin typeface="+mn-ea"/>
                <a:ea typeface="+mn-ea"/>
              </a:rPr>
              <a:t> </a:t>
            </a:r>
            <a:r>
              <a:rPr lang="en-US" altLang="ko-KR" sz="1300" dirty="0" smtClean="0">
                <a:latin typeface="+mn-ea"/>
                <a:ea typeface="+mn-ea"/>
              </a:rPr>
              <a:t>     </a:t>
            </a:r>
            <a:r>
              <a:rPr lang="ko-KR" altLang="en-US" sz="1300" dirty="0" smtClean="0">
                <a:latin typeface="+mn-ea"/>
                <a:ea typeface="+mn-ea"/>
              </a:rPr>
              <a:t>확정상품의 경우 </a:t>
            </a:r>
            <a:r>
              <a:rPr lang="ko-KR" altLang="en-US" sz="1300" b="1" dirty="0" err="1" smtClean="0">
                <a:latin typeface="+mn-ea"/>
                <a:ea typeface="+mn-ea"/>
              </a:rPr>
              <a:t>상품가</a:t>
            </a:r>
            <a:r>
              <a:rPr lang="ko-KR" altLang="en-US" sz="1300" b="1" dirty="0" smtClean="0">
                <a:latin typeface="+mn-ea"/>
                <a:ea typeface="+mn-ea"/>
              </a:rPr>
              <a:t> 인상을 </a:t>
            </a:r>
            <a:r>
              <a:rPr lang="ko-KR" altLang="en-US" sz="1300" b="1" dirty="0" err="1" smtClean="0">
                <a:latin typeface="+mn-ea"/>
                <a:ea typeface="+mn-ea"/>
              </a:rPr>
              <a:t>진행중</a:t>
            </a:r>
            <a:endParaRPr lang="en-US" altLang="ko-KR" sz="1300" b="1" dirty="0" smtClean="0">
              <a:latin typeface="+mn-ea"/>
              <a:ea typeface="+mn-ea"/>
            </a:endParaRPr>
          </a:p>
          <a:p>
            <a:pPr latinLnBrk="0">
              <a:lnSpc>
                <a:spcPct val="200000"/>
              </a:lnSpc>
              <a:spcBef>
                <a:spcPct val="0"/>
              </a:spcBef>
              <a:buNone/>
            </a:pPr>
            <a:r>
              <a:rPr lang="en-US" altLang="ko-KR" sz="1300" b="1" dirty="0">
                <a:latin typeface="+mn-ea"/>
                <a:ea typeface="+mn-ea"/>
              </a:rPr>
              <a:t> </a:t>
            </a:r>
            <a:r>
              <a:rPr lang="en-US" altLang="ko-KR" sz="1300" b="1" dirty="0" smtClean="0">
                <a:latin typeface="+mn-ea"/>
                <a:ea typeface="+mn-ea"/>
              </a:rPr>
              <a:t>   </a:t>
            </a:r>
            <a:r>
              <a:rPr lang="ko-KR" altLang="en-US" sz="1300" dirty="0" smtClean="0">
                <a:latin typeface="+mn-ea"/>
                <a:ea typeface="+mn-ea"/>
              </a:rPr>
              <a:t>  또한</a:t>
            </a:r>
            <a:r>
              <a:rPr lang="en-US" altLang="ko-KR" sz="1300" dirty="0" smtClean="0">
                <a:latin typeface="+mn-ea"/>
                <a:ea typeface="+mn-ea"/>
              </a:rPr>
              <a:t>,</a:t>
            </a:r>
            <a:r>
              <a:rPr lang="ko-KR" altLang="en-US" sz="1300" dirty="0" smtClean="0">
                <a:latin typeface="+mn-ea"/>
                <a:ea typeface="+mn-ea"/>
              </a:rPr>
              <a:t> 예약이 집중된 상품의 경우 그룹 잔여 좌석이 없는 경우가 많아 </a:t>
            </a:r>
            <a:r>
              <a:rPr lang="ko-KR" altLang="en-US" sz="1300" b="1" dirty="0" err="1" smtClean="0">
                <a:latin typeface="+mn-ea"/>
                <a:ea typeface="+mn-ea"/>
              </a:rPr>
              <a:t>인디비</a:t>
            </a:r>
            <a:r>
              <a:rPr lang="ko-KR" altLang="en-US" sz="1300" b="1" dirty="0" smtClean="0">
                <a:latin typeface="+mn-ea"/>
                <a:ea typeface="+mn-ea"/>
              </a:rPr>
              <a:t> 항공권 기준으로 </a:t>
            </a:r>
            <a:r>
              <a:rPr lang="ko-KR" altLang="en-US" sz="1300" b="1" dirty="0" err="1" smtClean="0">
                <a:latin typeface="+mn-ea"/>
                <a:ea typeface="+mn-ea"/>
              </a:rPr>
              <a:t>상품가를</a:t>
            </a:r>
            <a:r>
              <a:rPr lang="ko-KR" altLang="en-US" sz="1300" b="1" dirty="0" smtClean="0">
                <a:latin typeface="+mn-ea"/>
                <a:ea typeface="+mn-ea"/>
              </a:rPr>
              <a:t> 인상 판매</a:t>
            </a:r>
            <a:endParaRPr lang="en-US" altLang="ko-KR" sz="1300" b="1" dirty="0" smtClean="0">
              <a:latin typeface="+mn-ea"/>
              <a:ea typeface="+mn-ea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344320" y="1219512"/>
            <a:ext cx="3873997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2" name="TextBox 35"/>
          <p:cNvSpPr txBox="1">
            <a:spLocks noChangeArrowheads="1"/>
          </p:cNvSpPr>
          <p:nvPr/>
        </p:nvSpPr>
        <p:spPr bwMode="auto">
          <a:xfrm>
            <a:off x="344318" y="1214214"/>
            <a:ext cx="402927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accent2"/>
                </a:solidFill>
                <a:latin typeface="+mn-ea"/>
                <a:ea typeface="+mn-ea"/>
              </a:rPr>
              <a:t>출발확정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 상품 등급별 평균 가격 비교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(8~9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단위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천원</a:t>
            </a:r>
            <a:endParaRPr lang="ko-KR" altLang="en-US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3" name="직사각형 32"/>
          <p:cNvSpPr/>
          <p:nvPr/>
        </p:nvSpPr>
        <p:spPr bwMode="auto">
          <a:xfrm>
            <a:off x="344320" y="1219510"/>
            <a:ext cx="8423443" cy="2843531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graphicFrame>
        <p:nvGraphicFramePr>
          <p:cNvPr id="16" name="차트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8639898"/>
              </p:ext>
            </p:extLst>
          </p:nvPr>
        </p:nvGraphicFramePr>
        <p:xfrm>
          <a:off x="344318" y="1489388"/>
          <a:ext cx="8423445" cy="2573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88225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613742" y="1225321"/>
            <a:ext cx="17515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28" y="212002"/>
            <a:ext cx="8828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 smtClean="0"/>
              <a:t>Ⅲ-</a:t>
            </a:r>
            <a:r>
              <a:rPr lang="ko-KR" altLang="en-US" dirty="0"/>
              <a:t>사</a:t>
            </a:r>
            <a:r>
              <a:rPr lang="en-US" altLang="ko-KR" dirty="0" smtClean="0"/>
              <a:t>. </a:t>
            </a:r>
            <a:r>
              <a:rPr lang="ko-KR" altLang="en-US" dirty="0" smtClean="0"/>
              <a:t>상세 비교분석 </a:t>
            </a:r>
            <a:r>
              <a:rPr lang="en-US" altLang="ko-KR" dirty="0" smtClean="0"/>
              <a:t>(</a:t>
            </a:r>
            <a:r>
              <a:rPr lang="ko-KR" altLang="en-US" dirty="0" smtClean="0"/>
              <a:t>지역 및 등급별 상품가격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endParaRPr lang="en-US" altLang="ko-KR" dirty="0"/>
          </a:p>
        </p:txBody>
      </p:sp>
      <p:cxnSp>
        <p:nvCxnSpPr>
          <p:cNvPr id="20" name="직선 연결선 19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35"/>
          <p:cNvSpPr txBox="1">
            <a:spLocks noChangeArrowheads="1"/>
          </p:cNvSpPr>
          <p:nvPr/>
        </p:nvSpPr>
        <p:spPr bwMode="auto">
          <a:xfrm>
            <a:off x="4632247" y="1198142"/>
            <a:ext cx="26259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별 평균 가격 비교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(2~6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),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단위 </a:t>
            </a:r>
            <a:r>
              <a:rPr lang="en-US" altLang="ko-KR" sz="1100" b="1" dirty="0" smtClean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  <a:ea typeface="+mn-ea"/>
              </a:rPr>
              <a:t>천원</a:t>
            </a:r>
            <a:endParaRPr lang="ko-KR" altLang="en-US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0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</a:rPr>
              <a:t>2019-07-05</a:t>
            </a:r>
            <a:endParaRPr lang="ko-KR" altLang="en-US" dirty="0">
              <a:latin typeface="+mn-ea"/>
            </a:endParaRPr>
          </a:p>
        </p:txBody>
      </p:sp>
      <p:sp>
        <p:nvSpPr>
          <p:cNvPr id="41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471863" y="6666595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12 / 14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2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344320" y="1219512"/>
            <a:ext cx="3623831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2" name="TextBox 35"/>
          <p:cNvSpPr txBox="1">
            <a:spLocks noChangeArrowheads="1"/>
          </p:cNvSpPr>
          <p:nvPr/>
        </p:nvSpPr>
        <p:spPr bwMode="auto">
          <a:xfrm>
            <a:off x="344318" y="1214214"/>
            <a:ext cx="36238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accent2"/>
                </a:solidFill>
                <a:latin typeface="+mn-ea"/>
                <a:ea typeface="+mn-ea"/>
              </a:rPr>
              <a:t>전체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ko-KR" altLang="en-US" sz="1200" b="1" dirty="0" smtClean="0">
                <a:solidFill>
                  <a:schemeClr val="accent2"/>
                </a:solidFill>
                <a:latin typeface="+mn-ea"/>
                <a:ea typeface="+mn-ea"/>
              </a:rPr>
              <a:t>상품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 등급별 평균 가격 비교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(8~9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단위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천원</a:t>
            </a:r>
            <a:endParaRPr lang="ko-KR" altLang="en-US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3" name="직사각형 32"/>
          <p:cNvSpPr/>
          <p:nvPr/>
        </p:nvSpPr>
        <p:spPr bwMode="auto">
          <a:xfrm>
            <a:off x="344320" y="1219510"/>
            <a:ext cx="8423443" cy="2843531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graphicFrame>
        <p:nvGraphicFramePr>
          <p:cNvPr id="16" name="차트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6596601"/>
              </p:ext>
            </p:extLst>
          </p:nvPr>
        </p:nvGraphicFramePr>
        <p:xfrm>
          <a:off x="344318" y="1489388"/>
          <a:ext cx="8423445" cy="2573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89833" y="4522849"/>
            <a:ext cx="774324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dirty="0" smtClean="0">
                <a:latin typeface="+mj-lt"/>
              </a:rPr>
              <a:t>일반상품의 경우 양사 모두 </a:t>
            </a:r>
            <a:r>
              <a:rPr lang="ko-KR" altLang="en-US" sz="1300" b="1" dirty="0" smtClean="0">
                <a:latin typeface="+mj-lt"/>
              </a:rPr>
              <a:t>비슷한 가격대가 형성</a:t>
            </a:r>
            <a:endParaRPr lang="en-US" altLang="ko-KR" sz="1300" b="1" dirty="0" smtClean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dirty="0" smtClean="0">
                <a:latin typeface="+mj-lt"/>
              </a:rPr>
              <a:t>노랑풍선 프리미엄 팩의 경우 최고가로 형성</a:t>
            </a:r>
            <a:r>
              <a:rPr lang="en-US" altLang="ko-KR" sz="1300" dirty="0" smtClean="0">
                <a:latin typeface="+mj-lt"/>
              </a:rPr>
              <a:t>, </a:t>
            </a:r>
            <a:r>
              <a:rPr lang="ko-KR" altLang="en-US" sz="1300" dirty="0" err="1" smtClean="0">
                <a:latin typeface="+mj-lt"/>
              </a:rPr>
              <a:t>라이트팩의</a:t>
            </a:r>
            <a:r>
              <a:rPr lang="ko-KR" altLang="en-US" sz="1300" dirty="0" smtClean="0">
                <a:latin typeface="+mj-lt"/>
              </a:rPr>
              <a:t> 경우 최저가</a:t>
            </a:r>
            <a:endParaRPr lang="en-US" altLang="ko-KR" sz="1300" dirty="0" smtClean="0">
              <a:latin typeface="+mj-lt"/>
            </a:endParaRPr>
          </a:p>
          <a:p>
            <a:pPr latinLnBrk="0">
              <a:lnSpc>
                <a:spcPct val="200000"/>
              </a:lnSpc>
              <a:spcBef>
                <a:spcPct val="0"/>
              </a:spcBef>
            </a:pPr>
            <a:r>
              <a:rPr lang="ko-KR" altLang="en-US" sz="1300" dirty="0" smtClean="0">
                <a:latin typeface="+mj-lt"/>
              </a:rPr>
              <a:t>      그에 비해</a:t>
            </a:r>
            <a:r>
              <a:rPr lang="en-US" altLang="ko-KR" sz="1300" dirty="0" smtClean="0">
                <a:latin typeface="+mj-lt"/>
              </a:rPr>
              <a:t>, VGT </a:t>
            </a:r>
            <a:r>
              <a:rPr lang="ko-KR" altLang="en-US" sz="1300" dirty="0" err="1" smtClean="0">
                <a:latin typeface="+mj-lt"/>
              </a:rPr>
              <a:t>라르고의</a:t>
            </a:r>
            <a:r>
              <a:rPr lang="ko-KR" altLang="en-US" sz="1300" dirty="0" smtClean="0">
                <a:latin typeface="+mj-lt"/>
              </a:rPr>
              <a:t> 경우 </a:t>
            </a:r>
            <a:r>
              <a:rPr lang="ko-KR" altLang="en-US" sz="1300" b="1" dirty="0" smtClean="0">
                <a:latin typeface="+mj-lt"/>
              </a:rPr>
              <a:t>프리미엄과 </a:t>
            </a:r>
            <a:r>
              <a:rPr lang="ko-KR" altLang="en-US" sz="1300" b="1" dirty="0" err="1" smtClean="0">
                <a:latin typeface="+mj-lt"/>
              </a:rPr>
              <a:t>라이트팩</a:t>
            </a:r>
            <a:r>
              <a:rPr lang="ko-KR" altLang="en-US" sz="1300" b="1" dirty="0" smtClean="0">
                <a:latin typeface="+mj-lt"/>
              </a:rPr>
              <a:t> </a:t>
            </a:r>
            <a:r>
              <a:rPr lang="ko-KR" altLang="en-US" sz="1300" b="1" dirty="0" err="1" smtClean="0">
                <a:latin typeface="+mj-lt"/>
              </a:rPr>
              <a:t>중간정도의</a:t>
            </a:r>
            <a:r>
              <a:rPr lang="ko-KR" altLang="en-US" sz="1300" b="1" dirty="0" smtClean="0">
                <a:latin typeface="+mj-lt"/>
              </a:rPr>
              <a:t> 가격을 형성</a:t>
            </a:r>
            <a:endParaRPr lang="en-US" altLang="ko-KR" sz="1300" b="1" dirty="0" smtClean="0">
              <a:latin typeface="+mj-lt"/>
            </a:endParaRPr>
          </a:p>
          <a:p>
            <a:pPr latinLnBrk="0">
              <a:lnSpc>
                <a:spcPct val="200000"/>
              </a:lnSpc>
              <a:spcBef>
                <a:spcPct val="0"/>
              </a:spcBef>
            </a:pPr>
            <a:r>
              <a:rPr lang="en-US" altLang="ko-KR" sz="1300" dirty="0" smtClean="0">
                <a:latin typeface="+mj-lt"/>
              </a:rPr>
              <a:t>      -&gt; </a:t>
            </a:r>
            <a:r>
              <a:rPr lang="ko-KR" altLang="en-US" sz="1300" dirty="0" err="1" smtClean="0">
                <a:latin typeface="+mj-lt"/>
              </a:rPr>
              <a:t>프리미엄팩보다</a:t>
            </a:r>
            <a:r>
              <a:rPr lang="ko-KR" altLang="en-US" sz="1300" dirty="0" smtClean="0">
                <a:latin typeface="+mj-lt"/>
              </a:rPr>
              <a:t> 비싸지 않고 </a:t>
            </a:r>
            <a:r>
              <a:rPr lang="ko-KR" altLang="en-US" sz="1300" dirty="0" err="1" smtClean="0">
                <a:latin typeface="+mj-lt"/>
              </a:rPr>
              <a:t>라이트팩보다</a:t>
            </a:r>
            <a:r>
              <a:rPr lang="ko-KR" altLang="en-US" sz="1300" dirty="0" smtClean="0">
                <a:latin typeface="+mj-lt"/>
              </a:rPr>
              <a:t> 가격이 높지만 </a:t>
            </a:r>
            <a:r>
              <a:rPr lang="ko-KR" altLang="en-US" sz="1300" dirty="0" err="1" smtClean="0">
                <a:latin typeface="+mj-lt"/>
              </a:rPr>
              <a:t>퀄리티가</a:t>
            </a:r>
            <a:r>
              <a:rPr lang="ko-KR" altLang="en-US" sz="1300" dirty="0">
                <a:latin typeface="+mj-lt"/>
              </a:rPr>
              <a:t> </a:t>
            </a:r>
            <a:r>
              <a:rPr lang="ko-KR" altLang="en-US" sz="1300" dirty="0" smtClean="0">
                <a:latin typeface="+mj-lt"/>
              </a:rPr>
              <a:t>높은 중간 가격대 형성</a:t>
            </a:r>
            <a:endParaRPr lang="en-US" altLang="ko-KR" sz="1300" dirty="0" smtClea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91582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2019-07-05</a:t>
            </a:r>
            <a:endParaRPr lang="ko-KR" altLang="en-US" dirty="0"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>
                <a:latin typeface="+mn-ea"/>
                <a:ea typeface="+mn-ea"/>
              </a:rPr>
              <a:pPr/>
              <a:t>13</a:t>
            </a:fld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14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433969" y="1219512"/>
            <a:ext cx="3861985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42853" y="1193801"/>
            <a:ext cx="38623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None/>
            </a:pPr>
            <a:r>
              <a:rPr lang="ko-KR" altLang="en-US" sz="1200" b="1" dirty="0" smtClean="0">
                <a:solidFill>
                  <a:schemeClr val="accent2"/>
                </a:solidFill>
                <a:latin typeface="+mn-ea"/>
                <a:ea typeface="+mn-ea"/>
              </a:rPr>
              <a:t>전체 상품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월별 예약인원 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</a:rPr>
              <a:t>(8~9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050" b="1" dirty="0" err="1" smtClean="0">
                <a:solidFill>
                  <a:schemeClr val="accent2"/>
                </a:solidFill>
                <a:latin typeface="+mn-ea"/>
              </a:rPr>
              <a:t>실예약</a:t>
            </a:r>
            <a:r>
              <a:rPr lang="ko-KR" altLang="en-US" sz="1050" b="1" dirty="0" smtClean="0">
                <a:solidFill>
                  <a:schemeClr val="accent2"/>
                </a:solidFill>
                <a:latin typeface="+mn-ea"/>
              </a:rPr>
              <a:t> 및</a:t>
            </a:r>
            <a:r>
              <a:rPr lang="en-US" altLang="ko-KR" sz="1050" b="1" dirty="0" smtClean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ko-KR" altLang="en-US" sz="1050" b="1" dirty="0" smtClean="0">
                <a:solidFill>
                  <a:schemeClr val="accent2"/>
                </a:solidFill>
                <a:latin typeface="+mn-ea"/>
                <a:ea typeface="+mn-ea"/>
              </a:rPr>
              <a:t>허수포함 인원</a:t>
            </a:r>
            <a:endParaRPr lang="ko-KR" altLang="en-US" sz="105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424738" y="1219512"/>
            <a:ext cx="8167170" cy="319112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527" y="212002"/>
            <a:ext cx="8828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 smtClean="0"/>
              <a:t>Ⅲ-</a:t>
            </a:r>
            <a:r>
              <a:rPr lang="ko-KR" altLang="en-US" dirty="0"/>
              <a:t>아</a:t>
            </a:r>
            <a:r>
              <a:rPr lang="en-US" altLang="ko-KR" dirty="0" smtClean="0"/>
              <a:t>. </a:t>
            </a:r>
            <a:r>
              <a:rPr lang="ko-KR" altLang="en-US" dirty="0" smtClean="0"/>
              <a:t>상세 비교분석 </a:t>
            </a:r>
            <a:r>
              <a:rPr lang="en-US" altLang="ko-KR" dirty="0" smtClean="0"/>
              <a:t>(</a:t>
            </a:r>
            <a:r>
              <a:rPr lang="ko-KR" altLang="en-US" dirty="0" smtClean="0"/>
              <a:t>월별 예약인원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  <p:cxnSp>
        <p:nvCxnSpPr>
          <p:cNvPr id="38" name="직선 연결선 37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309666" y="5211132"/>
            <a:ext cx="696405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dirty="0" smtClean="0">
                <a:latin typeface="+mj-lt"/>
              </a:rPr>
              <a:t>노랑풍선의 경우 허수 운영을 활발하게 하고 있지만 자사의 경우 거의 하지 않고 있는 수준</a:t>
            </a:r>
            <a:endParaRPr lang="en-US" altLang="ko-KR" sz="1300" dirty="0" smtClean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300" dirty="0" smtClean="0">
                <a:latin typeface="+mj-lt"/>
              </a:rPr>
              <a:t>8</a:t>
            </a:r>
            <a:r>
              <a:rPr lang="ko-KR" altLang="en-US" sz="1300" dirty="0" smtClean="0">
                <a:latin typeface="+mj-lt"/>
              </a:rPr>
              <a:t>월 </a:t>
            </a:r>
            <a:r>
              <a:rPr lang="en-US" altLang="ko-KR" sz="1300" dirty="0" smtClean="0">
                <a:latin typeface="+mj-lt"/>
              </a:rPr>
              <a:t>9</a:t>
            </a:r>
            <a:r>
              <a:rPr lang="ko-KR" altLang="en-US" sz="1300" dirty="0" smtClean="0">
                <a:latin typeface="+mj-lt"/>
              </a:rPr>
              <a:t>월 모두 자사의 </a:t>
            </a:r>
            <a:r>
              <a:rPr lang="ko-KR" altLang="en-US" sz="1300" b="1" dirty="0" err="1" smtClean="0">
                <a:latin typeface="+mj-lt"/>
              </a:rPr>
              <a:t>실예약인원이</a:t>
            </a:r>
            <a:r>
              <a:rPr lang="ko-KR" altLang="en-US" sz="1300" b="1" dirty="0" smtClean="0">
                <a:latin typeface="+mj-lt"/>
              </a:rPr>
              <a:t> 근소하게 앞서고 있음</a:t>
            </a:r>
            <a:endParaRPr lang="en-US" altLang="ko-KR" sz="1300" b="1" dirty="0" smtClean="0"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98591" y="4436514"/>
            <a:ext cx="5993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r">
              <a:buFont typeface="Arial" panose="020B0604020202020204" pitchFamily="34" charset="0"/>
              <a:buChar char="•"/>
            </a:pPr>
            <a:r>
              <a:rPr lang="ko-KR" altLang="en-US" sz="900" dirty="0" smtClean="0"/>
              <a:t>출처</a:t>
            </a:r>
            <a:r>
              <a:rPr lang="en-US" altLang="ko-KR" sz="900" dirty="0" smtClean="0"/>
              <a:t> : VGT </a:t>
            </a:r>
            <a:r>
              <a:rPr lang="ko-KR" altLang="en-US" sz="900" dirty="0" err="1" smtClean="0"/>
              <a:t>실예약인원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허수예약 </a:t>
            </a:r>
            <a:r>
              <a:rPr lang="en-US" altLang="ko-KR" sz="900" dirty="0" smtClean="0"/>
              <a:t>– </a:t>
            </a:r>
            <a:r>
              <a:rPr lang="ko-KR" altLang="en-US" sz="900" dirty="0" smtClean="0"/>
              <a:t>사내</a:t>
            </a:r>
            <a:r>
              <a:rPr lang="en-US" altLang="ko-KR" sz="900" dirty="0" smtClean="0"/>
              <a:t>D.B</a:t>
            </a:r>
            <a:r>
              <a:rPr lang="ko-KR" altLang="en-US" sz="900" dirty="0"/>
              <a:t>사내</a:t>
            </a:r>
            <a:r>
              <a:rPr lang="en-US" altLang="ko-KR" sz="900" dirty="0" smtClean="0"/>
              <a:t>D.B(7</a:t>
            </a:r>
            <a:r>
              <a:rPr lang="ko-KR" altLang="en-US" sz="900" dirty="0" smtClean="0"/>
              <a:t>월 </a:t>
            </a:r>
            <a:r>
              <a:rPr lang="en-US" altLang="ko-KR" sz="900" dirty="0" smtClean="0"/>
              <a:t>03</a:t>
            </a:r>
            <a:r>
              <a:rPr lang="ko-KR" altLang="en-US" sz="900" dirty="0" smtClean="0"/>
              <a:t>일 </a:t>
            </a:r>
            <a:r>
              <a:rPr lang="ko-KR" altLang="en-US" sz="900" dirty="0"/>
              <a:t>기준</a:t>
            </a:r>
            <a:r>
              <a:rPr lang="en-US" altLang="ko-KR" sz="900" dirty="0"/>
              <a:t>) </a:t>
            </a:r>
            <a:r>
              <a:rPr lang="en-US" altLang="ko-KR" sz="900" dirty="0" smtClean="0"/>
              <a:t> </a:t>
            </a:r>
          </a:p>
          <a:p>
            <a:pPr marL="171450" indent="-171450" algn="r">
              <a:buFont typeface="Arial" panose="020B0604020202020204" pitchFamily="34" charset="0"/>
              <a:buChar char="•"/>
            </a:pPr>
            <a:r>
              <a:rPr lang="ko-KR" altLang="en-US" sz="900" dirty="0" smtClean="0"/>
              <a:t>노랑풍선 </a:t>
            </a:r>
            <a:r>
              <a:rPr lang="ko-KR" altLang="en-US" sz="900" dirty="0" err="1" smtClean="0"/>
              <a:t>실예약인원</a:t>
            </a:r>
            <a:r>
              <a:rPr lang="ko-KR" altLang="en-US" sz="900" dirty="0" smtClean="0"/>
              <a:t> </a:t>
            </a:r>
            <a:r>
              <a:rPr lang="en-US" altLang="ko-KR" sz="900" dirty="0" smtClean="0"/>
              <a:t>– </a:t>
            </a:r>
            <a:r>
              <a:rPr lang="ko-KR" altLang="en-US" sz="900" dirty="0" err="1" smtClean="0"/>
              <a:t>기획감사팀</a:t>
            </a:r>
            <a:r>
              <a:rPr lang="en-US" altLang="ko-KR" sz="900" dirty="0" smtClean="0"/>
              <a:t>(19</a:t>
            </a:r>
            <a:r>
              <a:rPr lang="ko-KR" altLang="en-US" sz="900" dirty="0" smtClean="0"/>
              <a:t>년 </a:t>
            </a:r>
            <a:r>
              <a:rPr lang="en-US" altLang="ko-KR" sz="900" dirty="0"/>
              <a:t>7</a:t>
            </a:r>
            <a:r>
              <a:rPr lang="ko-KR" altLang="en-US" sz="900" dirty="0" smtClean="0"/>
              <a:t>월 </a:t>
            </a:r>
            <a:r>
              <a:rPr lang="en-US" altLang="ko-KR" sz="900" dirty="0" smtClean="0"/>
              <a:t>03</a:t>
            </a:r>
            <a:r>
              <a:rPr lang="ko-KR" altLang="en-US" sz="900" dirty="0" smtClean="0"/>
              <a:t>일 기준</a:t>
            </a:r>
            <a:r>
              <a:rPr lang="en-US" altLang="ko-KR" sz="900" dirty="0" smtClean="0"/>
              <a:t>), </a:t>
            </a:r>
            <a:r>
              <a:rPr lang="ko-KR" altLang="en-US" sz="900" dirty="0" smtClean="0"/>
              <a:t>허수예약 </a:t>
            </a:r>
            <a:r>
              <a:rPr lang="en-US" altLang="ko-KR" sz="900" dirty="0" smtClean="0"/>
              <a:t>- </a:t>
            </a:r>
            <a:r>
              <a:rPr lang="ko-KR" altLang="en-US" sz="900" dirty="0" err="1" smtClean="0"/>
              <a:t>크롤링데이터</a:t>
            </a:r>
            <a:endParaRPr lang="ko-KR" altLang="en-US" sz="900" dirty="0"/>
          </a:p>
        </p:txBody>
      </p:sp>
      <p:graphicFrame>
        <p:nvGraphicFramePr>
          <p:cNvPr id="13" name="차트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3086009"/>
              </p:ext>
            </p:extLst>
          </p:nvPr>
        </p:nvGraphicFramePr>
        <p:xfrm>
          <a:off x="429924" y="1489387"/>
          <a:ext cx="8161984" cy="28762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TextBox 30"/>
          <p:cNvSpPr txBox="1"/>
          <p:nvPr/>
        </p:nvSpPr>
        <p:spPr>
          <a:xfrm>
            <a:off x="5406303" y="2298107"/>
            <a:ext cx="753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 smtClean="0">
                <a:solidFill>
                  <a:srgbClr val="C00000"/>
                </a:solidFill>
                <a:latin typeface="+mj-lt"/>
              </a:rPr>
              <a:t>X1.1</a:t>
            </a:r>
            <a:endParaRPr lang="ko-KR" altLang="en-US" sz="1600" b="1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38835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2019-07-05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>
                <a:latin typeface="+mn-ea"/>
                <a:ea typeface="+mn-ea"/>
              </a:rPr>
              <a:pPr/>
              <a:t>14</a:t>
            </a:fld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14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Ⅳ</a:t>
            </a:r>
            <a:r>
              <a:rPr lang="en-US" altLang="ko-KR" dirty="0" smtClean="0"/>
              <a:t>. </a:t>
            </a:r>
            <a:r>
              <a:rPr lang="ko-KR" altLang="en-US" dirty="0" smtClean="0"/>
              <a:t>시사점</a:t>
            </a:r>
            <a:endParaRPr lang="en-US" altLang="ko-KR" dirty="0"/>
          </a:p>
        </p:txBody>
      </p:sp>
      <p:cxnSp>
        <p:nvCxnSpPr>
          <p:cNvPr id="38" name="직선 연결선 37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21"/>
          <p:cNvSpPr txBox="1">
            <a:spLocks noChangeArrowheads="1"/>
          </p:cNvSpPr>
          <p:nvPr/>
        </p:nvSpPr>
        <p:spPr bwMode="auto">
          <a:xfrm>
            <a:off x="380492" y="1901781"/>
            <a:ext cx="859184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200" dirty="0" smtClean="0">
                <a:latin typeface="+mn-lt"/>
                <a:ea typeface="+mn-ea"/>
              </a:rPr>
              <a:t>전체 행사수가 노랑풍선 대비 </a:t>
            </a:r>
            <a:r>
              <a:rPr lang="en-US" altLang="ko-KR" sz="1200" dirty="0">
                <a:latin typeface="+mn-lt"/>
                <a:ea typeface="+mn-ea"/>
              </a:rPr>
              <a:t>2</a:t>
            </a:r>
            <a:r>
              <a:rPr lang="ko-KR" altLang="en-US" sz="1200" dirty="0" smtClean="0">
                <a:latin typeface="+mn-lt"/>
                <a:ea typeface="+mn-ea"/>
              </a:rPr>
              <a:t>배 높음</a:t>
            </a: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200" dirty="0" smtClean="0">
                <a:latin typeface="+mn-lt"/>
              </a:rPr>
              <a:t>전체 </a:t>
            </a:r>
            <a:r>
              <a:rPr lang="ko-KR" altLang="en-US" sz="1200" dirty="0" err="1" smtClean="0">
                <a:latin typeface="+mn-lt"/>
              </a:rPr>
              <a:t>행사수</a:t>
            </a:r>
            <a:r>
              <a:rPr lang="ko-KR" altLang="en-US" sz="1200" dirty="0" smtClean="0">
                <a:latin typeface="+mn-lt"/>
              </a:rPr>
              <a:t> 대비 노랑풍선보다 예약자수가 높지 않음</a:t>
            </a:r>
            <a:endParaRPr lang="en-US" altLang="ko-KR" sz="1200" dirty="0" smtClean="0">
              <a:latin typeface="+mn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ko-KR" altLang="en-US" sz="1200" dirty="0" smtClean="0">
                <a:latin typeface="+mn-lt"/>
              </a:rPr>
              <a:t>예약자수는 노랑풍선보다 높지만 </a:t>
            </a:r>
            <a:r>
              <a:rPr lang="ko-KR" altLang="en-US" sz="1200" b="1" dirty="0" smtClean="0">
                <a:latin typeface="+mn-lt"/>
              </a:rPr>
              <a:t>과도한 행사수로 인해 관리 미흡 및 인건비 증가에 대한 고려 필요</a:t>
            </a:r>
            <a:endParaRPr lang="en-US" altLang="ko-KR" sz="1200" b="1" dirty="0">
              <a:latin typeface="+mn-lt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80494" y="1305871"/>
            <a:ext cx="1533472" cy="457555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ko-KR" altLang="en-US" sz="1600" b="1" dirty="0" err="1" smtClean="0">
                <a:solidFill>
                  <a:schemeClr val="bg1"/>
                </a:solidFill>
              </a:rPr>
              <a:t>행사수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0492" y="3320428"/>
            <a:ext cx="1533474" cy="495964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bg1"/>
                </a:solidFill>
              </a:rPr>
              <a:t>상품가격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380492" y="3924982"/>
            <a:ext cx="9376156" cy="2280535"/>
            <a:chOff x="425570" y="3836612"/>
            <a:chExt cx="8292860" cy="2280535"/>
          </a:xfrm>
        </p:grpSpPr>
        <p:sp>
          <p:nvSpPr>
            <p:cNvPr id="7" name="직사각형 6"/>
            <p:cNvSpPr/>
            <p:nvPr/>
          </p:nvSpPr>
          <p:spPr>
            <a:xfrm>
              <a:off x="425570" y="3836612"/>
              <a:ext cx="829286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latinLnBrk="0">
                <a:lnSpc>
                  <a:spcPct val="200000"/>
                </a:lnSpc>
                <a:spcBef>
                  <a:spcPct val="0"/>
                </a:spcBef>
                <a:buFont typeface="Wingdings" panose="05000000000000000000" pitchFamily="2" charset="2"/>
                <a:buChar char="l"/>
              </a:pPr>
              <a:r>
                <a:rPr lang="ko-KR" altLang="en-US" sz="1200" dirty="0" smtClean="0">
                  <a:latin typeface="+mj-lt"/>
                </a:rPr>
                <a:t>전체 상품 기준에서 </a:t>
              </a:r>
              <a:r>
                <a:rPr lang="ko-KR" altLang="en-US" sz="1200" dirty="0" err="1" smtClean="0">
                  <a:latin typeface="+mj-lt"/>
                </a:rPr>
                <a:t>라르고</a:t>
              </a:r>
              <a:r>
                <a:rPr lang="ko-KR" altLang="en-US" sz="1200" dirty="0" smtClean="0">
                  <a:latin typeface="+mj-lt"/>
                </a:rPr>
                <a:t> 상품이 노랑풍선의 </a:t>
              </a:r>
              <a:r>
                <a:rPr lang="ko-KR" altLang="en-US" sz="1200" b="1" dirty="0" err="1" smtClean="0">
                  <a:latin typeface="+mj-lt"/>
                </a:rPr>
                <a:t>라이트팩과</a:t>
              </a:r>
              <a:r>
                <a:rPr lang="ko-KR" altLang="en-US" sz="1200" b="1" dirty="0" smtClean="0">
                  <a:latin typeface="+mj-lt"/>
                </a:rPr>
                <a:t> </a:t>
              </a:r>
              <a:r>
                <a:rPr lang="ko-KR" altLang="en-US" sz="1200" b="1" dirty="0" err="1" smtClean="0">
                  <a:latin typeface="+mj-lt"/>
                </a:rPr>
                <a:t>프리미엄팩</a:t>
              </a:r>
              <a:r>
                <a:rPr lang="ko-KR" altLang="en-US" sz="1200" b="1" dirty="0" smtClean="0">
                  <a:latin typeface="+mj-lt"/>
                </a:rPr>
                <a:t> 중간 가격 형성</a:t>
              </a:r>
              <a:endParaRPr lang="en-US" altLang="ko-KR" sz="1200" b="1" dirty="0"/>
            </a:p>
            <a:p>
              <a:pPr marL="285750" indent="-285750" latinLnBrk="0">
                <a:lnSpc>
                  <a:spcPct val="200000"/>
                </a:lnSpc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ko-KR" altLang="en-US" sz="1200" dirty="0" smtClean="0">
                  <a:latin typeface="+mj-lt"/>
                </a:rPr>
                <a:t>현재 주요 키워드인 근거리 여행</a:t>
              </a:r>
              <a:r>
                <a:rPr lang="en-US" altLang="ko-KR" sz="1200" dirty="0" smtClean="0">
                  <a:latin typeface="+mj-lt"/>
                </a:rPr>
                <a:t>, </a:t>
              </a:r>
              <a:r>
                <a:rPr lang="ko-KR" altLang="en-US" sz="1200" dirty="0" smtClean="0">
                  <a:latin typeface="+mj-lt"/>
                </a:rPr>
                <a:t>저렴한 경비</a:t>
              </a:r>
              <a:r>
                <a:rPr lang="en-US" altLang="ko-KR" sz="1200" dirty="0" smtClean="0">
                  <a:latin typeface="+mj-lt"/>
                </a:rPr>
                <a:t>, </a:t>
              </a:r>
              <a:r>
                <a:rPr lang="ko-KR" altLang="en-US" sz="1200" dirty="0" smtClean="0">
                  <a:latin typeface="+mj-lt"/>
                </a:rPr>
                <a:t>과도하지 않은 쇼핑 및</a:t>
              </a:r>
              <a:endParaRPr lang="en-US" altLang="ko-KR" sz="1200" dirty="0">
                <a:latin typeface="+mj-lt"/>
              </a:endParaRPr>
            </a:p>
            <a:p>
              <a:pPr latinLnBrk="0">
                <a:lnSpc>
                  <a:spcPct val="200000"/>
                </a:lnSpc>
                <a:spcBef>
                  <a:spcPct val="0"/>
                </a:spcBef>
              </a:pPr>
              <a:r>
                <a:rPr lang="en-US" altLang="ko-KR" sz="1200" dirty="0" smtClean="0">
                  <a:latin typeface="+mj-lt"/>
                </a:rPr>
                <a:t>       </a:t>
              </a:r>
              <a:r>
                <a:rPr lang="ko-KR" altLang="en-US" sz="1200" dirty="0" err="1" smtClean="0">
                  <a:latin typeface="+mj-lt"/>
                </a:rPr>
                <a:t>퀄리티가</a:t>
              </a:r>
              <a:r>
                <a:rPr lang="ko-KR" altLang="en-US" sz="1200" dirty="0" smtClean="0">
                  <a:latin typeface="+mj-lt"/>
                </a:rPr>
                <a:t> 많이 떨어지지 않는 상품이라는 </a:t>
              </a:r>
              <a:r>
                <a:rPr lang="ko-KR" altLang="en-US" sz="1200" b="1" dirty="0" err="1" smtClean="0">
                  <a:latin typeface="+mj-lt"/>
                </a:rPr>
                <a:t>트렌드에</a:t>
              </a:r>
              <a:r>
                <a:rPr lang="ko-KR" altLang="en-US" sz="1200" b="1" dirty="0" smtClean="0">
                  <a:latin typeface="+mj-lt"/>
                </a:rPr>
                <a:t> 부합하는 전략적 가격 </a:t>
              </a:r>
              <a:r>
                <a:rPr lang="ko-KR" altLang="en-US" sz="1200" b="1" dirty="0" err="1" smtClean="0">
                  <a:latin typeface="+mj-lt"/>
                </a:rPr>
                <a:t>형성중</a:t>
              </a:r>
              <a:endParaRPr lang="en-US" altLang="ko-KR" sz="1200" b="1" dirty="0" smtClean="0">
                <a:latin typeface="+mj-lt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425570" y="4916818"/>
              <a:ext cx="829286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latinLnBrk="0">
                <a:lnSpc>
                  <a:spcPct val="200000"/>
                </a:lnSpc>
                <a:spcBef>
                  <a:spcPct val="0"/>
                </a:spcBef>
                <a:buFont typeface="Wingdings" panose="05000000000000000000" pitchFamily="2" charset="2"/>
                <a:buChar char="l"/>
              </a:pPr>
              <a:r>
                <a:rPr lang="ko-KR" altLang="en-US" sz="1200" dirty="0" smtClean="0">
                  <a:latin typeface="+mj-lt"/>
                </a:rPr>
                <a:t>대만지역 출발확정 상품 기준에서 </a:t>
              </a:r>
              <a:r>
                <a:rPr lang="ko-KR" altLang="en-US" sz="1200" b="1" dirty="0" smtClean="0">
                  <a:latin typeface="+mj-lt"/>
                </a:rPr>
                <a:t>일반상품의 가격이 </a:t>
              </a:r>
              <a:r>
                <a:rPr lang="ko-KR" altLang="en-US" sz="1200" b="1" dirty="0" err="1" smtClean="0">
                  <a:latin typeface="+mj-lt"/>
                </a:rPr>
                <a:t>라르고보다</a:t>
              </a:r>
              <a:r>
                <a:rPr lang="ko-KR" altLang="en-US" sz="1200" b="1" dirty="0" smtClean="0">
                  <a:latin typeface="+mj-lt"/>
                </a:rPr>
                <a:t> 높은 평균 가격대 형성</a:t>
              </a:r>
              <a:endParaRPr lang="en-US" altLang="ko-KR" sz="1200" b="1" dirty="0"/>
            </a:p>
            <a:p>
              <a:pPr marL="285750" indent="-285750" latinLnBrk="0">
                <a:lnSpc>
                  <a:spcPct val="200000"/>
                </a:lnSpc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ko-KR" altLang="en-US" sz="1200" b="1" dirty="0" smtClean="0">
                  <a:latin typeface="+mj-lt"/>
                </a:rPr>
                <a:t>그룹항공권과 </a:t>
              </a:r>
              <a:r>
                <a:rPr lang="ko-KR" altLang="en-US" sz="1200" b="1" dirty="0" err="1" smtClean="0">
                  <a:latin typeface="+mj-lt"/>
                </a:rPr>
                <a:t>인디비</a:t>
              </a:r>
              <a:r>
                <a:rPr lang="ko-KR" altLang="en-US" sz="1200" b="1" dirty="0" smtClean="0">
                  <a:latin typeface="+mj-lt"/>
                </a:rPr>
                <a:t> 항공권 비율을 조절할 필요성 </a:t>
              </a:r>
              <a:endParaRPr lang="en-US" altLang="ko-KR" sz="1200" b="1" dirty="0">
                <a:latin typeface="+mj-lt"/>
              </a:endParaRPr>
            </a:p>
            <a:p>
              <a:pPr latinLnBrk="0">
                <a:lnSpc>
                  <a:spcPct val="200000"/>
                </a:lnSpc>
                <a:spcBef>
                  <a:spcPct val="0"/>
                </a:spcBef>
              </a:pPr>
              <a:r>
                <a:rPr lang="en-US" altLang="ko-KR" sz="1200" dirty="0" smtClean="0">
                  <a:latin typeface="+mj-lt"/>
                </a:rPr>
                <a:t>       -&gt; </a:t>
              </a:r>
              <a:r>
                <a:rPr lang="ko-KR" altLang="en-US" sz="1200" dirty="0" err="1" smtClean="0">
                  <a:latin typeface="+mj-lt"/>
                </a:rPr>
                <a:t>라르고보다</a:t>
              </a:r>
              <a:r>
                <a:rPr lang="ko-KR" altLang="en-US" sz="1200" dirty="0" smtClean="0">
                  <a:latin typeface="+mj-lt"/>
                </a:rPr>
                <a:t> 예약이 약 </a:t>
              </a:r>
              <a:r>
                <a:rPr lang="en-US" altLang="ko-KR" sz="1200" dirty="0" smtClean="0">
                  <a:latin typeface="+mj-lt"/>
                </a:rPr>
                <a:t>2</a:t>
              </a:r>
              <a:r>
                <a:rPr lang="ko-KR" altLang="en-US" sz="1200" dirty="0" smtClean="0">
                  <a:latin typeface="+mj-lt"/>
                </a:rPr>
                <a:t>배 높은</a:t>
              </a:r>
              <a:r>
                <a:rPr lang="ko-KR" altLang="en-US" sz="1200" b="1" dirty="0" smtClean="0">
                  <a:latin typeface="+mj-lt"/>
                </a:rPr>
                <a:t> 일반 상품에 그룹항공권을 비율을 높여</a:t>
              </a:r>
              <a:r>
                <a:rPr lang="ko-KR" altLang="en-US" sz="1200" dirty="0" smtClean="0">
                  <a:latin typeface="+mj-lt"/>
                </a:rPr>
                <a:t> 가격 경쟁력을 증가시킬 필요성 고려</a:t>
              </a:r>
              <a:endParaRPr lang="en-US" altLang="ko-KR" sz="1200" dirty="0" smtClean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1671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고딕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137644</TotalTime>
  <Words>1379</Words>
  <Application>Microsoft Office PowerPoint</Application>
  <PresentationFormat>화면 슬라이드 쇼(4:3)</PresentationFormat>
  <Paragraphs>333</Paragraphs>
  <Slides>14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굴림</vt:lpstr>
      <vt:lpstr>나눔고딕</vt:lpstr>
      <vt:lpstr>나눔고딕 ExtraBold</vt:lpstr>
      <vt:lpstr>맑은 고딕</vt:lpstr>
      <vt:lpstr>Arial</vt:lpstr>
      <vt:lpstr>Tahoma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여승은</dc:creator>
  <cp:lastModifiedBy>yeo seungeun</cp:lastModifiedBy>
  <cp:revision>4739</cp:revision>
  <cp:lastPrinted>2019-07-05T09:02:58Z</cp:lastPrinted>
  <dcterms:created xsi:type="dcterms:W3CDTF">2014-03-24T10:18:17Z</dcterms:created>
  <dcterms:modified xsi:type="dcterms:W3CDTF">2019-08-06T06:44:04Z</dcterms:modified>
</cp:coreProperties>
</file>