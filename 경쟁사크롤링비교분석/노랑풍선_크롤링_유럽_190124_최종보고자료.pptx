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2.xml" ContentType="application/vnd.openxmlformats-officedocument.drawingml.chartshapes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3.xml" ContentType="application/vnd.openxmlformats-officedocument.drawingml.chartshapes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drawings/drawing4.xml" ContentType="application/vnd.openxmlformats-officedocument.drawingml.chartshapes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518" r:id="rId3"/>
    <p:sldId id="522" r:id="rId4"/>
    <p:sldId id="517" r:id="rId5"/>
    <p:sldId id="519" r:id="rId6"/>
    <p:sldId id="529" r:id="rId7"/>
    <p:sldId id="516" r:id="rId8"/>
    <p:sldId id="541" r:id="rId9"/>
    <p:sldId id="545" r:id="rId10"/>
    <p:sldId id="546" r:id="rId11"/>
    <p:sldId id="526" r:id="rId12"/>
    <p:sldId id="542" r:id="rId13"/>
    <p:sldId id="536" r:id="rId14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857" userDrawn="1">
          <p15:clr>
            <a:srgbClr val="A4A3A4"/>
          </p15:clr>
        </p15:guide>
        <p15:guide id="3" orient="horz" pos="2795" userDrawn="1">
          <p15:clr>
            <a:srgbClr val="A4A3A4"/>
          </p15:clr>
        </p15:guide>
        <p15:guide id="4" pos="363" userDrawn="1">
          <p15:clr>
            <a:srgbClr val="A4A3A4"/>
          </p15:clr>
        </p15:guide>
        <p15:guide id="5" pos="53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381"/>
    <a:srgbClr val="FF3737"/>
    <a:srgbClr val="317CC1"/>
    <a:srgbClr val="DC5E5E"/>
    <a:srgbClr val="FF7C80"/>
    <a:srgbClr val="E5675D"/>
    <a:srgbClr val="6DA6D9"/>
    <a:srgbClr val="E07B52"/>
    <a:srgbClr val="FF9966"/>
    <a:srgbClr val="526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684" autoAdjust="0"/>
  </p:normalViewPr>
  <p:slideViewPr>
    <p:cSldViewPr snapToGrid="0" showGuides="1">
      <p:cViewPr varScale="1">
        <p:scale>
          <a:sx n="106" d="100"/>
          <a:sy n="106" d="100"/>
        </p:scale>
        <p:origin x="2052" y="90"/>
      </p:cViewPr>
      <p:guideLst>
        <p:guide orient="horz" pos="3838"/>
        <p:guide pos="2857"/>
        <p:guide orient="horz" pos="2795"/>
        <p:guide pos="363"/>
        <p:guide pos="53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7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AppData\Roaming\Microsoft\Excel\VGT_&#45432;&#46993;&#54413;&#49440;_&#50976;&#47101;_&#52572;&#51333;_&#44536;&#47000;&#54532;_4&#48264;~7&#48264;_190115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AppData\Roaming\Microsoft\Excel\VGT_&#45432;&#46993;&#54413;&#49440;_&#50976;&#47101;_&#52572;&#51333;_&#44536;&#47000;&#54532;_4&#48264;~7&#48264;_190115%20(version%201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AppData\Roaming\Microsoft\Excel\VGT_&#45432;&#46993;&#54413;&#49440;_&#50976;&#47101;_&#52572;&#51333;_&#44536;&#47000;&#54532;_4&#48264;~7&#48264;_190115%20(version%201).xlsb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4536;&#47000;&#54532;_&#45432;&#46993;_VGT&#54633;&#48376;_&#51221;&#47532;&#48376;_190121_&#51116;&#51221;&#47532;_&#52628;&#44032;_&#49688;&#51221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4536;&#47000;&#54532;_&#45432;&#46993;_VGT&#54633;&#48376;_&#51221;&#47532;&#48376;_190121_&#51116;&#51221;&#47532;_&#52628;&#44032;_&#49688;&#51221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&#44536;&#47000;&#54532;_&#45432;&#46993;_VGT&#54633;&#48376;_&#51221;&#47532;&#48376;_190121_&#51116;&#51221;&#47532;_&#52628;&#44032;_&#49688;&#51221;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4536;&#47000;&#54532;_&#45432;&#46993;_VGT&#54633;&#48376;_&#51221;&#47532;&#48376;_190121_&#51116;&#51221;&#47532;_&#52628;&#44032;_&#49688;&#51221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4536;&#47000;&#54532;_&#45432;&#46993;_VGT&#54633;&#48376;_&#51221;&#47532;&#48376;_190121_&#51116;&#51221;&#47532;_&#52628;&#44032;_&#49688;&#51221;.xlsx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AppData\Roaming\Microsoft\Excel\VGT_&#45432;&#46993;&#54413;&#49440;_&#50976;&#47101;_&#52572;&#51333;_&#44536;&#47000;&#54532;_4&#48264;~7&#48264;_190115%20(version%201).xlsb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AppData\Roaming\Microsoft\Excel\VGT_&#45432;&#46993;&#54413;&#49440;_&#50976;&#47101;_&#52572;&#51333;_&#44536;&#47000;&#54532;_4&#48264;~7&#48264;_190115%20(version%201).xlsb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0976;&#47101;\&#44208;&#44284;&#47928;&#49436;\VGT_&#45432;&#46993;&#54413;&#49440;_&#50976;&#47101;_&#52572;&#51333;_&#44536;&#47000;&#54532;_4&#48264;~7&#48264;_190115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0976;&#47101;\&#44208;&#44284;&#47928;&#49436;\VGT_&#45432;&#46993;&#54413;&#49440;_&#50976;&#47101;_&#52572;&#51333;_&#44536;&#47000;&#54532;_4&#48264;~7&#48264;_190115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4536;&#47000;&#54532;_&#45432;&#46993;_VGT&#54633;&#48376;_&#51221;&#47532;&#48376;_190121_&#51116;&#51221;&#47532;_&#52628;&#44032;_&#49688;&#51221;.xlsx" TargetMode="Externa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4536;&#47000;&#54532;_&#45432;&#46993;_VGT&#54633;&#48376;_&#51221;&#47532;&#48376;_190121_&#51116;&#51221;&#47532;_&#52628;&#44032;_&#49688;&#51221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4536;&#47000;&#54532;_&#45432;&#46993;_VGT&#54633;&#48376;_&#51221;&#47532;&#48376;_190121_&#51116;&#51221;&#47532;_&#52628;&#44032;_&#49688;&#51221;.xlsx" TargetMode="Externa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3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4536;&#47000;&#54532;_&#45432;&#46993;_VGT&#54633;&#48376;_&#51221;&#47532;&#48376;_190121_&#51116;&#51221;&#47532;_&#52628;&#44032;_&#49688;&#51221;.xlsx" TargetMode="Externa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chartUserShapes" Target="../drawings/drawing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0976;&#47101;\&#44208;&#44284;&#47928;&#49436;\VGT_&#45432;&#46993;&#54413;&#49440;_&#50976;&#47101;_&#52572;&#51333;_&#44536;&#47000;&#54532;_4&#48264;~7&#48264;_190115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'지역별 통계 그래프_2월~4월_중복제거'!$C$159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그래프_2월~4월_중복제거'!$B$160:$B$164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그래프_2월~4월_중복제거'!$C$160:$C$164</c:f>
              <c:numCache>
                <c:formatCode>General</c:formatCode>
                <c:ptCount val="5"/>
                <c:pt idx="0">
                  <c:v>180</c:v>
                </c:pt>
                <c:pt idx="1">
                  <c:v>203</c:v>
                </c:pt>
                <c:pt idx="2">
                  <c:v>64</c:v>
                </c:pt>
                <c:pt idx="3">
                  <c:v>96</c:v>
                </c:pt>
                <c:pt idx="4" formatCode="#,##0">
                  <c:v>47</c:v>
                </c:pt>
              </c:numCache>
            </c:numRef>
          </c:val>
        </c:ser>
        <c:ser>
          <c:idx val="1"/>
          <c:order val="1"/>
          <c:tx>
            <c:strRef>
              <c:f>'지역별 통계 그래프_2월~4월_중복제거'!$D$159</c:f>
              <c:strCache>
                <c:ptCount val="1"/>
                <c:pt idx="0">
                  <c:v>노랑풍선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그래프_2월~4월_중복제거'!$B$160:$B$164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그래프_2월~4월_중복제거'!$D$160:$D$164</c:f>
              <c:numCache>
                <c:formatCode>General</c:formatCode>
                <c:ptCount val="5"/>
                <c:pt idx="0">
                  <c:v>103</c:v>
                </c:pt>
                <c:pt idx="1">
                  <c:v>54</c:v>
                </c:pt>
                <c:pt idx="2">
                  <c:v>24</c:v>
                </c:pt>
                <c:pt idx="3">
                  <c:v>29</c:v>
                </c:pt>
                <c:pt idx="4">
                  <c:v>17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28101136"/>
        <c:axId val="728097216"/>
      </c:barChart>
      <c:catAx>
        <c:axId val="728101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097216"/>
        <c:crosses val="autoZero"/>
        <c:auto val="1"/>
        <c:lblAlgn val="ctr"/>
        <c:lblOffset val="100"/>
        <c:noMultiLvlLbl val="0"/>
      </c:catAx>
      <c:valAx>
        <c:axId val="728097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101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'지역별 통계 그래프_2월~4월_중복제거'!$C$177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그래프_2월~4월_중복제거'!$B$178:$B$182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그래프_2월~4월_중복제거'!$C$178:$C$182</c:f>
              <c:numCache>
                <c:formatCode>_(* #,##0_);_(* \(#,##0\);_(* "-"_);_(@_)</c:formatCode>
                <c:ptCount val="5"/>
                <c:pt idx="0">
                  <c:v>3140</c:v>
                </c:pt>
                <c:pt idx="1">
                  <c:v>6990</c:v>
                </c:pt>
                <c:pt idx="2">
                  <c:v>2002</c:v>
                </c:pt>
                <c:pt idx="3">
                  <c:v>3038</c:v>
                </c:pt>
                <c:pt idx="4">
                  <c:v>475</c:v>
                </c:pt>
              </c:numCache>
            </c:numRef>
          </c:val>
        </c:ser>
        <c:ser>
          <c:idx val="1"/>
          <c:order val="1"/>
          <c:tx>
            <c:strRef>
              <c:f>'지역별 통계 그래프_2월~4월_중복제거'!$D$177</c:f>
              <c:strCache>
                <c:ptCount val="1"/>
                <c:pt idx="0">
                  <c:v>노랑풍선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그래프_2월~4월_중복제거'!$B$178:$B$182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그래프_2월~4월_중복제거'!$D$178:$D$182</c:f>
              <c:numCache>
                <c:formatCode>_(* #,##0_);_(* \(#,##0\);_(* "-"_);_(@_)</c:formatCode>
                <c:ptCount val="5"/>
                <c:pt idx="0">
                  <c:v>1587</c:v>
                </c:pt>
                <c:pt idx="1">
                  <c:v>861</c:v>
                </c:pt>
                <c:pt idx="2">
                  <c:v>501</c:v>
                </c:pt>
                <c:pt idx="3">
                  <c:v>614</c:v>
                </c:pt>
                <c:pt idx="4">
                  <c:v>297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28099456"/>
        <c:axId val="728100016"/>
      </c:barChart>
      <c:catAx>
        <c:axId val="728099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100016"/>
        <c:crosses val="autoZero"/>
        <c:auto val="1"/>
        <c:lblAlgn val="ctr"/>
        <c:lblOffset val="100"/>
        <c:noMultiLvlLbl val="0"/>
      </c:catAx>
      <c:valAx>
        <c:axId val="72810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099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'지역별 통계 그래프_2월~4월_중복제거'!$C$191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그래프_2월~4월_중복제거'!$B$192:$B$196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그래프_2월~4월_중복제거'!$C$192:$C$196</c:f>
              <c:numCache>
                <c:formatCode>_-* #,##0_-;\-* #,##0_-;_-* "-"??_-;_-@_-</c:formatCode>
                <c:ptCount val="5"/>
                <c:pt idx="0">
                  <c:v>17.444444444444443</c:v>
                </c:pt>
                <c:pt idx="1">
                  <c:v>34.433497536945815</c:v>
                </c:pt>
                <c:pt idx="2">
                  <c:v>31.28125</c:v>
                </c:pt>
                <c:pt idx="3">
                  <c:v>31.645833333333332</c:v>
                </c:pt>
                <c:pt idx="4">
                  <c:v>10.106382978723405</c:v>
                </c:pt>
              </c:numCache>
            </c:numRef>
          </c:val>
        </c:ser>
        <c:ser>
          <c:idx val="1"/>
          <c:order val="1"/>
          <c:tx>
            <c:strRef>
              <c:f>'지역별 통계 그래프_2월~4월_중복제거'!$D$191</c:f>
              <c:strCache>
                <c:ptCount val="1"/>
                <c:pt idx="0">
                  <c:v>노랑풍선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그래프_2월~4월_중복제거'!$B$192:$B$196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그래프_2월~4월_중복제거'!$D$192:$D$196</c:f>
              <c:numCache>
                <c:formatCode>_-* #,##0_-;\-* #,##0_-;_-* "-"??_-;_-@_-</c:formatCode>
                <c:ptCount val="5"/>
                <c:pt idx="0">
                  <c:v>15.407766990291263</c:v>
                </c:pt>
                <c:pt idx="1">
                  <c:v>15.944444444444445</c:v>
                </c:pt>
                <c:pt idx="2">
                  <c:v>20.875</c:v>
                </c:pt>
                <c:pt idx="3">
                  <c:v>21.172413793103448</c:v>
                </c:pt>
                <c:pt idx="4">
                  <c:v>17.470588235294116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34003600"/>
        <c:axId val="734003040"/>
      </c:barChart>
      <c:catAx>
        <c:axId val="734003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34003040"/>
        <c:crosses val="autoZero"/>
        <c:auto val="1"/>
        <c:lblAlgn val="ctr"/>
        <c:lblOffset val="100"/>
        <c:noMultiLvlLbl val="0"/>
      </c:catAx>
      <c:valAx>
        <c:axId val="734003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34003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Sheet1!$G$22</c:f>
              <c:strCache>
                <c:ptCount val="1"/>
                <c:pt idx="0">
                  <c:v>노랑</c:v>
                </c:pt>
              </c:strCache>
            </c:strRef>
          </c:tx>
          <c:explosion val="13"/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explosion val="2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Sheet1!$F$23:$F$25</c:f>
              <c:strCache>
                <c:ptCount val="3"/>
                <c:pt idx="0">
                  <c:v>일반</c:v>
                </c:pt>
                <c:pt idx="1">
                  <c:v>시그니쳐</c:v>
                </c:pt>
                <c:pt idx="2">
                  <c:v>프리미엄</c:v>
                </c:pt>
              </c:strCache>
            </c:strRef>
          </c:cat>
          <c:val>
            <c:numRef>
              <c:f>Sheet1!$G$23:$G$25</c:f>
              <c:numCache>
                <c:formatCode>0%</c:formatCode>
                <c:ptCount val="3"/>
                <c:pt idx="0">
                  <c:v>0.8248704663212435</c:v>
                </c:pt>
                <c:pt idx="1">
                  <c:v>9.689119170984456E-2</c:v>
                </c:pt>
                <c:pt idx="2">
                  <c:v>7.8238341968911912E-2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Sheet1!$H$22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dLblPos val="bestFi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Sheet1!$F$23:$F$25</c15:sqref>
                        </c15:formulaRef>
                      </c:ext>
                    </c:extLst>
                    <c:strCache>
                      <c:ptCount val="3"/>
                      <c:pt idx="0">
                        <c:v>일반</c:v>
                      </c:pt>
                      <c:pt idx="1">
                        <c:v>시그니쳐</c:v>
                      </c:pt>
                      <c:pt idx="2">
                        <c:v>프리미엄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Sheet1!$H$23:$H$25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Sheet1!$O$22</c:f>
              <c:strCache>
                <c:ptCount val="1"/>
                <c:pt idx="0">
                  <c:v>VGT</c:v>
                </c:pt>
              </c:strCache>
            </c:strRef>
          </c:tx>
          <c:dPt>
            <c:idx val="0"/>
            <c:bubble3D val="0"/>
            <c:explosion val="5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explosion val="11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Sheet1!$N$23:$N$25</c:f>
              <c:strCache>
                <c:ptCount val="3"/>
                <c:pt idx="0">
                  <c:v>일반</c:v>
                </c:pt>
                <c:pt idx="1">
                  <c:v>라르고</c:v>
                </c:pt>
                <c:pt idx="2">
                  <c:v>라르고+</c:v>
                </c:pt>
              </c:strCache>
            </c:strRef>
          </c:cat>
          <c:val>
            <c:numRef>
              <c:f>Sheet1!$O$23:$O$25</c:f>
              <c:numCache>
                <c:formatCode>0%</c:formatCode>
                <c:ptCount val="3"/>
                <c:pt idx="0">
                  <c:v>0.7420901246404602</c:v>
                </c:pt>
                <c:pt idx="1">
                  <c:v>0.10853307766059445</c:v>
                </c:pt>
                <c:pt idx="2">
                  <c:v>0.14937679769894535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Sheet1!$P$22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dLblPos val="bestFi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Sheet1!$N$23:$N$25</c15:sqref>
                        </c15:formulaRef>
                      </c:ext>
                    </c:extLst>
                    <c:strCache>
                      <c:ptCount val="3"/>
                      <c:pt idx="0">
                        <c:v>일반</c:v>
                      </c:pt>
                      <c:pt idx="1">
                        <c:v>라르고</c:v>
                      </c:pt>
                      <c:pt idx="2">
                        <c:v>라르고+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Sheet1!$P$23:$P$25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Sheet1!$AL$16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Sheet1!$AJ$17:$AK$26</c:f>
              <c:multiLvlStrCache>
                <c:ptCount val="10"/>
                <c:lvl>
                  <c:pt idx="0">
                    <c:v>VGT</c:v>
                  </c:pt>
                  <c:pt idx="1">
                    <c:v>노랑풍선</c:v>
                  </c:pt>
                  <c:pt idx="2">
                    <c:v>VGT</c:v>
                  </c:pt>
                  <c:pt idx="3">
                    <c:v>노랑풍선</c:v>
                  </c:pt>
                  <c:pt idx="4">
                    <c:v>VGT</c:v>
                  </c:pt>
                  <c:pt idx="5">
                    <c:v>노랑풍선</c:v>
                  </c:pt>
                  <c:pt idx="6">
                    <c:v>VGT</c:v>
                  </c:pt>
                  <c:pt idx="7">
                    <c:v>노랑풍선</c:v>
                  </c:pt>
                  <c:pt idx="8">
                    <c:v>VGT</c:v>
                  </c:pt>
                  <c:pt idx="9">
                    <c:v>노랑풍선</c:v>
                  </c:pt>
                </c:lvl>
                <c:lvl>
                  <c:pt idx="0">
                    <c:v>서유럽</c:v>
                  </c:pt>
                  <c:pt idx="2">
                    <c:v>동유럽</c:v>
                  </c:pt>
                  <c:pt idx="4">
                    <c:v>지중해</c:v>
                  </c:pt>
                  <c:pt idx="6">
                    <c:v>스페인</c:v>
                  </c:pt>
                  <c:pt idx="8">
                    <c:v>북유럽</c:v>
                  </c:pt>
                </c:lvl>
              </c:multiLvlStrCache>
            </c:multiLvlStrRef>
          </c:cat>
          <c:val>
            <c:numRef>
              <c:f>Sheet1!$AL$17:$AL$26</c:f>
              <c:numCache>
                <c:formatCode>0%</c:formatCode>
                <c:ptCount val="10"/>
                <c:pt idx="0">
                  <c:v>0.52070063694267521</c:v>
                </c:pt>
                <c:pt idx="1">
                  <c:v>0.70069313169502201</c:v>
                </c:pt>
                <c:pt idx="2">
                  <c:v>0.85493562231759657</c:v>
                </c:pt>
                <c:pt idx="3">
                  <c:v>0.93031358885017423</c:v>
                </c:pt>
                <c:pt idx="4">
                  <c:v>0.61588411588411585</c:v>
                </c:pt>
                <c:pt idx="5">
                  <c:v>0.8423153692614771</c:v>
                </c:pt>
                <c:pt idx="6">
                  <c:v>0.77316188592152979</c:v>
                </c:pt>
                <c:pt idx="7">
                  <c:v>0.89902280130293155</c:v>
                </c:pt>
                <c:pt idx="8">
                  <c:v>0.87708333333333333</c:v>
                </c:pt>
                <c:pt idx="9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Sheet1!$AM$16</c:f>
              <c:strCache>
                <c:ptCount val="1"/>
                <c:pt idx="0">
                  <c:v>라르고, 시그니쳐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Sheet1!$AJ$17:$AK$26</c:f>
              <c:multiLvlStrCache>
                <c:ptCount val="10"/>
                <c:lvl>
                  <c:pt idx="0">
                    <c:v>VGT</c:v>
                  </c:pt>
                  <c:pt idx="1">
                    <c:v>노랑풍선</c:v>
                  </c:pt>
                  <c:pt idx="2">
                    <c:v>VGT</c:v>
                  </c:pt>
                  <c:pt idx="3">
                    <c:v>노랑풍선</c:v>
                  </c:pt>
                  <c:pt idx="4">
                    <c:v>VGT</c:v>
                  </c:pt>
                  <c:pt idx="5">
                    <c:v>노랑풍선</c:v>
                  </c:pt>
                  <c:pt idx="6">
                    <c:v>VGT</c:v>
                  </c:pt>
                  <c:pt idx="7">
                    <c:v>노랑풍선</c:v>
                  </c:pt>
                  <c:pt idx="8">
                    <c:v>VGT</c:v>
                  </c:pt>
                  <c:pt idx="9">
                    <c:v>노랑풍선</c:v>
                  </c:pt>
                </c:lvl>
                <c:lvl>
                  <c:pt idx="0">
                    <c:v>서유럽</c:v>
                  </c:pt>
                  <c:pt idx="2">
                    <c:v>동유럽</c:v>
                  </c:pt>
                  <c:pt idx="4">
                    <c:v>지중해</c:v>
                  </c:pt>
                  <c:pt idx="6">
                    <c:v>스페인</c:v>
                  </c:pt>
                  <c:pt idx="8">
                    <c:v>북유럽</c:v>
                  </c:pt>
                </c:lvl>
              </c:multiLvlStrCache>
            </c:multiLvlStrRef>
          </c:cat>
          <c:val>
            <c:numRef>
              <c:f>Sheet1!$AM$17:$AM$26</c:f>
              <c:numCache>
                <c:formatCode>0%</c:formatCode>
                <c:ptCount val="10"/>
                <c:pt idx="0">
                  <c:v>0.11974522292993631</c:v>
                </c:pt>
                <c:pt idx="1">
                  <c:v>0.10522999369880277</c:v>
                </c:pt>
                <c:pt idx="2">
                  <c:v>8.4120171673819744E-2</c:v>
                </c:pt>
                <c:pt idx="3">
                  <c:v>8.4120171673819744E-2</c:v>
                </c:pt>
                <c:pt idx="4">
                  <c:v>0.23376623376623376</c:v>
                </c:pt>
                <c:pt idx="5">
                  <c:v>0.15768463073852296</c:v>
                </c:pt>
                <c:pt idx="6">
                  <c:v>8.6053412462908013E-2</c:v>
                </c:pt>
                <c:pt idx="7">
                  <c:v>5.8631921824104233E-2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Sheet1!$AN$16</c:f>
              <c:strCache>
                <c:ptCount val="1"/>
                <c:pt idx="0">
                  <c:v>라르고+, 프리미엄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Sheet1!$AJ$17:$AK$26</c:f>
              <c:multiLvlStrCache>
                <c:ptCount val="10"/>
                <c:lvl>
                  <c:pt idx="0">
                    <c:v>VGT</c:v>
                  </c:pt>
                  <c:pt idx="1">
                    <c:v>노랑풍선</c:v>
                  </c:pt>
                  <c:pt idx="2">
                    <c:v>VGT</c:v>
                  </c:pt>
                  <c:pt idx="3">
                    <c:v>노랑풍선</c:v>
                  </c:pt>
                  <c:pt idx="4">
                    <c:v>VGT</c:v>
                  </c:pt>
                  <c:pt idx="5">
                    <c:v>노랑풍선</c:v>
                  </c:pt>
                  <c:pt idx="6">
                    <c:v>VGT</c:v>
                  </c:pt>
                  <c:pt idx="7">
                    <c:v>노랑풍선</c:v>
                  </c:pt>
                  <c:pt idx="8">
                    <c:v>VGT</c:v>
                  </c:pt>
                  <c:pt idx="9">
                    <c:v>노랑풍선</c:v>
                  </c:pt>
                </c:lvl>
                <c:lvl>
                  <c:pt idx="0">
                    <c:v>서유럽</c:v>
                  </c:pt>
                  <c:pt idx="2">
                    <c:v>동유럽</c:v>
                  </c:pt>
                  <c:pt idx="4">
                    <c:v>지중해</c:v>
                  </c:pt>
                  <c:pt idx="6">
                    <c:v>스페인</c:v>
                  </c:pt>
                  <c:pt idx="8">
                    <c:v>북유럽</c:v>
                  </c:pt>
                </c:lvl>
              </c:multiLvlStrCache>
            </c:multiLvlStrRef>
          </c:cat>
          <c:val>
            <c:numRef>
              <c:f>Sheet1!$AN$17:$AN$26</c:f>
              <c:numCache>
                <c:formatCode>0%</c:formatCode>
                <c:ptCount val="10"/>
                <c:pt idx="0">
                  <c:v>0.35955414012738851</c:v>
                </c:pt>
                <c:pt idx="1">
                  <c:v>0.19407687460617518</c:v>
                </c:pt>
                <c:pt idx="2">
                  <c:v>6.094420600858369E-2</c:v>
                </c:pt>
                <c:pt idx="3">
                  <c:v>6.094420600858369E-2</c:v>
                </c:pt>
                <c:pt idx="4">
                  <c:v>0.15034965034965034</c:v>
                </c:pt>
                <c:pt idx="5">
                  <c:v>0</c:v>
                </c:pt>
                <c:pt idx="6">
                  <c:v>0.14078470161556214</c:v>
                </c:pt>
                <c:pt idx="7">
                  <c:v>4.2345276872964167E-2</c:v>
                </c:pt>
                <c:pt idx="8">
                  <c:v>0.1125</c:v>
                </c:pt>
                <c:pt idx="9">
                  <c:v>0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21994560"/>
        <c:axId val="521995680"/>
      </c:barChart>
      <c:catAx>
        <c:axId val="521994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1995680"/>
        <c:crosses val="autoZero"/>
        <c:auto val="1"/>
        <c:lblAlgn val="ctr"/>
        <c:lblOffset val="100"/>
        <c:noMultiLvlLbl val="0"/>
      </c:catAx>
      <c:valAx>
        <c:axId val="521995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1994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Sheet1!$AG$46</c:f>
              <c:strCache>
                <c:ptCount val="1"/>
                <c:pt idx="0">
                  <c:v>VGT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Sheet1!$AH$45:$AL$45</c:f>
              <c:strCache>
                <c:ptCount val="5"/>
                <c:pt idx="0">
                  <c:v>국적기</c:v>
                </c:pt>
                <c:pt idx="2">
                  <c:v>외항사</c:v>
                </c:pt>
                <c:pt idx="4">
                  <c:v>미정</c:v>
                </c:pt>
              </c:strCache>
            </c:strRef>
          </c:cat>
          <c:val>
            <c:numRef>
              <c:f>Sheet1!$AH$46:$AL$46</c:f>
              <c:numCache>
                <c:formatCode>General</c:formatCode>
                <c:ptCount val="5"/>
                <c:pt idx="0" formatCode="0.00%">
                  <c:v>0.55429849792265895</c:v>
                </c:pt>
                <c:pt idx="2" formatCode="0.00%">
                  <c:v>0.44531799296899965</c:v>
                </c:pt>
                <c:pt idx="4" formatCode="0.00%">
                  <c:v>3.8350910834132309E-4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1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Sheet1!$L$46</c:f>
              <c:strCache>
                <c:ptCount val="1"/>
                <c:pt idx="0">
                  <c:v>노랑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Sheet1!$M$45:$R$45</c:f>
              <c:strCache>
                <c:ptCount val="6"/>
                <c:pt idx="0">
                  <c:v>국적기</c:v>
                </c:pt>
                <c:pt idx="2">
                  <c:v>외항사</c:v>
                </c:pt>
                <c:pt idx="4">
                  <c:v>LCC</c:v>
                </c:pt>
                <c:pt idx="5">
                  <c:v>선박</c:v>
                </c:pt>
              </c:strCache>
            </c:strRef>
          </c:cat>
          <c:val>
            <c:numRef>
              <c:f>Sheet1!$M$46:$R$46</c:f>
              <c:numCache>
                <c:formatCode>General</c:formatCode>
                <c:ptCount val="6"/>
                <c:pt idx="0" formatCode="0.0%">
                  <c:v>0.68134715025906734</c:v>
                </c:pt>
                <c:pt idx="2" formatCode="0.0%">
                  <c:v>0.29533678756476683</c:v>
                </c:pt>
                <c:pt idx="4" formatCode="0.0%">
                  <c:v>2.072538860103627E-2</c:v>
                </c:pt>
                <c:pt idx="5" formatCode="0.0%">
                  <c:v>2.5906735751295338E-3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1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'지역별 통계 그래프_2월~4월_중복제거'!$C$45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그래프_2월~4월_중복제거'!$B$46:$B$51</c:f>
              <c:strCache>
                <c:ptCount val="6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  <c:pt idx="5">
                  <c:v>전체</c:v>
                </c:pt>
              </c:strCache>
            </c:strRef>
          </c:cat>
          <c:val>
            <c:numRef>
              <c:f>'지역별 통계 그래프_2월~4월_중복제거'!$C$46:$C$51</c:f>
              <c:numCache>
                <c:formatCode>#,###,;</c:formatCode>
                <c:ptCount val="6"/>
                <c:pt idx="0">
                  <c:v>2572175.9235668788</c:v>
                </c:pt>
                <c:pt idx="1">
                  <c:v>1639088.6981402002</c:v>
                </c:pt>
                <c:pt idx="2">
                  <c:v>2007115.3846153845</c:v>
                </c:pt>
                <c:pt idx="3">
                  <c:v>1826884.7926267281</c:v>
                </c:pt>
                <c:pt idx="4">
                  <c:v>2718544.4210526315</c:v>
                </c:pt>
                <c:pt idx="5">
                  <c:v>1942696.8360498562</c:v>
                </c:pt>
              </c:numCache>
            </c:numRef>
          </c:val>
        </c:ser>
        <c:ser>
          <c:idx val="1"/>
          <c:order val="1"/>
          <c:tx>
            <c:strRef>
              <c:f>'지역별 통계 그래프_2월~4월_중복제거'!$D$45</c:f>
              <c:strCache>
                <c:ptCount val="1"/>
                <c:pt idx="0">
                  <c:v>노랑풍선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그래프_2월~4월_중복제거'!$B$46:$B$51</c:f>
              <c:strCache>
                <c:ptCount val="6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  <c:pt idx="5">
                  <c:v>전체</c:v>
                </c:pt>
              </c:strCache>
            </c:strRef>
          </c:cat>
          <c:val>
            <c:numRef>
              <c:f>'지역별 통계 그래프_2월~4월_중복제거'!$D$46:$D$51</c:f>
              <c:numCache>
                <c:formatCode>#,###,;</c:formatCode>
                <c:ptCount val="6"/>
                <c:pt idx="0">
                  <c:v>2745194.3289224952</c:v>
                </c:pt>
                <c:pt idx="1">
                  <c:v>1937496.631823461</c:v>
                </c:pt>
                <c:pt idx="2">
                  <c:v>1762778.4431137724</c:v>
                </c:pt>
                <c:pt idx="3">
                  <c:v>2364774.5928338761</c:v>
                </c:pt>
                <c:pt idx="4">
                  <c:v>2046440.9937888198</c:v>
                </c:pt>
                <c:pt idx="5">
                  <c:v>2333353.5445757252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88790176"/>
        <c:axId val="788790736"/>
      </c:barChart>
      <c:catAx>
        <c:axId val="788790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8790736"/>
        <c:crosses val="autoZero"/>
        <c:auto val="1"/>
        <c:lblAlgn val="ctr"/>
        <c:lblOffset val="100"/>
        <c:noMultiLvlLbl val="0"/>
      </c:catAx>
      <c:valAx>
        <c:axId val="788790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#,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8790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'지역별 통계 그래프'!$C$94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-2.1489713340760861E-2"/>
                  <c:y val="-4.752955276532710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2.1489713340760861E-2"/>
                  <c:y val="1.55553060537086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3.069959048680123E-3"/>
                  <c:y val="1.555530605370867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"/>
                  <c:y val="1.555530605370867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그래프'!$B$95:$B$100</c:f>
              <c:strCache>
                <c:ptCount val="6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  <c:pt idx="5">
                  <c:v>전체</c:v>
                </c:pt>
              </c:strCache>
            </c:strRef>
          </c:cat>
          <c:val>
            <c:numRef>
              <c:f>'지역별 통계 그래프'!$C$95:$C$100</c:f>
              <c:numCache>
                <c:formatCode>#,###,;</c:formatCode>
                <c:ptCount val="6"/>
                <c:pt idx="0">
                  <c:v>1919955.432</c:v>
                </c:pt>
                <c:pt idx="1">
                  <c:v>1543635.514</c:v>
                </c:pt>
                <c:pt idx="2">
                  <c:v>1619416.2679999999</c:v>
                </c:pt>
                <c:pt idx="3">
                  <c:v>1509000</c:v>
                </c:pt>
                <c:pt idx="4">
                  <c:v>2576898.2609999999</c:v>
                </c:pt>
                <c:pt idx="5">
                  <c:v>1664803</c:v>
                </c:pt>
              </c:numCache>
            </c:numRef>
          </c:val>
        </c:ser>
        <c:ser>
          <c:idx val="1"/>
          <c:order val="1"/>
          <c:tx>
            <c:strRef>
              <c:f>'지역별 통계 그래프'!$D$94</c:f>
              <c:strCache>
                <c:ptCount val="1"/>
                <c:pt idx="0">
                  <c:v>노랑풍선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1.2279836194720464E-2"/>
                  <c:y val="-3.111061210741737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-2.592551008951445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2.1489713340760806E-2"/>
                  <c:y val="-2.592551008951445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2.1489713340760861E-2"/>
                  <c:y val="1.03702040358057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그래프'!$B$95:$B$100</c:f>
              <c:strCache>
                <c:ptCount val="6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  <c:pt idx="5">
                  <c:v>전체</c:v>
                </c:pt>
              </c:strCache>
            </c:strRef>
          </c:cat>
          <c:val>
            <c:numRef>
              <c:f>'지역별 통계 그래프'!$D$95:$D$100</c:f>
              <c:numCache>
                <c:formatCode>#,###,;</c:formatCode>
                <c:ptCount val="6"/>
                <c:pt idx="0">
                  <c:v>2041700</c:v>
                </c:pt>
                <c:pt idx="1">
                  <c:v>1667027.027</c:v>
                </c:pt>
                <c:pt idx="2">
                  <c:v>1643364.807</c:v>
                </c:pt>
                <c:pt idx="3">
                  <c:v>2264725.824</c:v>
                </c:pt>
                <c:pt idx="4">
                  <c:v>2089331.3430000001</c:v>
                </c:pt>
                <c:pt idx="5">
                  <c:v>1989840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88793536"/>
        <c:axId val="499687104"/>
      </c:barChart>
      <c:catAx>
        <c:axId val="788793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99687104"/>
        <c:crosses val="autoZero"/>
        <c:auto val="1"/>
        <c:lblAlgn val="ctr"/>
        <c:lblOffset val="100"/>
        <c:noMultiLvlLbl val="0"/>
      </c:catAx>
      <c:valAx>
        <c:axId val="499687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#,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8793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'지역별 통계 그래프_2월~4월_중복제거'!$C$134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4715682378638122E-17"/>
                  <c:y val="3.115592148544237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6053657136861882E-2"/>
                  <c:y val="3.115592148544237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2.247511999160659E-2"/>
                  <c:y val="2.07706143236282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1.9264388564234281E-2"/>
                  <c:y val="2.596326790453531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그래프_2월~4월_중복제거'!$B$135:$B$139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그래프_2월~4월_중복제거'!$C$135:$C$139</c:f>
              <c:numCache>
                <c:formatCode>#,###,;</c:formatCode>
                <c:ptCount val="5"/>
                <c:pt idx="0">
                  <c:v>1820702.7972027971</c:v>
                </c:pt>
                <c:pt idx="1">
                  <c:v>1519900.3267973857</c:v>
                </c:pt>
                <c:pt idx="2">
                  <c:v>1395318.5840707964</c:v>
                </c:pt>
                <c:pt idx="3">
                  <c:v>1482071.9482619241</c:v>
                </c:pt>
                <c:pt idx="4">
                  <c:v>2576898.2608695654</c:v>
                </c:pt>
              </c:numCache>
            </c:numRef>
          </c:val>
        </c:ser>
        <c:ser>
          <c:idx val="1"/>
          <c:order val="1"/>
          <c:tx>
            <c:strRef>
              <c:f>'지역별 통계 그래프_2월~4월_중복제거'!$D$134</c:f>
              <c:strCache>
                <c:ptCount val="1"/>
                <c:pt idx="0">
                  <c:v>라르고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038530716181412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2842925709489481E-2"/>
                  <c:y val="1.038530716181412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1.9264388564234281E-2"/>
                  <c:y val="2.596326790453531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4.15412286472564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그래프_2월~4월_중복제거'!$B$135:$B$139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그래프_2월~4월_중복제거'!$D$135:$D$139</c:f>
              <c:numCache>
                <c:formatCode>#,###,;</c:formatCode>
                <c:ptCount val="5"/>
                <c:pt idx="0">
                  <c:v>2132803.9215686275</c:v>
                </c:pt>
                <c:pt idx="1">
                  <c:v>1643208.9552238807</c:v>
                </c:pt>
                <c:pt idx="2">
                  <c:v>1772476.1904761905</c:v>
                </c:pt>
                <c:pt idx="3">
                  <c:v>1539692.3076923077</c:v>
                </c:pt>
              </c:numCache>
            </c:numRef>
          </c:val>
        </c:ser>
        <c:ser>
          <c:idx val="2"/>
          <c:order val="2"/>
          <c:tx>
            <c:strRef>
              <c:f>'지역별 통계 그래프_2월~4월_중복제거'!$E$134</c:f>
              <c:strCache>
                <c:ptCount val="1"/>
                <c:pt idx="0">
                  <c:v>라르고+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-3.115592148544237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그래프_2월~4월_중복제거'!$B$135:$B$139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그래프_2월~4월_중복제거'!$E$135:$E$139</c:f>
              <c:numCache>
                <c:formatCode>#,###,;</c:formatCode>
                <c:ptCount val="5"/>
                <c:pt idx="0">
                  <c:v>2716818.1818181816</c:v>
                </c:pt>
                <c:pt idx="1">
                  <c:v>1938000</c:v>
                </c:pt>
                <c:pt idx="2">
                  <c:v>2094575.7575757576</c:v>
                </c:pt>
                <c:pt idx="3">
                  <c:v>3649866.6666666665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99690464"/>
        <c:axId val="499691024"/>
      </c:barChart>
      <c:catAx>
        <c:axId val="499690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99691024"/>
        <c:crosses val="autoZero"/>
        <c:auto val="1"/>
        <c:lblAlgn val="ctr"/>
        <c:lblOffset val="100"/>
        <c:noMultiLvlLbl val="0"/>
      </c:catAx>
      <c:valAx>
        <c:axId val="499691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#,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99690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'지역별 통계 그래프_2월~4월_중복제거'!$C$147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그래프_2월~4월_중복제거'!$B$148:$B$152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그래프_2월~4월_중복제거'!$C$148:$C$152</c:f>
              <c:numCache>
                <c:formatCode>#,###,;</c:formatCode>
                <c:ptCount val="5"/>
                <c:pt idx="0">
                  <c:v>1925927.551020408</c:v>
                </c:pt>
                <c:pt idx="1">
                  <c:v>1667027.027027027</c:v>
                </c:pt>
                <c:pt idx="2">
                  <c:v>1325147.4285714286</c:v>
                </c:pt>
                <c:pt idx="3">
                  <c:v>2077164.7761194031</c:v>
                </c:pt>
                <c:pt idx="4">
                  <c:v>2089331.343283582</c:v>
                </c:pt>
              </c:numCache>
            </c:numRef>
          </c:val>
        </c:ser>
        <c:ser>
          <c:idx val="1"/>
          <c:order val="1"/>
          <c:tx>
            <c:strRef>
              <c:f>'지역별 통계 그래프_2월~4월_중복제거'!$D$147</c:f>
              <c:strCache>
                <c:ptCount val="1"/>
                <c:pt idx="0">
                  <c:v>시그니쳐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280465887935037E-2"/>
                  <c:y val="2.07706143236282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그래프_2월~4월_중복제거'!$B$148:$B$152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그래프_2월~4월_중복제거'!$D$148:$D$152</c:f>
              <c:numCache>
                <c:formatCode>#,###,;</c:formatCode>
                <c:ptCount val="5"/>
                <c:pt idx="0">
                  <c:v>3233466.6666666665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'지역별 통계 그래프_2월~4월_중복제거'!$E$147</c:f>
              <c:strCache>
                <c:ptCount val="1"/>
                <c:pt idx="0">
                  <c:v>프리미엄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 통계 그래프_2월~4월_중복제거'!$B$148:$B$152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'지역별 통계 그래프_2월~4월_중복제거'!$E$148:$E$152</c:f>
              <c:numCache>
                <c:formatCode>#,###,;</c:formatCode>
                <c:ptCount val="5"/>
                <c:pt idx="0">
                  <c:v>3714000</c:v>
                </c:pt>
                <c:pt idx="1">
                  <c:v>0</c:v>
                </c:pt>
                <c:pt idx="2">
                  <c:v>2603503.4482758623</c:v>
                </c:pt>
                <c:pt idx="3">
                  <c:v>4431379.3103448274</c:v>
                </c:pt>
                <c:pt idx="4">
                  <c:v>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99694384"/>
        <c:axId val="809709392"/>
      </c:barChart>
      <c:catAx>
        <c:axId val="499694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9709392"/>
        <c:crosses val="autoZero"/>
        <c:auto val="1"/>
        <c:lblAlgn val="ctr"/>
        <c:lblOffset val="100"/>
        <c:noMultiLvlLbl val="0"/>
      </c:catAx>
      <c:valAx>
        <c:axId val="809709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#,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99694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Sheet1!$K$76</c:f>
              <c:strCache>
                <c:ptCount val="1"/>
                <c:pt idx="0">
                  <c:v>비율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Sheet1!$I$77:$I$78</c:f>
              <c:strCache>
                <c:ptCount val="2"/>
                <c:pt idx="0">
                  <c:v>출발확정</c:v>
                </c:pt>
                <c:pt idx="1">
                  <c:v>미정</c:v>
                </c:pt>
              </c:strCache>
            </c:strRef>
          </c:cat>
          <c:val>
            <c:numRef>
              <c:f>Sheet1!$K$77:$K$78</c:f>
              <c:numCache>
                <c:formatCode>0%</c:formatCode>
                <c:ptCount val="2"/>
                <c:pt idx="0">
                  <c:v>0.18</c:v>
                </c:pt>
                <c:pt idx="1">
                  <c:v>0.82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Sheet1!$D$76</c:f>
              <c:strCache>
                <c:ptCount val="1"/>
                <c:pt idx="0">
                  <c:v>비율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Sheet1!$B$77:$B$78</c:f>
              <c:strCache>
                <c:ptCount val="2"/>
                <c:pt idx="0">
                  <c:v>출발확정</c:v>
                </c:pt>
                <c:pt idx="1">
                  <c:v>미정</c:v>
                </c:pt>
              </c:strCache>
            </c:strRef>
          </c:cat>
          <c:val>
            <c:numRef>
              <c:f>Sheet1!$D$77:$D$78</c:f>
              <c:numCache>
                <c:formatCode>0%</c:formatCode>
                <c:ptCount val="2"/>
                <c:pt idx="0">
                  <c:v>0.31917098445595854</c:v>
                </c:pt>
                <c:pt idx="1">
                  <c:v>0.6808290155440414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497137843690153"/>
          <c:y val="0.14315041762789205"/>
          <c:w val="0.3388813929204163"/>
          <c:h val="0.75035851108786467"/>
        </c:manualLayout>
      </c:layout>
      <c:pieChart>
        <c:varyColors val="1"/>
        <c:ser>
          <c:idx val="0"/>
          <c:order val="0"/>
          <c:tx>
            <c:strRef>
              <c:f>Sheet1!$L$84</c:f>
              <c:strCache>
                <c:ptCount val="1"/>
                <c:pt idx="0">
                  <c:v>출발확정비율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Sheet1!$I$85:$I$89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Sheet1!$L$85:$L$89</c:f>
              <c:numCache>
                <c:formatCode>0%</c:formatCode>
                <c:ptCount val="5"/>
                <c:pt idx="0">
                  <c:v>0.12649753347427767</c:v>
                </c:pt>
                <c:pt idx="1">
                  <c:v>0.26391825229034532</c:v>
                </c:pt>
                <c:pt idx="2">
                  <c:v>7.3643410852713184E-2</c:v>
                </c:pt>
                <c:pt idx="3">
                  <c:v>0.45489781536293167</c:v>
                </c:pt>
                <c:pt idx="4">
                  <c:v>8.1042988019732212E-2</c:v>
                </c:pt>
              </c:numCache>
            </c:numRef>
          </c:val>
        </c:ser>
        <c:ser>
          <c:idx val="1"/>
          <c:order val="1"/>
          <c:tx>
            <c:strRef>
              <c:f>Sheet1!$M$84</c:f>
              <c:strCache>
                <c:ptCount val="1"/>
                <c:pt idx="0">
                  <c:v>미정비율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Sheet1!$I$85:$I$89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Sheet1!$M$85:$M$89</c:f>
              <c:numCache>
                <c:formatCode>0%</c:formatCode>
                <c:ptCount val="5"/>
                <c:pt idx="0">
                  <c:v>0.21714687280393535</c:v>
                </c:pt>
                <c:pt idx="1">
                  <c:v>0.48731162645428283</c:v>
                </c:pt>
                <c:pt idx="2">
                  <c:v>0.14000156164597485</c:v>
                </c:pt>
                <c:pt idx="3">
                  <c:v>0.13601936441008824</c:v>
                </c:pt>
                <c:pt idx="4">
                  <c:v>1.9520574685718748E-2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561384289288487"/>
          <c:y val="0.14270311668433977"/>
          <c:w val="0.34776715193101321"/>
          <c:h val="0.78021482140222365"/>
        </c:manualLayout>
      </c:layout>
      <c:pieChart>
        <c:varyColors val="1"/>
        <c:ser>
          <c:idx val="0"/>
          <c:order val="0"/>
          <c:tx>
            <c:strRef>
              <c:f>Sheet1!$E$84</c:f>
              <c:strCache>
                <c:ptCount val="1"/>
                <c:pt idx="0">
                  <c:v>출발확정비율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Sheet1!$B$85:$B$89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Sheet1!$E$85:$E$89</c:f>
              <c:numCache>
                <c:formatCode>0%</c:formatCode>
                <c:ptCount val="5"/>
                <c:pt idx="0">
                  <c:v>0.34090909090909088</c:v>
                </c:pt>
                <c:pt idx="1">
                  <c:v>0.12012987012987013</c:v>
                </c:pt>
                <c:pt idx="2">
                  <c:v>0.18912337662337661</c:v>
                </c:pt>
                <c:pt idx="3">
                  <c:v>0.29545454545454547</c:v>
                </c:pt>
                <c:pt idx="4">
                  <c:v>5.438311688311688E-2</c:v>
                </c:pt>
              </c:numCache>
            </c:numRef>
          </c:val>
        </c:ser>
        <c:ser>
          <c:idx val="1"/>
          <c:order val="1"/>
          <c:tx>
            <c:strRef>
              <c:f>Sheet1!$F$84</c:f>
              <c:strCache>
                <c:ptCount val="1"/>
                <c:pt idx="0">
                  <c:v>미정비율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Sheet1!$B$85:$B$89</c:f>
              <c:strCache>
                <c:ptCount val="5"/>
                <c:pt idx="0">
                  <c:v>서유럽</c:v>
                </c:pt>
                <c:pt idx="1">
                  <c:v>동유럽</c:v>
                </c:pt>
                <c:pt idx="2">
                  <c:v>지중해</c:v>
                </c:pt>
                <c:pt idx="3">
                  <c:v>스페인</c:v>
                </c:pt>
                <c:pt idx="4">
                  <c:v>북유럽</c:v>
                </c:pt>
              </c:strCache>
            </c:strRef>
          </c:cat>
          <c:val>
            <c:numRef>
              <c:f>Sheet1!$F$85:$F$89</c:f>
              <c:numCache>
                <c:formatCode>0%</c:formatCode>
                <c:ptCount val="5"/>
                <c:pt idx="0">
                  <c:v>0.44406392694063929</c:v>
                </c:pt>
                <c:pt idx="1">
                  <c:v>0.2713089802130898</c:v>
                </c:pt>
                <c:pt idx="2">
                  <c:v>0.1019786910197869</c:v>
                </c:pt>
                <c:pt idx="3">
                  <c:v>9.5129375951293754E-2</c:v>
                </c:pt>
                <c:pt idx="4">
                  <c:v>8.7519025875190254E-2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'월별 통계 그래프'!$R$81</c:f>
              <c:strCache>
                <c:ptCount val="1"/>
                <c:pt idx="0">
                  <c:v>VGT 실예약인원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4285748519114407E-17"/>
                  <c:y val="-3.016667000343744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-2.58571457172320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'월별 통계 그래프'!$Q$82:$Q$85</c:f>
              <c:strCache>
                <c:ptCount val="4"/>
                <c:pt idx="0">
                  <c:v>2월</c:v>
                </c:pt>
                <c:pt idx="1">
                  <c:v>3월</c:v>
                </c:pt>
                <c:pt idx="2">
                  <c:v>4월</c:v>
                </c:pt>
                <c:pt idx="3">
                  <c:v>전체</c:v>
                </c:pt>
              </c:strCache>
            </c:strRef>
          </c:cat>
          <c:val>
            <c:numRef>
              <c:f>'월별 통계 그래프'!$R$82:$R$85</c:f>
              <c:numCache>
                <c:formatCode>_(* #,##0_);_(* \(#,##0\);_(* "-"_);_(@_)</c:formatCode>
                <c:ptCount val="4"/>
                <c:pt idx="0">
                  <c:v>6757</c:v>
                </c:pt>
                <c:pt idx="1">
                  <c:v>7382</c:v>
                </c:pt>
                <c:pt idx="2">
                  <c:v>5732</c:v>
                </c:pt>
                <c:pt idx="3">
                  <c:v>19871</c:v>
                </c:pt>
              </c:numCache>
            </c:numRef>
          </c:val>
        </c:ser>
        <c:ser>
          <c:idx val="1"/>
          <c:order val="1"/>
          <c:tx>
            <c:strRef>
              <c:f>'월별 통계 그래프'!$S$81</c:f>
              <c:strCache>
                <c:ptCount val="1"/>
                <c:pt idx="0">
                  <c:v>노랑풍선 실예약인원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5584632962873108E-3"/>
                  <c:y val="1.292857285861604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4.6753898888619895E-3"/>
                  <c:y val="1.72380971448212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1.723809714482139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'월별 통계 그래프'!$Q$82:$Q$85</c:f>
              <c:strCache>
                <c:ptCount val="4"/>
                <c:pt idx="0">
                  <c:v>2월</c:v>
                </c:pt>
                <c:pt idx="1">
                  <c:v>3월</c:v>
                </c:pt>
                <c:pt idx="2">
                  <c:v>4월</c:v>
                </c:pt>
                <c:pt idx="3">
                  <c:v>전체</c:v>
                </c:pt>
              </c:strCache>
            </c:strRef>
          </c:cat>
          <c:val>
            <c:numRef>
              <c:f>'월별 통계 그래프'!$S$82:$S$85</c:f>
              <c:numCache>
                <c:formatCode>_(* #,##0_);_(* \(#,##0\);_(* "-"_);_(@_)</c:formatCode>
                <c:ptCount val="4"/>
                <c:pt idx="0">
                  <c:v>4801</c:v>
                </c:pt>
                <c:pt idx="1">
                  <c:v>5637</c:v>
                </c:pt>
                <c:pt idx="2">
                  <c:v>2239</c:v>
                </c:pt>
                <c:pt idx="3">
                  <c:v>12677</c:v>
                </c:pt>
              </c:numCache>
            </c:numRef>
          </c:val>
        </c:ser>
        <c:ser>
          <c:idx val="2"/>
          <c:order val="2"/>
          <c:tx>
            <c:strRef>
              <c:f>'월별 통계 그래프'!$T$81</c:f>
              <c:strCache>
                <c:ptCount val="1"/>
                <c:pt idx="0">
                  <c:v>VGT 허수포함 인원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accen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'월별 통계 그래프'!$Q$82:$Q$85</c:f>
              <c:strCache>
                <c:ptCount val="4"/>
                <c:pt idx="0">
                  <c:v>2월</c:v>
                </c:pt>
                <c:pt idx="1">
                  <c:v>3월</c:v>
                </c:pt>
                <c:pt idx="2">
                  <c:v>4월</c:v>
                </c:pt>
                <c:pt idx="3">
                  <c:v>전체</c:v>
                </c:pt>
              </c:strCache>
            </c:strRef>
          </c:cat>
          <c:val>
            <c:numRef>
              <c:f>'월별 통계 그래프'!$T$82:$T$85</c:f>
              <c:numCache>
                <c:formatCode>_(* #,##0_);_(* \(#,##0\);_(* "-"_);_(@_)</c:formatCode>
                <c:ptCount val="4"/>
                <c:pt idx="0">
                  <c:v>35904</c:v>
                </c:pt>
                <c:pt idx="1">
                  <c:v>38537</c:v>
                </c:pt>
                <c:pt idx="2">
                  <c:v>34546</c:v>
                </c:pt>
                <c:pt idx="3">
                  <c:v>108987</c:v>
                </c:pt>
              </c:numCache>
            </c:numRef>
          </c:val>
        </c:ser>
        <c:ser>
          <c:idx val="3"/>
          <c:order val="3"/>
          <c:tx>
            <c:strRef>
              <c:f>'월별 통계 그래프'!$U$81</c:f>
              <c:strCache>
                <c:ptCount val="1"/>
                <c:pt idx="0">
                  <c:v>노랑풍선 허수포함 인원</c:v>
                </c:pt>
              </c:strCache>
            </c:strRef>
          </c:tx>
          <c:spPr>
            <a:pattFill prst="wdUpDiag">
              <a:fgClr>
                <a:schemeClr val="accent4"/>
              </a:fgClr>
              <a:bgClr>
                <a:schemeClr val="bg1"/>
              </a:bgClr>
            </a:pattFill>
            <a:ln>
              <a:solidFill>
                <a:schemeClr val="accent4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'월별 통계 그래프'!$Q$82:$Q$85</c:f>
              <c:strCache>
                <c:ptCount val="4"/>
                <c:pt idx="0">
                  <c:v>2월</c:v>
                </c:pt>
                <c:pt idx="1">
                  <c:v>3월</c:v>
                </c:pt>
                <c:pt idx="2">
                  <c:v>4월</c:v>
                </c:pt>
                <c:pt idx="3">
                  <c:v>전체</c:v>
                </c:pt>
              </c:strCache>
            </c:strRef>
          </c:cat>
          <c:val>
            <c:numRef>
              <c:f>'월별 통계 그래프'!$U$82:$U$85</c:f>
              <c:numCache>
                <c:formatCode>_(* #,##0_);_(* \(#,##0\);_(* "-"_);_(@_)</c:formatCode>
                <c:ptCount val="4"/>
                <c:pt idx="0">
                  <c:v>14225</c:v>
                </c:pt>
                <c:pt idx="1">
                  <c:v>17801</c:v>
                </c:pt>
                <c:pt idx="2">
                  <c:v>7982</c:v>
                </c:pt>
                <c:pt idx="3">
                  <c:v>40008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86062240"/>
        <c:axId val="786062800"/>
      </c:barChart>
      <c:catAx>
        <c:axId val="786062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6062800"/>
        <c:crosses val="autoZero"/>
        <c:auto val="1"/>
        <c:lblAlgn val="ctr"/>
        <c:lblOffset val="100"/>
        <c:noMultiLvlLbl val="0"/>
      </c:catAx>
      <c:valAx>
        <c:axId val="786062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6062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0.61408</cdr:x>
      <cdr:y>0.66994</cdr:y>
    </cdr:from>
    <cdr:to>
      <cdr:x>0.81895</cdr:x>
      <cdr:y>0.76707</cdr:y>
    </cdr:to>
    <cdr:sp macro="" textlink="">
      <cdr:nvSpPr>
        <cdr:cNvPr id="2" name="TextBox 27"/>
        <cdr:cNvSpPr txBox="1"/>
      </cdr:nvSpPr>
      <cdr:spPr>
        <a:xfrm xmlns:a="http://schemas.openxmlformats.org/drawingml/2006/main">
          <a:off x="2361355" y="1592163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(2,630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0.04284</cdr:x>
      <cdr:y>0.29678</cdr:y>
    </cdr:from>
    <cdr:to>
      <cdr:x>0.24771</cdr:x>
      <cdr:y>0.39391</cdr:y>
    </cdr:to>
    <cdr:sp macro="" textlink="">
      <cdr:nvSpPr>
        <cdr:cNvPr id="3" name="TextBox 27"/>
        <cdr:cNvSpPr txBox="1"/>
      </cdr:nvSpPr>
      <cdr:spPr>
        <a:xfrm xmlns:a="http://schemas.openxmlformats.org/drawingml/2006/main">
          <a:off x="164725" y="705318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(1,140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0.18278</cdr:x>
      <cdr:y>0.00489</cdr:y>
    </cdr:from>
    <cdr:to>
      <cdr:x>0.3183</cdr:x>
      <cdr:y>0.10202</cdr:y>
    </cdr:to>
    <cdr:sp macro="" textlink="">
      <cdr:nvSpPr>
        <cdr:cNvPr id="4" name="TextBox 27"/>
        <cdr:cNvSpPr txBox="1"/>
      </cdr:nvSpPr>
      <cdr:spPr>
        <a:xfrm xmlns:a="http://schemas.openxmlformats.org/drawingml/2006/main">
          <a:off x="702845" y="11626"/>
          <a:ext cx="521137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(80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0.5032</cdr:x>
      <cdr:y>0.00468</cdr:y>
    </cdr:from>
    <cdr:to>
      <cdr:x>0.63872</cdr:x>
      <cdr:y>0.10181</cdr:y>
    </cdr:to>
    <cdr:sp macro="" textlink="">
      <cdr:nvSpPr>
        <cdr:cNvPr id="5" name="TextBox 27"/>
        <cdr:cNvSpPr txBox="1"/>
      </cdr:nvSpPr>
      <cdr:spPr>
        <a:xfrm xmlns:a="http://schemas.openxmlformats.org/drawingml/2006/main">
          <a:off x="1934964" y="11120"/>
          <a:ext cx="521137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(10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0.51125</cdr:x>
      <cdr:y>0.08984</cdr:y>
    </cdr:from>
    <cdr:to>
      <cdr:x>0.7182</cdr:x>
      <cdr:y>0.21815</cdr:y>
    </cdr:to>
    <cdr:sp macro="" textlink="">
      <cdr:nvSpPr>
        <cdr:cNvPr id="2" name="TextBox 27"/>
        <cdr:cNvSpPr txBox="1"/>
      </cdr:nvSpPr>
      <cdr:spPr>
        <a:xfrm xmlns:a="http://schemas.openxmlformats.org/drawingml/2006/main">
          <a:off x="2006004" y="161631"/>
          <a:ext cx="811988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(2,838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0.06751</cdr:x>
      <cdr:y>0.53718</cdr:y>
    </cdr:from>
    <cdr:to>
      <cdr:x>0.24744</cdr:x>
      <cdr:y>0.67045</cdr:y>
    </cdr:to>
    <cdr:sp macro="" textlink="">
      <cdr:nvSpPr>
        <cdr:cNvPr id="2" name="TextBox 27"/>
        <cdr:cNvSpPr txBox="1"/>
      </cdr:nvSpPr>
      <cdr:spPr>
        <a:xfrm xmlns:a="http://schemas.openxmlformats.org/drawingml/2006/main">
          <a:off x="258911" y="930488"/>
          <a:ext cx="690103" cy="23084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(1,291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0.57304</cdr:x>
      <cdr:y>0.43337</cdr:y>
    </cdr:from>
    <cdr:to>
      <cdr:x>0.75297</cdr:x>
      <cdr:y>0.56663</cdr:y>
    </cdr:to>
    <cdr:sp macro="" textlink="">
      <cdr:nvSpPr>
        <cdr:cNvPr id="3" name="TextBox 27"/>
        <cdr:cNvSpPr txBox="1"/>
      </cdr:nvSpPr>
      <cdr:spPr>
        <a:xfrm xmlns:a="http://schemas.openxmlformats.org/drawingml/2006/main">
          <a:off x="2197840" y="750665"/>
          <a:ext cx="690113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(749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0.46483</cdr:x>
      <cdr:y>0.05914</cdr:y>
    </cdr:from>
    <cdr:to>
      <cdr:x>0.64476</cdr:x>
      <cdr:y>0.1924</cdr:y>
    </cdr:to>
    <cdr:sp macro="" textlink="">
      <cdr:nvSpPr>
        <cdr:cNvPr id="4" name="TextBox 27"/>
        <cdr:cNvSpPr txBox="1"/>
      </cdr:nvSpPr>
      <cdr:spPr>
        <a:xfrm xmlns:a="http://schemas.openxmlformats.org/drawingml/2006/main">
          <a:off x="1782813" y="102441"/>
          <a:ext cx="690113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(359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0.26859</cdr:x>
      <cdr:y>0.01777</cdr:y>
    </cdr:from>
    <cdr:to>
      <cdr:x>0.44852</cdr:x>
      <cdr:y>0.15103</cdr:y>
    </cdr:to>
    <cdr:sp macro="" textlink="">
      <cdr:nvSpPr>
        <cdr:cNvPr id="5" name="TextBox 27"/>
        <cdr:cNvSpPr txBox="1"/>
      </cdr:nvSpPr>
      <cdr:spPr>
        <a:xfrm xmlns:a="http://schemas.openxmlformats.org/drawingml/2006/main">
          <a:off x="1030139" y="30780"/>
          <a:ext cx="690113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(230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0.47462</cdr:x>
      <cdr:y>0.81908</cdr:y>
    </cdr:from>
    <cdr:to>
      <cdr:x>0.65455</cdr:x>
      <cdr:y>0.95234</cdr:y>
    </cdr:to>
    <cdr:sp macro="" textlink="">
      <cdr:nvSpPr>
        <cdr:cNvPr id="6" name="TextBox 27"/>
        <cdr:cNvSpPr txBox="1"/>
      </cdr:nvSpPr>
      <cdr:spPr>
        <a:xfrm xmlns:a="http://schemas.openxmlformats.org/drawingml/2006/main">
          <a:off x="1820343" y="1418785"/>
          <a:ext cx="690103" cy="230828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(209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0.55017</cdr:x>
      <cdr:y>0.28689</cdr:y>
    </cdr:from>
    <cdr:to>
      <cdr:x>0.72677</cdr:x>
      <cdr:y>0.41941</cdr:y>
    </cdr:to>
    <cdr:sp macro="" textlink="">
      <cdr:nvSpPr>
        <cdr:cNvPr id="2" name="TextBox 27"/>
        <cdr:cNvSpPr txBox="1"/>
      </cdr:nvSpPr>
      <cdr:spPr>
        <a:xfrm xmlns:a="http://schemas.openxmlformats.org/drawingml/2006/main">
          <a:off x="2149948" y="499712"/>
          <a:ext cx="690113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(420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0.11535</cdr:x>
      <cdr:y>0.32659</cdr:y>
    </cdr:from>
    <cdr:to>
      <cdr:x>0.29195</cdr:x>
      <cdr:y>0.45911</cdr:y>
    </cdr:to>
    <cdr:sp macro="" textlink="">
      <cdr:nvSpPr>
        <cdr:cNvPr id="3" name="TextBox 27"/>
        <cdr:cNvSpPr txBox="1"/>
      </cdr:nvSpPr>
      <cdr:spPr>
        <a:xfrm xmlns:a="http://schemas.openxmlformats.org/drawingml/2006/main">
          <a:off x="450745" y="568861"/>
          <a:ext cx="690113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(364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0.19661</cdr:x>
      <cdr:y>0.83038</cdr:y>
    </cdr:from>
    <cdr:to>
      <cdr:x>0.37321</cdr:x>
      <cdr:y>0.96291</cdr:y>
    </cdr:to>
    <cdr:sp macro="" textlink="">
      <cdr:nvSpPr>
        <cdr:cNvPr id="4" name="TextBox 27"/>
        <cdr:cNvSpPr txBox="1"/>
      </cdr:nvSpPr>
      <cdr:spPr>
        <a:xfrm xmlns:a="http://schemas.openxmlformats.org/drawingml/2006/main">
          <a:off x="768322" y="1446376"/>
          <a:ext cx="690113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(233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0.50419</cdr:x>
      <cdr:y>0.81681</cdr:y>
    </cdr:from>
    <cdr:to>
      <cdr:x>0.68079</cdr:x>
      <cdr:y>0.94933</cdr:y>
    </cdr:to>
    <cdr:sp macro="" textlink="">
      <cdr:nvSpPr>
        <cdr:cNvPr id="5" name="TextBox 27"/>
        <cdr:cNvSpPr txBox="1"/>
      </cdr:nvSpPr>
      <cdr:spPr>
        <a:xfrm xmlns:a="http://schemas.openxmlformats.org/drawingml/2006/main">
          <a:off x="1970275" y="1422736"/>
          <a:ext cx="690113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(148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0.24135</cdr:x>
      <cdr:y>0</cdr:y>
    </cdr:from>
    <cdr:to>
      <cdr:x>0.39539</cdr:x>
      <cdr:y>0.13252</cdr:y>
    </cdr:to>
    <cdr:sp macro="" textlink="">
      <cdr:nvSpPr>
        <cdr:cNvPr id="6" name="TextBox 27"/>
        <cdr:cNvSpPr txBox="1"/>
      </cdr:nvSpPr>
      <cdr:spPr>
        <a:xfrm xmlns:a="http://schemas.openxmlformats.org/drawingml/2006/main">
          <a:off x="943142" y="0"/>
          <a:ext cx="601953" cy="230826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(67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A0955C6A-6286-4949-9C38-5C6816709A16}" type="datetimeFigureOut">
              <a:rPr lang="ko-KR" altLang="en-US" smtClean="0"/>
              <a:pPr/>
              <a:t>2019-08-06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EA6DC73E-640F-427F-8594-F1EAD922FE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338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C3EB8B3F-9BB8-45CF-84EB-0981187662AA}" type="datetimeFigureOut">
              <a:rPr lang="ko-KR" altLang="en-US" smtClean="0"/>
              <a:pPr/>
              <a:t>2019-08-06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1" tIns="45706" rIns="91411" bIns="4570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61"/>
            <a:ext cx="5438140" cy="3909239"/>
          </a:xfrm>
          <a:prstGeom prst="rect">
            <a:avLst/>
          </a:prstGeom>
        </p:spPr>
        <p:txBody>
          <a:bodyPr vert="horz" lIns="91411" tIns="45706" rIns="91411" bIns="45706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AF0E615B-3410-43A0-B6DB-1161CA106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38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28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105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965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8F662C83-1826-4FDF-8202-A8AA69C17CCA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9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820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547C085A-8814-44C9-BFB8-4CB754621C4A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7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445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F3ED9-DC74-4C8C-8377-0099832BA421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74B24-6935-4E71-8911-83EF8794972C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/32</a:t>
            </a:r>
            <a:endParaRPr lang="ko-KR" altLang="en-US" dirty="0"/>
          </a:p>
        </p:txBody>
      </p:sp>
      <p:sp>
        <p:nvSpPr>
          <p:cNvPr id="5" name="바닥글 개체 틀 1"/>
          <p:cNvSpPr>
            <a:spLocks noGrp="1"/>
          </p:cNvSpPr>
          <p:nvPr>
            <p:ph type="ftr" sz="quarter" idx="12"/>
          </p:nvPr>
        </p:nvSpPr>
        <p:spPr>
          <a:xfrm>
            <a:off x="7404100" y="6584950"/>
            <a:ext cx="1739900" cy="269875"/>
          </a:xfrm>
        </p:spPr>
        <p:txBody>
          <a:bodyPr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776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5AF6-6FE2-48DD-99FF-C1C068A84852}" type="datetimeFigureOut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EE55-A442-4036-8769-465FA5838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073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0671D377-CDAF-4134-A811-9042D82CE6EE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>
                <a:ea typeface="Tahoma" panose="020B0604030504040204" pitchFamily="34" charset="0"/>
              </a:rPr>
              <a:t>/ 10</a:t>
            </a:r>
            <a:endParaRPr lang="ko-KR" altLang="en-US" dirty="0"/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4" r:id="rId2"/>
    <p:sldLayoutId id="2147483685" r:id="rId3"/>
    <p:sldLayoutId id="2147483686" r:id="rId4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992379" y="4817927"/>
            <a:ext cx="3159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2019.01</a:t>
            </a:r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IT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미래전략부문</a:t>
            </a:r>
            <a:endParaRPr lang="en-US" altLang="ko-KR" sz="1200" dirty="0" smtClean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여승은</a:t>
            </a:r>
            <a:r>
              <a:rPr lang="en-US" altLang="ko-KR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정혜진 사원</a:t>
            </a:r>
            <a:endParaRPr lang="ko-KR" altLang="en-US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7750" y="2736642"/>
            <a:ext cx="6768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웹 </a:t>
            </a:r>
            <a:r>
              <a:rPr lang="ko-KR" alt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크롤링을</a:t>
            </a:r>
            <a:r>
              <a:rPr lang="ko-KR" altLang="en-US" sz="30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통한 상품비교 분석</a:t>
            </a:r>
            <a:endParaRPr lang="en-US" altLang="ko-KR" sz="30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7750" y="3546452"/>
            <a:ext cx="676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VGT &amp; </a:t>
            </a:r>
            <a:r>
              <a:rPr lang="ko-KR" altLang="en-US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노랑풍선 유럽 상품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3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62037" y="1900842"/>
            <a:ext cx="761992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smtClean="0">
                <a:latin typeface="+mn-ea"/>
              </a:rPr>
              <a:t>분석목적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    : </a:t>
            </a:r>
            <a:r>
              <a:rPr lang="ko-KR" altLang="en-US" sz="1600" dirty="0" err="1" smtClean="0">
                <a:latin typeface="+mn-ea"/>
              </a:rPr>
              <a:t>참좋은여행과</a:t>
            </a:r>
            <a:r>
              <a:rPr lang="ko-KR" altLang="en-US" sz="1600" dirty="0" smtClean="0">
                <a:latin typeface="+mn-ea"/>
              </a:rPr>
              <a:t> 노랑풍선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상품 비교 및 자사의 전략적 </a:t>
            </a:r>
            <a:r>
              <a:rPr lang="ko-KR" altLang="en-US" sz="1600" dirty="0" err="1" smtClean="0">
                <a:latin typeface="+mn-ea"/>
              </a:rPr>
              <a:t>포지셔닝</a:t>
            </a:r>
            <a:r>
              <a:rPr lang="ko-KR" altLang="en-US" sz="1600" dirty="0" smtClean="0">
                <a:latin typeface="+mn-ea"/>
              </a:rPr>
              <a:t> 분석</a:t>
            </a:r>
            <a:endParaRPr lang="en-US" altLang="ko-KR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+mn-ea"/>
              </a:rPr>
              <a:t>2. </a:t>
            </a:r>
            <a:r>
              <a:rPr lang="ko-KR" altLang="en-US" b="1" dirty="0" smtClean="0">
                <a:latin typeface="+mn-ea"/>
              </a:rPr>
              <a:t>분석범위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    : </a:t>
            </a:r>
            <a:r>
              <a:rPr lang="en-US" altLang="ko-KR" sz="1600" b="1" dirty="0" smtClean="0">
                <a:latin typeface="+mn-ea"/>
              </a:rPr>
              <a:t>2019</a:t>
            </a:r>
            <a:r>
              <a:rPr lang="ko-KR" altLang="en-US" sz="1600" b="1" dirty="0" smtClean="0">
                <a:latin typeface="+mn-ea"/>
              </a:rPr>
              <a:t>년 </a:t>
            </a:r>
            <a:r>
              <a:rPr lang="en-US" altLang="ko-KR" sz="1600" b="1" dirty="0" smtClean="0">
                <a:latin typeface="+mn-ea"/>
              </a:rPr>
              <a:t>2</a:t>
            </a:r>
            <a:r>
              <a:rPr lang="ko-KR" altLang="en-US" sz="1600" b="1" dirty="0" smtClean="0">
                <a:latin typeface="+mn-ea"/>
              </a:rPr>
              <a:t>월</a:t>
            </a:r>
            <a:r>
              <a:rPr lang="en-US" altLang="ko-KR" sz="1600" b="1" dirty="0" smtClean="0">
                <a:latin typeface="+mn-ea"/>
              </a:rPr>
              <a:t>~4</a:t>
            </a:r>
            <a:r>
              <a:rPr lang="ko-KR" altLang="en-US" sz="1600" b="1" dirty="0" smtClean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/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 smtClean="0">
                <a:latin typeface="+mn-ea"/>
              </a:rPr>
              <a:t>        </a:t>
            </a:r>
            <a:r>
              <a:rPr lang="ko-KR" altLang="en-US" sz="1600" dirty="0">
                <a:latin typeface="+mn-ea"/>
              </a:rPr>
              <a:t>서유럽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동유럽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smtClean="0">
                <a:latin typeface="+mn-ea"/>
              </a:rPr>
              <a:t>지중해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ko-KR" altLang="en-US" sz="1600" dirty="0" smtClean="0">
                <a:latin typeface="+mn-ea"/>
              </a:rPr>
              <a:t>스페인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ko-KR" altLang="en-US" sz="1600" dirty="0" smtClean="0">
                <a:latin typeface="+mn-ea"/>
              </a:rPr>
              <a:t>북유럽</a:t>
            </a:r>
            <a:r>
              <a:rPr lang="en-US" altLang="ko-KR" sz="1600" dirty="0" smtClean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인도</a:t>
            </a:r>
            <a:r>
              <a:rPr lang="en-US" altLang="ko-KR" sz="1200" dirty="0" smtClean="0">
                <a:latin typeface="+mn-ea"/>
              </a:rPr>
              <a:t>,</a:t>
            </a:r>
            <a:r>
              <a:rPr lang="ko-KR" altLang="en-US" sz="1200" dirty="0" smtClean="0">
                <a:latin typeface="+mn-ea"/>
              </a:rPr>
              <a:t> 아프리카 지역 제외</a:t>
            </a:r>
            <a:r>
              <a:rPr lang="en-US" altLang="ko-KR" sz="1200" dirty="0" smtClean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+mn-ea"/>
              </a:rPr>
              <a:t>3. </a:t>
            </a:r>
            <a:r>
              <a:rPr lang="ko-KR" altLang="en-US" b="1" dirty="0" smtClean="0">
                <a:latin typeface="+mn-ea"/>
              </a:rPr>
              <a:t>분석방법</a:t>
            </a:r>
            <a:r>
              <a:rPr lang="en-US" altLang="ko-KR" sz="1600" b="1" dirty="0">
                <a:latin typeface="+mn-ea"/>
              </a:rPr>
              <a:t/>
            </a:r>
            <a:br>
              <a:rPr lang="en-US" altLang="ko-KR" sz="1600" b="1" dirty="0">
                <a:latin typeface="+mn-ea"/>
              </a:rPr>
            </a:br>
            <a:r>
              <a:rPr lang="en-US" altLang="ko-KR" sz="1600" b="1" dirty="0">
                <a:latin typeface="+mn-ea"/>
              </a:rPr>
              <a:t>     : VGT </a:t>
            </a:r>
            <a:r>
              <a:rPr lang="ko-KR" altLang="en-US" sz="1600" b="1" dirty="0">
                <a:latin typeface="+mn-ea"/>
              </a:rPr>
              <a:t>약 </a:t>
            </a:r>
            <a:r>
              <a:rPr lang="en-US" altLang="ko-KR" sz="1600" b="1" dirty="0">
                <a:latin typeface="+mn-ea"/>
              </a:rPr>
              <a:t>15,645</a:t>
            </a:r>
            <a:r>
              <a:rPr lang="ko-KR" altLang="en-US" sz="1600" b="1" dirty="0">
                <a:latin typeface="+mn-ea"/>
              </a:rPr>
              <a:t>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노랑풍선 약</a:t>
            </a:r>
            <a:r>
              <a:rPr lang="en-US" altLang="ko-KR" sz="1600" b="1" dirty="0">
                <a:latin typeface="+mn-ea"/>
              </a:rPr>
              <a:t> 3,860</a:t>
            </a:r>
            <a:r>
              <a:rPr lang="ko-KR" altLang="en-US" sz="1600" b="1" dirty="0">
                <a:latin typeface="+mn-ea"/>
              </a:rPr>
              <a:t>건</a:t>
            </a:r>
            <a:r>
              <a:rPr lang="ko-KR" altLang="en-US" sz="1600" dirty="0">
                <a:latin typeface="+mn-ea"/>
              </a:rPr>
              <a:t>의 행사 상품 데이터 </a:t>
            </a:r>
            <a:r>
              <a:rPr lang="ko-KR" altLang="en-US" sz="1600" dirty="0" smtClean="0">
                <a:latin typeface="+mn-ea"/>
              </a:rPr>
              <a:t>분석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Intro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날짜 개체 틀 1"/>
          <p:cNvSpPr>
            <a:spLocks noGrp="1"/>
          </p:cNvSpPr>
          <p:nvPr>
            <p:ph type="dt" sz="half" idx="4294967295"/>
          </p:nvPr>
        </p:nvSpPr>
        <p:spPr>
          <a:xfrm>
            <a:off x="-612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2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/ 13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7699075" y="6651471"/>
            <a:ext cx="1740568" cy="19545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IT 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미래전략부문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846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899629"/>
              </p:ext>
            </p:extLst>
          </p:nvPr>
        </p:nvGraphicFramePr>
        <p:xfrm>
          <a:off x="610428" y="1362155"/>
          <a:ext cx="7923144" cy="3860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786"/>
                <a:gridCol w="1980786"/>
                <a:gridCol w="1980786"/>
                <a:gridCol w="1980786"/>
              </a:tblGrid>
              <a:tr h="6507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참좋은여행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노랑풍선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노랑풍선 </a:t>
                      </a:r>
                      <a:r>
                        <a:rPr lang="ko-KR" altLang="en-US" sz="14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마스터상품 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590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227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259%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행사상품 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15,645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3,860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405%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평균 </a:t>
                      </a:r>
                      <a:r>
                        <a:rPr lang="ko-KR" alt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1,942,697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2,273,870</a:t>
                      </a:r>
                      <a:endParaRPr lang="ko-KR" altLang="en-US" sz="12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85%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수</a:t>
                      </a:r>
                      <a:endParaRPr lang="en-US" altLang="ko-KR" sz="1200" b="1" u="none" strike="noStrike" dirty="0" smtClean="0"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2,838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1,232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230%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비율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18%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-14%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예약인원</a:t>
                      </a: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</a:t>
                      </a: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51,529(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허수 포함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25,733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허수 포함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423%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923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출발확정상품수당</a:t>
                      </a:r>
                      <a:endParaRPr lang="en-US" altLang="ko-KR" sz="1200" b="1" i="0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평균 예약인원</a:t>
                      </a:r>
                      <a:endParaRPr lang="ko-KR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18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90%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유럽지역 </a:t>
                      </a:r>
                      <a:r>
                        <a:rPr lang="ko-KR" alt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직원수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약 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80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61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(2019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년 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월 기준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131%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Ⅱ. </a:t>
            </a:r>
            <a:r>
              <a:rPr lang="ko-KR" altLang="en-US" dirty="0"/>
              <a:t>요약</a:t>
            </a:r>
            <a:endParaRPr lang="en-US" altLang="ko-KR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날짜 개체 틀 1"/>
          <p:cNvSpPr>
            <a:spLocks noGrp="1"/>
          </p:cNvSpPr>
          <p:nvPr>
            <p:ph type="dt" sz="half" idx="4294967295"/>
          </p:nvPr>
        </p:nvSpPr>
        <p:spPr>
          <a:xfrm>
            <a:off x="-612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8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3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/ 13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7699075" y="6651471"/>
            <a:ext cx="1740568" cy="19545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IT 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미래전략부문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10486" y="5433348"/>
            <a:ext cx="5045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 </a:t>
            </a:r>
            <a:r>
              <a:rPr lang="ko-KR" altLang="en-US" sz="1400" dirty="0">
                <a:latin typeface="+mj-lt"/>
              </a:rPr>
              <a:t>대비 </a:t>
            </a:r>
            <a:r>
              <a:rPr lang="ko-KR" altLang="en-US" sz="1400" b="1" dirty="0">
                <a:solidFill>
                  <a:srgbClr val="C00000"/>
                </a:solidFill>
                <a:latin typeface="+mj-lt"/>
              </a:rPr>
              <a:t>출발확정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행사비율이 낮음</a:t>
            </a:r>
            <a:endParaRPr lang="en-US" altLang="ko-KR" sz="1400" b="1" dirty="0" smtClean="0">
              <a:solidFill>
                <a:srgbClr val="C00000"/>
              </a:solidFill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 대비 직원 한 명 당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관리하는 행사 수</a:t>
            </a:r>
            <a:r>
              <a:rPr lang="ko-KR" altLang="en-US" sz="1400" dirty="0" smtClean="0">
                <a:latin typeface="+mj-lt"/>
              </a:rPr>
              <a:t>가 약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3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배 많음</a:t>
            </a:r>
            <a:endParaRPr lang="en-US" altLang="ko-KR" sz="1400" b="1" dirty="0" smtClean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965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4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70" y="1219512"/>
            <a:ext cx="229197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70" y="1208042"/>
            <a:ext cx="26609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마스터 상품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8989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Ⅲ. </a:t>
            </a:r>
            <a:r>
              <a:rPr lang="ko-KR" altLang="en-US" dirty="0" smtClean="0"/>
              <a:t>비교 분석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지역별 상품 분석</a:t>
            </a:r>
            <a:r>
              <a:rPr lang="en-US" altLang="ko-KR" sz="2000" b="1" dirty="0" smtClean="0"/>
              <a:t>)</a:t>
            </a:r>
            <a:endParaRPr lang="ko-KR" altLang="en-US" b="1" dirty="0"/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1"/>
            <a:ext cx="385142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433978" y="1219511"/>
            <a:ext cx="409145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433979" y="1225195"/>
            <a:ext cx="220353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4433977" y="1208041"/>
            <a:ext cx="22035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행사 상품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 bwMode="auto">
          <a:xfrm>
            <a:off x="424738" y="3964846"/>
            <a:ext cx="385142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33970" y="3964846"/>
            <a:ext cx="229197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TextBox 35"/>
          <p:cNvSpPr txBox="1">
            <a:spLocks noChangeArrowheads="1"/>
          </p:cNvSpPr>
          <p:nvPr/>
        </p:nvSpPr>
        <p:spPr bwMode="auto">
          <a:xfrm>
            <a:off x="433970" y="3949875"/>
            <a:ext cx="21030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마스터당 행사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4331" y="4441021"/>
            <a:ext cx="479966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>
                <a:latin typeface="+mj-lt"/>
              </a:rPr>
              <a:t>마스터 상품 전체 개수 </a:t>
            </a:r>
            <a:r>
              <a:rPr lang="en-US" altLang="ko-KR" sz="1300" dirty="0">
                <a:latin typeface="+mj-lt"/>
              </a:rPr>
              <a:t>:  VGT – 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590</a:t>
            </a:r>
            <a:r>
              <a:rPr lang="ko-KR" altLang="en-US" sz="1300" dirty="0" smtClean="0">
                <a:latin typeface="+mj-lt"/>
              </a:rPr>
              <a:t>개</a:t>
            </a:r>
            <a:r>
              <a:rPr lang="en-US" altLang="ko-KR" sz="1300" dirty="0">
                <a:latin typeface="+mj-lt"/>
              </a:rPr>
              <a:t>, </a:t>
            </a:r>
            <a:r>
              <a:rPr lang="ko-KR" altLang="en-US" sz="1300" dirty="0">
                <a:latin typeface="+mj-lt"/>
              </a:rPr>
              <a:t>노랑풍선 </a:t>
            </a:r>
            <a:r>
              <a:rPr lang="en-US" altLang="ko-KR" sz="1300" dirty="0">
                <a:latin typeface="+mj-lt"/>
              </a:rPr>
              <a:t>– 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227</a:t>
            </a:r>
            <a:r>
              <a:rPr lang="ko-KR" altLang="en-US" sz="1300" dirty="0" smtClean="0">
                <a:latin typeface="+mj-lt"/>
              </a:rPr>
              <a:t>개</a:t>
            </a:r>
            <a:endParaRPr lang="en-US" altLang="ko-KR" sz="1300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>
                <a:latin typeface="+mj-lt"/>
              </a:rPr>
              <a:t>행사 상품 전체 개수 </a:t>
            </a:r>
            <a:r>
              <a:rPr lang="en-US" altLang="ko-KR" sz="1300" dirty="0">
                <a:latin typeface="+mj-lt"/>
              </a:rPr>
              <a:t>: VGT – 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15,645</a:t>
            </a:r>
            <a:r>
              <a:rPr lang="ko-KR" altLang="en-US" sz="1300" dirty="0" smtClean="0">
                <a:latin typeface="+mj-lt"/>
              </a:rPr>
              <a:t>개</a:t>
            </a:r>
            <a:r>
              <a:rPr lang="en-US" altLang="ko-KR" sz="1300" dirty="0">
                <a:latin typeface="+mj-lt"/>
              </a:rPr>
              <a:t>, </a:t>
            </a:r>
            <a:r>
              <a:rPr lang="ko-KR" altLang="en-US" sz="1300" dirty="0">
                <a:latin typeface="+mj-lt"/>
              </a:rPr>
              <a:t>노랑풍선 </a:t>
            </a:r>
            <a:r>
              <a:rPr lang="en-US" altLang="ko-KR" sz="1300" dirty="0">
                <a:latin typeface="+mj-lt"/>
              </a:rPr>
              <a:t>– 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3,860</a:t>
            </a:r>
            <a:r>
              <a:rPr lang="ko-KR" altLang="en-US" sz="1300" dirty="0" smtClean="0">
                <a:latin typeface="+mj-lt"/>
              </a:rPr>
              <a:t>개</a:t>
            </a:r>
            <a:endParaRPr lang="en-US" altLang="ko-KR" sz="1300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>
                <a:latin typeface="+mj-lt"/>
              </a:rPr>
              <a:t>마스터 당 행사 상품 수 </a:t>
            </a:r>
            <a:r>
              <a:rPr lang="en-US" altLang="ko-KR" sz="1300" dirty="0">
                <a:latin typeface="+mj-lt"/>
              </a:rPr>
              <a:t>: VGT – 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27</a:t>
            </a:r>
            <a:r>
              <a:rPr lang="ko-KR" altLang="en-US" sz="1300" dirty="0" smtClean="0">
                <a:latin typeface="+mj-lt"/>
              </a:rPr>
              <a:t>개</a:t>
            </a:r>
            <a:r>
              <a:rPr lang="en-US" altLang="ko-KR" sz="1300" dirty="0">
                <a:latin typeface="+mj-lt"/>
              </a:rPr>
              <a:t>, </a:t>
            </a:r>
            <a:r>
              <a:rPr lang="ko-KR" altLang="en-US" sz="1300" dirty="0">
                <a:latin typeface="+mj-lt"/>
              </a:rPr>
              <a:t>노랑풍선 </a:t>
            </a:r>
            <a:r>
              <a:rPr lang="en-US" altLang="ko-KR" sz="1300" dirty="0">
                <a:latin typeface="+mj-lt"/>
              </a:rPr>
              <a:t>– 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17</a:t>
            </a:r>
            <a:r>
              <a:rPr lang="ko-KR" altLang="en-US" sz="1300" dirty="0" smtClean="0">
                <a:latin typeface="+mj-lt"/>
              </a:rPr>
              <a:t>개</a:t>
            </a:r>
            <a:endParaRPr lang="en-US" altLang="ko-KR" sz="1300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마스터 생성 기준 </a:t>
            </a:r>
            <a:r>
              <a:rPr lang="en-US" altLang="ko-KR" sz="1300" dirty="0" smtClean="0">
                <a:latin typeface="+mj-lt"/>
              </a:rPr>
              <a:t>: VGT, </a:t>
            </a:r>
            <a:r>
              <a:rPr lang="ko-KR" altLang="en-US" sz="1300" dirty="0" smtClean="0">
                <a:latin typeface="+mj-lt"/>
              </a:rPr>
              <a:t>노랑풍선 차이 없음</a:t>
            </a:r>
            <a:r>
              <a:rPr lang="en-US" altLang="ko-KR" sz="1200" dirty="0" smtClean="0">
                <a:latin typeface="+mj-lt"/>
              </a:rPr>
              <a:t>(</a:t>
            </a:r>
            <a:r>
              <a:rPr lang="ko-KR" altLang="en-US" sz="1200" dirty="0" smtClean="0">
                <a:latin typeface="+mj-lt"/>
              </a:rPr>
              <a:t>전수조사 기준</a:t>
            </a:r>
            <a:r>
              <a:rPr lang="en-US" altLang="ko-KR" sz="1200" dirty="0" smtClean="0">
                <a:latin typeface="+mj-lt"/>
              </a:rPr>
              <a:t>)</a:t>
            </a:r>
          </a:p>
        </p:txBody>
      </p:sp>
      <p:graphicFrame>
        <p:nvGraphicFramePr>
          <p:cNvPr id="21" name="차트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0458392"/>
              </p:ext>
            </p:extLst>
          </p:nvPr>
        </p:nvGraphicFramePr>
        <p:xfrm>
          <a:off x="424738" y="1495071"/>
          <a:ext cx="3851427" cy="2369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차트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9877189"/>
              </p:ext>
            </p:extLst>
          </p:nvPr>
        </p:nvGraphicFramePr>
        <p:xfrm>
          <a:off x="4433978" y="1495070"/>
          <a:ext cx="4091458" cy="2369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차트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9547318"/>
              </p:ext>
            </p:extLst>
          </p:nvPr>
        </p:nvGraphicFramePr>
        <p:xfrm>
          <a:off x="424738" y="4234720"/>
          <a:ext cx="3851427" cy="23752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4490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5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70" y="1219512"/>
            <a:ext cx="277649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69" y="1208042"/>
            <a:ext cx="2578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1"/>
            <a:ext cx="3936430" cy="237698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640180" y="1219512"/>
            <a:ext cx="3753322" cy="237698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40179" y="1225195"/>
            <a:ext cx="276325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4640179" y="1208041"/>
            <a:ext cx="28632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노랑풍선 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Ⅲ. </a:t>
            </a:r>
            <a:r>
              <a:rPr lang="ko-KR" altLang="en-US" dirty="0" smtClean="0"/>
              <a:t>비교 분석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상품 등급</a:t>
            </a:r>
            <a:r>
              <a:rPr lang="en-US" altLang="ko-KR" sz="2000" b="1" dirty="0" smtClean="0"/>
              <a:t>)</a:t>
            </a:r>
            <a:endParaRPr lang="ko-KR" altLang="en-US" sz="2000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746139" y="4277276"/>
            <a:ext cx="61156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양사 모두 일반 상품의 행사 비율이 높음</a:t>
            </a:r>
            <a:endParaRPr lang="en-US" altLang="ko-KR" sz="1400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</a:t>
            </a:r>
            <a:r>
              <a:rPr lang="ko-KR" altLang="en-US" sz="1400" dirty="0" smtClean="0">
                <a:latin typeface="+mj-lt"/>
              </a:rPr>
              <a:t>의 </a:t>
            </a:r>
            <a:r>
              <a:rPr lang="ko-KR" altLang="en-US" sz="1400" b="1" dirty="0" err="1" smtClean="0">
                <a:latin typeface="+mj-lt"/>
              </a:rPr>
              <a:t>라르고</a:t>
            </a:r>
            <a:r>
              <a:rPr lang="ko-KR" altLang="en-US" sz="1400" dirty="0" smtClean="0">
                <a:latin typeface="+mj-lt"/>
              </a:rPr>
              <a:t> 상품은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11</a:t>
            </a:r>
            <a:r>
              <a:rPr lang="en-US" altLang="ko-KR" sz="1400" dirty="0" smtClean="0">
                <a:latin typeface="+mj-lt"/>
              </a:rPr>
              <a:t>%, </a:t>
            </a:r>
            <a:r>
              <a:rPr lang="ko-KR" altLang="en-US" sz="1400" dirty="0" err="1" smtClean="0">
                <a:latin typeface="+mj-lt"/>
              </a:rPr>
              <a:t>라르고와</a:t>
            </a:r>
            <a:r>
              <a:rPr lang="ko-KR" altLang="en-US" sz="1400" dirty="0" smtClean="0">
                <a:latin typeface="+mj-lt"/>
              </a:rPr>
              <a:t> 유사한 </a:t>
            </a:r>
            <a:r>
              <a:rPr lang="ko-KR" altLang="en-US" sz="1400" b="1" dirty="0" err="1" smtClean="0">
                <a:latin typeface="+mj-lt"/>
              </a:rPr>
              <a:t>시그니쳐</a:t>
            </a:r>
            <a:r>
              <a:rPr lang="ko-KR" altLang="en-US" sz="1400" dirty="0" err="1" smtClean="0">
                <a:latin typeface="+mj-lt"/>
              </a:rPr>
              <a:t>는</a:t>
            </a:r>
            <a:r>
              <a:rPr lang="ko-KR" altLang="en-US" sz="1400" dirty="0" smtClean="0">
                <a:latin typeface="+mj-lt"/>
              </a:rPr>
              <a:t>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10</a:t>
            </a:r>
            <a:r>
              <a:rPr lang="en-US" altLang="ko-KR" sz="1400" dirty="0" smtClean="0">
                <a:latin typeface="+mj-lt"/>
              </a:rPr>
              <a:t>%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</a:t>
            </a:r>
            <a:r>
              <a:rPr lang="ko-KR" altLang="en-US" sz="1400" dirty="0" smtClean="0">
                <a:latin typeface="+mj-lt"/>
              </a:rPr>
              <a:t>의</a:t>
            </a:r>
            <a:r>
              <a:rPr lang="ko-KR" altLang="en-US" sz="1400" b="1" dirty="0" smtClean="0">
                <a:latin typeface="+mj-lt"/>
              </a:rPr>
              <a:t> </a:t>
            </a:r>
            <a:r>
              <a:rPr lang="ko-KR" altLang="en-US" sz="1400" b="1" dirty="0" err="1" smtClean="0">
                <a:latin typeface="+mj-lt"/>
              </a:rPr>
              <a:t>라르고</a:t>
            </a:r>
            <a:r>
              <a:rPr lang="en-US" altLang="ko-KR" sz="1400" b="1" dirty="0" smtClean="0">
                <a:latin typeface="+mj-lt"/>
              </a:rPr>
              <a:t>+ </a:t>
            </a:r>
            <a:r>
              <a:rPr lang="ko-KR" altLang="en-US" sz="1400" dirty="0" smtClean="0">
                <a:latin typeface="+mj-lt"/>
              </a:rPr>
              <a:t>상품은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15</a:t>
            </a:r>
            <a:r>
              <a:rPr lang="en-US" altLang="ko-KR" sz="1400" dirty="0" smtClean="0">
                <a:latin typeface="+mj-lt"/>
              </a:rPr>
              <a:t>%, </a:t>
            </a:r>
            <a:r>
              <a:rPr lang="ko-KR" altLang="en-US" sz="1400" dirty="0" err="1" smtClean="0">
                <a:latin typeface="+mj-lt"/>
              </a:rPr>
              <a:t>라르고</a:t>
            </a:r>
            <a:r>
              <a:rPr lang="en-US" altLang="ko-KR" sz="1400" dirty="0" smtClean="0">
                <a:latin typeface="+mj-lt"/>
              </a:rPr>
              <a:t>+</a:t>
            </a:r>
            <a:r>
              <a:rPr lang="ko-KR" altLang="en-US" sz="1400" dirty="0" smtClean="0">
                <a:latin typeface="+mj-lt"/>
              </a:rPr>
              <a:t>와 유사한 </a:t>
            </a:r>
            <a:r>
              <a:rPr lang="ko-KR" altLang="en-US" sz="1400" b="1" dirty="0" smtClean="0">
                <a:latin typeface="+mj-lt"/>
              </a:rPr>
              <a:t>프리미엄</a:t>
            </a:r>
            <a:r>
              <a:rPr lang="ko-KR" altLang="en-US" sz="1400" dirty="0" smtClean="0">
                <a:latin typeface="+mj-lt"/>
              </a:rPr>
              <a:t>은 </a:t>
            </a:r>
            <a:r>
              <a:rPr lang="en-US" altLang="ko-KR" sz="1400" b="1" dirty="0">
                <a:solidFill>
                  <a:srgbClr val="C00000"/>
                </a:solidFill>
                <a:latin typeface="+mj-lt"/>
              </a:rPr>
              <a:t>8</a:t>
            </a:r>
            <a:r>
              <a:rPr lang="en-US" altLang="ko-KR" sz="1400" dirty="0" smtClean="0">
                <a:latin typeface="+mj-lt"/>
              </a:rPr>
              <a:t>%</a:t>
            </a:r>
          </a:p>
        </p:txBody>
      </p:sp>
      <p:graphicFrame>
        <p:nvGraphicFramePr>
          <p:cNvPr id="19" name="차트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5760898"/>
              </p:ext>
            </p:extLst>
          </p:nvPr>
        </p:nvGraphicFramePr>
        <p:xfrm>
          <a:off x="4640179" y="1485041"/>
          <a:ext cx="3753323" cy="2189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차트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9415226"/>
              </p:ext>
            </p:extLst>
          </p:nvPr>
        </p:nvGraphicFramePr>
        <p:xfrm>
          <a:off x="433969" y="1401791"/>
          <a:ext cx="3927199" cy="2194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682101" y="3042439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(11,610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5518" y="2221520"/>
            <a:ext cx="698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(1,698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6258" y="1576708"/>
            <a:ext cx="9728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(2,337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15639" y="3157855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(3,184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04656" y="1876642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(374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77922" y="1542989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(302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78189" y="3607967"/>
            <a:ext cx="3615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err="1" smtClean="0"/>
              <a:t>시그니쳐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한 나라만 집중적으로 여행하는 상품</a:t>
            </a:r>
            <a:endParaRPr lang="en-US" altLang="ko-KR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프리미엄 </a:t>
            </a:r>
            <a:r>
              <a:rPr lang="en-US" altLang="ko-KR" sz="1000" dirty="0"/>
              <a:t>: </a:t>
            </a:r>
            <a:r>
              <a:rPr lang="ko-KR" altLang="en-US" sz="1000" dirty="0" smtClean="0"/>
              <a:t>항공</a:t>
            </a:r>
            <a:r>
              <a:rPr lang="en-US" altLang="ko-KR" sz="1000" dirty="0"/>
              <a:t>, </a:t>
            </a:r>
            <a:r>
              <a:rPr lang="ko-KR" altLang="en-US" sz="1000" dirty="0"/>
              <a:t>숙박</a:t>
            </a:r>
            <a:r>
              <a:rPr lang="en-US" altLang="ko-KR" sz="1000" dirty="0"/>
              <a:t>, </a:t>
            </a:r>
            <a:r>
              <a:rPr lang="ko-KR" altLang="en-US" sz="1000" dirty="0"/>
              <a:t>일정 </a:t>
            </a:r>
            <a:r>
              <a:rPr lang="ko-KR" altLang="en-US" sz="1000" dirty="0" smtClean="0"/>
              <a:t>등을 최상위로 </a:t>
            </a:r>
            <a:r>
              <a:rPr lang="ko-KR" altLang="en-US" sz="1000" dirty="0"/>
              <a:t>업그레이드한 </a:t>
            </a:r>
            <a:r>
              <a:rPr lang="ko-KR" altLang="en-US" sz="1000" dirty="0" smtClean="0"/>
              <a:t>상품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0550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6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7223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지역별 상품 등급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1540" y="1219512"/>
            <a:ext cx="2456836" cy="27699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241540" y="1219511"/>
            <a:ext cx="27437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상품 등급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241540" y="1219511"/>
            <a:ext cx="8660920" cy="236637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853100"/>
              </p:ext>
            </p:extLst>
          </p:nvPr>
        </p:nvGraphicFramePr>
        <p:xfrm>
          <a:off x="241541" y="3736430"/>
          <a:ext cx="8660918" cy="12896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7274"/>
                <a:gridCol w="1237274"/>
                <a:gridCol w="1237274"/>
                <a:gridCol w="1237274"/>
                <a:gridCol w="1237274"/>
                <a:gridCol w="1237274"/>
                <a:gridCol w="1237274"/>
              </a:tblGrid>
              <a:tr h="214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>
                          <a:solidFill>
                            <a:schemeClr val="bg1"/>
                          </a:solidFill>
                        </a:rPr>
                        <a:t>지역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 smtClean="0">
                          <a:solidFill>
                            <a:schemeClr val="bg1"/>
                          </a:solidFill>
                        </a:rPr>
                        <a:t>일반 </a:t>
                      </a:r>
                      <a:r>
                        <a:rPr lang="en-US" altLang="ko-KR" sz="1050" dirty="0" smtClean="0">
                          <a:solidFill>
                            <a:schemeClr val="bg1"/>
                          </a:solidFill>
                        </a:rPr>
                        <a:t>(VGT)</a:t>
                      </a:r>
                      <a:endParaRPr lang="en-US" altLang="ko-KR" sz="105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 smtClean="0">
                          <a:solidFill>
                            <a:schemeClr val="bg1"/>
                          </a:solidFill>
                        </a:rPr>
                        <a:t>일반 </a:t>
                      </a:r>
                      <a:r>
                        <a:rPr lang="en-US" altLang="ko-KR" sz="105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50" dirty="0" smtClean="0">
                          <a:solidFill>
                            <a:schemeClr val="bg1"/>
                          </a:solidFill>
                        </a:rPr>
                        <a:t>노랑</a:t>
                      </a:r>
                      <a:r>
                        <a:rPr lang="en-US" altLang="ko-KR" sz="1050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050" dirty="0" err="1" smtClean="0">
                          <a:solidFill>
                            <a:schemeClr val="bg1"/>
                          </a:solidFill>
                        </a:rPr>
                        <a:t>라르고</a:t>
                      </a:r>
                      <a:r>
                        <a:rPr lang="ko-KR" altLang="en-US" sz="105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50" dirty="0" smtClean="0">
                          <a:solidFill>
                            <a:schemeClr val="bg1"/>
                          </a:solidFill>
                        </a:rPr>
                        <a:t>(VGT)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 err="1" smtClean="0">
                          <a:solidFill>
                            <a:schemeClr val="bg1"/>
                          </a:solidFill>
                        </a:rPr>
                        <a:t>시그니쳐</a:t>
                      </a:r>
                      <a:r>
                        <a:rPr lang="ko-KR" altLang="en-US" sz="105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5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50" dirty="0" smtClean="0">
                          <a:solidFill>
                            <a:schemeClr val="bg1"/>
                          </a:solidFill>
                        </a:rPr>
                        <a:t>노랑</a:t>
                      </a:r>
                      <a:r>
                        <a:rPr lang="en-US" altLang="ko-KR" sz="1050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bg1"/>
                          </a:solidFill>
                        </a:rPr>
                        <a:t>라르고</a:t>
                      </a:r>
                      <a:r>
                        <a:rPr lang="en-US" altLang="ko-KR" sz="1050" dirty="0" smtClean="0">
                          <a:solidFill>
                            <a:schemeClr val="bg1"/>
                          </a:solidFill>
                        </a:rPr>
                        <a:t>+ (VGT)</a:t>
                      </a:r>
                      <a:endParaRPr lang="en-US" altLang="ko-KR" sz="105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 smtClean="0">
                          <a:solidFill>
                            <a:schemeClr val="bg1"/>
                          </a:solidFill>
                        </a:rPr>
                        <a:t>프리미엄 </a:t>
                      </a:r>
                      <a:r>
                        <a:rPr lang="en-US" altLang="ko-KR" sz="105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50" dirty="0" smtClean="0">
                          <a:solidFill>
                            <a:schemeClr val="bg1"/>
                          </a:solidFill>
                        </a:rPr>
                        <a:t>노랑</a:t>
                      </a:r>
                      <a:r>
                        <a:rPr lang="en-US" altLang="ko-KR" sz="1050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</a:tr>
              <a:tr h="214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서유럽</a:t>
                      </a:r>
                      <a:endParaRPr lang="ko-KR" altLang="en-US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1,635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</a:t>
                      </a:r>
                      <a:r>
                        <a:rPr lang="en-US" altLang="ko-KR" sz="1050" dirty="0"/>
                        <a:t>1,112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376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308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</a:t>
                      </a:r>
                      <a:r>
                        <a:rPr lang="en-US" altLang="ko-KR" sz="1050" dirty="0"/>
                        <a:t>1,129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167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동유럽</a:t>
                      </a:r>
                      <a:endParaRPr lang="ko-KR" altLang="en-US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5,976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801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588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</a:t>
                      </a:r>
                      <a:r>
                        <a:rPr lang="en-US" altLang="ko-KR" sz="1050" dirty="0"/>
                        <a:t>40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426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</a:t>
                      </a:r>
                      <a:r>
                        <a:rPr lang="en-US" altLang="ko-KR" sz="1050" dirty="0"/>
                        <a:t>20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지중해</a:t>
                      </a:r>
                      <a:endParaRPr lang="ko-KR" altLang="en-US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1,233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422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468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  </a:t>
                      </a:r>
                      <a:r>
                        <a:rPr lang="en-US" altLang="ko-KR" sz="1050" dirty="0"/>
                        <a:t>-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301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</a:t>
                      </a:r>
                      <a:r>
                        <a:rPr lang="en-US" altLang="ko-KR" sz="1050" dirty="0"/>
                        <a:t>79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/>
                        <a:t>스페인</a:t>
                      </a:r>
                      <a:endParaRPr lang="ko-KR" altLang="en-US" sz="105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/>
                        <a:t>       </a:t>
                      </a:r>
                      <a:r>
                        <a:rPr lang="en-US" altLang="ko-KR" sz="1050"/>
                        <a:t>2,345 </a:t>
                      </a:r>
                      <a:endParaRPr lang="en-US" altLang="ko-KR" sz="105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552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 smtClean="0"/>
                        <a:t>266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</a:t>
                      </a:r>
                      <a:r>
                        <a:rPr lang="en-US" altLang="ko-KR" sz="1050" dirty="0"/>
                        <a:t>26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</a:t>
                      </a:r>
                      <a:r>
                        <a:rPr lang="en-US" altLang="ko-KR" sz="1050" dirty="0"/>
                        <a:t>427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</a:t>
                      </a:r>
                      <a:r>
                        <a:rPr lang="en-US" altLang="ko-KR" sz="1050" dirty="0"/>
                        <a:t>36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북유럽</a:t>
                      </a:r>
                      <a:endParaRPr lang="ko-KR" altLang="en-US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 </a:t>
                      </a:r>
                      <a:r>
                        <a:rPr lang="en-US" altLang="ko-KR" sz="1050" dirty="0"/>
                        <a:t>421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/>
                        <a:t>       </a:t>
                      </a:r>
                      <a:r>
                        <a:rPr lang="en-US" altLang="ko-KR" sz="1050"/>
                        <a:t>297 </a:t>
                      </a:r>
                      <a:endParaRPr lang="en-US" altLang="ko-KR" sz="105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 </a:t>
                      </a:r>
                      <a:r>
                        <a:rPr lang="en-US" altLang="ko-KR" sz="1050" dirty="0" smtClean="0"/>
                        <a:t>-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  </a:t>
                      </a:r>
                      <a:r>
                        <a:rPr lang="en-US" altLang="ko-KR" sz="1050" dirty="0"/>
                        <a:t>-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</a:t>
                      </a:r>
                      <a:r>
                        <a:rPr lang="en-US" altLang="ko-KR" sz="1050" dirty="0"/>
                        <a:t>54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dirty="0"/>
                        <a:t>           </a:t>
                      </a:r>
                      <a:r>
                        <a:rPr lang="en-US" altLang="ko-KR" sz="1050" dirty="0"/>
                        <a:t>- </a:t>
                      </a:r>
                      <a:endParaRPr lang="en-US" altLang="ko-KR" sz="1050" dirty="0"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차트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315387"/>
              </p:ext>
            </p:extLst>
          </p:nvPr>
        </p:nvGraphicFramePr>
        <p:xfrm>
          <a:off x="241540" y="1496511"/>
          <a:ext cx="8660919" cy="2089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4740" y="5045007"/>
            <a:ext cx="77689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브랜드 상품 마스터 개수 </a:t>
            </a:r>
            <a:r>
              <a:rPr lang="en-US" altLang="ko-KR" sz="1400" dirty="0" smtClean="0">
                <a:latin typeface="+mj-lt"/>
              </a:rPr>
              <a:t>: VGT –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207</a:t>
            </a:r>
            <a:r>
              <a:rPr lang="ko-KR" altLang="en-US" sz="1400" dirty="0" smtClean="0">
                <a:latin typeface="+mj-lt"/>
              </a:rPr>
              <a:t>개</a:t>
            </a:r>
            <a:r>
              <a:rPr lang="en-US" altLang="ko-KR" sz="1400" dirty="0" smtClean="0">
                <a:latin typeface="+mj-lt"/>
              </a:rPr>
              <a:t>, </a:t>
            </a:r>
            <a:r>
              <a:rPr lang="ko-KR" altLang="en-US" sz="1400" dirty="0" smtClean="0">
                <a:latin typeface="+mj-lt"/>
              </a:rPr>
              <a:t>노랑풍선 </a:t>
            </a:r>
            <a:r>
              <a:rPr lang="en-US" altLang="ko-KR" sz="1400" dirty="0" smtClean="0">
                <a:latin typeface="+mj-lt"/>
              </a:rPr>
              <a:t>-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36</a:t>
            </a:r>
            <a:r>
              <a:rPr lang="ko-KR" altLang="en-US" sz="1400" dirty="0" smtClean="0">
                <a:latin typeface="+mj-lt"/>
              </a:rPr>
              <a:t>개</a:t>
            </a:r>
            <a:endParaRPr lang="en-US" altLang="ko-KR" sz="1400" dirty="0" smtClean="0">
              <a:latin typeface="+mj-lt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양사 모두 </a:t>
            </a:r>
            <a:r>
              <a:rPr lang="ko-KR" altLang="en-US" sz="1400" b="1" dirty="0" smtClean="0">
                <a:latin typeface="+mj-lt"/>
              </a:rPr>
              <a:t>서유럽과 지중해</a:t>
            </a:r>
            <a:r>
              <a:rPr lang="ko-KR" altLang="en-US" sz="1400" dirty="0" smtClean="0">
                <a:latin typeface="+mj-lt"/>
              </a:rPr>
              <a:t>를 중심으로</a:t>
            </a:r>
            <a:r>
              <a:rPr lang="ko-KR" altLang="en-US" sz="1400" b="1" dirty="0" smtClean="0">
                <a:latin typeface="+mj-lt"/>
              </a:rPr>
              <a:t> </a:t>
            </a:r>
            <a:r>
              <a:rPr lang="ko-KR" altLang="en-US" sz="1400" dirty="0" smtClean="0">
                <a:latin typeface="+mj-lt"/>
              </a:rPr>
              <a:t>브랜드 상품 구성</a:t>
            </a:r>
            <a:endParaRPr lang="en-US" altLang="ko-KR" sz="1400" dirty="0" smtClean="0">
              <a:latin typeface="+mj-lt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북유럽 </a:t>
            </a:r>
            <a:r>
              <a:rPr lang="en-US" altLang="ko-KR" sz="1400" dirty="0" smtClean="0">
                <a:latin typeface="+mj-lt"/>
              </a:rPr>
              <a:t>: </a:t>
            </a:r>
            <a:r>
              <a:rPr lang="ko-KR" altLang="en-US" sz="1400" dirty="0" smtClean="0">
                <a:latin typeface="+mj-lt"/>
              </a:rPr>
              <a:t>지역 특성상 타 지역에 비해 일정이 여유로운 편 </a:t>
            </a:r>
            <a:r>
              <a:rPr lang="en-US" altLang="ko-KR" sz="1400" dirty="0" smtClean="0">
                <a:latin typeface="+mj-lt"/>
              </a:rPr>
              <a:t>-&gt; </a:t>
            </a:r>
            <a:r>
              <a:rPr lang="ko-KR" altLang="en-US" sz="1400" b="1" dirty="0" err="1" smtClean="0">
                <a:latin typeface="+mj-lt"/>
              </a:rPr>
              <a:t>라르고</a:t>
            </a:r>
            <a:r>
              <a:rPr lang="ko-KR" altLang="en-US" sz="1400" b="1" dirty="0" smtClean="0">
                <a:latin typeface="+mj-lt"/>
              </a:rPr>
              <a:t> 상품 특성을 살릴 수 없는 지역</a:t>
            </a:r>
            <a:endParaRPr lang="ko-KR" altLang="en-US" sz="1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554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7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70" y="1219512"/>
            <a:ext cx="240412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70" y="1212388"/>
            <a:ext cx="23092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이용 항공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7" y="1219511"/>
            <a:ext cx="3845338" cy="25329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항공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17" name="TextBox 21"/>
          <p:cNvSpPr txBox="1">
            <a:spLocks noChangeArrowheads="1"/>
          </p:cNvSpPr>
          <p:nvPr/>
        </p:nvSpPr>
        <p:spPr bwMode="auto">
          <a:xfrm>
            <a:off x="2447689" y="4506073"/>
            <a:ext cx="682360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n-ea"/>
                <a:ea typeface="+mn-ea"/>
              </a:rPr>
              <a:t>VGT</a:t>
            </a:r>
            <a:r>
              <a:rPr lang="ko-KR" altLang="en-US" sz="1400" dirty="0" smtClean="0">
                <a:latin typeface="+mn-ea"/>
                <a:ea typeface="+mn-ea"/>
              </a:rPr>
              <a:t>의 경우</a:t>
            </a:r>
            <a:r>
              <a:rPr lang="en-US" altLang="ko-KR" sz="1400" dirty="0" smtClean="0">
                <a:latin typeface="+mn-ea"/>
                <a:ea typeface="+mn-ea"/>
              </a:rPr>
              <a:t>,</a:t>
            </a:r>
            <a:r>
              <a:rPr lang="ko-KR" altLang="en-US" sz="1400" dirty="0" smtClean="0">
                <a:latin typeface="+mn-ea"/>
                <a:ea typeface="+mn-ea"/>
              </a:rPr>
              <a:t> </a:t>
            </a:r>
            <a:r>
              <a:rPr lang="ko-KR" altLang="en-US" sz="1400" b="1" dirty="0" smtClean="0">
                <a:latin typeface="+mn-ea"/>
                <a:ea typeface="+mn-ea"/>
              </a:rPr>
              <a:t>국적기와 </a:t>
            </a:r>
            <a:r>
              <a:rPr lang="ko-KR" altLang="en-US" sz="1400" b="1" dirty="0" err="1" smtClean="0">
                <a:latin typeface="+mn-ea"/>
                <a:ea typeface="+mn-ea"/>
              </a:rPr>
              <a:t>외항사</a:t>
            </a:r>
            <a:r>
              <a:rPr lang="ko-KR" altLang="en-US" sz="1400" dirty="0" err="1" smtClean="0">
                <a:latin typeface="+mn-ea"/>
                <a:ea typeface="+mn-ea"/>
              </a:rPr>
              <a:t>를</a:t>
            </a:r>
            <a:r>
              <a:rPr lang="ko-KR" altLang="en-US" sz="1400" dirty="0" smtClean="0">
                <a:latin typeface="+mn-ea"/>
                <a:ea typeface="+mn-ea"/>
              </a:rPr>
              <a:t> 균형적으로 취항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노랑풍선의 경우</a:t>
            </a:r>
            <a:r>
              <a:rPr lang="en-US" altLang="ko-KR" sz="1400" dirty="0" smtClean="0">
                <a:latin typeface="+mn-ea"/>
                <a:ea typeface="+mn-ea"/>
              </a:rPr>
              <a:t>,</a:t>
            </a:r>
            <a:r>
              <a:rPr lang="ko-KR" altLang="en-US" sz="1400" dirty="0" smtClean="0">
                <a:latin typeface="+mn-ea"/>
                <a:ea typeface="+mn-ea"/>
              </a:rPr>
              <a:t> </a:t>
            </a:r>
            <a:r>
              <a:rPr lang="ko-KR" altLang="en-US" sz="1400" b="1" dirty="0" err="1" smtClean="0">
                <a:latin typeface="+mn-ea"/>
                <a:ea typeface="+mn-ea"/>
              </a:rPr>
              <a:t>국적기</a:t>
            </a:r>
            <a:r>
              <a:rPr lang="ko-KR" altLang="en-US" sz="1400" dirty="0" err="1" smtClean="0">
                <a:latin typeface="+mn-ea"/>
                <a:ea typeface="+mn-ea"/>
              </a:rPr>
              <a:t>를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ko-KR" altLang="en-US" sz="1400" dirty="0" smtClean="0">
                <a:latin typeface="+mn-ea"/>
                <a:ea typeface="+mn-ea"/>
              </a:rPr>
              <a:t>이용하는 비율이 높음</a:t>
            </a:r>
            <a:endParaRPr lang="en-US" altLang="ko-KR" sz="1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 bwMode="auto">
          <a:xfrm>
            <a:off x="4648181" y="1219511"/>
            <a:ext cx="3845338" cy="25329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648181" y="1227614"/>
            <a:ext cx="240412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666686" y="1230314"/>
            <a:ext cx="238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노랑풍선 이용 항공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20" name="차트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8317852"/>
              </p:ext>
            </p:extLst>
          </p:nvPr>
        </p:nvGraphicFramePr>
        <p:xfrm>
          <a:off x="94686" y="1489387"/>
          <a:ext cx="4175389" cy="2365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4" name="차트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4876615"/>
              </p:ext>
            </p:extLst>
          </p:nvPr>
        </p:nvGraphicFramePr>
        <p:xfrm>
          <a:off x="4648181" y="1507313"/>
          <a:ext cx="3845338" cy="2376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755506" y="2720023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(8,672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4737" y="2255169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(6,967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67712" y="1526030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(6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919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8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지역별 항공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065236"/>
              </p:ext>
            </p:extLst>
          </p:nvPr>
        </p:nvGraphicFramePr>
        <p:xfrm>
          <a:off x="315968" y="1546626"/>
          <a:ext cx="8508016" cy="4001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36156"/>
                <a:gridCol w="737186"/>
                <a:gridCol w="737186"/>
                <a:gridCol w="737186"/>
                <a:gridCol w="737186"/>
                <a:gridCol w="737186"/>
                <a:gridCol w="737186"/>
                <a:gridCol w="737186"/>
                <a:gridCol w="737186"/>
                <a:gridCol w="737186"/>
                <a:gridCol w="737186"/>
              </a:tblGrid>
              <a:tr h="1667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구분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서유럽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동유럽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지중해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스페인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북유럽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6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VGT 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노랑풍선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VGT 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노랑풍선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VGT 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노랑풍선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VGT 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노랑풍선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VGT 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노랑풍선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대한항공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1,462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646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1,979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92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763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114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505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178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186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83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아시아나항공</a:t>
                      </a:r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1,002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607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2,065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529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486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195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219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136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50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 KLM</a:t>
                      </a:r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63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독일항공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95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829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282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러시아항공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64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159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161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42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에미레이트항공</a:t>
                      </a:r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89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456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294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79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339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에어프랑스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에티하드항공</a:t>
                      </a:r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62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162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365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영국항공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128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이태리항공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146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57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중국국제항공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체코항공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805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49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카타르항공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85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418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75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42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130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63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터키항공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95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75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187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291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폴란드항공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핀</a:t>
                      </a:r>
                      <a:r>
                        <a:rPr lang="ko-KR" altLang="en-US" sz="1000" b="1" u="none" strike="noStrike" dirty="0" smtClean="0">
                          <a:effectLst/>
                          <a:latin typeface="+mj-lt"/>
                        </a:rPr>
                        <a:t>란드항공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97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743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188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35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우즈베키스탄항공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시베리아항공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제주항공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51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이스타항공</a:t>
                      </a:r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29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smtClean="0">
                          <a:effectLst/>
                          <a:latin typeface="+mj-lt"/>
                        </a:rPr>
                        <a:t>DBS (</a:t>
                      </a:r>
                      <a:r>
                        <a:rPr lang="ko-KR" altLang="en-US" sz="1000" b="1" u="none" strike="noStrike" dirty="0" smtClean="0">
                          <a:effectLst/>
                          <a:latin typeface="+mj-lt"/>
                        </a:rPr>
                        <a:t>선박</a:t>
                      </a:r>
                      <a:r>
                        <a:rPr lang="en-US" altLang="ko-KR" sz="1000" b="1" u="none" strike="noStrike" dirty="0" smtClean="0">
                          <a:effectLst/>
                          <a:latin typeface="+mj-lt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67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 미정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106" marR="6106" marT="6106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4800" y="1165412"/>
            <a:ext cx="2232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 smtClean="0"/>
              <a:t>행사 기준 지역별 이용항공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70725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9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69" y="1219512"/>
            <a:ext cx="416546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24716" y="1215949"/>
            <a:ext cx="3672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전체 상품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1"/>
            <a:ext cx="4174694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지역별 상품가격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1856439" y="4476218"/>
            <a:ext cx="526310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양사 모두 </a:t>
            </a:r>
            <a:r>
              <a:rPr lang="ko-KR" altLang="en-US" sz="1400" b="1" dirty="0" smtClean="0">
                <a:latin typeface="+mn-ea"/>
                <a:ea typeface="+mn-ea"/>
              </a:rPr>
              <a:t>출발확정 상품 평균 가격</a:t>
            </a:r>
            <a:r>
              <a:rPr lang="ko-KR" altLang="en-US" sz="1400" dirty="0" smtClean="0">
                <a:latin typeface="+mn-ea"/>
                <a:ea typeface="+mn-ea"/>
              </a:rPr>
              <a:t>이 전체 상품 가격보다 </a:t>
            </a:r>
            <a:r>
              <a:rPr lang="ko-KR" altLang="en-US" sz="1400" b="1" dirty="0" smtClean="0">
                <a:latin typeface="+mn-ea"/>
                <a:ea typeface="+mn-ea"/>
              </a:rPr>
              <a:t>낮아짐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실제 출발하지 않는 미끼상품을 노출시킨 뒤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ko-KR" altLang="en-US" sz="1400" b="1" dirty="0" smtClean="0">
                <a:latin typeface="+mn-ea"/>
                <a:ea typeface="+mn-ea"/>
              </a:rPr>
              <a:t>예약이동 유도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>
                <a:latin typeface="+mn-ea"/>
                <a:ea typeface="+mn-ea"/>
              </a:rPr>
              <a:t>북유럽</a:t>
            </a:r>
            <a:r>
              <a:rPr lang="ko-KR" altLang="en-US" sz="1400" dirty="0" smtClean="0">
                <a:latin typeface="+mn-ea"/>
                <a:ea typeface="+mn-ea"/>
              </a:rPr>
              <a:t> 지역만 노랑풍선 대비 자사의 </a:t>
            </a:r>
            <a:r>
              <a:rPr lang="ko-KR" altLang="en-US" sz="1400" b="1" dirty="0" smtClean="0">
                <a:latin typeface="+mn-ea"/>
                <a:ea typeface="+mn-ea"/>
              </a:rPr>
              <a:t>상품 평균 가격이 높음</a:t>
            </a:r>
            <a:endParaRPr lang="en-US" altLang="ko-KR" sz="1400" b="1" dirty="0" smtClean="0">
              <a:latin typeface="+mn-ea"/>
              <a:ea typeface="+mn-ea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4765597" y="1226635"/>
            <a:ext cx="416546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4756367" y="1234843"/>
            <a:ext cx="4174694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65597" y="1208344"/>
            <a:ext cx="39298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출발확정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상품 지역별 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24" name="차트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066832"/>
              </p:ext>
            </p:extLst>
          </p:nvPr>
        </p:nvGraphicFramePr>
        <p:xfrm>
          <a:off x="433969" y="1492948"/>
          <a:ext cx="4210050" cy="2464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차트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5144290"/>
              </p:ext>
            </p:extLst>
          </p:nvPr>
        </p:nvGraphicFramePr>
        <p:xfrm>
          <a:off x="4765596" y="1492948"/>
          <a:ext cx="4136863" cy="2449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5442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10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01937" y="1205266"/>
            <a:ext cx="2913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별 평균 가격 비교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613742" y="1225321"/>
            <a:ext cx="1751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지역별 상품가격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 </a:t>
            </a:r>
            <a:endParaRPr lang="en-US" altLang="ko-KR" sz="2000" dirty="0"/>
          </a:p>
        </p:txBody>
      </p: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1502545" y="4415310"/>
            <a:ext cx="613891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n-ea"/>
                <a:ea typeface="+mn-ea"/>
              </a:rPr>
              <a:t>VGT</a:t>
            </a:r>
            <a:r>
              <a:rPr lang="ko-KR" altLang="en-US" sz="1400" dirty="0" smtClean="0">
                <a:latin typeface="+mn-ea"/>
                <a:ea typeface="+mn-ea"/>
              </a:rPr>
              <a:t>의 경우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ko-KR" altLang="en-US" sz="1400" dirty="0" smtClean="0">
                <a:latin typeface="+mn-ea"/>
                <a:ea typeface="+mn-ea"/>
              </a:rPr>
              <a:t>북유럽을 제외하고 </a:t>
            </a:r>
            <a:r>
              <a:rPr lang="ko-KR" altLang="en-US" sz="1400" b="1" dirty="0" smtClean="0">
                <a:latin typeface="+mn-ea"/>
                <a:ea typeface="+mn-ea"/>
              </a:rPr>
              <a:t>브랜드 상품</a:t>
            </a:r>
            <a:r>
              <a:rPr lang="ko-KR" altLang="en-US" sz="1400" dirty="0" smtClean="0">
                <a:latin typeface="+mn-ea"/>
                <a:ea typeface="+mn-ea"/>
              </a:rPr>
              <a:t>을 </a:t>
            </a:r>
            <a:r>
              <a:rPr lang="ko-KR" altLang="en-US" sz="1400" b="1" dirty="0" smtClean="0">
                <a:latin typeface="+mn-ea"/>
                <a:ea typeface="+mn-ea"/>
              </a:rPr>
              <a:t>효율적으로 운영</a:t>
            </a:r>
            <a:r>
              <a:rPr lang="ko-KR" altLang="en-US" sz="1400" dirty="0" smtClean="0">
                <a:latin typeface="+mn-ea"/>
                <a:ea typeface="+mn-ea"/>
              </a:rPr>
              <a:t> 중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노랑풍선의 경우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ko-KR" altLang="en-US" sz="1400" dirty="0" smtClean="0">
                <a:latin typeface="+mn-ea"/>
                <a:ea typeface="+mn-ea"/>
              </a:rPr>
              <a:t>서유럽을 제외하고 </a:t>
            </a:r>
            <a:r>
              <a:rPr lang="ko-KR" altLang="en-US" sz="1400" b="1" dirty="0" smtClean="0">
                <a:latin typeface="+mn-ea"/>
                <a:ea typeface="+mn-ea"/>
              </a:rPr>
              <a:t>실제 출발</a:t>
            </a:r>
            <a:r>
              <a:rPr lang="ko-KR" altLang="en-US" sz="1400" dirty="0" smtClean="0">
                <a:latin typeface="+mn-ea"/>
                <a:ea typeface="+mn-ea"/>
              </a:rPr>
              <a:t>하는 </a:t>
            </a:r>
            <a:r>
              <a:rPr lang="ko-KR" altLang="en-US" sz="1400" b="1" dirty="0" err="1" smtClean="0">
                <a:latin typeface="+mn-ea"/>
                <a:ea typeface="+mn-ea"/>
              </a:rPr>
              <a:t>시그니쳐</a:t>
            </a:r>
            <a:r>
              <a:rPr lang="ko-KR" altLang="en-US" sz="1400" b="1" dirty="0">
                <a:latin typeface="+mn-ea"/>
                <a:ea typeface="+mn-ea"/>
              </a:rPr>
              <a:t> </a:t>
            </a:r>
            <a:r>
              <a:rPr lang="ko-KR" altLang="en-US" sz="1400" b="1" dirty="0" smtClean="0">
                <a:latin typeface="+mn-ea"/>
                <a:ea typeface="+mn-ea"/>
              </a:rPr>
              <a:t>상품 없음</a:t>
            </a:r>
            <a:endParaRPr lang="en-US" altLang="ko-KR" sz="1400" b="1" dirty="0" smtClean="0">
              <a:latin typeface="+mn-ea"/>
              <a:ea typeface="+mn-ea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401937" y="1226636"/>
            <a:ext cx="402910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TextBox 35"/>
          <p:cNvSpPr txBox="1">
            <a:spLocks noChangeArrowheads="1"/>
          </p:cNvSpPr>
          <p:nvPr/>
        </p:nvSpPr>
        <p:spPr bwMode="auto">
          <a:xfrm>
            <a:off x="383433" y="1219512"/>
            <a:ext cx="40291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VGT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출발확정 상품 등급별 가격 비교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411190" y="1219512"/>
            <a:ext cx="4010594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632247" y="1198142"/>
            <a:ext cx="2625905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별 평균 가격 비교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632248" y="1219512"/>
            <a:ext cx="394880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632248" y="1212388"/>
            <a:ext cx="3948800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3" name="TextBox 35"/>
          <p:cNvSpPr txBox="1">
            <a:spLocks noChangeArrowheads="1"/>
          </p:cNvSpPr>
          <p:nvPr/>
        </p:nvSpPr>
        <p:spPr bwMode="auto">
          <a:xfrm>
            <a:off x="4613742" y="1212388"/>
            <a:ext cx="404760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노랑풍선 출발확정 상품 등급별 가격 비교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21" name="차트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8389536"/>
              </p:ext>
            </p:extLst>
          </p:nvPr>
        </p:nvGraphicFramePr>
        <p:xfrm>
          <a:off x="383433" y="1496511"/>
          <a:ext cx="3955485" cy="2445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차트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1813776"/>
              </p:ext>
            </p:extLst>
          </p:nvPr>
        </p:nvGraphicFramePr>
        <p:xfrm>
          <a:off x="4613743" y="1496511"/>
          <a:ext cx="3967306" cy="2445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2386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11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70" y="1058145"/>
            <a:ext cx="237226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70" y="1043028"/>
            <a:ext cx="23722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 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059123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058145"/>
            <a:ext cx="3835395" cy="1999968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640179" y="1058145"/>
            <a:ext cx="3830961" cy="1999968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40180" y="1063828"/>
            <a:ext cx="258358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지역별 출발확정 상품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640181" y="1043027"/>
            <a:ext cx="27632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노랑풍선 출발확정 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21"/>
          <p:cNvSpPr txBox="1">
            <a:spLocks noChangeArrowheads="1"/>
          </p:cNvSpPr>
          <p:nvPr/>
        </p:nvSpPr>
        <p:spPr bwMode="auto">
          <a:xfrm>
            <a:off x="2245080" y="5144187"/>
            <a:ext cx="665738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  <a:ea typeface="+mn-ea"/>
              </a:rPr>
              <a:t>자사 출발확정 상품의 경우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  <a:ea typeface="+mn-ea"/>
              </a:rPr>
              <a:t>노랑풍선에 비해 약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  <a:ea typeface="+mn-ea"/>
              </a:rPr>
              <a:t>14%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  <a:ea typeface="+mn-ea"/>
              </a:rPr>
              <a:t>↓ </a:t>
            </a:r>
            <a:endParaRPr lang="en-US" altLang="ko-KR" sz="1400" b="1" dirty="0" smtClean="0">
              <a:solidFill>
                <a:srgbClr val="C00000"/>
              </a:solidFill>
              <a:latin typeface="+mj-lt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 </a:t>
            </a:r>
            <a:r>
              <a:rPr lang="en-US" altLang="ko-KR" sz="1400" dirty="0">
                <a:latin typeface="+mj-lt"/>
              </a:rPr>
              <a:t>: </a:t>
            </a:r>
            <a:r>
              <a:rPr lang="ko-KR" altLang="en-US" sz="1400" dirty="0">
                <a:latin typeface="+mj-lt"/>
              </a:rPr>
              <a:t>스페인 </a:t>
            </a:r>
            <a:r>
              <a:rPr lang="en-US" altLang="ko-KR" sz="1400" dirty="0">
                <a:latin typeface="+mj-lt"/>
              </a:rPr>
              <a:t>&gt; </a:t>
            </a:r>
            <a:r>
              <a:rPr lang="ko-KR" altLang="en-US" sz="1400" dirty="0">
                <a:latin typeface="+mj-lt"/>
              </a:rPr>
              <a:t>동유럽 </a:t>
            </a:r>
            <a:r>
              <a:rPr lang="en-US" altLang="ko-KR" sz="1400" dirty="0">
                <a:latin typeface="+mj-lt"/>
              </a:rPr>
              <a:t>&gt; </a:t>
            </a:r>
            <a:r>
              <a:rPr lang="ko-KR" altLang="en-US" sz="1400" dirty="0" smtClean="0">
                <a:latin typeface="+mj-lt"/>
              </a:rPr>
              <a:t>서유럽 </a:t>
            </a:r>
            <a:r>
              <a:rPr lang="en-US" altLang="ko-KR" sz="1400" dirty="0" smtClean="0">
                <a:latin typeface="+mj-lt"/>
              </a:rPr>
              <a:t>&gt; </a:t>
            </a:r>
            <a:r>
              <a:rPr lang="ko-KR" altLang="en-US" sz="1400" dirty="0" smtClean="0">
                <a:latin typeface="+mj-lt"/>
              </a:rPr>
              <a:t>북유럽 </a:t>
            </a:r>
            <a:r>
              <a:rPr lang="en-US" altLang="ko-KR" sz="1400" dirty="0">
                <a:latin typeface="+mj-lt"/>
              </a:rPr>
              <a:t>&gt; </a:t>
            </a:r>
            <a:r>
              <a:rPr lang="ko-KR" altLang="en-US" sz="1400" dirty="0" smtClean="0">
                <a:latin typeface="+mj-lt"/>
              </a:rPr>
              <a:t>지중해</a:t>
            </a:r>
            <a:endParaRPr lang="en-US" altLang="ko-KR" sz="1400" dirty="0" smtClean="0">
              <a:latin typeface="+mj-lt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  <a:ea typeface="+mn-ea"/>
              </a:rPr>
              <a:t>노랑풍선 </a:t>
            </a:r>
            <a:r>
              <a:rPr lang="en-US" altLang="ko-KR" sz="1400" dirty="0">
                <a:latin typeface="+mj-lt"/>
                <a:ea typeface="+mn-ea"/>
              </a:rPr>
              <a:t>:</a:t>
            </a:r>
            <a:r>
              <a:rPr lang="en-US" altLang="ko-KR" sz="1400" dirty="0" smtClean="0">
                <a:latin typeface="+mj-lt"/>
                <a:ea typeface="+mn-ea"/>
              </a:rPr>
              <a:t> </a:t>
            </a:r>
            <a:r>
              <a:rPr lang="ko-KR" altLang="en-US" sz="1400" dirty="0" smtClean="0">
                <a:latin typeface="+mj-lt"/>
                <a:ea typeface="+mn-ea"/>
              </a:rPr>
              <a:t>서유럽</a:t>
            </a:r>
            <a:r>
              <a:rPr lang="en-US" altLang="ko-KR" sz="1400" dirty="0">
                <a:latin typeface="+mj-lt"/>
                <a:ea typeface="+mn-ea"/>
              </a:rPr>
              <a:t> </a:t>
            </a:r>
            <a:r>
              <a:rPr lang="en-US" altLang="ko-KR" sz="1400" dirty="0" smtClean="0">
                <a:latin typeface="+mj-lt"/>
                <a:ea typeface="+mn-ea"/>
              </a:rPr>
              <a:t>&gt; </a:t>
            </a:r>
            <a:r>
              <a:rPr lang="ko-KR" altLang="en-US" sz="1400" dirty="0" smtClean="0">
                <a:latin typeface="+mj-lt"/>
                <a:ea typeface="+mn-ea"/>
              </a:rPr>
              <a:t>스페인 </a:t>
            </a:r>
            <a:r>
              <a:rPr lang="en-US" altLang="ko-KR" sz="1400" dirty="0" smtClean="0">
                <a:latin typeface="+mj-lt"/>
                <a:ea typeface="+mn-ea"/>
              </a:rPr>
              <a:t>&gt; </a:t>
            </a:r>
            <a:r>
              <a:rPr lang="ko-KR" altLang="en-US" sz="1400" dirty="0" smtClean="0">
                <a:latin typeface="+mj-lt"/>
                <a:ea typeface="+mn-ea"/>
              </a:rPr>
              <a:t>지중해 </a:t>
            </a:r>
            <a:r>
              <a:rPr lang="en-US" altLang="ko-KR" sz="1400" dirty="0" smtClean="0">
                <a:latin typeface="+mj-lt"/>
                <a:ea typeface="+mn-ea"/>
              </a:rPr>
              <a:t>&gt; </a:t>
            </a:r>
            <a:r>
              <a:rPr lang="ko-KR" altLang="en-US" sz="1400" dirty="0" smtClean="0">
                <a:latin typeface="+mj-lt"/>
                <a:ea typeface="+mn-ea"/>
              </a:rPr>
              <a:t>동유럽 </a:t>
            </a:r>
            <a:r>
              <a:rPr lang="en-US" altLang="ko-KR" sz="1400" dirty="0" smtClean="0">
                <a:latin typeface="+mj-lt"/>
                <a:ea typeface="+mn-ea"/>
              </a:rPr>
              <a:t>&gt; </a:t>
            </a:r>
            <a:r>
              <a:rPr lang="ko-KR" altLang="en-US" sz="1400" dirty="0" smtClean="0">
                <a:latin typeface="+mj-lt"/>
                <a:ea typeface="+mn-ea"/>
              </a:rPr>
              <a:t>북유럽</a:t>
            </a:r>
            <a:endParaRPr lang="en-US" altLang="ko-KR" sz="1400" dirty="0" smtClean="0">
              <a:latin typeface="+mj-lt"/>
              <a:ea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33970" y="3132953"/>
            <a:ext cx="382616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TextBox 35"/>
          <p:cNvSpPr txBox="1">
            <a:spLocks noChangeArrowheads="1"/>
          </p:cNvSpPr>
          <p:nvPr/>
        </p:nvSpPr>
        <p:spPr bwMode="auto">
          <a:xfrm>
            <a:off x="433970" y="3117836"/>
            <a:ext cx="34220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 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433970" y="3127031"/>
            <a:ext cx="3826163" cy="200796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4640179" y="3130621"/>
            <a:ext cx="3830961" cy="200437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640180" y="3127400"/>
            <a:ext cx="3830960" cy="2657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4640178" y="3116174"/>
            <a:ext cx="37514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노랑풍선 지역별 출발확정 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31" name="차트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0338529"/>
              </p:ext>
            </p:extLst>
          </p:nvPr>
        </p:nvGraphicFramePr>
        <p:xfrm>
          <a:off x="336431" y="1328019"/>
          <a:ext cx="3923702" cy="1799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차트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6885192"/>
              </p:ext>
            </p:extLst>
          </p:nvPr>
        </p:nvGraphicFramePr>
        <p:xfrm>
          <a:off x="4640178" y="1198780"/>
          <a:ext cx="3830962" cy="1928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차트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4100001"/>
              </p:ext>
            </p:extLst>
          </p:nvPr>
        </p:nvGraphicFramePr>
        <p:xfrm>
          <a:off x="424737" y="3402829"/>
          <a:ext cx="3835395" cy="1732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9" name="차트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7408436"/>
              </p:ext>
            </p:extLst>
          </p:nvPr>
        </p:nvGraphicFramePr>
        <p:xfrm>
          <a:off x="4563372" y="3393173"/>
          <a:ext cx="3907767" cy="1741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0" name="TextBox 27"/>
          <p:cNvSpPr txBox="1"/>
          <p:nvPr/>
        </p:nvSpPr>
        <p:spPr>
          <a:xfrm>
            <a:off x="698740" y="2603224"/>
            <a:ext cx="81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(12,807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1" name="TextBox 27"/>
          <p:cNvSpPr txBox="1"/>
          <p:nvPr/>
        </p:nvSpPr>
        <p:spPr>
          <a:xfrm>
            <a:off x="4995503" y="2477509"/>
            <a:ext cx="81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(2,628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2" name="TextBox 27"/>
          <p:cNvSpPr txBox="1"/>
          <p:nvPr/>
        </p:nvSpPr>
        <p:spPr>
          <a:xfrm>
            <a:off x="6731571" y="1575117"/>
            <a:ext cx="81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(1,232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4356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차트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554928"/>
              </p:ext>
            </p:extLst>
          </p:nvPr>
        </p:nvGraphicFramePr>
        <p:xfrm>
          <a:off x="442854" y="1489387"/>
          <a:ext cx="8149053" cy="2946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2019-01-24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12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70" y="1219512"/>
            <a:ext cx="3808846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42854" y="1193801"/>
            <a:ext cx="39736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상품 월별 예약인원 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050" b="1" dirty="0" err="1" smtClean="0">
                <a:solidFill>
                  <a:schemeClr val="accent2"/>
                </a:solidFill>
                <a:latin typeface="+mn-ea"/>
                <a:ea typeface="+mn-ea"/>
              </a:rPr>
              <a:t>실예약</a:t>
            </a:r>
            <a:r>
              <a:rPr lang="ko-KR" altLang="en-US" sz="1050" b="1" dirty="0" smtClean="0">
                <a:solidFill>
                  <a:schemeClr val="accent2"/>
                </a:solidFill>
                <a:latin typeface="+mn-ea"/>
                <a:ea typeface="+mn-ea"/>
              </a:rPr>
              <a:t> 및 허수포함 인원</a:t>
            </a:r>
            <a:endParaRPr lang="ko-KR" altLang="en-US" sz="105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2"/>
            <a:ext cx="8167170" cy="319112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월별 예약인원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06866" y="4436347"/>
            <a:ext cx="3562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출처</a:t>
            </a:r>
            <a:r>
              <a:rPr lang="en-US" altLang="ko-KR" sz="1000" dirty="0" smtClean="0"/>
              <a:t> : VGT </a:t>
            </a:r>
            <a:r>
              <a:rPr lang="ko-KR" altLang="en-US" sz="1000" dirty="0" err="1" smtClean="0"/>
              <a:t>실예약인원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허수예약 </a:t>
            </a:r>
            <a:r>
              <a:rPr lang="en-US" altLang="ko-KR" sz="1000" dirty="0" smtClean="0"/>
              <a:t>– </a:t>
            </a:r>
            <a:r>
              <a:rPr lang="ko-KR" altLang="en-US" sz="1000" dirty="0" smtClean="0"/>
              <a:t>사내</a:t>
            </a:r>
            <a:r>
              <a:rPr lang="en-US" altLang="ko-KR" sz="1000" dirty="0" smtClean="0"/>
              <a:t>D.B,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노랑풍선 </a:t>
            </a:r>
            <a:r>
              <a:rPr lang="ko-KR" altLang="en-US" sz="1000" dirty="0" err="1" smtClean="0"/>
              <a:t>실예약인원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– </a:t>
            </a:r>
            <a:r>
              <a:rPr lang="ko-KR" altLang="en-US" sz="1000" dirty="0" err="1" smtClean="0"/>
              <a:t>기획감사팀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허수예약 </a:t>
            </a:r>
            <a:r>
              <a:rPr lang="en-US" altLang="ko-KR" sz="1000" dirty="0" smtClean="0"/>
              <a:t>- </a:t>
            </a:r>
            <a:r>
              <a:rPr lang="ko-KR" altLang="en-US" sz="1000" dirty="0" err="1" smtClean="0"/>
              <a:t>크롤링데이터</a:t>
            </a:r>
            <a:endParaRPr lang="ko-KR" altLang="en-US" sz="1000" dirty="0"/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5889812" y="1840062"/>
            <a:ext cx="334676" cy="1551791"/>
          </a:xfrm>
          <a:prstGeom prst="straightConnector1">
            <a:avLst/>
          </a:prstGeom>
          <a:ln w="28575">
            <a:solidFill>
              <a:srgbClr val="C00000"/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6224489" y="3212191"/>
            <a:ext cx="458588" cy="422882"/>
          </a:xfrm>
          <a:prstGeom prst="straightConnector1">
            <a:avLst/>
          </a:prstGeom>
          <a:ln w="28575">
            <a:solidFill>
              <a:srgbClr val="C00000"/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38799" y="2401412"/>
            <a:ext cx="502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rgbClr val="C00000"/>
                </a:solidFill>
                <a:latin typeface="+mj-lt"/>
              </a:rPr>
              <a:t>x5</a:t>
            </a:r>
            <a:endParaRPr lang="ko-KR" altLang="en-US" sz="16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44727" y="3347665"/>
            <a:ext cx="753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rgbClr val="C00000"/>
                </a:solidFill>
                <a:latin typeface="+mj-lt"/>
              </a:rPr>
              <a:t>x3</a:t>
            </a:r>
            <a:endParaRPr lang="ko-KR" altLang="en-US" sz="16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28264" y="4947834"/>
            <a:ext cx="50874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j-lt"/>
              </a:rPr>
              <a:t>VGT</a:t>
            </a:r>
            <a:r>
              <a:rPr lang="ko-KR" altLang="en-US" sz="1400" dirty="0">
                <a:latin typeface="+mj-lt"/>
              </a:rPr>
              <a:t>의</a:t>
            </a:r>
            <a:r>
              <a:rPr lang="ko-KR" altLang="en-US" sz="1400" b="1" dirty="0">
                <a:latin typeface="+mj-lt"/>
              </a:rPr>
              <a:t> </a:t>
            </a:r>
            <a:r>
              <a:rPr lang="ko-KR" altLang="en-US" sz="1400" b="1" dirty="0" err="1" smtClean="0">
                <a:latin typeface="+mj-lt"/>
              </a:rPr>
              <a:t>실예약인원</a:t>
            </a:r>
            <a:r>
              <a:rPr lang="ko-KR" altLang="en-US" sz="1400" dirty="0" err="1" smtClean="0">
                <a:latin typeface="+mj-lt"/>
              </a:rPr>
              <a:t>이</a:t>
            </a:r>
            <a:r>
              <a:rPr lang="ko-KR" altLang="en-US" sz="1400" dirty="0" smtClean="0">
                <a:latin typeface="+mj-lt"/>
              </a:rPr>
              <a:t> </a:t>
            </a:r>
            <a:r>
              <a:rPr lang="ko-KR" altLang="en-US" sz="1400" dirty="0">
                <a:latin typeface="+mj-lt"/>
              </a:rPr>
              <a:t>약 </a:t>
            </a:r>
            <a:r>
              <a:rPr lang="en-US" altLang="ko-KR" sz="1400" b="1" dirty="0">
                <a:solidFill>
                  <a:srgbClr val="C00000"/>
                </a:solidFill>
                <a:latin typeface="+mj-lt"/>
              </a:rPr>
              <a:t>1.5</a:t>
            </a:r>
            <a:r>
              <a:rPr lang="ko-KR" altLang="en-US" sz="1400" dirty="0">
                <a:latin typeface="+mj-lt"/>
              </a:rPr>
              <a:t>배 높음</a:t>
            </a:r>
            <a:endParaRPr lang="en-US" altLang="ko-KR" sz="1400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j-lt"/>
              </a:rPr>
              <a:t>VGT</a:t>
            </a:r>
            <a:r>
              <a:rPr lang="ko-KR" altLang="en-US" sz="1400" dirty="0">
                <a:latin typeface="+mj-lt"/>
              </a:rPr>
              <a:t>의 </a:t>
            </a:r>
            <a:r>
              <a:rPr lang="ko-KR" altLang="en-US" sz="1400" b="1" dirty="0">
                <a:latin typeface="+mj-lt"/>
              </a:rPr>
              <a:t>허수인원</a:t>
            </a:r>
            <a:r>
              <a:rPr lang="ko-KR" altLang="en-US" sz="1400" dirty="0">
                <a:latin typeface="+mj-lt"/>
              </a:rPr>
              <a:t>은 </a:t>
            </a:r>
            <a:r>
              <a:rPr lang="ko-KR" altLang="en-US" sz="1400" dirty="0" err="1">
                <a:latin typeface="+mj-lt"/>
              </a:rPr>
              <a:t>실예약인원의</a:t>
            </a:r>
            <a:r>
              <a:rPr lang="ko-KR" altLang="en-US" sz="1400" dirty="0">
                <a:latin typeface="+mj-lt"/>
              </a:rPr>
              <a:t> 약 </a:t>
            </a:r>
            <a:r>
              <a:rPr lang="en-US" altLang="ko-KR" sz="1400" b="1" dirty="0">
                <a:solidFill>
                  <a:srgbClr val="C00000"/>
                </a:solidFill>
                <a:latin typeface="+mj-lt"/>
              </a:rPr>
              <a:t>5</a:t>
            </a:r>
            <a:r>
              <a:rPr lang="ko-KR" altLang="en-US" sz="1400" dirty="0">
                <a:latin typeface="+mj-lt"/>
              </a:rPr>
              <a:t>배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 smtClean="0">
                <a:latin typeface="+mj-lt"/>
              </a:rPr>
              <a:t>노랑풍선은 약 </a:t>
            </a:r>
            <a:r>
              <a:rPr lang="en-US" altLang="ko-KR" sz="1400" b="1" dirty="0">
                <a:solidFill>
                  <a:srgbClr val="C00000"/>
                </a:solidFill>
                <a:latin typeface="+mj-lt"/>
              </a:rPr>
              <a:t>3</a:t>
            </a:r>
            <a:r>
              <a:rPr lang="ko-KR" altLang="en-US" sz="1400" dirty="0" smtClean="0">
                <a:latin typeface="+mj-lt"/>
              </a:rPr>
              <a:t>배</a:t>
            </a:r>
            <a:endParaRPr lang="en-US" altLang="ko-KR" sz="1400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주기적인 허수 운영에 대한 </a:t>
            </a:r>
            <a:r>
              <a:rPr lang="ko-KR" altLang="en-US" sz="1400" dirty="0" err="1" smtClean="0">
                <a:latin typeface="+mj-lt"/>
              </a:rPr>
              <a:t>크롤링</a:t>
            </a:r>
            <a:r>
              <a:rPr lang="ko-KR" altLang="en-US" sz="1400" dirty="0">
                <a:latin typeface="+mj-lt"/>
              </a:rPr>
              <a:t> </a:t>
            </a:r>
            <a:r>
              <a:rPr lang="ko-KR" altLang="en-US" sz="1400" dirty="0" smtClean="0">
                <a:latin typeface="+mj-lt"/>
              </a:rPr>
              <a:t>필요</a:t>
            </a:r>
            <a:endParaRPr lang="en-US" altLang="ko-KR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194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2019-01-24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13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Ⅳ</a:t>
            </a:r>
            <a:r>
              <a:rPr lang="en-US" altLang="ko-KR" dirty="0" smtClean="0"/>
              <a:t>. </a:t>
            </a:r>
            <a:r>
              <a:rPr lang="ko-KR" altLang="en-US" dirty="0" smtClean="0"/>
              <a:t>시사점</a:t>
            </a:r>
            <a:endParaRPr lang="en-US" altLang="ko-KR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21"/>
          <p:cNvSpPr txBox="1">
            <a:spLocks noChangeArrowheads="1"/>
          </p:cNvSpPr>
          <p:nvPr/>
        </p:nvSpPr>
        <p:spPr bwMode="auto">
          <a:xfrm>
            <a:off x="380492" y="1530183"/>
            <a:ext cx="859184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동일한 일정의 마스터상품을 중복 생성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ko-KR" altLang="en-US" sz="1400" dirty="0" smtClean="0">
                <a:latin typeface="+mn-ea"/>
                <a:ea typeface="+mn-ea"/>
              </a:rPr>
              <a:t>정형화되지 않은 기준으로 무분별한 상품 생성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마스터가 많을 경우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ko-KR" altLang="en-US" sz="1400" dirty="0" err="1" smtClean="0">
                <a:latin typeface="+mn-ea"/>
                <a:ea typeface="+mn-ea"/>
              </a:rPr>
              <a:t>모바일</a:t>
            </a:r>
            <a:r>
              <a:rPr lang="ko-KR" altLang="en-US" sz="1400" dirty="0" smtClean="0">
                <a:latin typeface="+mn-ea"/>
                <a:ea typeface="+mn-ea"/>
              </a:rPr>
              <a:t> 상에서 상품을 찾는데 어려움 발생</a:t>
            </a:r>
            <a:endParaRPr lang="en-US" altLang="ko-KR" sz="1400" dirty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ko-KR" altLang="en-US" sz="1400" b="1" dirty="0" smtClean="0">
                <a:latin typeface="+mn-ea"/>
                <a:ea typeface="+mn-ea"/>
              </a:rPr>
              <a:t>마스터상품 및 행사 생성</a:t>
            </a:r>
            <a:r>
              <a:rPr lang="ko-KR" altLang="en-US" sz="1400" dirty="0" smtClean="0">
                <a:latin typeface="+mn-ea"/>
                <a:ea typeface="+mn-ea"/>
              </a:rPr>
              <a:t>에 대한 체계적인 </a:t>
            </a:r>
            <a:r>
              <a:rPr lang="ko-KR" altLang="en-US" sz="1400" b="1" dirty="0" err="1" smtClean="0">
                <a:latin typeface="+mn-ea"/>
                <a:ea typeface="+mn-ea"/>
              </a:rPr>
              <a:t>운영안</a:t>
            </a:r>
            <a:r>
              <a:rPr lang="ko-KR" altLang="en-US" sz="1400" dirty="0" smtClean="0">
                <a:latin typeface="+mn-ea"/>
                <a:ea typeface="+mn-ea"/>
              </a:rPr>
              <a:t> 필요</a:t>
            </a:r>
            <a:endParaRPr lang="en-US" altLang="ko-KR" sz="1400" dirty="0" smtClean="0">
              <a:latin typeface="+mn-ea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4976" y="1128776"/>
            <a:ext cx="1533472" cy="446284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</a:rPr>
              <a:t>과다한 행사 수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4975" y="3027334"/>
            <a:ext cx="1533474" cy="446284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</a:rPr>
              <a:t>허수운영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80492" y="5405854"/>
            <a:ext cx="847479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+mn-ea"/>
              </a:rPr>
              <a:t>북유럽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실제로 </a:t>
            </a:r>
            <a:r>
              <a:rPr lang="ko-KR" altLang="en-US" sz="1400" dirty="0" err="1">
                <a:latin typeface="+mn-ea"/>
              </a:rPr>
              <a:t>라르고</a:t>
            </a:r>
            <a:r>
              <a:rPr lang="en-US" altLang="ko-KR" sz="1400" dirty="0">
                <a:latin typeface="+mn-ea"/>
              </a:rPr>
              <a:t>+ </a:t>
            </a:r>
            <a:r>
              <a:rPr lang="ko-KR" altLang="en-US" sz="1400" dirty="0">
                <a:latin typeface="+mn-ea"/>
              </a:rPr>
              <a:t>출발확정 상품이 없음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대부분이 예약이 일반상품에 집중되고 있음</a:t>
            </a:r>
            <a:endParaRPr lang="en-US" altLang="ko-KR" sz="1400" dirty="0">
              <a:latin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ko-KR" altLang="en-US" sz="1400" b="1" dirty="0" smtClean="0">
                <a:latin typeface="+mn-ea"/>
              </a:rPr>
              <a:t>북유럽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지역은 </a:t>
            </a:r>
            <a:r>
              <a:rPr lang="ko-KR" altLang="en-US" sz="1400" dirty="0" err="1">
                <a:latin typeface="+mn-ea"/>
              </a:rPr>
              <a:t>라르고</a:t>
            </a:r>
            <a:r>
              <a:rPr lang="en-US" altLang="ko-KR" sz="1400" dirty="0">
                <a:latin typeface="+mn-ea"/>
              </a:rPr>
              <a:t>+</a:t>
            </a:r>
            <a:r>
              <a:rPr lang="ko-KR" altLang="en-US" sz="1400" dirty="0">
                <a:latin typeface="+mn-ea"/>
              </a:rPr>
              <a:t>의 비율을 축소하고 </a:t>
            </a:r>
            <a:r>
              <a:rPr lang="ko-KR" altLang="en-US" sz="1400" b="1" dirty="0">
                <a:latin typeface="+mn-ea"/>
              </a:rPr>
              <a:t>일반상품에 집중 및 가격경쟁력을 강화</a:t>
            </a:r>
            <a:r>
              <a:rPr lang="ko-KR" altLang="en-US" sz="1400" dirty="0">
                <a:latin typeface="+mn-ea"/>
              </a:rPr>
              <a:t>할 필요성</a:t>
            </a:r>
            <a:endParaRPr lang="en-US" altLang="ko-KR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80492" y="3473618"/>
            <a:ext cx="82928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+mn-ea"/>
              </a:rPr>
              <a:t>허수운영을 통한 </a:t>
            </a:r>
            <a:r>
              <a:rPr lang="ko-KR" altLang="en-US" sz="1400" dirty="0" err="1">
                <a:latin typeface="+mn-ea"/>
              </a:rPr>
              <a:t>모객으로</a:t>
            </a:r>
            <a:r>
              <a:rPr lang="ko-KR" altLang="en-US" sz="1400" dirty="0">
                <a:latin typeface="+mn-ea"/>
              </a:rPr>
              <a:t> 예약 이동 및 취소 증가 </a:t>
            </a:r>
            <a:r>
              <a:rPr lang="en-US" altLang="ko-KR" sz="1400" dirty="0">
                <a:latin typeface="+mn-ea"/>
              </a:rPr>
              <a:t>-&gt; </a:t>
            </a:r>
            <a:r>
              <a:rPr lang="ko-KR" altLang="en-US" sz="1400" dirty="0">
                <a:latin typeface="+mn-ea"/>
              </a:rPr>
              <a:t>고객 불만 발생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브랜드 이미지 하락</a:t>
            </a:r>
            <a:endParaRPr lang="en-US" altLang="ko-KR" sz="1400" dirty="0">
              <a:latin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</a:rPr>
              <a:t>노랑풍선 </a:t>
            </a:r>
            <a:r>
              <a:rPr lang="ko-KR" altLang="en-US" sz="1400" dirty="0">
                <a:latin typeface="+mn-ea"/>
              </a:rPr>
              <a:t>대비 </a:t>
            </a:r>
            <a:r>
              <a:rPr lang="ko-KR" altLang="en-US" sz="1400" b="1" dirty="0">
                <a:latin typeface="+mn-ea"/>
              </a:rPr>
              <a:t>허수운영 비율에 비해 </a:t>
            </a:r>
            <a:r>
              <a:rPr lang="ko-KR" altLang="en-US" sz="1400" b="1" dirty="0" err="1">
                <a:latin typeface="+mn-ea"/>
              </a:rPr>
              <a:t>모객</a:t>
            </a:r>
            <a:r>
              <a:rPr lang="ko-KR" altLang="en-US" sz="1400" b="1" dirty="0">
                <a:latin typeface="+mn-ea"/>
              </a:rPr>
              <a:t> 성과가 </a:t>
            </a:r>
            <a:r>
              <a:rPr lang="ko-KR" altLang="en-US" sz="1400" b="1" dirty="0" smtClean="0">
                <a:latin typeface="+mn-ea"/>
              </a:rPr>
              <a:t>저조</a:t>
            </a:r>
            <a:endParaRPr lang="en-US" altLang="ko-KR" sz="1400" b="1" dirty="0">
              <a:latin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ko-KR" altLang="en-US" sz="1400" dirty="0" smtClean="0">
                <a:latin typeface="+mn-ea"/>
              </a:rPr>
              <a:t>무분별한 </a:t>
            </a:r>
            <a:r>
              <a:rPr lang="ko-KR" altLang="en-US" sz="1400" b="1" dirty="0">
                <a:latin typeface="+mn-ea"/>
              </a:rPr>
              <a:t>허수운영</a:t>
            </a:r>
            <a:r>
              <a:rPr lang="ko-KR" altLang="en-US" sz="1400" dirty="0">
                <a:latin typeface="+mn-ea"/>
              </a:rPr>
              <a:t>이 아닌 확실한 </a:t>
            </a:r>
            <a:r>
              <a:rPr lang="ko-KR" altLang="en-US" sz="1400" b="1" dirty="0">
                <a:latin typeface="+mn-ea"/>
              </a:rPr>
              <a:t>가이드라인을 정립</a:t>
            </a:r>
            <a:r>
              <a:rPr lang="ko-KR" altLang="en-US" sz="1400" dirty="0">
                <a:latin typeface="+mn-ea"/>
              </a:rPr>
              <a:t>할 필요성</a:t>
            </a:r>
            <a:endParaRPr lang="en-US" altLang="ko-KR" sz="1400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82734" y="4965290"/>
            <a:ext cx="1537956" cy="442894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</a:rPr>
              <a:t>지역별 관리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92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123544</TotalTime>
  <Words>1407</Words>
  <Application>Microsoft Office PowerPoint</Application>
  <PresentationFormat>화면 슬라이드 쇼(4:3)</PresentationFormat>
  <Paragraphs>497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굴림</vt:lpstr>
      <vt:lpstr>나눔고딕</vt:lpstr>
      <vt:lpstr>나눔고딕 ExtraBold</vt:lpstr>
      <vt:lpstr>맑은 고딕</vt:lpstr>
      <vt:lpstr>Arial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여승은</dc:creator>
  <cp:lastModifiedBy>yeo seungeun</cp:lastModifiedBy>
  <cp:revision>4063</cp:revision>
  <cp:lastPrinted>2019-01-24T00:03:47Z</cp:lastPrinted>
  <dcterms:created xsi:type="dcterms:W3CDTF">2014-03-24T10:18:17Z</dcterms:created>
  <dcterms:modified xsi:type="dcterms:W3CDTF">2019-08-06T06:41:53Z</dcterms:modified>
</cp:coreProperties>
</file>