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3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518" r:id="rId3"/>
    <p:sldId id="522" r:id="rId4"/>
    <p:sldId id="517" r:id="rId5"/>
    <p:sldId id="519" r:id="rId6"/>
    <p:sldId id="529" r:id="rId7"/>
    <p:sldId id="516" r:id="rId8"/>
    <p:sldId id="541" r:id="rId9"/>
    <p:sldId id="545" r:id="rId10"/>
    <p:sldId id="546" r:id="rId11"/>
    <p:sldId id="526" r:id="rId12"/>
    <p:sldId id="542" r:id="rId13"/>
    <p:sldId id="536" r:id="rId14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857" userDrawn="1">
          <p15:clr>
            <a:srgbClr val="A4A3A4"/>
          </p15:clr>
        </p15:guide>
        <p15:guide id="3" orient="horz" pos="2795" userDrawn="1">
          <p15:clr>
            <a:srgbClr val="A4A3A4"/>
          </p15:clr>
        </p15:guide>
        <p15:guide id="4" pos="363" userDrawn="1">
          <p15:clr>
            <a:srgbClr val="A4A3A4"/>
          </p15:clr>
        </p15:guide>
        <p15:guide id="5" pos="53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5381"/>
    <a:srgbClr val="FF3737"/>
    <a:srgbClr val="317CC1"/>
    <a:srgbClr val="DC5E5E"/>
    <a:srgbClr val="FF7C80"/>
    <a:srgbClr val="E5675D"/>
    <a:srgbClr val="6DA6D9"/>
    <a:srgbClr val="E07B52"/>
    <a:srgbClr val="FF9966"/>
    <a:srgbClr val="526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25" autoAdjust="0"/>
    <p:restoredTop sz="94684" autoAdjust="0"/>
  </p:normalViewPr>
  <p:slideViewPr>
    <p:cSldViewPr snapToGrid="0" showGuides="1">
      <p:cViewPr varScale="1">
        <p:scale>
          <a:sx n="106" d="100"/>
          <a:sy n="106" d="100"/>
        </p:scale>
        <p:origin x="2052" y="90"/>
      </p:cViewPr>
      <p:guideLst>
        <p:guide orient="horz" pos="3838"/>
        <p:guide pos="2857"/>
        <p:guide orient="horz" pos="2795"/>
        <p:guide pos="363"/>
        <p:guide pos="53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97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Desktop\DataScientist\11.%20&#53356;&#47204;&#47553;\&#51068;&#48376;\2~4&#50900;\VGT_&#45432;&#46993;_&#54633;&#48376;_&#44536;&#47000;&#5453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Desktop\DataScientist\11.%20&#53356;&#47204;&#47553;\&#51068;&#48376;\2~4&#50900;\VGT_&#45432;&#46993;_&#54633;&#48376;_&#44536;&#47000;&#5453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Desktop\DataScientist\11.%20&#53356;&#47204;&#47553;\&#51068;&#48376;\2~4&#50900;\VGT_&#45432;&#46993;_&#54633;&#48376;_&#44536;&#47000;&#54532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Desktop\DataScientist\11.%20&#53356;&#47204;&#47553;\&#51068;&#48376;\2~4&#50900;\VGT_&#45432;&#46993;_&#54633;&#48376;_&#44536;&#47000;&#54532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Desktop\DataScientist\11.%20&#53356;&#47204;&#47553;\&#51068;&#48376;\2~4&#50900;\VGT_&#45432;&#46993;_&#54633;&#48376;_&#44536;&#47000;&#54532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Desktop\DataScientist\11.%20&#53356;&#47204;&#47553;\&#51068;&#48376;\2~4&#50900;\VGT_&#45432;&#46993;_&#54633;&#48376;_&#44536;&#47000;&#54532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Desktop\DataScientist\11.%20&#53356;&#47204;&#47553;\&#51068;&#48376;\2~4&#50900;\VGT_&#45432;&#46993;_&#54633;&#48376;_&#44536;&#47000;&#54532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Desktop\DataScientist\11.%20&#53356;&#47204;&#47553;\&#51068;&#48376;\2~4&#50900;\VGT_&#45432;&#46993;_&#54633;&#48376;_&#44536;&#47000;&#54532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Desktop\DataScientist\11.%20&#53356;&#47204;&#47553;\&#51068;&#48376;\2~4&#50900;\VGT_&#45432;&#46993;_&#54633;&#48376;_&#44536;&#47000;&#54532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Desktop\DataScientist\11.%20&#53356;&#47204;&#47553;\&#51068;&#48376;\2~4&#50900;\VGT_&#45432;&#46993;_&#54633;&#48376;_&#44536;&#47000;&#54532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Desktop\DataScientist\11.%20&#53356;&#47204;&#47553;\&#51068;&#48376;\2~4&#50900;\VGT_&#45432;&#46993;_&#54633;&#48376;_&#44536;&#47000;&#54532;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Desktop\DataScientist\11.%20&#53356;&#47204;&#47553;\&#51068;&#48376;\2~4&#50900;\VGT_&#45432;&#46993;_&#54633;&#48376;_&#44536;&#47000;&#54532;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Desktop\DataScientist\11.%20&#53356;&#47204;&#47553;\&#51068;&#48376;\2~4&#50900;\VGT_&#45432;&#46993;_&#54633;&#48376;_&#44536;&#47000;&#54532;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Desktop\DataScientist\11.%20&#53356;&#47204;&#47553;\&#51068;&#48376;\2~4&#50900;\VGT_&#45432;&#46993;_&#54633;&#48376;_&#44536;&#47000;&#54532;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Desktop\DataScientist\11.%20&#53356;&#47204;&#47553;\&#51068;&#48376;\2~4&#50900;\VGT_&#45432;&#46993;_&#54633;&#48376;_&#44536;&#47000;&#54532;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801\Desktop\DataScientist\11.%20&#53356;&#47204;&#47553;\&#51068;&#48376;\2~4&#50900;\VGT_&#45432;&#46993;_&#54633;&#48376;_&#44536;&#47000;&#54532;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VGT_노랑풍선_그래프!$C$8</c:f>
              <c:strCache>
                <c:ptCount val="1"/>
                <c:pt idx="0">
                  <c:v>VGT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VGT_노랑풍선_그래프!$B$9:$B$14</c:f>
              <c:strCache>
                <c:ptCount val="6"/>
                <c:pt idx="0">
                  <c:v>북해도</c:v>
                </c:pt>
                <c:pt idx="1">
                  <c:v>동경</c:v>
                </c:pt>
                <c:pt idx="2">
                  <c:v>오사카</c:v>
                </c:pt>
                <c:pt idx="3">
                  <c:v>큐슈</c:v>
                </c:pt>
                <c:pt idx="4">
                  <c:v>시코쿠</c:v>
                </c:pt>
                <c:pt idx="5">
                  <c:v>오키나와</c:v>
                </c:pt>
              </c:strCache>
            </c:strRef>
          </c:cat>
          <c:val>
            <c:numRef>
              <c:f>VGT_노랑풍선_그래프!$C$9:$C$14</c:f>
              <c:numCache>
                <c:formatCode>General</c:formatCode>
                <c:ptCount val="6"/>
                <c:pt idx="0">
                  <c:v>19</c:v>
                </c:pt>
                <c:pt idx="1">
                  <c:v>12</c:v>
                </c:pt>
                <c:pt idx="2">
                  <c:v>12</c:v>
                </c:pt>
                <c:pt idx="3">
                  <c:v>17</c:v>
                </c:pt>
                <c:pt idx="4">
                  <c:v>8</c:v>
                </c:pt>
                <c:pt idx="5">
                  <c:v>7</c:v>
                </c:pt>
              </c:numCache>
            </c:numRef>
          </c:val>
        </c:ser>
        <c:ser>
          <c:idx val="1"/>
          <c:order val="1"/>
          <c:tx>
            <c:strRef>
              <c:f>VGT_노랑풍선_그래프!$D$8</c:f>
              <c:strCache>
                <c:ptCount val="1"/>
                <c:pt idx="0">
                  <c:v>노랑풍선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3.215781468658364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VGT_노랑풍선_그래프!$B$9:$B$14</c:f>
              <c:strCache>
                <c:ptCount val="6"/>
                <c:pt idx="0">
                  <c:v>북해도</c:v>
                </c:pt>
                <c:pt idx="1">
                  <c:v>동경</c:v>
                </c:pt>
                <c:pt idx="2">
                  <c:v>오사카</c:v>
                </c:pt>
                <c:pt idx="3">
                  <c:v>큐슈</c:v>
                </c:pt>
                <c:pt idx="4">
                  <c:v>시코쿠</c:v>
                </c:pt>
                <c:pt idx="5">
                  <c:v>오키나와</c:v>
                </c:pt>
              </c:strCache>
            </c:strRef>
          </c:cat>
          <c:val>
            <c:numRef>
              <c:f>VGT_노랑풍선_그래프!$D$9:$D$14</c:f>
              <c:numCache>
                <c:formatCode>General</c:formatCode>
                <c:ptCount val="6"/>
                <c:pt idx="0">
                  <c:v>18</c:v>
                </c:pt>
                <c:pt idx="1">
                  <c:v>16</c:v>
                </c:pt>
                <c:pt idx="2">
                  <c:v>15</c:v>
                </c:pt>
                <c:pt idx="3">
                  <c:v>32</c:v>
                </c:pt>
                <c:pt idx="4">
                  <c:v>3</c:v>
                </c:pt>
                <c:pt idx="5">
                  <c:v>11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28097216"/>
        <c:axId val="728097776"/>
      </c:barChart>
      <c:catAx>
        <c:axId val="728097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8097776"/>
        <c:crosses val="autoZero"/>
        <c:auto val="1"/>
        <c:lblAlgn val="ctr"/>
        <c:lblOffset val="100"/>
        <c:noMultiLvlLbl val="0"/>
      </c:catAx>
      <c:valAx>
        <c:axId val="728097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8097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VGT_노랑풍선_그래프!$C$20</c:f>
              <c:strCache>
                <c:ptCount val="1"/>
                <c:pt idx="0">
                  <c:v>VGT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1.8624172269194078E-2"/>
                  <c:y val="3.202226934510676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-3.73593142359578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1.552014355766179E-2"/>
                  <c:y val="3.202226934510674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VGT_노랑풍선_그래프!$B$21:$B$26</c:f>
              <c:strCache>
                <c:ptCount val="6"/>
                <c:pt idx="0">
                  <c:v>북해도</c:v>
                </c:pt>
                <c:pt idx="1">
                  <c:v>동경</c:v>
                </c:pt>
                <c:pt idx="2">
                  <c:v>오사카</c:v>
                </c:pt>
                <c:pt idx="3">
                  <c:v>큐슈</c:v>
                </c:pt>
                <c:pt idx="4">
                  <c:v>시코쿠</c:v>
                </c:pt>
                <c:pt idx="5">
                  <c:v>오키나와</c:v>
                </c:pt>
              </c:strCache>
            </c:strRef>
          </c:cat>
          <c:val>
            <c:numRef>
              <c:f>VGT_노랑풍선_그래프!$C$21:$C$26</c:f>
              <c:numCache>
                <c:formatCode>_(* #,##0_);_(* \(#,##0\);_(* "-"_);_(@_)</c:formatCode>
                <c:ptCount val="6"/>
                <c:pt idx="0">
                  <c:v>1077</c:v>
                </c:pt>
                <c:pt idx="1">
                  <c:v>437</c:v>
                </c:pt>
                <c:pt idx="2">
                  <c:v>817</c:v>
                </c:pt>
                <c:pt idx="3">
                  <c:v>1069</c:v>
                </c:pt>
                <c:pt idx="4">
                  <c:v>220</c:v>
                </c:pt>
                <c:pt idx="5">
                  <c:v>610</c:v>
                </c:pt>
              </c:numCache>
            </c:numRef>
          </c:val>
        </c:ser>
        <c:ser>
          <c:idx val="1"/>
          <c:order val="1"/>
          <c:tx>
            <c:strRef>
              <c:f>VGT_노랑풍선_그래프!$D$20</c:f>
              <c:strCache>
                <c:ptCount val="1"/>
                <c:pt idx="0">
                  <c:v>노랑풍선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208057423064693E-3"/>
                  <c:y val="2.134817956340451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6.208057423064693E-3"/>
                  <c:y val="1.067408978170225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6.2080574230645794E-3"/>
                  <c:y val="2.6685224454255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VGT_노랑풍선_그래프!$B$21:$B$26</c:f>
              <c:strCache>
                <c:ptCount val="6"/>
                <c:pt idx="0">
                  <c:v>북해도</c:v>
                </c:pt>
                <c:pt idx="1">
                  <c:v>동경</c:v>
                </c:pt>
                <c:pt idx="2">
                  <c:v>오사카</c:v>
                </c:pt>
                <c:pt idx="3">
                  <c:v>큐슈</c:v>
                </c:pt>
                <c:pt idx="4">
                  <c:v>시코쿠</c:v>
                </c:pt>
                <c:pt idx="5">
                  <c:v>오키나와</c:v>
                </c:pt>
              </c:strCache>
            </c:strRef>
          </c:cat>
          <c:val>
            <c:numRef>
              <c:f>VGT_노랑풍선_그래프!$D$21:$D$26</c:f>
              <c:numCache>
                <c:formatCode>_(* #,##0_);_(* \(#,##0\);_(* "-"_);_(@_)</c:formatCode>
                <c:ptCount val="6"/>
                <c:pt idx="0">
                  <c:v>666</c:v>
                </c:pt>
                <c:pt idx="1">
                  <c:v>533</c:v>
                </c:pt>
                <c:pt idx="2">
                  <c:v>805</c:v>
                </c:pt>
                <c:pt idx="3">
                  <c:v>1148</c:v>
                </c:pt>
                <c:pt idx="4">
                  <c:v>78</c:v>
                </c:pt>
                <c:pt idx="5">
                  <c:v>525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28100576"/>
        <c:axId val="728100016"/>
      </c:barChart>
      <c:catAx>
        <c:axId val="728100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8100016"/>
        <c:crosses val="autoZero"/>
        <c:auto val="1"/>
        <c:lblAlgn val="ctr"/>
        <c:lblOffset val="100"/>
        <c:noMultiLvlLbl val="0"/>
      </c:catAx>
      <c:valAx>
        <c:axId val="728100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8100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VGT_노랑풍선_그래프!$C$32</c:f>
              <c:strCache>
                <c:ptCount val="1"/>
                <c:pt idx="0">
                  <c:v>VGT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VGT_노랑풍선_그래프!$B$33:$B$38</c:f>
              <c:strCache>
                <c:ptCount val="6"/>
                <c:pt idx="0">
                  <c:v>북해도</c:v>
                </c:pt>
                <c:pt idx="1">
                  <c:v>동경</c:v>
                </c:pt>
                <c:pt idx="2">
                  <c:v>오사카</c:v>
                </c:pt>
                <c:pt idx="3">
                  <c:v>큐슈</c:v>
                </c:pt>
                <c:pt idx="4">
                  <c:v>시코쿠</c:v>
                </c:pt>
                <c:pt idx="5">
                  <c:v>오키나와</c:v>
                </c:pt>
              </c:strCache>
            </c:strRef>
          </c:cat>
          <c:val>
            <c:numRef>
              <c:f>VGT_노랑풍선_그래프!$C$33:$C$38</c:f>
              <c:numCache>
                <c:formatCode>0</c:formatCode>
                <c:ptCount val="6"/>
                <c:pt idx="0">
                  <c:v>56.684210526315788</c:v>
                </c:pt>
                <c:pt idx="1">
                  <c:v>36.416666666666664</c:v>
                </c:pt>
                <c:pt idx="2">
                  <c:v>68.083333333333329</c:v>
                </c:pt>
                <c:pt idx="3">
                  <c:v>62.882352941176471</c:v>
                </c:pt>
                <c:pt idx="4">
                  <c:v>27.5</c:v>
                </c:pt>
                <c:pt idx="5">
                  <c:v>87.142857142857139</c:v>
                </c:pt>
              </c:numCache>
            </c:numRef>
          </c:val>
        </c:ser>
        <c:ser>
          <c:idx val="1"/>
          <c:order val="1"/>
          <c:tx>
            <c:strRef>
              <c:f>VGT_노랑풍선_그래프!$D$32</c:f>
              <c:strCache>
                <c:ptCount val="1"/>
                <c:pt idx="0">
                  <c:v>노랑풍선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3.2974790902176995E-3"/>
                  <c:y val="2.664602124548109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0"/>
                  <c:y val="2.664602124548109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VGT_노랑풍선_그래프!$B$33:$B$38</c:f>
              <c:strCache>
                <c:ptCount val="6"/>
                <c:pt idx="0">
                  <c:v>북해도</c:v>
                </c:pt>
                <c:pt idx="1">
                  <c:v>동경</c:v>
                </c:pt>
                <c:pt idx="2">
                  <c:v>오사카</c:v>
                </c:pt>
                <c:pt idx="3">
                  <c:v>큐슈</c:v>
                </c:pt>
                <c:pt idx="4">
                  <c:v>시코쿠</c:v>
                </c:pt>
                <c:pt idx="5">
                  <c:v>오키나와</c:v>
                </c:pt>
              </c:strCache>
            </c:strRef>
          </c:cat>
          <c:val>
            <c:numRef>
              <c:f>VGT_노랑풍선_그래프!$D$33:$D$38</c:f>
              <c:numCache>
                <c:formatCode>0</c:formatCode>
                <c:ptCount val="6"/>
                <c:pt idx="0">
                  <c:v>37</c:v>
                </c:pt>
                <c:pt idx="1">
                  <c:v>33.3125</c:v>
                </c:pt>
                <c:pt idx="2">
                  <c:v>53.666666666666664</c:v>
                </c:pt>
                <c:pt idx="3">
                  <c:v>35.875</c:v>
                </c:pt>
                <c:pt idx="4">
                  <c:v>26</c:v>
                </c:pt>
                <c:pt idx="5">
                  <c:v>47.727272727272727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28098336"/>
        <c:axId val="733031904"/>
      </c:barChart>
      <c:catAx>
        <c:axId val="728098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33031904"/>
        <c:crosses val="autoZero"/>
        <c:auto val="1"/>
        <c:lblAlgn val="ctr"/>
        <c:lblOffset val="100"/>
        <c:noMultiLvlLbl val="0"/>
      </c:catAx>
      <c:valAx>
        <c:axId val="733031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8098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VGT_노랑풍선_그래프!$O$44</c:f>
              <c:strCache>
                <c:ptCount val="1"/>
                <c:pt idx="0">
                  <c:v>비율</c:v>
                </c:pt>
              </c:strCache>
            </c:strRef>
          </c:tx>
          <c:dPt>
            <c:idx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explosion val="13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VGT_노랑풍선_그래프!$N$45:$N$46</c:f>
              <c:strCache>
                <c:ptCount val="2"/>
                <c:pt idx="0">
                  <c:v>일반</c:v>
                </c:pt>
                <c:pt idx="1">
                  <c:v>프리미엄</c:v>
                </c:pt>
              </c:strCache>
            </c:strRef>
          </c:cat>
          <c:val>
            <c:numRef>
              <c:f>VGT_노랑풍선_그래프!$O$45:$O$46</c:f>
              <c:numCache>
                <c:formatCode>0%</c:formatCode>
                <c:ptCount val="2"/>
                <c:pt idx="0">
                  <c:v>0.88</c:v>
                </c:pt>
                <c:pt idx="1">
                  <c:v>0.12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VGT_노랑풍선_그래프!$C$44</c:f>
              <c:strCache>
                <c:ptCount val="1"/>
                <c:pt idx="0">
                  <c:v>비율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VGT_노랑풍선_그래프!$B$45</c:f>
              <c:strCache>
                <c:ptCount val="1"/>
                <c:pt idx="0">
                  <c:v>일반</c:v>
                </c:pt>
              </c:strCache>
            </c:strRef>
          </c:cat>
          <c:val>
            <c:numRef>
              <c:f>VGT_노랑풍선_그래프!$C$45</c:f>
              <c:numCache>
                <c:formatCode>0%</c:formatCode>
                <c:ptCount val="1"/>
                <c:pt idx="0">
                  <c:v>1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VGT_노랑풍선_그래프!$D$72</c:f>
              <c:strCache>
                <c:ptCount val="1"/>
                <c:pt idx="0">
                  <c:v>일반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VGT_노랑풍선_그래프!$B$73:$C$84</c:f>
              <c:multiLvlStrCache>
                <c:ptCount val="12"/>
                <c:lvl>
                  <c:pt idx="0">
                    <c:v>VGT</c:v>
                  </c:pt>
                  <c:pt idx="1">
                    <c:v>노랑풍선</c:v>
                  </c:pt>
                  <c:pt idx="2">
                    <c:v>VGT</c:v>
                  </c:pt>
                  <c:pt idx="3">
                    <c:v>노랑풍선</c:v>
                  </c:pt>
                  <c:pt idx="4">
                    <c:v>VGT</c:v>
                  </c:pt>
                  <c:pt idx="5">
                    <c:v>노랑풍선</c:v>
                  </c:pt>
                  <c:pt idx="6">
                    <c:v>VGT</c:v>
                  </c:pt>
                  <c:pt idx="7">
                    <c:v>노랑풍선</c:v>
                  </c:pt>
                  <c:pt idx="8">
                    <c:v>VGT</c:v>
                  </c:pt>
                  <c:pt idx="9">
                    <c:v>노랑풍선</c:v>
                  </c:pt>
                  <c:pt idx="10">
                    <c:v>VGT</c:v>
                  </c:pt>
                  <c:pt idx="11">
                    <c:v>노랑풍선</c:v>
                  </c:pt>
                </c:lvl>
                <c:lvl>
                  <c:pt idx="0">
                    <c:v>북해도</c:v>
                  </c:pt>
                  <c:pt idx="2">
                    <c:v>동경</c:v>
                  </c:pt>
                  <c:pt idx="4">
                    <c:v>오사카</c:v>
                  </c:pt>
                  <c:pt idx="6">
                    <c:v>큐슈</c:v>
                  </c:pt>
                  <c:pt idx="8">
                    <c:v>시코쿠</c:v>
                  </c:pt>
                  <c:pt idx="10">
                    <c:v>오키나와</c:v>
                  </c:pt>
                </c:lvl>
              </c:multiLvlStrCache>
            </c:multiLvlStrRef>
          </c:cat>
          <c:val>
            <c:numRef>
              <c:f>VGT_노랑풍선_그래프!$D$73:$D$84</c:f>
              <c:numCache>
                <c:formatCode>0%</c:formatCode>
                <c:ptCount val="12"/>
                <c:pt idx="0">
                  <c:v>1</c:v>
                </c:pt>
                <c:pt idx="1">
                  <c:v>0.85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0.8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0.81</c:v>
                </c:pt>
              </c:numCache>
            </c:numRef>
          </c:val>
        </c:ser>
        <c:ser>
          <c:idx val="1"/>
          <c:order val="1"/>
          <c:tx>
            <c:strRef>
              <c:f>VGT_노랑풍선_그래프!$E$72</c:f>
              <c:strCache>
                <c:ptCount val="1"/>
                <c:pt idx="0">
                  <c:v>프리미엄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VGT_노랑풍선_그래프!$B$73:$C$84</c:f>
              <c:multiLvlStrCache>
                <c:ptCount val="12"/>
                <c:lvl>
                  <c:pt idx="0">
                    <c:v>VGT</c:v>
                  </c:pt>
                  <c:pt idx="1">
                    <c:v>노랑풍선</c:v>
                  </c:pt>
                  <c:pt idx="2">
                    <c:v>VGT</c:v>
                  </c:pt>
                  <c:pt idx="3">
                    <c:v>노랑풍선</c:v>
                  </c:pt>
                  <c:pt idx="4">
                    <c:v>VGT</c:v>
                  </c:pt>
                  <c:pt idx="5">
                    <c:v>노랑풍선</c:v>
                  </c:pt>
                  <c:pt idx="6">
                    <c:v>VGT</c:v>
                  </c:pt>
                  <c:pt idx="7">
                    <c:v>노랑풍선</c:v>
                  </c:pt>
                  <c:pt idx="8">
                    <c:v>VGT</c:v>
                  </c:pt>
                  <c:pt idx="9">
                    <c:v>노랑풍선</c:v>
                  </c:pt>
                  <c:pt idx="10">
                    <c:v>VGT</c:v>
                  </c:pt>
                  <c:pt idx="11">
                    <c:v>노랑풍선</c:v>
                  </c:pt>
                </c:lvl>
                <c:lvl>
                  <c:pt idx="0">
                    <c:v>북해도</c:v>
                  </c:pt>
                  <c:pt idx="2">
                    <c:v>동경</c:v>
                  </c:pt>
                  <c:pt idx="4">
                    <c:v>오사카</c:v>
                  </c:pt>
                  <c:pt idx="6">
                    <c:v>큐슈</c:v>
                  </c:pt>
                  <c:pt idx="8">
                    <c:v>시코쿠</c:v>
                  </c:pt>
                  <c:pt idx="10">
                    <c:v>오키나와</c:v>
                  </c:pt>
                </c:lvl>
              </c:multiLvlStrCache>
            </c:multiLvlStrRef>
          </c:cat>
          <c:val>
            <c:numRef>
              <c:f>VGT_노랑풍선_그래프!$E$73:$E$84</c:f>
              <c:numCache>
                <c:formatCode>0%</c:formatCode>
                <c:ptCount val="12"/>
                <c:pt idx="0">
                  <c:v>0</c:v>
                </c:pt>
                <c:pt idx="1">
                  <c:v>0.15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0.19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33030224"/>
        <c:axId val="733033584"/>
      </c:barChart>
      <c:catAx>
        <c:axId val="733030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33033584"/>
        <c:crosses val="autoZero"/>
        <c:auto val="1"/>
        <c:lblAlgn val="ctr"/>
        <c:lblOffset val="100"/>
        <c:noMultiLvlLbl val="0"/>
      </c:catAx>
      <c:valAx>
        <c:axId val="733033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33030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VGT_노랑풍선_그래프!$F$112</c:f>
              <c:strCache>
                <c:ptCount val="1"/>
                <c:pt idx="0">
                  <c:v>개수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VGT_노랑풍선_그래프!$E$113:$E$114</c:f>
              <c:strCache>
                <c:ptCount val="2"/>
                <c:pt idx="0">
                  <c:v>국적기</c:v>
                </c:pt>
                <c:pt idx="1">
                  <c:v>LCC</c:v>
                </c:pt>
              </c:strCache>
            </c:strRef>
          </c:cat>
          <c:val>
            <c:numRef>
              <c:f>VGT_노랑풍선_그래프!$F$113:$F$114</c:f>
              <c:numCache>
                <c:formatCode>0%</c:formatCode>
                <c:ptCount val="2"/>
                <c:pt idx="0">
                  <c:v>0.87898089171974525</c:v>
                </c:pt>
                <c:pt idx="1">
                  <c:v>0.12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VGT_노랑풍선_그래프!$R$106</c:f>
              <c:strCache>
                <c:ptCount val="1"/>
                <c:pt idx="0">
                  <c:v>개수</c:v>
                </c:pt>
              </c:strCache>
            </c:strRef>
          </c:tx>
          <c:dPt>
            <c:idx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VGT_노랑풍선_그래프!$Q$107:$Q$108</c:f>
              <c:strCache>
                <c:ptCount val="2"/>
                <c:pt idx="0">
                  <c:v>국적기</c:v>
                </c:pt>
                <c:pt idx="1">
                  <c:v>LCC</c:v>
                </c:pt>
              </c:strCache>
            </c:strRef>
          </c:cat>
          <c:val>
            <c:numRef>
              <c:f>VGT_노랑풍선_그래프!$R$107:$R$108</c:f>
              <c:numCache>
                <c:formatCode>0%</c:formatCode>
                <c:ptCount val="2"/>
                <c:pt idx="0">
                  <c:v>0.3770972037283622</c:v>
                </c:pt>
                <c:pt idx="1">
                  <c:v>0.62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VGT_노랑풍선_그래프!$C$120</c:f>
              <c:strCache>
                <c:ptCount val="1"/>
                <c:pt idx="0">
                  <c:v>VGT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VGT_노랑풍선_그래프!$B$121:$B$127</c:f>
              <c:strCache>
                <c:ptCount val="7"/>
                <c:pt idx="0">
                  <c:v>북해도</c:v>
                </c:pt>
                <c:pt idx="1">
                  <c:v>동경</c:v>
                </c:pt>
                <c:pt idx="2">
                  <c:v>오사카</c:v>
                </c:pt>
                <c:pt idx="3">
                  <c:v>큐슈</c:v>
                </c:pt>
                <c:pt idx="4">
                  <c:v>시코쿠</c:v>
                </c:pt>
                <c:pt idx="5">
                  <c:v>오키나와</c:v>
                </c:pt>
                <c:pt idx="6">
                  <c:v>전체</c:v>
                </c:pt>
              </c:strCache>
            </c:strRef>
          </c:cat>
          <c:val>
            <c:numRef>
              <c:f>VGT_노랑풍선_그래프!$C$121:$C$127</c:f>
              <c:numCache>
                <c:formatCode>#,###,;</c:formatCode>
                <c:ptCount val="7"/>
                <c:pt idx="0">
                  <c:v>1231522.7479999999</c:v>
                </c:pt>
                <c:pt idx="1">
                  <c:v>821812.35699999996</c:v>
                </c:pt>
                <c:pt idx="2">
                  <c:v>853188.49450000003</c:v>
                </c:pt>
                <c:pt idx="3">
                  <c:v>862799.81290000002</c:v>
                </c:pt>
                <c:pt idx="4">
                  <c:v>692422.72730000003</c:v>
                </c:pt>
                <c:pt idx="5">
                  <c:v>1049914.754</c:v>
                </c:pt>
                <c:pt idx="6">
                  <c:v>968711.82030000002</c:v>
                </c:pt>
              </c:numCache>
            </c:numRef>
          </c:val>
        </c:ser>
        <c:ser>
          <c:idx val="1"/>
          <c:order val="1"/>
          <c:tx>
            <c:strRef>
              <c:f>VGT_노랑풍선_그래프!$D$120</c:f>
              <c:strCache>
                <c:ptCount val="1"/>
                <c:pt idx="0">
                  <c:v>노랑풍선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pattFill prst="wdUpDiag">
                <a:fgClr>
                  <a:schemeClr val="accent4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1.2168492419604084E-2"/>
                  <c:y val="1.03702040358057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9.1263693147030835E-3"/>
                  <c:y val="1.037020403580578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1.5210615524505139E-2"/>
                  <c:y val="1.555530605370867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1.2168492419604056E-2"/>
                  <c:y val="2.074061220948623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8037203009737673E-2"/>
                      <c:h val="8.534677921468159E-2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1.2168492419604111E-2"/>
                  <c:y val="2.074040807161161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1.2168492419604111E-2"/>
                  <c:y val="3.111061210741732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1.5210615524505139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VGT_노랑풍선_그래프!$B$121:$B$127</c:f>
              <c:strCache>
                <c:ptCount val="7"/>
                <c:pt idx="0">
                  <c:v>북해도</c:v>
                </c:pt>
                <c:pt idx="1">
                  <c:v>동경</c:v>
                </c:pt>
                <c:pt idx="2">
                  <c:v>오사카</c:v>
                </c:pt>
                <c:pt idx="3">
                  <c:v>큐슈</c:v>
                </c:pt>
                <c:pt idx="4">
                  <c:v>시코쿠</c:v>
                </c:pt>
                <c:pt idx="5">
                  <c:v>오키나와</c:v>
                </c:pt>
                <c:pt idx="6">
                  <c:v>전체</c:v>
                </c:pt>
              </c:strCache>
            </c:strRef>
          </c:cat>
          <c:val>
            <c:numRef>
              <c:f>VGT_노랑풍선_그래프!$D$121:$D$127</c:f>
              <c:numCache>
                <c:formatCode>#,###,;</c:formatCode>
                <c:ptCount val="7"/>
                <c:pt idx="0">
                  <c:v>978822.22222222225</c:v>
                </c:pt>
                <c:pt idx="1">
                  <c:v>688628.51782363979</c:v>
                </c:pt>
                <c:pt idx="2">
                  <c:v>768868.32298136642</c:v>
                </c:pt>
                <c:pt idx="3">
                  <c:v>671220.38327526138</c:v>
                </c:pt>
                <c:pt idx="4">
                  <c:v>541948.717948718</c:v>
                </c:pt>
                <c:pt idx="5">
                  <c:v>951750.09523809527</c:v>
                </c:pt>
                <c:pt idx="6">
                  <c:v>785719.14780292939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33787424"/>
        <c:axId val="353011904"/>
      </c:barChart>
      <c:catAx>
        <c:axId val="533787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53011904"/>
        <c:crosses val="autoZero"/>
        <c:auto val="1"/>
        <c:lblAlgn val="ctr"/>
        <c:lblOffset val="100"/>
        <c:noMultiLvlLbl val="0"/>
      </c:catAx>
      <c:valAx>
        <c:axId val="353011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#,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3787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VGT_노랑풍선_그래프_최종!$C$132</c:f>
              <c:strCache>
                <c:ptCount val="1"/>
                <c:pt idx="0">
                  <c:v>VGT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-1.3973875392355521E-17"/>
                  <c:y val="3.142328944107367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1.5244403803370745E-2"/>
                  <c:y val="2.618607453422803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1.2195523042696631E-2"/>
                  <c:y val="2.618607453422808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9.1466422820224314E-3"/>
                  <c:y val="2.094885962738246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6.0977615213482867E-3"/>
                  <c:y val="-1.57116447205369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8188098177801609E-2"/>
                      <c:h val="8.6204557366678855E-2"/>
                    </c:manualLayout>
                  </c15:layout>
                </c:ext>
              </c:extLst>
            </c:dLbl>
            <c:dLbl>
              <c:idx val="5"/>
              <c:layout>
                <c:manualLayout>
                  <c:x val="-1.8293284564044863E-2"/>
                  <c:y val="3.404210308405974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8188098177801609E-2"/>
                      <c:h val="0.1019162020872157"/>
                    </c:manualLayout>
                  </c15:layout>
                </c:ext>
              </c:extLst>
            </c:dLbl>
            <c:dLbl>
              <c:idx val="6"/>
              <c:layout>
                <c:manualLayout>
                  <c:x val="-1.2195523042696686E-2"/>
                  <c:y val="1.571164472053685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VGT_노랑풍선_그래프_최종!$B$133:$B$139</c:f>
              <c:strCache>
                <c:ptCount val="7"/>
                <c:pt idx="0">
                  <c:v>북해도</c:v>
                </c:pt>
                <c:pt idx="1">
                  <c:v>동경</c:v>
                </c:pt>
                <c:pt idx="2">
                  <c:v>오사카</c:v>
                </c:pt>
                <c:pt idx="3">
                  <c:v>큐슈</c:v>
                </c:pt>
                <c:pt idx="4">
                  <c:v>시코쿠</c:v>
                </c:pt>
                <c:pt idx="5">
                  <c:v>오키나와</c:v>
                </c:pt>
                <c:pt idx="6">
                  <c:v>전체</c:v>
                </c:pt>
              </c:strCache>
            </c:strRef>
          </c:cat>
          <c:val>
            <c:numRef>
              <c:f>VGT_노랑풍선_그래프_최종!$C$133:$C$139</c:f>
              <c:numCache>
                <c:formatCode>#,###,;</c:formatCode>
                <c:ptCount val="7"/>
                <c:pt idx="0">
                  <c:v>1086458.3330000001</c:v>
                </c:pt>
                <c:pt idx="1">
                  <c:v>762724.13789999997</c:v>
                </c:pt>
                <c:pt idx="2">
                  <c:v>774579.54550000001</c:v>
                </c:pt>
                <c:pt idx="3">
                  <c:v>765798.31929999997</c:v>
                </c:pt>
                <c:pt idx="4">
                  <c:v>621176.4706</c:v>
                </c:pt>
                <c:pt idx="5">
                  <c:v>920539.6825</c:v>
                </c:pt>
                <c:pt idx="6">
                  <c:v>836422.22219999996</c:v>
                </c:pt>
              </c:numCache>
            </c:numRef>
          </c:val>
        </c:ser>
        <c:ser>
          <c:idx val="1"/>
          <c:order val="1"/>
          <c:tx>
            <c:strRef>
              <c:f>VGT_노랑풍선_그래프_최종!$D$132</c:f>
              <c:strCache>
                <c:ptCount val="1"/>
                <c:pt idx="0">
                  <c:v>노랑풍선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pattFill prst="wdUpDiag">
                <a:fgClr>
                  <a:schemeClr val="accent4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dLbl>
              <c:idx val="1"/>
              <c:layout>
                <c:manualLayout>
                  <c:x val="9.1466422820224314E-3"/>
                  <c:y val="-2.618607453422808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9.1466422820223187E-3"/>
                  <c:y val="1.571164472053685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VGT_노랑풍선_그래프_최종!$B$133:$B$139</c:f>
              <c:strCache>
                <c:ptCount val="7"/>
                <c:pt idx="0">
                  <c:v>북해도</c:v>
                </c:pt>
                <c:pt idx="1">
                  <c:v>동경</c:v>
                </c:pt>
                <c:pt idx="2">
                  <c:v>오사카</c:v>
                </c:pt>
                <c:pt idx="3">
                  <c:v>큐슈</c:v>
                </c:pt>
                <c:pt idx="4">
                  <c:v>시코쿠</c:v>
                </c:pt>
                <c:pt idx="5">
                  <c:v>오키나와</c:v>
                </c:pt>
                <c:pt idx="6">
                  <c:v>전체</c:v>
                </c:pt>
              </c:strCache>
            </c:strRef>
          </c:cat>
          <c:val>
            <c:numRef>
              <c:f>VGT_노랑풍선_그래프_최종!$D$133:$D$139</c:f>
              <c:numCache>
                <c:formatCode>#,###,;</c:formatCode>
                <c:ptCount val="7"/>
                <c:pt idx="0">
                  <c:v>1192075</c:v>
                </c:pt>
                <c:pt idx="1">
                  <c:v>804688.88888888888</c:v>
                </c:pt>
                <c:pt idx="2">
                  <c:v>890978.41726618703</c:v>
                </c:pt>
                <c:pt idx="3">
                  <c:v>837363.63636363635</c:v>
                </c:pt>
                <c:pt idx="4">
                  <c:v>594000</c:v>
                </c:pt>
                <c:pt idx="5">
                  <c:v>1044487.5</c:v>
                </c:pt>
                <c:pt idx="6">
                  <c:v>955442.04753199266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44929120"/>
        <c:axId val="744929680"/>
      </c:barChart>
      <c:catAx>
        <c:axId val="744929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44929680"/>
        <c:crosses val="autoZero"/>
        <c:auto val="1"/>
        <c:lblAlgn val="ctr"/>
        <c:lblOffset val="100"/>
        <c:noMultiLvlLbl val="0"/>
      </c:catAx>
      <c:valAx>
        <c:axId val="744929680"/>
        <c:scaling>
          <c:orientation val="minMax"/>
          <c:max val="14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#,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44929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VGT_노랑풍선_그래프_최종!$C$144</c:f>
              <c:strCache>
                <c:ptCount val="1"/>
                <c:pt idx="0">
                  <c:v>일반(VGT)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9815611571603188E-3"/>
                  <c:y val="2.59632679045352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VGT_노랑풍선_그래프_최종!$B$145:$B$150</c:f>
              <c:strCache>
                <c:ptCount val="6"/>
                <c:pt idx="0">
                  <c:v>북해도</c:v>
                </c:pt>
                <c:pt idx="1">
                  <c:v>동경</c:v>
                </c:pt>
                <c:pt idx="2">
                  <c:v>오사카</c:v>
                </c:pt>
                <c:pt idx="3">
                  <c:v>큐슈</c:v>
                </c:pt>
                <c:pt idx="4">
                  <c:v>시코쿠</c:v>
                </c:pt>
                <c:pt idx="5">
                  <c:v>오키나와</c:v>
                </c:pt>
              </c:strCache>
            </c:strRef>
          </c:cat>
          <c:val>
            <c:numRef>
              <c:f>VGT_노랑풍선_그래프_최종!$C$145:$C$150</c:f>
              <c:numCache>
                <c:formatCode>#,###,;</c:formatCode>
                <c:ptCount val="6"/>
                <c:pt idx="0">
                  <c:v>1086458.3330000001</c:v>
                </c:pt>
                <c:pt idx="1">
                  <c:v>762724.13789999997</c:v>
                </c:pt>
                <c:pt idx="2">
                  <c:v>774579.54550000001</c:v>
                </c:pt>
                <c:pt idx="3">
                  <c:v>765798.31929999997</c:v>
                </c:pt>
                <c:pt idx="4">
                  <c:v>621176.4706</c:v>
                </c:pt>
                <c:pt idx="5">
                  <c:v>920539.6825</c:v>
                </c:pt>
              </c:numCache>
            </c:numRef>
          </c:val>
        </c:ser>
        <c:ser>
          <c:idx val="1"/>
          <c:order val="1"/>
          <c:tx>
            <c:strRef>
              <c:f>VGT_노랑풍선_그래프_최종!$D$144</c:f>
              <c:strCache>
                <c:ptCount val="1"/>
                <c:pt idx="0">
                  <c:v>일반(노랑풍선)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9631223143206376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1.4907805785801594E-3"/>
                  <c:y val="1.557796074272118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VGT_노랑풍선_그래프_최종!$B$145:$B$150</c:f>
              <c:strCache>
                <c:ptCount val="6"/>
                <c:pt idx="0">
                  <c:v>북해도</c:v>
                </c:pt>
                <c:pt idx="1">
                  <c:v>동경</c:v>
                </c:pt>
                <c:pt idx="2">
                  <c:v>오사카</c:v>
                </c:pt>
                <c:pt idx="3">
                  <c:v>큐슈</c:v>
                </c:pt>
                <c:pt idx="4">
                  <c:v>시코쿠</c:v>
                </c:pt>
                <c:pt idx="5">
                  <c:v>오키나와</c:v>
                </c:pt>
              </c:strCache>
            </c:strRef>
          </c:cat>
          <c:val>
            <c:numRef>
              <c:f>VGT_노랑풍선_그래프_최종!$D$145:$D$150</c:f>
              <c:numCache>
                <c:formatCode>#,###,;</c:formatCode>
                <c:ptCount val="6"/>
                <c:pt idx="0">
                  <c:v>1152625.8064516129</c:v>
                </c:pt>
                <c:pt idx="1">
                  <c:v>804688.88888888888</c:v>
                </c:pt>
                <c:pt idx="2">
                  <c:v>890978.41726618703</c:v>
                </c:pt>
                <c:pt idx="3">
                  <c:v>797922.07792207797</c:v>
                </c:pt>
                <c:pt idx="4">
                  <c:v>594000</c:v>
                </c:pt>
                <c:pt idx="5">
                  <c:v>934484.21052631584</c:v>
                </c:pt>
              </c:numCache>
            </c:numRef>
          </c:val>
        </c:ser>
        <c:ser>
          <c:idx val="2"/>
          <c:order val="2"/>
          <c:tx>
            <c:strRef>
              <c:f>VGT_노랑풍선_그래프_최종!$E$144</c:f>
              <c:strCache>
                <c:ptCount val="1"/>
                <c:pt idx="0">
                  <c:v>프리미엄(노랑풍선)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VGT_노랑풍선_그래프_최종!$B$145:$B$150</c:f>
              <c:strCache>
                <c:ptCount val="6"/>
                <c:pt idx="0">
                  <c:v>북해도</c:v>
                </c:pt>
                <c:pt idx="1">
                  <c:v>동경</c:v>
                </c:pt>
                <c:pt idx="2">
                  <c:v>오사카</c:v>
                </c:pt>
                <c:pt idx="3">
                  <c:v>큐슈</c:v>
                </c:pt>
                <c:pt idx="4">
                  <c:v>시코쿠</c:v>
                </c:pt>
                <c:pt idx="5">
                  <c:v>오키나와</c:v>
                </c:pt>
              </c:strCache>
            </c:strRef>
          </c:cat>
          <c:val>
            <c:numRef>
              <c:f>VGT_노랑풍선_그래프_최종!$E$145:$E$150</c:f>
              <c:numCache>
                <c:formatCode>General</c:formatCode>
                <c:ptCount val="6"/>
                <c:pt idx="0" formatCode="#,###,;">
                  <c:v>1286146.1538461538</c:v>
                </c:pt>
                <c:pt idx="3" formatCode="#,###,;">
                  <c:v>906386.36363636365</c:v>
                </c:pt>
                <c:pt idx="5" formatCode="#,###,;">
                  <c:v>1462500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44933040"/>
        <c:axId val="744933600"/>
      </c:barChart>
      <c:catAx>
        <c:axId val="74493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44933600"/>
        <c:crosses val="autoZero"/>
        <c:auto val="1"/>
        <c:lblAlgn val="ctr"/>
        <c:lblOffset val="100"/>
        <c:noMultiLvlLbl val="0"/>
      </c:catAx>
      <c:valAx>
        <c:axId val="744933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#,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44933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VGT_노랑풍선_그래프_최종!$S$156</c:f>
              <c:strCache>
                <c:ptCount val="1"/>
                <c:pt idx="0">
                  <c:v>출발확정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4"/>
              <c:layout>
                <c:manualLayout>
                  <c:x val="8.2491969771688281E-2"/>
                  <c:y val="-1.7659849976303911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VGT_노랑풍선_그래프_최종!$R$157:$R$162</c:f>
              <c:strCache>
                <c:ptCount val="6"/>
                <c:pt idx="0">
                  <c:v>북해도</c:v>
                </c:pt>
                <c:pt idx="1">
                  <c:v>동경</c:v>
                </c:pt>
                <c:pt idx="2">
                  <c:v>오사카</c:v>
                </c:pt>
                <c:pt idx="3">
                  <c:v>큐슈</c:v>
                </c:pt>
                <c:pt idx="4">
                  <c:v>시코쿠</c:v>
                </c:pt>
                <c:pt idx="5">
                  <c:v>오키나와</c:v>
                </c:pt>
              </c:strCache>
            </c:strRef>
          </c:cat>
          <c:val>
            <c:numRef>
              <c:f>VGT_노랑풍선_그래프_최종!$S$157:$S$162</c:f>
              <c:numCache>
                <c:formatCode>0%</c:formatCode>
                <c:ptCount val="6"/>
                <c:pt idx="0">
                  <c:v>0.16087751371115175</c:v>
                </c:pt>
                <c:pt idx="1">
                  <c:v>8.226691042047532E-2</c:v>
                </c:pt>
                <c:pt idx="2">
                  <c:v>0.25411334552102377</c:v>
                </c:pt>
                <c:pt idx="3">
                  <c:v>0.22120658135283364</c:v>
                </c:pt>
                <c:pt idx="4">
                  <c:v>1.8281535648994516E-2</c:v>
                </c:pt>
                <c:pt idx="5">
                  <c:v>0.26325411334552101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lang="en-US" altLang="ko-KR" smtClean="0"/>
                      <a:t>85%</a:t>
                    </a:r>
                    <a:endParaRPr lang="en-US" altLang="ko-KR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VGT_노랑풍선_그래프_최종!$R$150:$S$150</c:f>
              <c:strCache>
                <c:ptCount val="2"/>
                <c:pt idx="0">
                  <c:v>출발확정</c:v>
                </c:pt>
                <c:pt idx="1">
                  <c:v>미정</c:v>
                </c:pt>
              </c:strCache>
            </c:strRef>
          </c:cat>
          <c:val>
            <c:numRef>
              <c:f>VGT_노랑풍선_그래프_최종!$R$151:$S$151</c:f>
              <c:numCache>
                <c:formatCode>0%</c:formatCode>
                <c:ptCount val="2"/>
                <c:pt idx="0">
                  <c:v>0.14567243675099867</c:v>
                </c:pt>
                <c:pt idx="1">
                  <c:v>0.96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VGT_노랑풍선_그래프!$F$156:$G$156</c:f>
              <c:strCache>
                <c:ptCount val="2"/>
                <c:pt idx="0">
                  <c:v>출발확정</c:v>
                </c:pt>
                <c:pt idx="1">
                  <c:v>미정</c:v>
                </c:pt>
              </c:strCache>
            </c:strRef>
          </c:cat>
          <c:val>
            <c:numRef>
              <c:f>VGT_노랑풍선_그래프!$F$157:$G$157</c:f>
              <c:numCache>
                <c:formatCode>0%</c:formatCode>
                <c:ptCount val="2"/>
                <c:pt idx="0">
                  <c:v>9.5744680851063829E-2</c:v>
                </c:pt>
                <c:pt idx="1">
                  <c:v>0.9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VGT_노랑풍선_그래프!$G$162</c:f>
              <c:strCache>
                <c:ptCount val="1"/>
                <c:pt idx="0">
                  <c:v>출발확정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VGT_노랑풍선_그래프!$F$163:$F$168</c:f>
              <c:strCache>
                <c:ptCount val="6"/>
                <c:pt idx="0">
                  <c:v>북해도</c:v>
                </c:pt>
                <c:pt idx="1">
                  <c:v>동경</c:v>
                </c:pt>
                <c:pt idx="2">
                  <c:v>오사카</c:v>
                </c:pt>
                <c:pt idx="3">
                  <c:v>큐슈</c:v>
                </c:pt>
                <c:pt idx="4">
                  <c:v>시코쿠</c:v>
                </c:pt>
                <c:pt idx="5">
                  <c:v>오키나와</c:v>
                </c:pt>
              </c:strCache>
            </c:strRef>
          </c:cat>
          <c:val>
            <c:numRef>
              <c:f>VGT_노랑풍선_그래프!$G$163:$G$168</c:f>
              <c:numCache>
                <c:formatCode>0%</c:formatCode>
                <c:ptCount val="6"/>
                <c:pt idx="0">
                  <c:v>0.17777777777777778</c:v>
                </c:pt>
                <c:pt idx="1">
                  <c:v>7.160493827160494E-2</c:v>
                </c:pt>
                <c:pt idx="2">
                  <c:v>0.21728395061728395</c:v>
                </c:pt>
                <c:pt idx="3">
                  <c:v>0.29382716049382718</c:v>
                </c:pt>
                <c:pt idx="4">
                  <c:v>8.3950617283950618E-2</c:v>
                </c:pt>
                <c:pt idx="5">
                  <c:v>0.15555555555555556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VGT_노랑풍선_그래프_최종!$C$174</c:f>
              <c:strCache>
                <c:ptCount val="1"/>
                <c:pt idx="0">
                  <c:v>VGT 실예약인원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1100124033171975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VGT_노랑풍선_그래프_최종!$B$175:$B$178</c:f>
              <c:strCache>
                <c:ptCount val="4"/>
                <c:pt idx="0">
                  <c:v>2월</c:v>
                </c:pt>
                <c:pt idx="1">
                  <c:v>3월</c:v>
                </c:pt>
                <c:pt idx="2">
                  <c:v>4월</c:v>
                </c:pt>
                <c:pt idx="3">
                  <c:v>전체</c:v>
                </c:pt>
              </c:strCache>
            </c:strRef>
          </c:cat>
          <c:val>
            <c:numRef>
              <c:f>VGT_노랑풍선_그래프_최종!$C$175:$C$178</c:f>
              <c:numCache>
                <c:formatCode>_(* #,##0_);_(* \(#,##0\);_(* "-"_);_(@_)</c:formatCode>
                <c:ptCount val="4"/>
                <c:pt idx="0">
                  <c:v>4800</c:v>
                </c:pt>
                <c:pt idx="1">
                  <c:v>2202</c:v>
                </c:pt>
                <c:pt idx="2">
                  <c:v>903</c:v>
                </c:pt>
                <c:pt idx="3">
                  <c:v>7905</c:v>
                </c:pt>
              </c:numCache>
            </c:numRef>
          </c:val>
        </c:ser>
        <c:ser>
          <c:idx val="1"/>
          <c:order val="1"/>
          <c:tx>
            <c:strRef>
              <c:f>VGT_노랑풍선_그래프_최종!$D$174</c:f>
              <c:strCache>
                <c:ptCount val="1"/>
                <c:pt idx="0">
                  <c:v>노랑풍선 실예약인원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3.1100124033172404E-3"/>
                  <c:y val="2.591982203082826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1.1403247080879651E-16"/>
                  <c:y val="-0.129599110154141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VGT_노랑풍선_그래프_최종!$B$175:$B$178</c:f>
              <c:strCache>
                <c:ptCount val="4"/>
                <c:pt idx="0">
                  <c:v>2월</c:v>
                </c:pt>
                <c:pt idx="1">
                  <c:v>3월</c:v>
                </c:pt>
                <c:pt idx="2">
                  <c:v>4월</c:v>
                </c:pt>
                <c:pt idx="3">
                  <c:v>전체</c:v>
                </c:pt>
              </c:strCache>
            </c:strRef>
          </c:cat>
          <c:val>
            <c:numRef>
              <c:f>VGT_노랑풍선_그래프_최종!$D$175:$D$178</c:f>
              <c:numCache>
                <c:formatCode>_(* #,##0_);_(* \(#,##0\);_(* "-"_);_(@_)</c:formatCode>
                <c:ptCount val="4"/>
                <c:pt idx="0">
                  <c:v>6058</c:v>
                </c:pt>
                <c:pt idx="1">
                  <c:v>1519</c:v>
                </c:pt>
                <c:pt idx="2">
                  <c:v>499</c:v>
                </c:pt>
                <c:pt idx="3">
                  <c:v>8076</c:v>
                </c:pt>
              </c:numCache>
            </c:numRef>
          </c:val>
        </c:ser>
        <c:ser>
          <c:idx val="2"/>
          <c:order val="2"/>
          <c:tx>
            <c:strRef>
              <c:f>VGT_노랑풍선_그래프_최종!$E$174</c:f>
              <c:strCache>
                <c:ptCount val="1"/>
                <c:pt idx="0">
                  <c:v>VGT 허수포함 인원</c:v>
                </c:pt>
              </c:strCache>
            </c:strRef>
          </c:tx>
          <c:spPr>
            <a:pattFill prst="wdUpDiag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accent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6.911952541554203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VGT_노랑풍선_그래프_최종!$B$175:$B$178</c:f>
              <c:strCache>
                <c:ptCount val="4"/>
                <c:pt idx="0">
                  <c:v>2월</c:v>
                </c:pt>
                <c:pt idx="1">
                  <c:v>3월</c:v>
                </c:pt>
                <c:pt idx="2">
                  <c:v>4월</c:v>
                </c:pt>
                <c:pt idx="3">
                  <c:v>전체</c:v>
                </c:pt>
              </c:strCache>
            </c:strRef>
          </c:cat>
          <c:val>
            <c:numRef>
              <c:f>VGT_노랑풍선_그래프_최종!$E$175:$E$178</c:f>
              <c:numCache>
                <c:formatCode>_(* #,##0_);_(* \(#,##0\);_(* "-"_);_(@_)</c:formatCode>
                <c:ptCount val="4"/>
                <c:pt idx="0">
                  <c:v>6121</c:v>
                </c:pt>
                <c:pt idx="1">
                  <c:v>2849</c:v>
                </c:pt>
                <c:pt idx="2">
                  <c:v>956</c:v>
                </c:pt>
                <c:pt idx="3">
                  <c:v>9926</c:v>
                </c:pt>
              </c:numCache>
            </c:numRef>
          </c:val>
        </c:ser>
        <c:ser>
          <c:idx val="3"/>
          <c:order val="3"/>
          <c:tx>
            <c:strRef>
              <c:f>VGT_노랑풍선_그래프_최종!$F$174</c:f>
              <c:strCache>
                <c:ptCount val="1"/>
                <c:pt idx="0">
                  <c:v>노랑풍선 허수포함 인원</c:v>
                </c:pt>
              </c:strCache>
            </c:strRef>
          </c:tx>
          <c:spPr>
            <a:pattFill prst="wdUpDiag">
              <a:fgClr>
                <a:schemeClr val="accent4"/>
              </a:fgClr>
              <a:bgClr>
                <a:schemeClr val="bg1"/>
              </a:bgClr>
            </a:pattFill>
            <a:ln>
              <a:solidFill>
                <a:schemeClr val="accent4"/>
              </a:solidFill>
            </a:ln>
            <a:effectLst/>
          </c:spPr>
          <c:invertIfNegative val="0"/>
          <c:dLbls>
            <c:dLbl>
              <c:idx val="1"/>
              <c:layout>
                <c:manualLayout>
                  <c:x val="6.2200248066343099E-3"/>
                  <c:y val="-5.183964406165652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-4.319970338471376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VGT_노랑풍선_그래프_최종!$B$175:$B$178</c:f>
              <c:strCache>
                <c:ptCount val="4"/>
                <c:pt idx="0">
                  <c:v>2월</c:v>
                </c:pt>
                <c:pt idx="1">
                  <c:v>3월</c:v>
                </c:pt>
                <c:pt idx="2">
                  <c:v>4월</c:v>
                </c:pt>
                <c:pt idx="3">
                  <c:v>전체</c:v>
                </c:pt>
              </c:strCache>
            </c:strRef>
          </c:cat>
          <c:val>
            <c:numRef>
              <c:f>VGT_노랑풍선_그래프_최종!$F$175:$F$178</c:f>
              <c:numCache>
                <c:formatCode>_(* #,##0_);_(* \(#,##0\);_(* "-"_);_(@_)</c:formatCode>
                <c:ptCount val="4"/>
                <c:pt idx="0">
                  <c:v>11558</c:v>
                </c:pt>
                <c:pt idx="1">
                  <c:v>3050</c:v>
                </c:pt>
                <c:pt idx="2">
                  <c:v>1021</c:v>
                </c:pt>
                <c:pt idx="3">
                  <c:v>15629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27223264"/>
        <c:axId val="527223824"/>
      </c:barChart>
      <c:catAx>
        <c:axId val="527223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7223824"/>
        <c:crosses val="autoZero"/>
        <c:auto val="1"/>
        <c:lblAlgn val="ctr"/>
        <c:lblOffset val="100"/>
        <c:noMultiLvlLbl val="0"/>
      </c:catAx>
      <c:valAx>
        <c:axId val="527223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7223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5" y="2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r">
              <a:defRPr sz="1200"/>
            </a:lvl1pPr>
          </a:lstStyle>
          <a:p>
            <a:fld id="{A0955C6A-6286-4949-9C38-5C6816709A16}" type="datetimeFigureOut">
              <a:rPr lang="ko-KR" altLang="en-US" smtClean="0"/>
              <a:pPr/>
              <a:t>2019-08-06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30091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5" y="9430091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r">
              <a:defRPr sz="1200"/>
            </a:lvl1pPr>
          </a:lstStyle>
          <a:p>
            <a:fld id="{EA6DC73E-640F-427F-8594-F1EAD922FE3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3384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2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r">
              <a:defRPr sz="1200"/>
            </a:lvl1pPr>
          </a:lstStyle>
          <a:p>
            <a:fld id="{C3EB8B3F-9BB8-45CF-84EB-0981187662AA}" type="datetimeFigureOut">
              <a:rPr lang="ko-KR" altLang="en-US" smtClean="0"/>
              <a:pPr/>
              <a:t>2019-08-06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1" tIns="45706" rIns="91411" bIns="4570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61"/>
            <a:ext cx="5438140" cy="3909239"/>
          </a:xfrm>
          <a:prstGeom prst="rect">
            <a:avLst/>
          </a:prstGeom>
        </p:spPr>
        <p:txBody>
          <a:bodyPr vert="horz" lIns="91411" tIns="45706" rIns="91411" bIns="45706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0091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30091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r">
              <a:defRPr sz="1200"/>
            </a:lvl1pPr>
          </a:lstStyle>
          <a:p>
            <a:fld id="{AF0E615B-3410-43A0-B6DB-1161CA1060F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382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28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105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965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8F662C83-1826-4FDF-8202-A8AA69C17CCA}" type="datetime1">
              <a:rPr lang="ko-KR" altLang="en-US" smtClean="0"/>
              <a:t>2019-08-06</a:t>
            </a:fld>
            <a:endParaRPr lang="ko-KR" alt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>
                <a:ea typeface="Tahoma" panose="020B0604030504040204" pitchFamily="34" charset="0"/>
              </a:rPr>
              <a:t>/ 20</a:t>
            </a:r>
            <a:endParaRPr lang="ko-KR" altLang="en-US" dirty="0"/>
          </a:p>
        </p:txBody>
      </p:sp>
      <p:sp>
        <p:nvSpPr>
          <p:cNvPr id="9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08203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547C085A-8814-44C9-BFB8-4CB754621C4A}" type="datetime1">
              <a:rPr lang="ko-KR" altLang="en-US" smtClean="0"/>
              <a:t>2019-08-06</a:t>
            </a:fld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>
                <a:ea typeface="Tahoma" panose="020B0604030504040204" pitchFamily="34" charset="0"/>
              </a:rPr>
              <a:t>/ 20</a:t>
            </a:r>
            <a:endParaRPr lang="ko-KR" altLang="en-US" dirty="0"/>
          </a:p>
        </p:txBody>
      </p:sp>
      <p:sp>
        <p:nvSpPr>
          <p:cNvPr id="7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04456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F3ED9-DC74-4C8C-8377-0099832BA421}" type="datetime1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74B24-6935-4E71-8911-83EF8794972C}" type="slidenum">
              <a:rPr lang="ko-KR" altLang="en-US"/>
              <a:pPr>
                <a:defRPr/>
              </a:pPr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/32</a:t>
            </a:r>
            <a:endParaRPr lang="ko-KR" altLang="en-US" dirty="0"/>
          </a:p>
        </p:txBody>
      </p:sp>
      <p:sp>
        <p:nvSpPr>
          <p:cNvPr id="5" name="바닥글 개체 틀 1"/>
          <p:cNvSpPr>
            <a:spLocks noGrp="1"/>
          </p:cNvSpPr>
          <p:nvPr>
            <p:ph type="ftr" sz="quarter" idx="12"/>
          </p:nvPr>
        </p:nvSpPr>
        <p:spPr>
          <a:xfrm>
            <a:off x="7404100" y="6584950"/>
            <a:ext cx="1739900" cy="269875"/>
          </a:xfrm>
        </p:spPr>
        <p:txBody>
          <a:bodyPr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800" b="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37764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55AF6-6FE2-48DD-99FF-C1C068A84852}" type="datetimeFigureOut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8EE55-A442-4036-8769-465FA5838C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0739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0671D377-CDAF-4134-A811-9042D82CE6EE}" type="datetime1">
              <a:rPr lang="ko-KR" altLang="en-US" smtClean="0"/>
              <a:t>2019-08-06</a:t>
            </a:fld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 dirty="0" smtClean="0"/>
              <a:t> </a:t>
            </a:r>
            <a:r>
              <a:rPr lang="en-US" altLang="ko-KR" dirty="0" smtClean="0">
                <a:ea typeface="Tahoma" panose="020B0604030504040204" pitchFamily="34" charset="0"/>
              </a:rPr>
              <a:t>/ 10</a:t>
            </a:r>
            <a:endParaRPr lang="ko-KR" altLang="en-US" dirty="0"/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22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84" r:id="rId2"/>
    <p:sldLayoutId id="2147483685" r:id="rId3"/>
    <p:sldLayoutId id="2147483686" r:id="rId4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992379" y="4817927"/>
            <a:ext cx="31592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2019.01</a:t>
            </a:r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r>
              <a:rPr lang="en-US" altLang="ko-KR" sz="1200" dirty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IT</a:t>
            </a:r>
            <a:r>
              <a:rPr lang="ko-KR" altLang="en-US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미래전략부문</a:t>
            </a:r>
            <a:endParaRPr lang="en-US" altLang="ko-KR" sz="1200" dirty="0" smtClean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r>
              <a:rPr lang="ko-KR" altLang="en-US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여승은</a:t>
            </a:r>
            <a:r>
              <a:rPr lang="en-US" altLang="ko-KR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정혜진 사원</a:t>
            </a:r>
            <a:endParaRPr lang="ko-KR" altLang="en-US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7750" y="2736642"/>
            <a:ext cx="6768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 dirty="0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웹 </a:t>
            </a:r>
            <a:r>
              <a:rPr lang="ko-KR" altLang="en-US" sz="3000" b="1" dirty="0" err="1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크롤링을</a:t>
            </a:r>
            <a:r>
              <a:rPr lang="ko-KR" altLang="en-US" sz="3000" b="1" dirty="0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통한 상품비교 분석</a:t>
            </a:r>
            <a:endParaRPr lang="en-US" altLang="ko-KR" sz="3000" b="1" dirty="0">
              <a:solidFill>
                <a:schemeClr val="accent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7750" y="3546452"/>
            <a:ext cx="6768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VGT &amp; </a:t>
            </a:r>
            <a:r>
              <a:rPr lang="ko-KR" altLang="en-US" sz="1600" b="1" dirty="0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노랑풍선 일본 상품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13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62037" y="1900842"/>
            <a:ext cx="7619926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 smtClean="0">
                <a:latin typeface="+mn-ea"/>
              </a:rPr>
              <a:t>분석목적</a:t>
            </a:r>
            <a:endParaRPr lang="en-US" altLang="ko-KR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+mn-ea"/>
              </a:rPr>
              <a:t>      : </a:t>
            </a:r>
            <a:r>
              <a:rPr lang="ko-KR" altLang="en-US" sz="1600" dirty="0" err="1" smtClean="0">
                <a:latin typeface="+mn-ea"/>
              </a:rPr>
              <a:t>참좋은여행과</a:t>
            </a:r>
            <a:r>
              <a:rPr lang="ko-KR" altLang="en-US" sz="1600" dirty="0" smtClean="0">
                <a:latin typeface="+mn-ea"/>
              </a:rPr>
              <a:t> 노랑풍선</a:t>
            </a:r>
            <a:r>
              <a:rPr lang="ko-KR" altLang="ko-KR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+mn-ea"/>
              </a:rPr>
              <a:t>상품 비교 및 자사의 전략적 </a:t>
            </a:r>
            <a:r>
              <a:rPr lang="ko-KR" altLang="en-US" sz="1600" dirty="0" err="1" smtClean="0">
                <a:latin typeface="+mn-ea"/>
              </a:rPr>
              <a:t>포지셔닝</a:t>
            </a:r>
            <a:r>
              <a:rPr lang="ko-KR" altLang="en-US" sz="1600" dirty="0" smtClean="0">
                <a:latin typeface="+mn-ea"/>
              </a:rPr>
              <a:t> 분석</a:t>
            </a:r>
            <a:endParaRPr lang="en-US" altLang="ko-KR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b="1" dirty="0" smtClean="0">
                <a:latin typeface="+mn-ea"/>
              </a:rPr>
              <a:t>2. </a:t>
            </a:r>
            <a:r>
              <a:rPr lang="ko-KR" altLang="en-US" b="1" dirty="0" smtClean="0">
                <a:latin typeface="+mn-ea"/>
              </a:rPr>
              <a:t>분석범위</a:t>
            </a:r>
            <a:endParaRPr lang="en-US" altLang="ko-KR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+mn-ea"/>
              </a:rPr>
              <a:t>      : </a:t>
            </a:r>
            <a:r>
              <a:rPr lang="en-US" altLang="ko-KR" sz="1600" b="1" dirty="0" smtClean="0">
                <a:latin typeface="+mn-ea"/>
              </a:rPr>
              <a:t>2019</a:t>
            </a:r>
            <a:r>
              <a:rPr lang="ko-KR" altLang="en-US" sz="1600" b="1" dirty="0" smtClean="0">
                <a:latin typeface="+mn-ea"/>
              </a:rPr>
              <a:t>년 </a:t>
            </a:r>
            <a:r>
              <a:rPr lang="en-US" altLang="ko-KR" sz="1600" b="1" dirty="0" smtClean="0">
                <a:latin typeface="+mn-ea"/>
              </a:rPr>
              <a:t>2</a:t>
            </a:r>
            <a:r>
              <a:rPr lang="ko-KR" altLang="en-US" sz="1600" b="1" dirty="0" smtClean="0">
                <a:latin typeface="+mn-ea"/>
              </a:rPr>
              <a:t>월</a:t>
            </a:r>
            <a:r>
              <a:rPr lang="en-US" altLang="ko-KR" sz="1600" b="1" dirty="0" smtClean="0">
                <a:latin typeface="+mn-ea"/>
              </a:rPr>
              <a:t>~4</a:t>
            </a:r>
            <a:r>
              <a:rPr lang="ko-KR" altLang="en-US" sz="1600" b="1" dirty="0" smtClean="0">
                <a:latin typeface="+mn-ea"/>
              </a:rPr>
              <a:t>월</a:t>
            </a:r>
            <a:r>
              <a:rPr lang="en-US" altLang="ko-KR" sz="1600" dirty="0">
                <a:latin typeface="+mn-ea"/>
              </a:rPr>
              <a:t/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 smtClean="0">
                <a:latin typeface="+mn-ea"/>
              </a:rPr>
              <a:t>        </a:t>
            </a:r>
            <a:r>
              <a:rPr lang="ko-KR" altLang="en-US" sz="1600" dirty="0" smtClean="0">
                <a:latin typeface="+mn-ea"/>
              </a:rPr>
              <a:t>북해도</a:t>
            </a:r>
            <a:r>
              <a:rPr lang="en-US" altLang="ko-KR" sz="1600" dirty="0" smtClean="0">
                <a:latin typeface="+mn-ea"/>
              </a:rPr>
              <a:t>, </a:t>
            </a:r>
            <a:r>
              <a:rPr lang="ko-KR" altLang="en-US" sz="1600" dirty="0" smtClean="0">
                <a:latin typeface="+mn-ea"/>
              </a:rPr>
              <a:t>동경</a:t>
            </a:r>
            <a:r>
              <a:rPr lang="en-US" altLang="ko-KR" sz="1600" dirty="0" smtClean="0">
                <a:latin typeface="+mn-ea"/>
              </a:rPr>
              <a:t>, </a:t>
            </a:r>
            <a:r>
              <a:rPr lang="ko-KR" altLang="en-US" sz="1600" dirty="0" smtClean="0">
                <a:latin typeface="+mn-ea"/>
              </a:rPr>
              <a:t>오사카</a:t>
            </a:r>
            <a:r>
              <a:rPr lang="en-US" altLang="ko-KR" sz="1600" dirty="0" smtClean="0">
                <a:latin typeface="+mn-ea"/>
              </a:rPr>
              <a:t>, </a:t>
            </a:r>
            <a:r>
              <a:rPr lang="ko-KR" altLang="en-US" sz="1600" dirty="0" err="1" smtClean="0">
                <a:latin typeface="+mn-ea"/>
              </a:rPr>
              <a:t>큐슈</a:t>
            </a:r>
            <a:r>
              <a:rPr lang="en-US" altLang="ko-KR" sz="1600" dirty="0" smtClean="0">
                <a:latin typeface="+mn-ea"/>
              </a:rPr>
              <a:t>, </a:t>
            </a:r>
            <a:r>
              <a:rPr lang="ko-KR" altLang="en-US" sz="1600" dirty="0" err="1" smtClean="0">
                <a:latin typeface="+mn-ea"/>
              </a:rPr>
              <a:t>시코쿠</a:t>
            </a:r>
            <a:r>
              <a:rPr lang="en-US" altLang="ko-KR" sz="1600" dirty="0" smtClean="0">
                <a:latin typeface="+mn-ea"/>
              </a:rPr>
              <a:t>, </a:t>
            </a:r>
            <a:r>
              <a:rPr lang="ko-KR" altLang="en-US" sz="1600" dirty="0" smtClean="0">
                <a:latin typeface="+mn-ea"/>
              </a:rPr>
              <a:t>오키나와 </a:t>
            </a:r>
            <a:r>
              <a:rPr lang="en-US" altLang="ko-KR" sz="1200" dirty="0" smtClean="0">
                <a:latin typeface="+mn-ea"/>
              </a:rPr>
              <a:t>(</a:t>
            </a:r>
            <a:r>
              <a:rPr lang="ko-KR" altLang="en-US" sz="1200" dirty="0" smtClean="0">
                <a:latin typeface="+mn-ea"/>
              </a:rPr>
              <a:t>선박상품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지방출발 상품 제외</a:t>
            </a:r>
            <a:r>
              <a:rPr lang="en-US" altLang="ko-KR" sz="1200" dirty="0" smtClean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b="1" dirty="0" smtClean="0">
                <a:latin typeface="+mn-ea"/>
              </a:rPr>
              <a:t>3. </a:t>
            </a:r>
            <a:r>
              <a:rPr lang="ko-KR" altLang="en-US" b="1" dirty="0" smtClean="0">
                <a:latin typeface="+mn-ea"/>
              </a:rPr>
              <a:t>분석방법</a:t>
            </a:r>
            <a:r>
              <a:rPr lang="en-US" altLang="ko-KR" sz="1600" b="1" dirty="0">
                <a:latin typeface="+mn-ea"/>
              </a:rPr>
              <a:t/>
            </a:r>
            <a:br>
              <a:rPr lang="en-US" altLang="ko-KR" sz="1600" b="1" dirty="0">
                <a:latin typeface="+mn-ea"/>
              </a:rPr>
            </a:br>
            <a:r>
              <a:rPr lang="en-US" altLang="ko-KR" sz="1600" b="1" dirty="0">
                <a:latin typeface="+mn-ea"/>
              </a:rPr>
              <a:t>     : VGT </a:t>
            </a:r>
            <a:r>
              <a:rPr lang="ko-KR" altLang="en-US" sz="1600" b="1" dirty="0">
                <a:latin typeface="+mn-ea"/>
              </a:rPr>
              <a:t>약 </a:t>
            </a:r>
            <a:r>
              <a:rPr lang="en-US" altLang="ko-KR" sz="1600" b="1" dirty="0" smtClean="0">
                <a:latin typeface="+mn-ea"/>
              </a:rPr>
              <a:t>4,230</a:t>
            </a:r>
            <a:r>
              <a:rPr lang="ko-KR" altLang="en-US" sz="1600" b="1" dirty="0" smtClean="0">
                <a:latin typeface="+mn-ea"/>
              </a:rPr>
              <a:t>건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노랑풍선 약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en-US" altLang="ko-KR" sz="1600" b="1" dirty="0" smtClean="0">
                <a:latin typeface="+mn-ea"/>
              </a:rPr>
              <a:t>3,755</a:t>
            </a:r>
            <a:r>
              <a:rPr lang="ko-KR" altLang="en-US" sz="1600" b="1" dirty="0" smtClean="0">
                <a:latin typeface="+mn-ea"/>
              </a:rPr>
              <a:t>건</a:t>
            </a:r>
            <a:r>
              <a:rPr lang="ko-KR" altLang="en-US" sz="1600" dirty="0" smtClean="0">
                <a:latin typeface="+mn-ea"/>
              </a:rPr>
              <a:t>의 </a:t>
            </a:r>
            <a:r>
              <a:rPr lang="ko-KR" altLang="en-US" sz="1600" dirty="0">
                <a:latin typeface="+mn-ea"/>
              </a:rPr>
              <a:t>행사 상품 데이터 </a:t>
            </a:r>
            <a:r>
              <a:rPr lang="ko-KR" altLang="en-US" sz="1600" dirty="0" smtClean="0">
                <a:latin typeface="+mn-ea"/>
              </a:rPr>
              <a:t>분석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Ⅰ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Intro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날짜 개체 틀 1"/>
          <p:cNvSpPr>
            <a:spLocks noGrp="1"/>
          </p:cNvSpPr>
          <p:nvPr>
            <p:ph type="dt" sz="half" idx="4294967295"/>
          </p:nvPr>
        </p:nvSpPr>
        <p:spPr>
          <a:xfrm>
            <a:off x="-612475" y="6664352"/>
            <a:ext cx="2057400" cy="18257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dirty="0" smtClean="0">
                <a:latin typeface="+mn-ea"/>
              </a:rPr>
              <a:t>2019-01-29</a:t>
            </a:r>
            <a:endParaRPr lang="ko-KR" altLang="en-US" dirty="0">
              <a:latin typeface="+mn-ea"/>
            </a:endParaRP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sz="8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2</a:t>
            </a:r>
            <a:r>
              <a:rPr lang="ko-KR" altLang="en-US" sz="8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 </a:t>
            </a:r>
            <a:r>
              <a:rPr lang="en-US" altLang="ko-KR" sz="8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/ 13</a:t>
            </a:r>
            <a:endParaRPr lang="ko-KR" altLang="en-US" sz="800" dirty="0">
              <a:solidFill>
                <a:schemeClr val="accent5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바닥글 개체 틀 3"/>
          <p:cNvSpPr>
            <a:spLocks noGrp="1"/>
          </p:cNvSpPr>
          <p:nvPr>
            <p:ph type="ftr" sz="quarter" idx="4294967295"/>
          </p:nvPr>
        </p:nvSpPr>
        <p:spPr>
          <a:xfrm>
            <a:off x="7699075" y="6651471"/>
            <a:ext cx="1740568" cy="19545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sz="8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IT </a:t>
            </a:r>
            <a:r>
              <a:rPr lang="ko-KR" altLang="en-US" sz="8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미래전략부문</a:t>
            </a:r>
            <a:endParaRPr lang="ko-KR" altLang="en-US" sz="800" dirty="0">
              <a:solidFill>
                <a:schemeClr val="accent5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1846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072993"/>
              </p:ext>
            </p:extLst>
          </p:nvPr>
        </p:nvGraphicFramePr>
        <p:xfrm>
          <a:off x="610428" y="1362155"/>
          <a:ext cx="7923144" cy="42482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0786"/>
                <a:gridCol w="1980786"/>
                <a:gridCol w="1980786"/>
                <a:gridCol w="1980786"/>
              </a:tblGrid>
              <a:tr h="6507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참좋은여행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노랑풍선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노랑풍선 </a:t>
                      </a:r>
                      <a:r>
                        <a:rPr lang="ko-KR" altLang="en-US" sz="14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대비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81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마스터상품 수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75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95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78%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878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행사상품 수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4,230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3,755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113%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881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평균 </a:t>
                      </a:r>
                      <a:r>
                        <a:rPr lang="ko-KR" altLang="en-US" sz="12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상품가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968,711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785,719</a:t>
                      </a:r>
                      <a:endParaRPr lang="ko-KR" altLang="en-US" sz="12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123%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881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출발확정행사 수</a:t>
                      </a:r>
                      <a:endParaRPr lang="en-US" altLang="ko-KR" sz="1200" b="1" u="none" strike="noStrike" dirty="0" smtClean="0"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405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547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74%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881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출발확정행사 비율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-5%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881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전체상품 예약인원</a:t>
                      </a:r>
                      <a:r>
                        <a:rPr lang="en-US" altLang="ko-KR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/>
                      </a:r>
                      <a:br>
                        <a:rPr lang="en-US" altLang="ko-KR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lang="en-US" altLang="ko-KR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허수포함</a:t>
                      </a:r>
                      <a:r>
                        <a:rPr lang="en-US" altLang="ko-KR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9,926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15,629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63%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881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출발확정행사 예약인원</a:t>
                      </a:r>
                      <a:r>
                        <a:rPr lang="en-US" altLang="ko-KR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허수포함</a:t>
                      </a:r>
                      <a:r>
                        <a:rPr lang="en-US" altLang="ko-KR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7,437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10,941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68%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49235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출발확정상품수당</a:t>
                      </a:r>
                      <a:endParaRPr lang="en-US" altLang="ko-KR" sz="1200" b="1" i="0" u="none" strike="noStrike" dirty="0" smtClean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평균 예약인원</a:t>
                      </a:r>
                      <a:endParaRPr lang="ko-KR" alt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18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명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명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90%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881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일본지역 </a:t>
                      </a:r>
                      <a:r>
                        <a:rPr lang="ko-KR" altLang="en-US" sz="12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직원수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25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35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71%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Ⅱ. </a:t>
            </a:r>
            <a:r>
              <a:rPr lang="ko-KR" altLang="en-US" dirty="0"/>
              <a:t>요약</a:t>
            </a:r>
            <a:endParaRPr lang="en-US" altLang="ko-KR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날짜 개체 틀 1"/>
          <p:cNvSpPr>
            <a:spLocks noGrp="1"/>
          </p:cNvSpPr>
          <p:nvPr>
            <p:ph type="dt" sz="half" idx="4294967295"/>
          </p:nvPr>
        </p:nvSpPr>
        <p:spPr>
          <a:xfrm>
            <a:off x="-612475" y="6664352"/>
            <a:ext cx="2057400" cy="18257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dirty="0" smtClean="0">
                <a:latin typeface="+mn-ea"/>
              </a:rPr>
              <a:t>2019-01-29</a:t>
            </a:r>
            <a:endParaRPr lang="ko-KR" altLang="en-US" dirty="0">
              <a:latin typeface="+mn-ea"/>
            </a:endParaRPr>
          </a:p>
        </p:txBody>
      </p:sp>
      <p:sp>
        <p:nvSpPr>
          <p:cNvPr id="8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sz="800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3</a:t>
            </a:r>
            <a:r>
              <a:rPr lang="ko-KR" altLang="en-US" sz="8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8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/ 13</a:t>
            </a:r>
            <a:endParaRPr lang="ko-KR" altLang="en-US" sz="800" dirty="0">
              <a:solidFill>
                <a:schemeClr val="accent5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" name="바닥글 개체 틀 3"/>
          <p:cNvSpPr>
            <a:spLocks noGrp="1"/>
          </p:cNvSpPr>
          <p:nvPr>
            <p:ph type="ftr" sz="quarter" idx="4294967295"/>
          </p:nvPr>
        </p:nvSpPr>
        <p:spPr>
          <a:xfrm>
            <a:off x="7699075" y="6651471"/>
            <a:ext cx="1740568" cy="19545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sz="8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IT </a:t>
            </a:r>
            <a:r>
              <a:rPr lang="ko-KR" altLang="en-US" sz="8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미래전략부문</a:t>
            </a:r>
            <a:endParaRPr lang="ko-KR" altLang="en-US" sz="800" dirty="0">
              <a:solidFill>
                <a:schemeClr val="accent5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49387" y="5618500"/>
            <a:ext cx="52120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노랑풍선 </a:t>
            </a:r>
            <a:r>
              <a:rPr lang="ko-KR" altLang="en-US" sz="1400" dirty="0">
                <a:latin typeface="+mj-lt"/>
              </a:rPr>
              <a:t>대비 </a:t>
            </a:r>
            <a:r>
              <a:rPr lang="ko-KR" altLang="en-US" sz="1400" b="1" dirty="0">
                <a:solidFill>
                  <a:srgbClr val="C00000"/>
                </a:solidFill>
                <a:latin typeface="+mj-lt"/>
              </a:rPr>
              <a:t>출발확정 </a:t>
            </a:r>
            <a:r>
              <a:rPr lang="ko-KR" altLang="en-US" sz="1400" b="1" dirty="0" smtClean="0">
                <a:solidFill>
                  <a:srgbClr val="C00000"/>
                </a:solidFill>
                <a:latin typeface="+mj-lt"/>
              </a:rPr>
              <a:t>행사비율이 낮음</a:t>
            </a: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노랑풍선 대비 직원 </a:t>
            </a:r>
            <a:r>
              <a:rPr lang="ko-KR" altLang="en-US" sz="1400" b="1" dirty="0" smtClean="0">
                <a:solidFill>
                  <a:srgbClr val="C00000"/>
                </a:solidFill>
                <a:latin typeface="+mj-lt"/>
              </a:rPr>
              <a:t>한 명 당 관리하는 행사 수</a:t>
            </a:r>
            <a:r>
              <a:rPr lang="ko-KR" altLang="en-US" sz="1400" dirty="0" smtClean="0">
                <a:latin typeface="+mj-lt"/>
              </a:rPr>
              <a:t>가 약 </a:t>
            </a:r>
            <a:r>
              <a:rPr lang="en-US" altLang="ko-KR" sz="1400" b="1" dirty="0">
                <a:solidFill>
                  <a:srgbClr val="C00000"/>
                </a:solidFill>
                <a:latin typeface="+mj-lt"/>
              </a:rPr>
              <a:t>2</a:t>
            </a:r>
            <a:r>
              <a:rPr lang="ko-KR" altLang="en-US" sz="1400" dirty="0" smtClean="0">
                <a:latin typeface="+mj-lt"/>
              </a:rPr>
              <a:t>배 많음</a:t>
            </a:r>
            <a:endParaRPr lang="en-US" altLang="ko-KR" sz="1400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4965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2019-01-29</a:t>
            </a:r>
            <a:endParaRPr lang="ko-KR" altLang="en-US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4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33970" y="1219512"/>
            <a:ext cx="2291978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33970" y="1208042"/>
            <a:ext cx="26609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지역별 마스터 상품 개수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00612" y="1220490"/>
            <a:ext cx="19431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8989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 smtClean="0"/>
              <a:t>Ⅲ. </a:t>
            </a:r>
            <a:r>
              <a:rPr lang="ko-KR" altLang="en-US" dirty="0" smtClean="0"/>
              <a:t>비교 분석 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지역별 상품 분석</a:t>
            </a:r>
            <a:r>
              <a:rPr lang="en-US" altLang="ko-KR" sz="2000" b="1" dirty="0" smtClean="0"/>
              <a:t>)</a:t>
            </a:r>
            <a:endParaRPr lang="ko-KR" altLang="en-US" b="1" dirty="0"/>
          </a:p>
        </p:txBody>
      </p:sp>
      <p:sp>
        <p:nvSpPr>
          <p:cNvPr id="25" name="직사각형 24"/>
          <p:cNvSpPr/>
          <p:nvPr/>
        </p:nvSpPr>
        <p:spPr bwMode="auto">
          <a:xfrm>
            <a:off x="424738" y="1219511"/>
            <a:ext cx="3851427" cy="264512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433978" y="1219511"/>
            <a:ext cx="4091457" cy="264512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433979" y="1225195"/>
            <a:ext cx="220353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4433977" y="1208041"/>
            <a:ext cx="22035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지역별 행사 상품 개수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 bwMode="auto">
          <a:xfrm>
            <a:off x="424738" y="3964846"/>
            <a:ext cx="3851427" cy="264512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433970" y="3964846"/>
            <a:ext cx="2291978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" name="TextBox 35"/>
          <p:cNvSpPr txBox="1">
            <a:spLocks noChangeArrowheads="1"/>
          </p:cNvSpPr>
          <p:nvPr/>
        </p:nvSpPr>
        <p:spPr bwMode="auto">
          <a:xfrm>
            <a:off x="433970" y="3949875"/>
            <a:ext cx="210304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마스터당 행사 개수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44331" y="4441021"/>
            <a:ext cx="479966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>
                <a:latin typeface="+mj-lt"/>
              </a:rPr>
              <a:t>마스터 상품 전체 개수 </a:t>
            </a:r>
            <a:r>
              <a:rPr lang="en-US" altLang="ko-KR" sz="1300" dirty="0">
                <a:latin typeface="+mj-lt"/>
              </a:rPr>
              <a:t>:  VGT </a:t>
            </a:r>
            <a:r>
              <a:rPr lang="en-US" altLang="ko-KR" sz="1300" dirty="0" smtClean="0">
                <a:latin typeface="+mj-lt"/>
              </a:rPr>
              <a:t>–</a:t>
            </a:r>
            <a:r>
              <a:rPr lang="en-US" altLang="ko-KR" sz="1300" b="1" dirty="0" smtClean="0">
                <a:solidFill>
                  <a:srgbClr val="C00000"/>
                </a:solidFill>
                <a:latin typeface="+mj-lt"/>
              </a:rPr>
              <a:t>75</a:t>
            </a:r>
            <a:r>
              <a:rPr lang="ko-KR" altLang="en-US" sz="1300" dirty="0" smtClean="0">
                <a:latin typeface="+mj-lt"/>
              </a:rPr>
              <a:t>개</a:t>
            </a:r>
            <a:r>
              <a:rPr lang="en-US" altLang="ko-KR" sz="1300" dirty="0">
                <a:latin typeface="+mj-lt"/>
              </a:rPr>
              <a:t>, </a:t>
            </a:r>
            <a:r>
              <a:rPr lang="ko-KR" altLang="en-US" sz="1300" dirty="0">
                <a:latin typeface="+mj-lt"/>
              </a:rPr>
              <a:t>노랑풍선 </a:t>
            </a:r>
            <a:r>
              <a:rPr lang="en-US" altLang="ko-KR" sz="1300" dirty="0" smtClean="0">
                <a:latin typeface="+mj-lt"/>
              </a:rPr>
              <a:t>–</a:t>
            </a:r>
            <a:r>
              <a:rPr lang="en-US" altLang="ko-KR" sz="1300" b="1" dirty="0" smtClean="0">
                <a:solidFill>
                  <a:srgbClr val="C00000"/>
                </a:solidFill>
                <a:latin typeface="+mj-lt"/>
              </a:rPr>
              <a:t>95</a:t>
            </a:r>
            <a:r>
              <a:rPr lang="ko-KR" altLang="en-US" sz="1300" dirty="0" smtClean="0">
                <a:latin typeface="+mj-lt"/>
              </a:rPr>
              <a:t>개</a:t>
            </a:r>
            <a:endParaRPr lang="en-US" altLang="ko-KR" sz="1300" dirty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>
                <a:latin typeface="+mj-lt"/>
              </a:rPr>
              <a:t>행사 상품 전체 개수 </a:t>
            </a:r>
            <a:r>
              <a:rPr lang="en-US" altLang="ko-KR" sz="1300" dirty="0">
                <a:latin typeface="+mj-lt"/>
              </a:rPr>
              <a:t>: VGT </a:t>
            </a:r>
            <a:r>
              <a:rPr lang="en-US" altLang="ko-KR" sz="1300" dirty="0" smtClean="0">
                <a:latin typeface="+mj-lt"/>
              </a:rPr>
              <a:t>–</a:t>
            </a:r>
            <a:r>
              <a:rPr lang="en-US" altLang="ko-KR" sz="1300" b="1" dirty="0" smtClean="0">
                <a:solidFill>
                  <a:srgbClr val="C00000"/>
                </a:solidFill>
                <a:latin typeface="+mj-lt"/>
              </a:rPr>
              <a:t>4,230</a:t>
            </a:r>
            <a:r>
              <a:rPr lang="ko-KR" altLang="en-US" sz="1300" dirty="0" smtClean="0">
                <a:latin typeface="+mj-lt"/>
              </a:rPr>
              <a:t>개</a:t>
            </a:r>
            <a:r>
              <a:rPr lang="en-US" altLang="ko-KR" sz="1300" dirty="0">
                <a:latin typeface="+mj-lt"/>
              </a:rPr>
              <a:t>, </a:t>
            </a:r>
            <a:r>
              <a:rPr lang="ko-KR" altLang="en-US" sz="1300" dirty="0">
                <a:latin typeface="+mj-lt"/>
              </a:rPr>
              <a:t>노랑풍선 </a:t>
            </a:r>
            <a:r>
              <a:rPr lang="en-US" altLang="ko-KR" sz="1300" dirty="0" smtClean="0">
                <a:latin typeface="+mj-lt"/>
              </a:rPr>
              <a:t>–</a:t>
            </a:r>
            <a:r>
              <a:rPr lang="en-US" altLang="ko-KR" sz="1300" b="1" dirty="0" smtClean="0">
                <a:solidFill>
                  <a:srgbClr val="C00000"/>
                </a:solidFill>
                <a:latin typeface="+mj-lt"/>
              </a:rPr>
              <a:t>3,755</a:t>
            </a:r>
            <a:r>
              <a:rPr lang="ko-KR" altLang="en-US" sz="1300" dirty="0" smtClean="0">
                <a:latin typeface="+mj-lt"/>
              </a:rPr>
              <a:t>개</a:t>
            </a:r>
            <a:endParaRPr lang="en-US" altLang="ko-KR" sz="1300" dirty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>
                <a:latin typeface="+mj-lt"/>
              </a:rPr>
              <a:t>마스터 당 행사 상품 수 </a:t>
            </a:r>
            <a:r>
              <a:rPr lang="en-US" altLang="ko-KR" sz="1300" dirty="0">
                <a:latin typeface="+mj-lt"/>
              </a:rPr>
              <a:t>: VGT </a:t>
            </a:r>
            <a:r>
              <a:rPr lang="en-US" altLang="ko-KR" sz="1300" dirty="0" smtClean="0">
                <a:latin typeface="+mj-lt"/>
              </a:rPr>
              <a:t>–</a:t>
            </a:r>
            <a:r>
              <a:rPr lang="en-US" altLang="ko-KR" sz="1300" b="1" dirty="0" smtClean="0">
                <a:solidFill>
                  <a:srgbClr val="C00000"/>
                </a:solidFill>
                <a:latin typeface="+mj-lt"/>
              </a:rPr>
              <a:t>56</a:t>
            </a:r>
            <a:r>
              <a:rPr lang="ko-KR" altLang="en-US" sz="1300" dirty="0" smtClean="0">
                <a:latin typeface="+mj-lt"/>
              </a:rPr>
              <a:t>개</a:t>
            </a:r>
            <a:r>
              <a:rPr lang="en-US" altLang="ko-KR" sz="1300" dirty="0">
                <a:latin typeface="+mj-lt"/>
              </a:rPr>
              <a:t>, </a:t>
            </a:r>
            <a:r>
              <a:rPr lang="ko-KR" altLang="en-US" sz="1300" dirty="0">
                <a:latin typeface="+mj-lt"/>
              </a:rPr>
              <a:t>노랑풍선 </a:t>
            </a:r>
            <a:r>
              <a:rPr lang="en-US" altLang="ko-KR" sz="1300" dirty="0" smtClean="0">
                <a:latin typeface="+mj-lt"/>
              </a:rPr>
              <a:t>–</a:t>
            </a:r>
            <a:r>
              <a:rPr lang="en-US" altLang="ko-KR" sz="1300" b="1" dirty="0" smtClean="0">
                <a:solidFill>
                  <a:srgbClr val="C00000"/>
                </a:solidFill>
                <a:latin typeface="+mj-lt"/>
              </a:rPr>
              <a:t>40</a:t>
            </a:r>
            <a:r>
              <a:rPr lang="ko-KR" altLang="en-US" sz="1300" dirty="0" smtClean="0">
                <a:latin typeface="+mj-lt"/>
              </a:rPr>
              <a:t>개</a:t>
            </a:r>
            <a:endParaRPr lang="en-US" altLang="ko-KR" sz="1300" dirty="0" smtClean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b="1" dirty="0" err="1" smtClean="0">
                <a:latin typeface="+mj-lt"/>
              </a:rPr>
              <a:t>큐슈</a:t>
            </a:r>
            <a:r>
              <a:rPr lang="ko-KR" altLang="en-US" sz="1300" b="1" dirty="0" smtClean="0">
                <a:latin typeface="+mj-lt"/>
              </a:rPr>
              <a:t> 포함 지역 </a:t>
            </a:r>
            <a:r>
              <a:rPr lang="en-US" altLang="ko-KR" sz="1300" b="1" dirty="0" smtClean="0">
                <a:latin typeface="+mj-lt"/>
              </a:rPr>
              <a:t>: VGT – 5</a:t>
            </a:r>
            <a:r>
              <a:rPr lang="ko-KR" altLang="en-US" sz="1300" b="1" dirty="0" smtClean="0">
                <a:latin typeface="+mj-lt"/>
              </a:rPr>
              <a:t>개</a:t>
            </a:r>
            <a:r>
              <a:rPr lang="en-US" altLang="ko-KR" sz="1300" b="1" dirty="0" smtClean="0">
                <a:latin typeface="+mj-lt"/>
              </a:rPr>
              <a:t>, </a:t>
            </a:r>
            <a:r>
              <a:rPr lang="ko-KR" altLang="en-US" sz="1300" b="1" dirty="0" smtClean="0">
                <a:latin typeface="+mj-lt"/>
              </a:rPr>
              <a:t>노랑풍선 </a:t>
            </a:r>
            <a:r>
              <a:rPr lang="en-US" altLang="ko-KR" sz="1300" b="1" dirty="0" smtClean="0">
                <a:latin typeface="+mj-lt"/>
              </a:rPr>
              <a:t>- 9</a:t>
            </a:r>
            <a:r>
              <a:rPr lang="ko-KR" altLang="en-US" sz="1300" b="1" dirty="0" smtClean="0">
                <a:latin typeface="+mj-lt"/>
              </a:rPr>
              <a:t>개</a:t>
            </a:r>
            <a:r>
              <a:rPr lang="en-US" altLang="ko-KR" sz="1300" b="1" dirty="0" smtClean="0">
                <a:latin typeface="+mj-lt"/>
              </a:rPr>
              <a:t> </a:t>
            </a:r>
            <a:endParaRPr lang="en-US" altLang="ko-KR" sz="1200" b="1" dirty="0" smtClean="0">
              <a:latin typeface="+mj-lt"/>
            </a:endParaRPr>
          </a:p>
        </p:txBody>
      </p:sp>
      <p:graphicFrame>
        <p:nvGraphicFramePr>
          <p:cNvPr id="23" name="차트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6423805"/>
              </p:ext>
            </p:extLst>
          </p:nvPr>
        </p:nvGraphicFramePr>
        <p:xfrm>
          <a:off x="433970" y="1495070"/>
          <a:ext cx="3842195" cy="23695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9" name="차트 2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9805021"/>
              </p:ext>
            </p:extLst>
          </p:nvPr>
        </p:nvGraphicFramePr>
        <p:xfrm>
          <a:off x="4433977" y="1485041"/>
          <a:ext cx="4091457" cy="2379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2" name="차트 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1459099"/>
              </p:ext>
            </p:extLst>
          </p:nvPr>
        </p:nvGraphicFramePr>
        <p:xfrm>
          <a:off x="424737" y="4226874"/>
          <a:ext cx="3851427" cy="2383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44903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차트 3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7695657"/>
              </p:ext>
            </p:extLst>
          </p:nvPr>
        </p:nvGraphicFramePr>
        <p:xfrm>
          <a:off x="4640178" y="1485041"/>
          <a:ext cx="3753324" cy="2111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3" name="차트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6291092"/>
              </p:ext>
            </p:extLst>
          </p:nvPr>
        </p:nvGraphicFramePr>
        <p:xfrm>
          <a:off x="433970" y="1485040"/>
          <a:ext cx="3927198" cy="2111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2019-01-29</a:t>
            </a:r>
            <a:endParaRPr lang="ko-KR" altLang="en-US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5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33970" y="1219512"/>
            <a:ext cx="2776499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33969" y="1208042"/>
            <a:ext cx="257817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VGT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상품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00612" y="122049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24738" y="1219511"/>
            <a:ext cx="3936430" cy="2376985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640180" y="1219512"/>
            <a:ext cx="3753322" cy="237698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640179" y="1225195"/>
            <a:ext cx="2763254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4640179" y="1208041"/>
            <a:ext cx="286328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노랑풍선 상품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7" y="212002"/>
            <a:ext cx="882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 smtClean="0"/>
              <a:t>Ⅲ. </a:t>
            </a:r>
            <a:r>
              <a:rPr lang="ko-KR" altLang="en-US" dirty="0" smtClean="0"/>
              <a:t>비교 분석 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상품 등급</a:t>
            </a:r>
            <a:r>
              <a:rPr lang="en-US" altLang="ko-KR" sz="2000" b="1" dirty="0" smtClean="0"/>
              <a:t>)</a:t>
            </a:r>
            <a:endParaRPr lang="ko-KR" altLang="en-US" sz="2000" b="1" dirty="0"/>
          </a:p>
        </p:txBody>
      </p:sp>
      <p:cxnSp>
        <p:nvCxnSpPr>
          <p:cNvPr id="32" name="직선 연결선 31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746139" y="4277276"/>
            <a:ext cx="61156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 smtClean="0">
                <a:latin typeface="+mj-lt"/>
              </a:rPr>
              <a:t>VGT</a:t>
            </a:r>
            <a:r>
              <a:rPr lang="ko-KR" altLang="en-US" sz="1400" dirty="0" smtClean="0">
                <a:latin typeface="+mj-lt"/>
              </a:rPr>
              <a:t>의 경우</a:t>
            </a:r>
            <a:r>
              <a:rPr lang="en-US" altLang="ko-KR" sz="1400" dirty="0" smtClean="0">
                <a:latin typeface="+mj-lt"/>
              </a:rPr>
              <a:t>, </a:t>
            </a:r>
            <a:r>
              <a:rPr lang="ko-KR" altLang="en-US" sz="1400" b="1" dirty="0" smtClean="0">
                <a:latin typeface="+mj-lt"/>
              </a:rPr>
              <a:t>브랜드 상품 없음</a:t>
            </a:r>
            <a:endParaRPr lang="en-US" altLang="ko-KR" sz="1400" b="1" dirty="0" smtClean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노랑풍선의 경우 </a:t>
            </a:r>
            <a:r>
              <a:rPr lang="ko-KR" altLang="en-US" sz="1400" b="1" dirty="0" smtClean="0">
                <a:latin typeface="+mj-lt"/>
              </a:rPr>
              <a:t>일반</a:t>
            </a:r>
            <a:r>
              <a:rPr lang="ko-KR" altLang="en-US" sz="1400" dirty="0" smtClean="0">
                <a:latin typeface="+mj-lt"/>
              </a:rPr>
              <a:t> 상품 </a:t>
            </a:r>
            <a:r>
              <a:rPr lang="en-US" altLang="ko-KR" sz="1400" b="1" dirty="0" smtClean="0">
                <a:solidFill>
                  <a:srgbClr val="C00000"/>
                </a:solidFill>
                <a:latin typeface="+mj-lt"/>
              </a:rPr>
              <a:t>88</a:t>
            </a:r>
            <a:r>
              <a:rPr lang="en-US" altLang="ko-KR" sz="1400" dirty="0" smtClean="0">
                <a:latin typeface="+mj-lt"/>
              </a:rPr>
              <a:t>%, </a:t>
            </a:r>
            <a:r>
              <a:rPr lang="ko-KR" altLang="en-US" sz="1400" b="1" dirty="0" smtClean="0">
                <a:latin typeface="+mj-lt"/>
              </a:rPr>
              <a:t>프리미엄</a:t>
            </a:r>
            <a:r>
              <a:rPr lang="ko-KR" altLang="en-US" sz="1400" dirty="0" smtClean="0">
                <a:latin typeface="+mj-lt"/>
              </a:rPr>
              <a:t> </a:t>
            </a:r>
            <a:r>
              <a:rPr lang="en-US" altLang="ko-KR" sz="1400" b="1" dirty="0" smtClean="0">
                <a:solidFill>
                  <a:srgbClr val="C00000"/>
                </a:solidFill>
                <a:latin typeface="+mj-lt"/>
              </a:rPr>
              <a:t>12</a:t>
            </a:r>
            <a:r>
              <a:rPr lang="en-US" altLang="ko-KR" sz="1400" dirty="0" smtClean="0">
                <a:latin typeface="+mj-lt"/>
              </a:rPr>
              <a:t>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2101" y="3042439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latin typeface="+mj-lt"/>
              </a:rPr>
              <a:t>(4,230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15639" y="3157855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latin typeface="+mj-lt"/>
              </a:rPr>
              <a:t>(3,321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234012" y="1569302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latin typeface="+mj-lt"/>
              </a:rPr>
              <a:t>(434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778189" y="3607967"/>
            <a:ext cx="36153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프리미엄 </a:t>
            </a:r>
            <a:r>
              <a:rPr lang="en-US" altLang="ko-KR" sz="1000" dirty="0"/>
              <a:t>: </a:t>
            </a:r>
            <a:r>
              <a:rPr lang="ko-KR" altLang="en-US" sz="1000" dirty="0" smtClean="0"/>
              <a:t>항공</a:t>
            </a:r>
            <a:r>
              <a:rPr lang="en-US" altLang="ko-KR" sz="1000" dirty="0"/>
              <a:t>, </a:t>
            </a:r>
            <a:r>
              <a:rPr lang="ko-KR" altLang="en-US" sz="1000" dirty="0"/>
              <a:t>숙박</a:t>
            </a:r>
            <a:r>
              <a:rPr lang="en-US" altLang="ko-KR" sz="1000" dirty="0"/>
              <a:t>, </a:t>
            </a:r>
            <a:r>
              <a:rPr lang="ko-KR" altLang="en-US" sz="1000" dirty="0"/>
              <a:t>일정 </a:t>
            </a:r>
            <a:r>
              <a:rPr lang="ko-KR" altLang="en-US" sz="1000" dirty="0" smtClean="0"/>
              <a:t>등을 최상위로 </a:t>
            </a:r>
            <a:r>
              <a:rPr lang="ko-KR" altLang="en-US" sz="1000" dirty="0"/>
              <a:t>업그레이드한 </a:t>
            </a:r>
            <a:r>
              <a:rPr lang="ko-KR" altLang="en-US" sz="1000" dirty="0" smtClean="0"/>
              <a:t>상품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10550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2019-01-29</a:t>
            </a:r>
            <a:endParaRPr lang="ko-KR" altLang="en-US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6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7" y="212002"/>
            <a:ext cx="7223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지역별 상품 등급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cxnSp>
        <p:nvCxnSpPr>
          <p:cNvPr id="32" name="직선 연결선 31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241540" y="1219512"/>
            <a:ext cx="2456836" cy="27699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/>
        </p:nvSpPr>
        <p:spPr bwMode="auto">
          <a:xfrm>
            <a:off x="241540" y="1219511"/>
            <a:ext cx="274370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지역별 상품 등급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241540" y="1219511"/>
            <a:ext cx="8660920" cy="2366371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7511" y="5278089"/>
            <a:ext cx="79723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브랜드 상품 마스터 개수 </a:t>
            </a:r>
            <a:r>
              <a:rPr lang="en-US" altLang="ko-KR" sz="1400" dirty="0" smtClean="0">
                <a:latin typeface="+mj-lt"/>
              </a:rPr>
              <a:t>: VGT – </a:t>
            </a:r>
            <a:r>
              <a:rPr lang="en-US" altLang="ko-KR" sz="1400" b="1" dirty="0">
                <a:solidFill>
                  <a:srgbClr val="C00000"/>
                </a:solidFill>
                <a:latin typeface="+mj-lt"/>
              </a:rPr>
              <a:t>0</a:t>
            </a:r>
            <a:r>
              <a:rPr lang="ko-KR" altLang="en-US" sz="1400" dirty="0" smtClean="0">
                <a:latin typeface="+mj-lt"/>
              </a:rPr>
              <a:t>개</a:t>
            </a:r>
            <a:r>
              <a:rPr lang="en-US" altLang="ko-KR" sz="1400" dirty="0" smtClean="0">
                <a:latin typeface="+mj-lt"/>
              </a:rPr>
              <a:t>, </a:t>
            </a:r>
            <a:r>
              <a:rPr lang="ko-KR" altLang="en-US" sz="1400" dirty="0" smtClean="0">
                <a:latin typeface="+mj-lt"/>
              </a:rPr>
              <a:t>노랑풍선 </a:t>
            </a:r>
            <a:r>
              <a:rPr lang="en-US" altLang="ko-KR" sz="1400" dirty="0" smtClean="0">
                <a:latin typeface="+mj-lt"/>
              </a:rPr>
              <a:t>- </a:t>
            </a:r>
            <a:r>
              <a:rPr lang="en-US" altLang="ko-KR" sz="1400" b="1" dirty="0" smtClean="0">
                <a:solidFill>
                  <a:srgbClr val="C00000"/>
                </a:solidFill>
                <a:latin typeface="+mj-lt"/>
              </a:rPr>
              <a:t>12</a:t>
            </a:r>
            <a:r>
              <a:rPr lang="ko-KR" altLang="en-US" sz="1400" dirty="0" smtClean="0">
                <a:latin typeface="+mj-lt"/>
              </a:rPr>
              <a:t>개</a:t>
            </a:r>
            <a:endParaRPr lang="en-US" altLang="ko-KR" sz="1400" dirty="0" smtClean="0">
              <a:latin typeface="+mj-lt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노랑풍선의 경우</a:t>
            </a:r>
            <a:r>
              <a:rPr lang="en-US" altLang="ko-KR" sz="1400" dirty="0" smtClean="0">
                <a:latin typeface="+mj-lt"/>
              </a:rPr>
              <a:t>,</a:t>
            </a:r>
            <a:r>
              <a:rPr lang="ko-KR" altLang="en-US" sz="1400" dirty="0" smtClean="0">
                <a:latin typeface="+mj-lt"/>
              </a:rPr>
              <a:t> </a:t>
            </a:r>
            <a:r>
              <a:rPr lang="ko-KR" altLang="en-US" sz="1400" b="1" dirty="0" smtClean="0">
                <a:latin typeface="+mj-lt"/>
              </a:rPr>
              <a:t>주로 휴양지나 </a:t>
            </a:r>
            <a:r>
              <a:rPr lang="ko-KR" altLang="en-US" sz="1400" b="1" dirty="0" err="1" smtClean="0">
                <a:latin typeface="+mj-lt"/>
              </a:rPr>
              <a:t>료칸</a:t>
            </a:r>
            <a:r>
              <a:rPr lang="ko-KR" altLang="en-US" sz="1400" b="1" dirty="0" smtClean="0">
                <a:latin typeface="+mj-lt"/>
              </a:rPr>
              <a:t> 상품이 많은 북해도</a:t>
            </a:r>
            <a:r>
              <a:rPr lang="en-US" altLang="ko-KR" sz="1400" b="1" dirty="0" smtClean="0">
                <a:latin typeface="+mj-lt"/>
              </a:rPr>
              <a:t>, </a:t>
            </a:r>
            <a:r>
              <a:rPr lang="ko-KR" altLang="en-US" sz="1400" b="1" dirty="0" err="1" smtClean="0">
                <a:latin typeface="+mj-lt"/>
              </a:rPr>
              <a:t>큐슈</a:t>
            </a:r>
            <a:r>
              <a:rPr lang="en-US" altLang="ko-KR" sz="1400" b="1" dirty="0" smtClean="0">
                <a:latin typeface="+mj-lt"/>
              </a:rPr>
              <a:t>, </a:t>
            </a:r>
            <a:r>
              <a:rPr lang="ko-KR" altLang="en-US" sz="1400" b="1" dirty="0" smtClean="0">
                <a:latin typeface="+mj-lt"/>
              </a:rPr>
              <a:t>오키나와 </a:t>
            </a:r>
            <a:r>
              <a:rPr lang="ko-KR" altLang="en-US" sz="1400" dirty="0" smtClean="0">
                <a:latin typeface="+mj-lt"/>
              </a:rPr>
              <a:t>지역에 브랜드 상품 구성</a:t>
            </a:r>
            <a:endParaRPr lang="en-US" altLang="ko-KR" sz="1400" dirty="0" smtClean="0">
              <a:latin typeface="+mj-lt"/>
            </a:endParaRPr>
          </a:p>
        </p:txBody>
      </p:sp>
      <p:graphicFrame>
        <p:nvGraphicFramePr>
          <p:cNvPr id="13" name="차트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7306614"/>
              </p:ext>
            </p:extLst>
          </p:nvPr>
        </p:nvGraphicFramePr>
        <p:xfrm>
          <a:off x="241540" y="1496511"/>
          <a:ext cx="8660920" cy="20893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202115"/>
              </p:ext>
            </p:extLst>
          </p:nvPr>
        </p:nvGraphicFramePr>
        <p:xfrm>
          <a:off x="636494" y="3761882"/>
          <a:ext cx="7637224" cy="137489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9306"/>
                <a:gridCol w="1909306"/>
                <a:gridCol w="1909306"/>
                <a:gridCol w="1909306"/>
              </a:tblGrid>
              <a:tr h="19641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지역</a:t>
                      </a:r>
                      <a:endParaRPr lang="ko-KR" alt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일반 </a:t>
                      </a:r>
                      <a:r>
                        <a:rPr lang="en-US" altLang="ko-KR" sz="105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en-US" sz="105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VGT)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일반 </a:t>
                      </a:r>
                      <a:r>
                        <a:rPr lang="en-US" altLang="ko-KR" sz="105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ko-KR" altLang="en-US" sz="105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노랑풍선</a:t>
                      </a:r>
                      <a:r>
                        <a:rPr lang="en-US" altLang="ko-KR" sz="105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)</a:t>
                      </a:r>
                      <a:endParaRPr lang="en-US" altLang="ko-KR" sz="105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프리미엄 </a:t>
                      </a:r>
                      <a:r>
                        <a:rPr lang="en-US" altLang="ko-KR" sz="105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ko-KR" altLang="en-US" sz="105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노랑풍선</a:t>
                      </a:r>
                      <a:r>
                        <a:rPr lang="en-US" altLang="ko-KR" sz="105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)</a:t>
                      </a:r>
                      <a:endParaRPr lang="en-US" altLang="ko-KR" sz="105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19641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  <a:latin typeface="+mj-lt"/>
                        </a:rPr>
                        <a:t>북해도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  <a:latin typeface="+mj-lt"/>
                        </a:rPr>
                        <a:t>                     </a:t>
                      </a:r>
                      <a:r>
                        <a:rPr lang="en-US" altLang="ko-KR" sz="1050" u="none" strike="noStrike" dirty="0">
                          <a:effectLst/>
                          <a:latin typeface="+mj-lt"/>
                        </a:rPr>
                        <a:t>1,077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  <a:latin typeface="+mj-lt"/>
                        </a:rPr>
                        <a:t>                       </a:t>
                      </a:r>
                      <a:r>
                        <a:rPr lang="en-US" altLang="ko-KR" sz="1050" u="none" strike="noStrike">
                          <a:effectLst/>
                          <a:latin typeface="+mj-lt"/>
                        </a:rPr>
                        <a:t>563 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  <a:latin typeface="+mj-lt"/>
                        </a:rPr>
                        <a:t>                             </a:t>
                      </a:r>
                      <a:r>
                        <a:rPr lang="en-US" altLang="ko-KR" sz="1050" u="none" strike="noStrike">
                          <a:effectLst/>
                          <a:latin typeface="+mj-lt"/>
                        </a:rPr>
                        <a:t>103 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41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  <a:latin typeface="+mj-lt"/>
                        </a:rPr>
                        <a:t>동경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  <a:latin typeface="+mj-lt"/>
                        </a:rPr>
                        <a:t>                       </a:t>
                      </a:r>
                      <a:r>
                        <a:rPr lang="en-US" altLang="ko-KR" sz="1050" u="none" strike="noStrike" dirty="0">
                          <a:effectLst/>
                          <a:latin typeface="+mj-lt"/>
                        </a:rPr>
                        <a:t>437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  <a:latin typeface="+mj-lt"/>
                        </a:rPr>
                        <a:t>                       </a:t>
                      </a:r>
                      <a:r>
                        <a:rPr lang="en-US" altLang="ko-KR" sz="1050" u="none" strike="noStrike" dirty="0">
                          <a:effectLst/>
                          <a:latin typeface="+mj-lt"/>
                        </a:rPr>
                        <a:t>533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  <a:latin typeface="+mj-lt"/>
                        </a:rPr>
                        <a:t>                                </a:t>
                      </a:r>
                      <a:r>
                        <a:rPr lang="en-US" altLang="ko-KR" sz="1050" u="none" strike="noStrike">
                          <a:effectLst/>
                          <a:latin typeface="+mj-lt"/>
                        </a:rPr>
                        <a:t>- 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41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  <a:latin typeface="+mj-lt"/>
                        </a:rPr>
                        <a:t>오사카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  <a:latin typeface="+mj-lt"/>
                        </a:rPr>
                        <a:t>                       </a:t>
                      </a:r>
                      <a:r>
                        <a:rPr lang="en-US" altLang="ko-KR" sz="1050" u="none" strike="noStrike" dirty="0">
                          <a:effectLst/>
                          <a:latin typeface="+mj-lt"/>
                        </a:rPr>
                        <a:t>817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  <a:latin typeface="+mj-lt"/>
                        </a:rPr>
                        <a:t>                       </a:t>
                      </a:r>
                      <a:r>
                        <a:rPr lang="en-US" altLang="ko-KR" sz="1050" u="none" strike="noStrike" dirty="0">
                          <a:effectLst/>
                          <a:latin typeface="+mj-lt"/>
                        </a:rPr>
                        <a:t>805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  <a:latin typeface="+mj-lt"/>
                        </a:rPr>
                        <a:t>                                </a:t>
                      </a:r>
                      <a:r>
                        <a:rPr lang="en-US" altLang="ko-KR" sz="1050" u="none" strike="noStrike">
                          <a:effectLst/>
                          <a:latin typeface="+mj-lt"/>
                        </a:rPr>
                        <a:t>- 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41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  <a:latin typeface="+mj-lt"/>
                        </a:rPr>
                        <a:t>큐슈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  <a:latin typeface="+mj-lt"/>
                        </a:rPr>
                        <a:t>                     </a:t>
                      </a:r>
                      <a:r>
                        <a:rPr lang="en-US" altLang="ko-KR" sz="1050" u="none" strike="noStrike" dirty="0">
                          <a:effectLst/>
                          <a:latin typeface="+mj-lt"/>
                        </a:rPr>
                        <a:t>1,069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  <a:latin typeface="+mj-lt"/>
                        </a:rPr>
                        <a:t>                       </a:t>
                      </a:r>
                      <a:r>
                        <a:rPr lang="en-US" altLang="ko-KR" sz="1050" u="none" strike="noStrike" dirty="0">
                          <a:effectLst/>
                          <a:latin typeface="+mj-lt"/>
                        </a:rPr>
                        <a:t>916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  <a:latin typeface="+mj-lt"/>
                        </a:rPr>
                        <a:t>                             </a:t>
                      </a:r>
                      <a:r>
                        <a:rPr lang="en-US" altLang="ko-KR" sz="1050" u="none" strike="noStrike" dirty="0">
                          <a:effectLst/>
                          <a:latin typeface="+mj-lt"/>
                        </a:rPr>
                        <a:t>232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41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  <a:latin typeface="+mj-lt"/>
                        </a:rPr>
                        <a:t>시코쿠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  <a:latin typeface="+mj-lt"/>
                        </a:rPr>
                        <a:t>                       </a:t>
                      </a:r>
                      <a:r>
                        <a:rPr lang="en-US" altLang="ko-KR" sz="1050" u="none" strike="noStrike">
                          <a:effectLst/>
                          <a:latin typeface="+mj-lt"/>
                        </a:rPr>
                        <a:t>220 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  <a:latin typeface="+mj-lt"/>
                        </a:rPr>
                        <a:t>                         </a:t>
                      </a:r>
                      <a:r>
                        <a:rPr lang="en-US" altLang="ko-KR" sz="1050" u="none" strike="noStrike" dirty="0">
                          <a:effectLst/>
                          <a:latin typeface="+mj-lt"/>
                        </a:rPr>
                        <a:t>78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  <a:latin typeface="+mj-lt"/>
                        </a:rPr>
                        <a:t>                                </a:t>
                      </a:r>
                      <a:r>
                        <a:rPr lang="en-US" altLang="ko-KR" sz="1050" u="none" strike="noStrike" dirty="0">
                          <a:effectLst/>
                          <a:latin typeface="+mj-lt"/>
                        </a:rPr>
                        <a:t>-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41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  <a:latin typeface="+mj-lt"/>
                        </a:rPr>
                        <a:t>오키나와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  <a:latin typeface="+mj-lt"/>
                        </a:rPr>
                        <a:t>                       </a:t>
                      </a:r>
                      <a:r>
                        <a:rPr lang="en-US" altLang="ko-KR" sz="1050" u="none" strike="noStrike">
                          <a:effectLst/>
                          <a:latin typeface="+mj-lt"/>
                        </a:rPr>
                        <a:t>610 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  <a:latin typeface="+mj-lt"/>
                        </a:rPr>
                        <a:t>                       </a:t>
                      </a:r>
                      <a:r>
                        <a:rPr lang="en-US" altLang="ko-KR" sz="1050" u="none" strike="noStrike" dirty="0">
                          <a:effectLst/>
                          <a:latin typeface="+mj-lt"/>
                        </a:rPr>
                        <a:t>426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  <a:latin typeface="+mj-lt"/>
                        </a:rPr>
                        <a:t>                              </a:t>
                      </a:r>
                      <a:r>
                        <a:rPr lang="en-US" altLang="ko-KR" sz="1050" u="none" strike="noStrike" dirty="0">
                          <a:effectLst/>
                          <a:latin typeface="+mj-lt"/>
                        </a:rPr>
                        <a:t>99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554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차트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7782908"/>
              </p:ext>
            </p:extLst>
          </p:nvPr>
        </p:nvGraphicFramePr>
        <p:xfrm>
          <a:off x="433970" y="1489387"/>
          <a:ext cx="3836105" cy="2223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2019-01-29</a:t>
            </a:r>
            <a:endParaRPr lang="ko-KR" altLang="en-US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7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33970" y="1219512"/>
            <a:ext cx="2404121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33970" y="1212388"/>
            <a:ext cx="23092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VGT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 이용 항공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00612" y="1220490"/>
            <a:ext cx="19431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24737" y="1219511"/>
            <a:ext cx="3845338" cy="253298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528" y="212002"/>
            <a:ext cx="8828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항공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sp>
        <p:nvSpPr>
          <p:cNvPr id="17" name="TextBox 21"/>
          <p:cNvSpPr txBox="1">
            <a:spLocks noChangeArrowheads="1"/>
          </p:cNvSpPr>
          <p:nvPr/>
        </p:nvSpPr>
        <p:spPr bwMode="auto">
          <a:xfrm>
            <a:off x="2447689" y="4506073"/>
            <a:ext cx="682360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 smtClean="0">
                <a:latin typeface="+mn-ea"/>
                <a:ea typeface="+mn-ea"/>
              </a:rPr>
              <a:t>VGT</a:t>
            </a:r>
            <a:r>
              <a:rPr lang="ko-KR" altLang="en-US" sz="1400" dirty="0" smtClean="0">
                <a:latin typeface="+mn-ea"/>
                <a:ea typeface="+mn-ea"/>
              </a:rPr>
              <a:t>의 경우</a:t>
            </a:r>
            <a:r>
              <a:rPr lang="en-US" altLang="ko-KR" sz="1400" dirty="0" smtClean="0">
                <a:latin typeface="+mn-ea"/>
                <a:ea typeface="+mn-ea"/>
              </a:rPr>
              <a:t>, </a:t>
            </a:r>
            <a:r>
              <a:rPr lang="ko-KR" altLang="en-US" sz="1400" b="1" dirty="0" err="1" smtClean="0">
                <a:latin typeface="+mn-ea"/>
                <a:ea typeface="+mn-ea"/>
              </a:rPr>
              <a:t>국적기</a:t>
            </a:r>
            <a:r>
              <a:rPr lang="ko-KR" altLang="en-US" sz="1400" dirty="0" err="1" smtClean="0">
                <a:latin typeface="+mn-ea"/>
                <a:ea typeface="+mn-ea"/>
              </a:rPr>
              <a:t>를</a:t>
            </a:r>
            <a:r>
              <a:rPr lang="ko-KR" altLang="en-US" sz="1400" dirty="0" smtClean="0">
                <a:latin typeface="+mn-ea"/>
                <a:ea typeface="+mn-ea"/>
              </a:rPr>
              <a:t> 이용하는 비율이 높음</a:t>
            </a:r>
            <a:endParaRPr lang="en-US" altLang="ko-KR" sz="1400" dirty="0" smtClean="0">
              <a:latin typeface="+mn-ea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n-ea"/>
                <a:ea typeface="+mn-ea"/>
              </a:rPr>
              <a:t>노랑풍선의 경우</a:t>
            </a:r>
            <a:r>
              <a:rPr lang="en-US" altLang="ko-KR" sz="1400" dirty="0" smtClean="0">
                <a:latin typeface="+mn-ea"/>
                <a:ea typeface="+mn-ea"/>
              </a:rPr>
              <a:t>,</a:t>
            </a:r>
            <a:r>
              <a:rPr lang="ko-KR" altLang="en-US" sz="1400" dirty="0" smtClean="0">
                <a:latin typeface="+mn-ea"/>
                <a:ea typeface="+mn-ea"/>
              </a:rPr>
              <a:t> </a:t>
            </a:r>
            <a:r>
              <a:rPr lang="en-US" altLang="ko-KR" sz="1400" b="1" dirty="0" smtClean="0">
                <a:latin typeface="+mn-ea"/>
                <a:ea typeface="+mn-ea"/>
              </a:rPr>
              <a:t>LCC</a:t>
            </a:r>
            <a:r>
              <a:rPr lang="ko-KR" altLang="en-US" sz="1400" dirty="0" smtClean="0">
                <a:latin typeface="+mn-ea"/>
                <a:ea typeface="+mn-ea"/>
              </a:rPr>
              <a:t>를</a:t>
            </a:r>
            <a:r>
              <a:rPr lang="ko-KR" altLang="en-US" sz="1400" b="1" dirty="0" smtClean="0">
                <a:latin typeface="+mn-ea"/>
                <a:ea typeface="+mn-ea"/>
              </a:rPr>
              <a:t> </a:t>
            </a:r>
            <a:r>
              <a:rPr lang="ko-KR" altLang="en-US" sz="1400" dirty="0" smtClean="0">
                <a:latin typeface="+mn-ea"/>
                <a:ea typeface="+mn-ea"/>
              </a:rPr>
              <a:t>이용하는 비율이 높음</a:t>
            </a:r>
            <a:endParaRPr lang="en-US" altLang="ko-KR" sz="1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 bwMode="auto">
          <a:xfrm>
            <a:off x="4648181" y="1219511"/>
            <a:ext cx="3845338" cy="253298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648181" y="1227614"/>
            <a:ext cx="2404121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TextBox 35"/>
          <p:cNvSpPr txBox="1">
            <a:spLocks noChangeArrowheads="1"/>
          </p:cNvSpPr>
          <p:nvPr/>
        </p:nvSpPr>
        <p:spPr bwMode="auto">
          <a:xfrm>
            <a:off x="4666686" y="1230314"/>
            <a:ext cx="238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노랑풍선 이용 항공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603106" y="3183430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latin typeface="+mj-lt"/>
              </a:rPr>
              <a:t>(2,346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94688" y="1620127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latin typeface="+mj-lt"/>
              </a:rPr>
              <a:t>(323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graphicFrame>
        <p:nvGraphicFramePr>
          <p:cNvPr id="30" name="차트 2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4282364"/>
              </p:ext>
            </p:extLst>
          </p:nvPr>
        </p:nvGraphicFramePr>
        <p:xfrm>
          <a:off x="4666686" y="1489387"/>
          <a:ext cx="3826833" cy="2263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7020029" y="1947380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latin typeface="+mj-lt"/>
              </a:rPr>
              <a:t>(1,416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812906" y="2886365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latin typeface="+mj-lt"/>
              </a:rPr>
              <a:t>(2,339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09190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2019-01-29</a:t>
            </a:r>
            <a:endParaRPr lang="ko-KR" altLang="en-US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8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528" y="212002"/>
            <a:ext cx="8828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지역별 항공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cxnSp>
        <p:nvCxnSpPr>
          <p:cNvPr id="18" name="직선 연결선 17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04800" y="1165412"/>
            <a:ext cx="2232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 smtClean="0"/>
              <a:t>행사 기준 지역별 이용항공</a:t>
            </a:r>
            <a:endParaRPr lang="ko-KR" altLang="en-US" sz="1200" b="1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208580"/>
              </p:ext>
            </p:extLst>
          </p:nvPr>
        </p:nvGraphicFramePr>
        <p:xfrm>
          <a:off x="521253" y="1605370"/>
          <a:ext cx="7886701" cy="18370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76033"/>
                <a:gridCol w="575889"/>
                <a:gridCol w="575889"/>
                <a:gridCol w="575889"/>
                <a:gridCol w="575889"/>
                <a:gridCol w="575889"/>
                <a:gridCol w="575889"/>
                <a:gridCol w="575889"/>
                <a:gridCol w="575889"/>
                <a:gridCol w="575889"/>
                <a:gridCol w="575889"/>
                <a:gridCol w="575889"/>
                <a:gridCol w="575889"/>
              </a:tblGrid>
              <a:tr h="17986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구분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북해도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동경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오사카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 err="1">
                          <a:effectLst/>
                          <a:latin typeface="+mj-lt"/>
                        </a:rPr>
                        <a:t>큐슈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 err="1">
                          <a:effectLst/>
                          <a:latin typeface="+mj-lt"/>
                        </a:rPr>
                        <a:t>시코쿠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오키나와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98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+mj-lt"/>
                        </a:rPr>
                        <a:t>VGT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노랑풍선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+mj-lt"/>
                        </a:rPr>
                        <a:t>VGT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노랑풍선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+mj-lt"/>
                        </a:rPr>
                        <a:t>VGT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노랑풍선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+mj-lt"/>
                        </a:rPr>
                        <a:t>VGT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노랑풍선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+mj-lt"/>
                        </a:rPr>
                        <a:t>VGT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노랑풍선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+mj-lt"/>
                        </a:rPr>
                        <a:t>VGT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노랑풍선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110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대한항공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478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166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86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347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252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185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178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274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86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10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 err="1">
                          <a:effectLst/>
                          <a:latin typeface="+mj-lt"/>
                        </a:rPr>
                        <a:t>아시아나항공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276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126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140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107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116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181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353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108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91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212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10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에어서울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44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89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211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152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58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179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41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62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10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 err="1">
                          <a:effectLst/>
                          <a:latin typeface="+mj-lt"/>
                        </a:rPr>
                        <a:t>이스타항공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87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101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29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77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18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96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10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제주항공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82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10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88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36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41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37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148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10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 err="1">
                          <a:effectLst/>
                          <a:latin typeface="+mj-lt"/>
                        </a:rPr>
                        <a:t>진에어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110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85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266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126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407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148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97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88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10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 err="1">
                          <a:effectLst/>
                          <a:latin typeface="+mj-lt"/>
                        </a:rPr>
                        <a:t>티웨이항공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89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245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169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70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560 </a:t>
                      </a:r>
                      <a:endParaRPr lang="en-US" altLang="ko-KR" sz="10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-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j-lt"/>
                        </a:rPr>
                        <a:t>77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725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2019-01-29</a:t>
            </a:r>
            <a:endParaRPr lang="ko-KR" altLang="en-US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9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33969" y="1219512"/>
            <a:ext cx="416546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24716" y="1215949"/>
            <a:ext cx="36728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2"/>
                </a:solidFill>
                <a:latin typeface="+mn-ea"/>
                <a:ea typeface="+mn-ea"/>
              </a:rPr>
              <a:t>전체 상품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지역별 평균 가격 비교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),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00612" y="122049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24738" y="1219511"/>
            <a:ext cx="4174694" cy="272276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27" y="212002"/>
            <a:ext cx="882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지역별 상품가격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cxnSp>
        <p:nvCxnSpPr>
          <p:cNvPr id="20" name="직선 연결선 19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4765597" y="1226635"/>
            <a:ext cx="416546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4756367" y="1234843"/>
            <a:ext cx="4174694" cy="272276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3" name="TextBox 35"/>
          <p:cNvSpPr txBox="1">
            <a:spLocks noChangeArrowheads="1"/>
          </p:cNvSpPr>
          <p:nvPr/>
        </p:nvSpPr>
        <p:spPr bwMode="auto">
          <a:xfrm>
            <a:off x="4765597" y="1208344"/>
            <a:ext cx="392982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2"/>
                </a:solidFill>
                <a:latin typeface="+mn-ea"/>
                <a:ea typeface="+mn-ea"/>
              </a:rPr>
              <a:t>출발확정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상품 지역별 평균 가격 비교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),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aphicFrame>
        <p:nvGraphicFramePr>
          <p:cNvPr id="19" name="차트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8582548"/>
              </p:ext>
            </p:extLst>
          </p:nvPr>
        </p:nvGraphicFramePr>
        <p:xfrm>
          <a:off x="424716" y="1492948"/>
          <a:ext cx="4174716" cy="2449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1295510" y="4415310"/>
            <a:ext cx="739991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 smtClean="0">
                <a:latin typeface="+mj-lt"/>
                <a:ea typeface="+mn-ea"/>
              </a:rPr>
              <a:t>VGT </a:t>
            </a:r>
            <a:r>
              <a:rPr lang="ko-KR" altLang="en-US" sz="1400" dirty="0" smtClean="0">
                <a:latin typeface="+mj-lt"/>
                <a:ea typeface="+mn-ea"/>
              </a:rPr>
              <a:t>평균가격의 경우</a:t>
            </a:r>
            <a:r>
              <a:rPr lang="en-US" altLang="ko-KR" sz="1400" dirty="0">
                <a:latin typeface="+mj-lt"/>
                <a:ea typeface="+mn-ea"/>
              </a:rPr>
              <a:t> </a:t>
            </a:r>
            <a:r>
              <a:rPr lang="ko-KR" altLang="en-US" sz="1400" dirty="0" smtClean="0">
                <a:latin typeface="+mj-lt"/>
                <a:ea typeface="+mn-ea"/>
              </a:rPr>
              <a:t>노랑풍선 대비 전체상품은 </a:t>
            </a:r>
            <a:r>
              <a:rPr lang="ko-KR" altLang="en-US" sz="1400" b="1" dirty="0" smtClean="0">
                <a:latin typeface="+mj-lt"/>
                <a:ea typeface="+mn-ea"/>
              </a:rPr>
              <a:t>높은 가격대</a:t>
            </a:r>
            <a:r>
              <a:rPr lang="ko-KR" altLang="en-US" sz="1400" dirty="0" smtClean="0">
                <a:latin typeface="+mj-lt"/>
                <a:ea typeface="+mn-ea"/>
              </a:rPr>
              <a:t> 형성</a:t>
            </a:r>
            <a:endParaRPr lang="en-US" altLang="ko-KR" sz="1400" dirty="0" smtClean="0">
              <a:latin typeface="+mj-lt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 smtClean="0">
                <a:latin typeface="+mj-lt"/>
                <a:ea typeface="+mn-ea"/>
              </a:rPr>
              <a:t>VGT</a:t>
            </a:r>
            <a:r>
              <a:rPr lang="ko-KR" altLang="en-US" sz="1400" dirty="0" smtClean="0">
                <a:latin typeface="+mj-lt"/>
                <a:ea typeface="+mn-ea"/>
              </a:rPr>
              <a:t>의 경우</a:t>
            </a:r>
            <a:r>
              <a:rPr lang="en-US" altLang="ko-KR" sz="1400" dirty="0" smtClean="0">
                <a:latin typeface="+mj-lt"/>
                <a:ea typeface="+mn-ea"/>
              </a:rPr>
              <a:t>, </a:t>
            </a:r>
            <a:r>
              <a:rPr lang="ko-KR" altLang="en-US" sz="1400" dirty="0" smtClean="0">
                <a:latin typeface="+mj-lt"/>
                <a:ea typeface="+mn-ea"/>
              </a:rPr>
              <a:t>고가의 상품을 노출시킨 뒤 </a:t>
            </a:r>
            <a:r>
              <a:rPr lang="ko-KR" altLang="en-US" sz="1400" b="1" dirty="0" smtClean="0">
                <a:latin typeface="+mj-lt"/>
                <a:ea typeface="+mn-ea"/>
              </a:rPr>
              <a:t>상대적으로 저렴한 상품으로 예약 유도</a:t>
            </a:r>
            <a:endParaRPr lang="en-US" altLang="ko-KR" sz="1400" b="1" dirty="0" smtClean="0">
              <a:latin typeface="+mj-lt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n-ea"/>
                <a:ea typeface="+mn-ea"/>
              </a:rPr>
              <a:t>노랑풍선의 경우</a:t>
            </a:r>
            <a:r>
              <a:rPr lang="en-US" altLang="ko-KR" sz="1400" dirty="0" smtClean="0">
                <a:latin typeface="+mn-ea"/>
                <a:ea typeface="+mn-ea"/>
              </a:rPr>
              <a:t>, </a:t>
            </a:r>
            <a:r>
              <a:rPr lang="ko-KR" altLang="en-US" sz="1400" dirty="0" smtClean="0">
                <a:latin typeface="+mn-ea"/>
                <a:ea typeface="+mn-ea"/>
              </a:rPr>
              <a:t>저가의 상품을 노출시킨 뒤 </a:t>
            </a:r>
            <a:r>
              <a:rPr lang="ko-KR" altLang="en-US" sz="1400" b="1" dirty="0" smtClean="0">
                <a:latin typeface="+mn-ea"/>
                <a:ea typeface="+mn-ea"/>
              </a:rPr>
              <a:t>상대적으로 고가의 상품으로 예약 유도</a:t>
            </a:r>
            <a:endParaRPr lang="en-US" altLang="ko-KR" sz="1400" b="1" dirty="0" smtClean="0">
              <a:latin typeface="+mn-ea"/>
              <a:ea typeface="+mn-ea"/>
            </a:endParaRPr>
          </a:p>
        </p:txBody>
      </p:sp>
      <p:graphicFrame>
        <p:nvGraphicFramePr>
          <p:cNvPr id="24" name="차트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5848421"/>
              </p:ext>
            </p:extLst>
          </p:nvPr>
        </p:nvGraphicFramePr>
        <p:xfrm>
          <a:off x="4765597" y="1532652"/>
          <a:ext cx="4165463" cy="24249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54420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2019-01-29</a:t>
            </a:r>
            <a:endParaRPr lang="ko-KR" altLang="en-US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10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01937" y="1205266"/>
            <a:ext cx="29130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별 평균 가격 비교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),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613742" y="1225321"/>
            <a:ext cx="17515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28" y="212002"/>
            <a:ext cx="8828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지역별 상품가격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 </a:t>
            </a:r>
            <a:endParaRPr lang="en-US" altLang="ko-KR" sz="2000" dirty="0"/>
          </a:p>
        </p:txBody>
      </p:sp>
      <p:cxnSp>
        <p:nvCxnSpPr>
          <p:cNvPr id="20" name="직선 연결선 19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401938" y="1226636"/>
            <a:ext cx="331894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" name="TextBox 35"/>
          <p:cNvSpPr txBox="1">
            <a:spLocks noChangeArrowheads="1"/>
          </p:cNvSpPr>
          <p:nvPr/>
        </p:nvSpPr>
        <p:spPr bwMode="auto">
          <a:xfrm>
            <a:off x="383433" y="1219512"/>
            <a:ext cx="362163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출발확정 상품 등급별 가격 비교</a:t>
            </a: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),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1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9" name="직사각형 28"/>
          <p:cNvSpPr/>
          <p:nvPr/>
        </p:nvSpPr>
        <p:spPr bwMode="auto">
          <a:xfrm>
            <a:off x="411190" y="1219512"/>
            <a:ext cx="8491270" cy="272276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2" name="TextBox 35"/>
          <p:cNvSpPr txBox="1">
            <a:spLocks noChangeArrowheads="1"/>
          </p:cNvSpPr>
          <p:nvPr/>
        </p:nvSpPr>
        <p:spPr bwMode="auto">
          <a:xfrm>
            <a:off x="4632247" y="1198142"/>
            <a:ext cx="2625905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별 평균 가격 비교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),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aphicFrame>
        <p:nvGraphicFramePr>
          <p:cNvPr id="32" name="차트 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547802"/>
              </p:ext>
            </p:extLst>
          </p:nvPr>
        </p:nvGraphicFramePr>
        <p:xfrm>
          <a:off x="383433" y="1496511"/>
          <a:ext cx="8519027" cy="2445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5" name="그룹 4"/>
          <p:cNvGrpSpPr/>
          <p:nvPr/>
        </p:nvGrpSpPr>
        <p:grpSpPr>
          <a:xfrm>
            <a:off x="1445697" y="4282229"/>
            <a:ext cx="7110863" cy="1288258"/>
            <a:chOff x="1445697" y="4282229"/>
            <a:chExt cx="7110863" cy="1288258"/>
          </a:xfrm>
        </p:grpSpPr>
        <p:sp>
          <p:nvSpPr>
            <p:cNvPr id="18" name="TextBox 21"/>
            <p:cNvSpPr txBox="1">
              <a:spLocks noChangeArrowheads="1"/>
            </p:cNvSpPr>
            <p:nvPr/>
          </p:nvSpPr>
          <p:spPr bwMode="auto">
            <a:xfrm>
              <a:off x="1445697" y="4282229"/>
              <a:ext cx="6422255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latinLnBrk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marL="285750" indent="-285750" latinLnBrk="0">
                <a:lnSpc>
                  <a:spcPct val="200000"/>
                </a:lnSpc>
                <a:spcBef>
                  <a:spcPct val="0"/>
                </a:spcBef>
                <a:buFont typeface="Wingdings" panose="05000000000000000000" pitchFamily="2" charset="2"/>
                <a:buChar char="l"/>
              </a:pPr>
              <a:r>
                <a:rPr lang="ko-KR" altLang="en-US" sz="1400" dirty="0" smtClean="0">
                  <a:latin typeface="+mn-ea"/>
                  <a:ea typeface="+mn-ea"/>
                </a:rPr>
                <a:t>일반 상품의 경우</a:t>
              </a:r>
              <a:r>
                <a:rPr lang="en-US" altLang="ko-KR" sz="1400" dirty="0" smtClean="0">
                  <a:latin typeface="+mn-ea"/>
                  <a:ea typeface="+mn-ea"/>
                </a:rPr>
                <a:t>,</a:t>
              </a:r>
              <a:r>
                <a:rPr lang="ko-KR" altLang="en-US" sz="1400" dirty="0" smtClean="0">
                  <a:latin typeface="+mn-ea"/>
                  <a:ea typeface="+mn-ea"/>
                </a:rPr>
                <a:t> 양사 비슷한 가격대 형성</a:t>
              </a:r>
              <a:endParaRPr lang="en-US" altLang="ko-KR" sz="1400" dirty="0" smtClean="0">
                <a:latin typeface="+mn-ea"/>
                <a:ea typeface="+mn-ea"/>
              </a:endParaRPr>
            </a:p>
            <a:p>
              <a:pPr marL="285750" indent="-285750" latinLnBrk="0">
                <a:lnSpc>
                  <a:spcPct val="200000"/>
                </a:lnSpc>
                <a:spcBef>
                  <a:spcPct val="0"/>
                </a:spcBef>
                <a:buFont typeface="Wingdings" panose="05000000000000000000" pitchFamily="2" charset="2"/>
                <a:buChar char="l"/>
              </a:pPr>
              <a:r>
                <a:rPr lang="ko-KR" altLang="en-US" sz="1400" dirty="0" smtClean="0">
                  <a:latin typeface="+mn-ea"/>
                  <a:ea typeface="+mn-ea"/>
                </a:rPr>
                <a:t>오키나와 </a:t>
              </a:r>
              <a:r>
                <a:rPr lang="en-US" altLang="ko-KR" sz="1400" dirty="0" smtClean="0">
                  <a:latin typeface="+mn-ea"/>
                  <a:ea typeface="+mn-ea"/>
                </a:rPr>
                <a:t>: ① VGT </a:t>
              </a:r>
              <a:r>
                <a:rPr lang="ko-KR" altLang="en-US" sz="1400" dirty="0" smtClean="0">
                  <a:latin typeface="+mn-ea"/>
                  <a:ea typeface="+mn-ea"/>
                </a:rPr>
                <a:t>고가의 일반상품이 있지만 출발확정 상품이 저조</a:t>
              </a:r>
              <a:endParaRPr lang="en-US" altLang="ko-KR" sz="1400" dirty="0">
                <a:latin typeface="+mn-ea"/>
                <a:ea typeface="+mn-ea"/>
              </a:endParaRPr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2501400" y="5262710"/>
              <a:ext cx="605516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atin typeface="+mn-ea"/>
                </a:rPr>
                <a:t> ② </a:t>
              </a:r>
              <a:r>
                <a:rPr lang="ko-KR" altLang="en-US" sz="1400" dirty="0" smtClean="0">
                  <a:latin typeface="+mn-ea"/>
                </a:rPr>
                <a:t>노랑풍선 </a:t>
              </a:r>
              <a:r>
                <a:rPr lang="ko-KR" altLang="en-US" sz="1400" dirty="0">
                  <a:latin typeface="+mn-ea"/>
                </a:rPr>
                <a:t>고가의 프리미엄 상품의 </a:t>
              </a:r>
              <a:r>
                <a:rPr lang="ko-KR" altLang="en-US" sz="1400" dirty="0" smtClean="0">
                  <a:latin typeface="+mn-ea"/>
                </a:rPr>
                <a:t>경우</a:t>
              </a:r>
              <a:r>
                <a:rPr lang="en-US" altLang="ko-KR" sz="1400" dirty="0" smtClean="0">
                  <a:latin typeface="+mn-ea"/>
                </a:rPr>
                <a:t>,</a:t>
              </a:r>
              <a:r>
                <a:rPr lang="ko-KR" altLang="en-US" sz="1400" dirty="0" smtClean="0">
                  <a:latin typeface="+mn-ea"/>
                </a:rPr>
                <a:t> 출발확정 상품의 </a:t>
              </a:r>
              <a:r>
                <a:rPr lang="en-US" altLang="ko-KR" sz="1400" dirty="0">
                  <a:latin typeface="+mn-ea"/>
                </a:rPr>
                <a:t>20%</a:t>
              </a:r>
              <a:r>
                <a:rPr lang="ko-KR" altLang="en-US" sz="1400" dirty="0">
                  <a:latin typeface="+mn-ea"/>
                </a:rPr>
                <a:t>를 차지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2386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차트 5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1165031"/>
              </p:ext>
            </p:extLst>
          </p:nvPr>
        </p:nvGraphicFramePr>
        <p:xfrm>
          <a:off x="4640177" y="3254673"/>
          <a:ext cx="3751450" cy="1875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9" name="차트 5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1920733"/>
              </p:ext>
            </p:extLst>
          </p:nvPr>
        </p:nvGraphicFramePr>
        <p:xfrm>
          <a:off x="4640178" y="1183342"/>
          <a:ext cx="3830962" cy="1943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" name="차트 2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0115538"/>
              </p:ext>
            </p:extLst>
          </p:nvPr>
        </p:nvGraphicFramePr>
        <p:xfrm>
          <a:off x="424738" y="1183341"/>
          <a:ext cx="3835395" cy="18747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2019-01-29</a:t>
            </a:r>
            <a:endParaRPr lang="ko-KR" altLang="en-US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11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33970" y="1058145"/>
            <a:ext cx="2372267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33970" y="1043028"/>
            <a:ext cx="23722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VGT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출발확정 상품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00612" y="1059123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24738" y="1058145"/>
            <a:ext cx="3835395" cy="1999968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640179" y="1058145"/>
            <a:ext cx="3830961" cy="1999968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640180" y="1063828"/>
            <a:ext cx="2583580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8" y="212002"/>
            <a:ext cx="8828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지역별 출발확정 상품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4640181" y="1043027"/>
            <a:ext cx="276325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노랑풍선 출발확정 상품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38" name="직선 연결선 37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21"/>
          <p:cNvSpPr txBox="1">
            <a:spLocks noChangeArrowheads="1"/>
          </p:cNvSpPr>
          <p:nvPr/>
        </p:nvSpPr>
        <p:spPr bwMode="auto">
          <a:xfrm>
            <a:off x="2245080" y="5144187"/>
            <a:ext cx="665738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  <a:ea typeface="+mn-ea"/>
              </a:rPr>
              <a:t>자사 출발확정 상품의 경우 </a:t>
            </a:r>
            <a:r>
              <a:rPr lang="ko-KR" altLang="en-US" sz="1400" b="1" dirty="0" smtClean="0">
                <a:solidFill>
                  <a:srgbClr val="C00000"/>
                </a:solidFill>
                <a:latin typeface="+mj-lt"/>
                <a:ea typeface="+mn-ea"/>
              </a:rPr>
              <a:t>노랑풍선에 비해 약 </a:t>
            </a:r>
            <a:r>
              <a:rPr lang="en-US" altLang="ko-KR" sz="1400" b="1" dirty="0">
                <a:solidFill>
                  <a:srgbClr val="C00000"/>
                </a:solidFill>
                <a:latin typeface="+mj-lt"/>
                <a:ea typeface="+mn-ea"/>
              </a:rPr>
              <a:t>5</a:t>
            </a:r>
            <a:r>
              <a:rPr lang="en-US" altLang="ko-KR" sz="1400" b="1" dirty="0" smtClean="0">
                <a:solidFill>
                  <a:srgbClr val="C00000"/>
                </a:solidFill>
                <a:latin typeface="+mj-lt"/>
                <a:ea typeface="+mn-ea"/>
              </a:rPr>
              <a:t>%</a:t>
            </a:r>
            <a:r>
              <a:rPr lang="ko-KR" altLang="en-US" sz="1400" b="1" dirty="0">
                <a:solidFill>
                  <a:srgbClr val="C00000"/>
                </a:solidFill>
                <a:latin typeface="+mj-lt"/>
                <a:ea typeface="+mn-ea"/>
              </a:rPr>
              <a:t>↓</a:t>
            </a:r>
            <a:r>
              <a:rPr lang="ko-KR" altLang="en-US" sz="1400" b="1" dirty="0" smtClean="0">
                <a:solidFill>
                  <a:srgbClr val="C00000"/>
                </a:solidFill>
                <a:latin typeface="+mj-lt"/>
                <a:ea typeface="+mn-ea"/>
              </a:rPr>
              <a:t> </a:t>
            </a:r>
            <a:endParaRPr lang="en-US" altLang="ko-KR" sz="1400" b="1" dirty="0" smtClean="0">
              <a:solidFill>
                <a:srgbClr val="C00000"/>
              </a:solidFill>
              <a:latin typeface="+mj-lt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 smtClean="0">
                <a:latin typeface="+mj-lt"/>
              </a:rPr>
              <a:t>VGT </a:t>
            </a:r>
            <a:r>
              <a:rPr lang="en-US" altLang="ko-KR" sz="1400" dirty="0">
                <a:latin typeface="+mj-lt"/>
              </a:rPr>
              <a:t>: </a:t>
            </a:r>
            <a:r>
              <a:rPr lang="ko-KR" altLang="en-US" sz="1400" dirty="0" err="1" smtClean="0">
                <a:latin typeface="+mj-lt"/>
              </a:rPr>
              <a:t>큐슈</a:t>
            </a:r>
            <a:r>
              <a:rPr lang="ko-KR" altLang="en-US" sz="1400" dirty="0" smtClean="0">
                <a:latin typeface="+mj-lt"/>
              </a:rPr>
              <a:t> </a:t>
            </a:r>
            <a:r>
              <a:rPr lang="en-US" altLang="ko-KR" sz="1400" dirty="0" smtClean="0">
                <a:latin typeface="+mj-lt"/>
              </a:rPr>
              <a:t>&gt; </a:t>
            </a:r>
            <a:r>
              <a:rPr lang="ko-KR" altLang="en-US" sz="1400" dirty="0" smtClean="0">
                <a:latin typeface="+mj-lt"/>
              </a:rPr>
              <a:t>오사카 </a:t>
            </a:r>
            <a:r>
              <a:rPr lang="en-US" altLang="ko-KR" sz="1400" dirty="0" smtClean="0">
                <a:latin typeface="+mj-lt"/>
              </a:rPr>
              <a:t>&gt; </a:t>
            </a:r>
            <a:r>
              <a:rPr lang="ko-KR" altLang="en-US" sz="1400" dirty="0" smtClean="0">
                <a:latin typeface="+mj-lt"/>
              </a:rPr>
              <a:t>북해도 </a:t>
            </a:r>
            <a:r>
              <a:rPr lang="en-US" altLang="ko-KR" sz="1400" dirty="0" smtClean="0">
                <a:latin typeface="+mj-lt"/>
              </a:rPr>
              <a:t>&gt; </a:t>
            </a:r>
            <a:r>
              <a:rPr lang="ko-KR" altLang="en-US" sz="1400" dirty="0" smtClean="0">
                <a:latin typeface="+mj-lt"/>
              </a:rPr>
              <a:t>오키나와 </a:t>
            </a:r>
            <a:r>
              <a:rPr lang="en-US" altLang="ko-KR" sz="1400" dirty="0" smtClean="0">
                <a:latin typeface="+mj-lt"/>
              </a:rPr>
              <a:t>&gt; </a:t>
            </a:r>
            <a:r>
              <a:rPr lang="ko-KR" altLang="en-US" sz="1400" dirty="0" err="1" smtClean="0">
                <a:latin typeface="+mj-lt"/>
              </a:rPr>
              <a:t>시코쿠</a:t>
            </a:r>
            <a:r>
              <a:rPr lang="ko-KR" altLang="en-US" sz="1400" dirty="0" smtClean="0">
                <a:latin typeface="+mj-lt"/>
              </a:rPr>
              <a:t> </a:t>
            </a:r>
            <a:r>
              <a:rPr lang="en-US" altLang="ko-KR" sz="1400" dirty="0" smtClean="0">
                <a:latin typeface="+mj-lt"/>
              </a:rPr>
              <a:t>&gt; </a:t>
            </a:r>
            <a:r>
              <a:rPr lang="ko-KR" altLang="en-US" sz="1400" dirty="0" smtClean="0">
                <a:latin typeface="+mj-lt"/>
              </a:rPr>
              <a:t>동경</a:t>
            </a:r>
            <a:endParaRPr lang="en-US" altLang="ko-KR" sz="1400" dirty="0" smtClean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  <a:ea typeface="+mn-ea"/>
              </a:rPr>
              <a:t>노랑풍선 </a:t>
            </a:r>
            <a:r>
              <a:rPr lang="en-US" altLang="ko-KR" sz="1400" dirty="0">
                <a:latin typeface="+mj-lt"/>
                <a:ea typeface="+mn-ea"/>
              </a:rPr>
              <a:t>:</a:t>
            </a:r>
            <a:r>
              <a:rPr lang="en-US" altLang="ko-KR" sz="1400" dirty="0" smtClean="0">
                <a:latin typeface="+mj-lt"/>
                <a:ea typeface="+mn-ea"/>
              </a:rPr>
              <a:t> </a:t>
            </a:r>
            <a:r>
              <a:rPr lang="ko-KR" altLang="en-US" sz="1400" dirty="0" smtClean="0">
                <a:latin typeface="+mj-lt"/>
                <a:ea typeface="+mn-ea"/>
              </a:rPr>
              <a:t>오키나와 </a:t>
            </a:r>
            <a:r>
              <a:rPr lang="en-US" altLang="ko-KR" sz="1400" dirty="0" smtClean="0">
                <a:latin typeface="+mj-lt"/>
                <a:ea typeface="+mn-ea"/>
              </a:rPr>
              <a:t>&gt; </a:t>
            </a:r>
            <a:r>
              <a:rPr lang="ko-KR" altLang="en-US" sz="1400" dirty="0" smtClean="0">
                <a:latin typeface="+mj-lt"/>
                <a:ea typeface="+mn-ea"/>
              </a:rPr>
              <a:t>오사카 </a:t>
            </a:r>
            <a:r>
              <a:rPr lang="en-US" altLang="ko-KR" sz="1400" dirty="0" smtClean="0">
                <a:latin typeface="+mj-lt"/>
                <a:ea typeface="+mn-ea"/>
              </a:rPr>
              <a:t>&gt; </a:t>
            </a:r>
            <a:r>
              <a:rPr lang="ko-KR" altLang="en-US" sz="1400" dirty="0" err="1" smtClean="0">
                <a:latin typeface="+mj-lt"/>
                <a:ea typeface="+mn-ea"/>
              </a:rPr>
              <a:t>큐슈</a:t>
            </a:r>
            <a:r>
              <a:rPr lang="ko-KR" altLang="en-US" sz="1400" dirty="0" smtClean="0">
                <a:latin typeface="+mj-lt"/>
                <a:ea typeface="+mn-ea"/>
              </a:rPr>
              <a:t> </a:t>
            </a:r>
            <a:r>
              <a:rPr lang="en-US" altLang="ko-KR" sz="1400" dirty="0" smtClean="0">
                <a:latin typeface="+mj-lt"/>
                <a:ea typeface="+mn-ea"/>
              </a:rPr>
              <a:t>&gt; </a:t>
            </a:r>
            <a:r>
              <a:rPr lang="ko-KR" altLang="en-US" sz="1400" dirty="0" smtClean="0">
                <a:latin typeface="+mj-lt"/>
                <a:ea typeface="+mn-ea"/>
              </a:rPr>
              <a:t>북해도 </a:t>
            </a:r>
            <a:r>
              <a:rPr lang="en-US" altLang="ko-KR" sz="1400" dirty="0" smtClean="0">
                <a:latin typeface="+mj-lt"/>
                <a:ea typeface="+mn-ea"/>
              </a:rPr>
              <a:t>&gt; </a:t>
            </a:r>
            <a:r>
              <a:rPr lang="ko-KR" altLang="en-US" sz="1400" dirty="0" smtClean="0">
                <a:latin typeface="+mj-lt"/>
                <a:ea typeface="+mn-ea"/>
              </a:rPr>
              <a:t>동경 </a:t>
            </a:r>
            <a:r>
              <a:rPr lang="en-US" altLang="ko-KR" sz="1400" dirty="0" smtClean="0">
                <a:latin typeface="+mj-lt"/>
                <a:ea typeface="+mn-ea"/>
              </a:rPr>
              <a:t>&gt; </a:t>
            </a:r>
            <a:r>
              <a:rPr lang="ko-KR" altLang="en-US" sz="1400" dirty="0" err="1" smtClean="0">
                <a:latin typeface="+mj-lt"/>
                <a:ea typeface="+mn-ea"/>
              </a:rPr>
              <a:t>시코쿠</a:t>
            </a:r>
            <a:endParaRPr lang="en-US" altLang="ko-KR" sz="1400" dirty="0" smtClean="0">
              <a:latin typeface="+mj-lt"/>
              <a:ea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33970" y="3132953"/>
            <a:ext cx="382616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TextBox 35"/>
          <p:cNvSpPr txBox="1">
            <a:spLocks noChangeArrowheads="1"/>
          </p:cNvSpPr>
          <p:nvPr/>
        </p:nvSpPr>
        <p:spPr bwMode="auto">
          <a:xfrm>
            <a:off x="433970" y="3117836"/>
            <a:ext cx="34220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VGT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지역별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출발확정 상품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433970" y="3127031"/>
            <a:ext cx="3826163" cy="2007961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4640179" y="3130621"/>
            <a:ext cx="3830961" cy="2004371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640180" y="3127400"/>
            <a:ext cx="3830960" cy="2657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4640178" y="3116174"/>
            <a:ext cx="37514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노랑풍선 지역별 출발확정 상품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0" name="TextBox 27"/>
          <p:cNvSpPr txBox="1"/>
          <p:nvPr/>
        </p:nvSpPr>
        <p:spPr>
          <a:xfrm>
            <a:off x="808115" y="2581763"/>
            <a:ext cx="811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(3,825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41" name="TextBox 27"/>
          <p:cNvSpPr txBox="1"/>
          <p:nvPr/>
        </p:nvSpPr>
        <p:spPr>
          <a:xfrm>
            <a:off x="5085054" y="2596239"/>
            <a:ext cx="811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(3,280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42" name="TextBox 27"/>
          <p:cNvSpPr txBox="1"/>
          <p:nvPr/>
        </p:nvSpPr>
        <p:spPr>
          <a:xfrm>
            <a:off x="6571795" y="1374355"/>
            <a:ext cx="811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(547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43" name="TextBox 27"/>
          <p:cNvSpPr txBox="1"/>
          <p:nvPr/>
        </p:nvSpPr>
        <p:spPr>
          <a:xfrm>
            <a:off x="2400243" y="1407963"/>
            <a:ext cx="811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(405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graphicFrame>
        <p:nvGraphicFramePr>
          <p:cNvPr id="44" name="차트 4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440404"/>
              </p:ext>
            </p:extLst>
          </p:nvPr>
        </p:nvGraphicFramePr>
        <p:xfrm>
          <a:off x="433970" y="3267889"/>
          <a:ext cx="3802084" cy="1881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5" name="TextBox 27"/>
          <p:cNvSpPr txBox="1"/>
          <p:nvPr/>
        </p:nvSpPr>
        <p:spPr>
          <a:xfrm>
            <a:off x="984900" y="4635938"/>
            <a:ext cx="6352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(119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46" name="TextBox 27"/>
          <p:cNvSpPr txBox="1"/>
          <p:nvPr/>
        </p:nvSpPr>
        <p:spPr>
          <a:xfrm>
            <a:off x="2442558" y="4684056"/>
            <a:ext cx="6352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(88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47" name="TextBox 27"/>
          <p:cNvSpPr txBox="1"/>
          <p:nvPr/>
        </p:nvSpPr>
        <p:spPr>
          <a:xfrm>
            <a:off x="2707165" y="3989673"/>
            <a:ext cx="6352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(29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48" name="TextBox 27"/>
          <p:cNvSpPr txBox="1"/>
          <p:nvPr/>
        </p:nvSpPr>
        <p:spPr>
          <a:xfrm>
            <a:off x="2400243" y="3498008"/>
            <a:ext cx="6352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(72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49" name="TextBox 27"/>
          <p:cNvSpPr txBox="1"/>
          <p:nvPr/>
        </p:nvSpPr>
        <p:spPr>
          <a:xfrm>
            <a:off x="1175556" y="3471746"/>
            <a:ext cx="6352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(63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50" name="TextBox 27"/>
          <p:cNvSpPr txBox="1"/>
          <p:nvPr/>
        </p:nvSpPr>
        <p:spPr>
          <a:xfrm>
            <a:off x="861828" y="3903967"/>
            <a:ext cx="6352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(34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53" name="TextBox 27"/>
          <p:cNvSpPr txBox="1"/>
          <p:nvPr/>
        </p:nvSpPr>
        <p:spPr>
          <a:xfrm>
            <a:off x="5173446" y="4583590"/>
            <a:ext cx="6352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(121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54" name="TextBox 27"/>
          <p:cNvSpPr txBox="1"/>
          <p:nvPr/>
        </p:nvSpPr>
        <p:spPr>
          <a:xfrm>
            <a:off x="6660187" y="4542108"/>
            <a:ext cx="6352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(139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55" name="TextBox 27"/>
          <p:cNvSpPr txBox="1"/>
          <p:nvPr/>
        </p:nvSpPr>
        <p:spPr>
          <a:xfrm>
            <a:off x="6806440" y="3893516"/>
            <a:ext cx="6352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(45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56" name="TextBox 27"/>
          <p:cNvSpPr txBox="1"/>
          <p:nvPr/>
        </p:nvSpPr>
        <p:spPr>
          <a:xfrm>
            <a:off x="6468907" y="3449440"/>
            <a:ext cx="6352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(88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57" name="TextBox 27"/>
          <p:cNvSpPr txBox="1"/>
          <p:nvPr/>
        </p:nvSpPr>
        <p:spPr>
          <a:xfrm>
            <a:off x="5085053" y="3620686"/>
            <a:ext cx="6352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(144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58" name="TextBox 27"/>
          <p:cNvSpPr txBox="1"/>
          <p:nvPr/>
        </p:nvSpPr>
        <p:spPr>
          <a:xfrm>
            <a:off x="5042960" y="4189705"/>
            <a:ext cx="6352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(10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4356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차트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1812283"/>
              </p:ext>
            </p:extLst>
          </p:nvPr>
        </p:nvGraphicFramePr>
        <p:xfrm>
          <a:off x="424738" y="1470801"/>
          <a:ext cx="8167170" cy="2939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2019-01-29</a:t>
            </a:r>
            <a:endParaRPr lang="ko-KR" altLang="en-US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12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33970" y="1219512"/>
            <a:ext cx="3808846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42854" y="1193801"/>
            <a:ext cx="397369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전체 상품 월별 예약인원 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(2~4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), </a:t>
            </a:r>
            <a:r>
              <a:rPr lang="ko-KR" altLang="en-US" sz="1050" b="1" dirty="0" err="1" smtClean="0">
                <a:solidFill>
                  <a:schemeClr val="accent2"/>
                </a:solidFill>
                <a:latin typeface="+mn-ea"/>
                <a:ea typeface="+mn-ea"/>
              </a:rPr>
              <a:t>실예약</a:t>
            </a:r>
            <a:r>
              <a:rPr lang="ko-KR" altLang="en-US" sz="1050" b="1" dirty="0" smtClean="0">
                <a:solidFill>
                  <a:schemeClr val="accent2"/>
                </a:solidFill>
                <a:latin typeface="+mn-ea"/>
                <a:ea typeface="+mn-ea"/>
              </a:rPr>
              <a:t> 및 허수포함 인원</a:t>
            </a:r>
            <a:endParaRPr lang="ko-KR" altLang="en-US" sz="105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24738" y="1219512"/>
            <a:ext cx="8167170" cy="319112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7" y="212002"/>
            <a:ext cx="882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월별 예약인원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cxnSp>
        <p:nvCxnSpPr>
          <p:cNvPr id="38" name="직선 연결선 37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06866" y="4436347"/>
            <a:ext cx="3562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출처</a:t>
            </a:r>
            <a:r>
              <a:rPr lang="en-US" altLang="ko-KR" sz="1000" dirty="0" smtClean="0"/>
              <a:t> : VGT </a:t>
            </a:r>
            <a:r>
              <a:rPr lang="ko-KR" altLang="en-US" sz="1000" dirty="0" err="1" smtClean="0"/>
              <a:t>실예약인원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허수예약 </a:t>
            </a:r>
            <a:r>
              <a:rPr lang="en-US" altLang="ko-KR" sz="1000" dirty="0" smtClean="0"/>
              <a:t>– </a:t>
            </a:r>
            <a:r>
              <a:rPr lang="ko-KR" altLang="en-US" sz="1000" dirty="0" smtClean="0"/>
              <a:t>사내</a:t>
            </a:r>
            <a:r>
              <a:rPr lang="en-US" altLang="ko-KR" sz="1000" dirty="0" smtClean="0"/>
              <a:t>D.B,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노랑풍선 </a:t>
            </a:r>
            <a:r>
              <a:rPr lang="ko-KR" altLang="en-US" sz="1000" dirty="0" err="1" smtClean="0"/>
              <a:t>실예약인원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– </a:t>
            </a:r>
            <a:r>
              <a:rPr lang="ko-KR" altLang="en-US" sz="1000" dirty="0" err="1" smtClean="0"/>
              <a:t>기획감사팀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허수예약 </a:t>
            </a:r>
            <a:r>
              <a:rPr lang="en-US" altLang="ko-KR" sz="1000" dirty="0" smtClean="0"/>
              <a:t>- </a:t>
            </a:r>
            <a:r>
              <a:rPr lang="ko-KR" altLang="en-US" sz="1000" dirty="0" err="1" smtClean="0"/>
              <a:t>크롤링데이터</a:t>
            </a:r>
            <a:endParaRPr lang="ko-KR" altLang="en-US" sz="1000" dirty="0"/>
          </a:p>
        </p:txBody>
      </p:sp>
      <p:cxnSp>
        <p:nvCxnSpPr>
          <p:cNvPr id="16" name="직선 화살표 연결선 15"/>
          <p:cNvCxnSpPr/>
          <p:nvPr/>
        </p:nvCxnSpPr>
        <p:spPr>
          <a:xfrm flipH="1">
            <a:off x="5938200" y="2620743"/>
            <a:ext cx="337498" cy="155813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H="1">
            <a:off x="6184902" y="1845499"/>
            <a:ext cx="372475" cy="505076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263201" y="2395778"/>
            <a:ext cx="674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rgbClr val="C00000"/>
                </a:solidFill>
                <a:latin typeface="+mj-lt"/>
              </a:rPr>
              <a:t>X1.3</a:t>
            </a:r>
            <a:endParaRPr lang="ko-KR" altLang="en-US" sz="16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17415" y="1844313"/>
            <a:ext cx="753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rgbClr val="C00000"/>
                </a:solidFill>
                <a:latin typeface="+mj-lt"/>
              </a:rPr>
              <a:t>X1.9</a:t>
            </a:r>
            <a:endParaRPr lang="ko-KR" altLang="en-US" sz="16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28264" y="4947834"/>
            <a:ext cx="54841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 smtClean="0">
                <a:latin typeface="+mj-lt"/>
              </a:rPr>
              <a:t>VGT</a:t>
            </a:r>
            <a:r>
              <a:rPr lang="ko-KR" altLang="en-US" sz="1400" dirty="0">
                <a:latin typeface="+mj-lt"/>
              </a:rPr>
              <a:t>의 </a:t>
            </a:r>
            <a:r>
              <a:rPr lang="ko-KR" altLang="en-US" sz="1400" b="1" dirty="0">
                <a:latin typeface="+mj-lt"/>
              </a:rPr>
              <a:t>허수인원</a:t>
            </a:r>
            <a:r>
              <a:rPr lang="ko-KR" altLang="en-US" sz="1400" dirty="0">
                <a:latin typeface="+mj-lt"/>
              </a:rPr>
              <a:t>은 </a:t>
            </a:r>
            <a:r>
              <a:rPr lang="ko-KR" altLang="en-US" sz="1400" dirty="0" err="1">
                <a:latin typeface="+mj-lt"/>
              </a:rPr>
              <a:t>실예약인원의</a:t>
            </a:r>
            <a:r>
              <a:rPr lang="ko-KR" altLang="en-US" sz="1400" dirty="0">
                <a:latin typeface="+mj-lt"/>
              </a:rPr>
              <a:t> 약 </a:t>
            </a:r>
            <a:r>
              <a:rPr lang="en-US" altLang="ko-KR" sz="1400" b="1" dirty="0" smtClean="0">
                <a:solidFill>
                  <a:srgbClr val="C00000"/>
                </a:solidFill>
                <a:latin typeface="+mj-lt"/>
              </a:rPr>
              <a:t>1.3</a:t>
            </a:r>
            <a:r>
              <a:rPr lang="ko-KR" altLang="en-US" sz="1400" dirty="0" smtClean="0">
                <a:latin typeface="+mj-lt"/>
              </a:rPr>
              <a:t>배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 smtClean="0">
                <a:latin typeface="+mj-lt"/>
              </a:rPr>
              <a:t>노랑풍선은 약 </a:t>
            </a:r>
            <a:r>
              <a:rPr lang="en-US" altLang="ko-KR" sz="1400" b="1" dirty="0" smtClean="0">
                <a:solidFill>
                  <a:srgbClr val="C00000"/>
                </a:solidFill>
                <a:latin typeface="+mj-lt"/>
              </a:rPr>
              <a:t>1.9</a:t>
            </a:r>
            <a:r>
              <a:rPr lang="ko-KR" altLang="en-US" sz="1400" dirty="0" smtClean="0">
                <a:latin typeface="+mj-lt"/>
              </a:rPr>
              <a:t>배</a:t>
            </a:r>
            <a:endParaRPr lang="en-US" altLang="ko-KR" sz="1400" dirty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 smtClean="0">
                <a:latin typeface="+mj-lt"/>
              </a:rPr>
              <a:t>VGT</a:t>
            </a:r>
            <a:r>
              <a:rPr lang="ko-KR" altLang="en-US" sz="1400" dirty="0" smtClean="0">
                <a:latin typeface="+mj-lt"/>
              </a:rPr>
              <a:t>의 경우</a:t>
            </a:r>
            <a:r>
              <a:rPr lang="en-US" altLang="ko-KR" sz="1400" dirty="0" smtClean="0">
                <a:latin typeface="+mj-lt"/>
              </a:rPr>
              <a:t>,</a:t>
            </a:r>
            <a:r>
              <a:rPr lang="ko-KR" altLang="en-US" sz="1400" dirty="0">
                <a:latin typeface="+mj-lt"/>
              </a:rPr>
              <a:t> </a:t>
            </a:r>
            <a:r>
              <a:rPr lang="ko-KR" altLang="en-US" sz="1400" dirty="0" smtClean="0">
                <a:latin typeface="+mj-lt"/>
              </a:rPr>
              <a:t>노랑풍선 대비 허수 운영 비율이 낮음</a:t>
            </a:r>
            <a:endParaRPr lang="en-US" altLang="ko-KR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51943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2019-01-29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13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Ⅳ</a:t>
            </a:r>
            <a:r>
              <a:rPr lang="en-US" altLang="ko-KR" dirty="0" smtClean="0"/>
              <a:t>. </a:t>
            </a:r>
            <a:r>
              <a:rPr lang="ko-KR" altLang="en-US" dirty="0" smtClean="0"/>
              <a:t>시사점</a:t>
            </a:r>
            <a:endParaRPr lang="en-US" altLang="ko-KR" dirty="0"/>
          </a:p>
        </p:txBody>
      </p:sp>
      <p:cxnSp>
        <p:nvCxnSpPr>
          <p:cNvPr id="38" name="직선 연결선 37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21"/>
          <p:cNvSpPr txBox="1">
            <a:spLocks noChangeArrowheads="1"/>
          </p:cNvSpPr>
          <p:nvPr/>
        </p:nvSpPr>
        <p:spPr bwMode="auto">
          <a:xfrm>
            <a:off x="380492" y="1770043"/>
            <a:ext cx="859184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노랑풍선 </a:t>
            </a:r>
            <a:r>
              <a:rPr lang="ko-KR" altLang="en-US" sz="1400" dirty="0">
                <a:latin typeface="+mj-lt"/>
              </a:rPr>
              <a:t>대비 직원 한 명 당 관리하는 행사 수가 약 </a:t>
            </a:r>
            <a:r>
              <a:rPr lang="en-US" altLang="ko-KR" sz="1400" dirty="0">
                <a:latin typeface="+mj-lt"/>
              </a:rPr>
              <a:t>2</a:t>
            </a:r>
            <a:r>
              <a:rPr lang="ko-KR" altLang="en-US" sz="1400" dirty="0" smtClean="0">
                <a:latin typeface="+mj-lt"/>
              </a:rPr>
              <a:t>배 많음</a:t>
            </a:r>
            <a:endParaRPr lang="en-US" altLang="ko-KR" sz="1400" dirty="0" smtClean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>
                <a:latin typeface="+mn-ea"/>
              </a:rPr>
              <a:t>낮은 허수운영 대비 높은 </a:t>
            </a:r>
            <a:r>
              <a:rPr lang="ko-KR" altLang="en-US" sz="1400" dirty="0" err="1" smtClean="0">
                <a:latin typeface="+mn-ea"/>
              </a:rPr>
              <a:t>예약율</a:t>
            </a:r>
            <a:r>
              <a:rPr lang="ko-KR" altLang="en-US" sz="1400" dirty="0" smtClean="0">
                <a:latin typeface="+mj-lt"/>
                <a:ea typeface="+mn-ea"/>
              </a:rPr>
              <a:t> </a:t>
            </a:r>
            <a:endParaRPr lang="en-US" altLang="ko-KR" sz="1400" dirty="0" smtClean="0">
              <a:latin typeface="+mj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4975" y="1323759"/>
            <a:ext cx="2187895" cy="446284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bg1"/>
                </a:solidFill>
              </a:rPr>
              <a:t>행사 수 및 허수운영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80492" y="3391881"/>
            <a:ext cx="803736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err="1" smtClean="0">
                <a:latin typeface="+mn-ea"/>
              </a:rPr>
              <a:t>큐슈</a:t>
            </a:r>
            <a:r>
              <a:rPr lang="ko-KR" altLang="en-US" sz="1400" dirty="0" smtClean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: VGT - 5</a:t>
            </a:r>
            <a:r>
              <a:rPr lang="ko-KR" altLang="en-US" sz="1400" dirty="0" smtClean="0">
                <a:latin typeface="+mn-ea"/>
              </a:rPr>
              <a:t>개 지역 운영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노랑풍선 </a:t>
            </a:r>
            <a:r>
              <a:rPr lang="en-US" altLang="ko-KR" sz="1400" dirty="0" smtClean="0">
                <a:latin typeface="+mn-ea"/>
              </a:rPr>
              <a:t>– 9</a:t>
            </a:r>
            <a:r>
              <a:rPr lang="ko-KR" altLang="en-US" sz="1400" dirty="0" smtClean="0">
                <a:latin typeface="+mn-ea"/>
              </a:rPr>
              <a:t>개 지역 운영 </a:t>
            </a:r>
            <a:endParaRPr lang="en-US" altLang="ko-KR" sz="1400" dirty="0" smtClean="0">
              <a:latin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ko-KR" altLang="en-US" sz="1400" b="1" dirty="0" err="1" smtClean="0">
                <a:latin typeface="+mn-ea"/>
              </a:rPr>
              <a:t>큐슈</a:t>
            </a:r>
            <a:r>
              <a:rPr lang="ko-KR" altLang="en-US" sz="1400" dirty="0" smtClean="0">
                <a:latin typeface="+mn-ea"/>
              </a:rPr>
              <a:t> 지역 </a:t>
            </a:r>
            <a:r>
              <a:rPr lang="ko-KR" altLang="en-US" sz="1400" b="1" dirty="0" smtClean="0">
                <a:latin typeface="+mn-ea"/>
              </a:rPr>
              <a:t>취항 노선을 증가</a:t>
            </a:r>
            <a:r>
              <a:rPr lang="ko-KR" altLang="en-US" sz="1400" dirty="0" smtClean="0">
                <a:latin typeface="+mn-ea"/>
              </a:rPr>
              <a:t>할 필요성 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err="1" smtClean="0">
                <a:latin typeface="+mn-ea"/>
              </a:rPr>
              <a:t>나가사키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smtClean="0">
                <a:latin typeface="+mn-ea"/>
              </a:rPr>
              <a:t>노선 블록 추가 예정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n-ea"/>
              </a:rPr>
              <a:t>노랑풍선 프리미엄 상품 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ko-KR" altLang="en-US" sz="1400" dirty="0" smtClean="0">
                <a:latin typeface="+mn-ea"/>
              </a:rPr>
              <a:t>오키나와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err="1" smtClean="0">
                <a:latin typeface="+mn-ea"/>
              </a:rPr>
              <a:t>큐슈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북해도 지역 모두 고가의 프리미엄 상품의 경우에도 출발확정 상품이 있음</a:t>
            </a:r>
            <a:endParaRPr lang="en-US" altLang="ko-KR" sz="1400" dirty="0" smtClean="0">
              <a:latin typeface="+mn-ea"/>
            </a:endParaRPr>
          </a:p>
          <a:p>
            <a:pPr marL="342900" indent="-34290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ko-KR" altLang="en-US" sz="1400" dirty="0" smtClean="0">
                <a:latin typeface="+mn-ea"/>
              </a:rPr>
              <a:t>오키나와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err="1" smtClean="0">
                <a:latin typeface="+mn-ea"/>
              </a:rPr>
              <a:t>큐슈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북해도 지역 프리미엄의 특성에 맞게 운영되고 있음</a:t>
            </a:r>
            <a:endParaRPr lang="en-US" altLang="ko-KR" sz="1400" dirty="0" smtClean="0">
              <a:latin typeface="+mn-ea"/>
            </a:endParaRPr>
          </a:p>
          <a:p>
            <a:pPr latinLnBrk="0">
              <a:lnSpc>
                <a:spcPct val="200000"/>
              </a:lnSpc>
              <a:spcBef>
                <a:spcPct val="0"/>
              </a:spcBef>
            </a:pPr>
            <a:r>
              <a:rPr lang="en-US" altLang="ko-KR" sz="1400" b="1" dirty="0">
                <a:latin typeface="+mn-ea"/>
              </a:rPr>
              <a:t> </a:t>
            </a:r>
            <a:r>
              <a:rPr lang="en-US" altLang="ko-KR" sz="1400" b="1" dirty="0" smtClean="0">
                <a:latin typeface="+mn-ea"/>
              </a:rPr>
              <a:t>      </a:t>
            </a:r>
            <a:r>
              <a:rPr lang="ko-KR" altLang="en-US" sz="1400" b="1" dirty="0" smtClean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-&gt; 2018</a:t>
            </a:r>
            <a:r>
              <a:rPr lang="ko-KR" altLang="en-US" sz="1400" dirty="0" smtClean="0">
                <a:latin typeface="+mn-ea"/>
              </a:rPr>
              <a:t>년 이전 판매했던 일본 </a:t>
            </a:r>
            <a:r>
              <a:rPr lang="ko-KR" altLang="en-US" sz="1400" dirty="0" err="1" smtClean="0">
                <a:latin typeface="+mn-ea"/>
              </a:rPr>
              <a:t>라르고</a:t>
            </a:r>
            <a:r>
              <a:rPr lang="en-US" altLang="ko-KR" sz="1400" dirty="0" smtClean="0">
                <a:latin typeface="+mn-ea"/>
              </a:rPr>
              <a:t>+ </a:t>
            </a:r>
            <a:r>
              <a:rPr lang="ko-KR" altLang="en-US" sz="1400" dirty="0" smtClean="0">
                <a:latin typeface="+mn-ea"/>
              </a:rPr>
              <a:t>상품의 실적을 재검토 후</a:t>
            </a:r>
            <a:r>
              <a:rPr lang="en-US" altLang="ko-KR" sz="1400" dirty="0" smtClean="0">
                <a:latin typeface="+mn-ea"/>
              </a:rPr>
              <a:t> </a:t>
            </a:r>
            <a:r>
              <a:rPr lang="ko-KR" altLang="en-US" sz="1400" b="1" dirty="0" err="1" smtClean="0">
                <a:latin typeface="+mn-ea"/>
              </a:rPr>
              <a:t>라르고</a:t>
            </a:r>
            <a:r>
              <a:rPr lang="en-US" altLang="ko-KR" sz="1400" b="1" dirty="0" smtClean="0">
                <a:latin typeface="+mn-ea"/>
              </a:rPr>
              <a:t>+ </a:t>
            </a:r>
            <a:r>
              <a:rPr lang="ko-KR" altLang="en-US" sz="1400" b="1" dirty="0" smtClean="0">
                <a:latin typeface="+mn-ea"/>
              </a:rPr>
              <a:t>상품 운영 고려 </a:t>
            </a:r>
            <a:r>
              <a:rPr lang="en-US" altLang="ko-KR" sz="1400" b="1" dirty="0" smtClean="0">
                <a:latin typeface="+mn-ea"/>
              </a:rPr>
              <a:t> 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80492" y="2948987"/>
            <a:ext cx="2192378" cy="442894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bg1"/>
                </a:solidFill>
              </a:rPr>
              <a:t>지역 및 브랜드 관리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922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131586</TotalTime>
  <Words>1136</Words>
  <Application>Microsoft Office PowerPoint</Application>
  <PresentationFormat>화면 슬라이드 쇼(4:3)</PresentationFormat>
  <Paragraphs>330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굴림</vt:lpstr>
      <vt:lpstr>나눔고딕</vt:lpstr>
      <vt:lpstr>나눔고딕 ExtraBold</vt:lpstr>
      <vt:lpstr>맑은 고딕</vt:lpstr>
      <vt:lpstr>Arial</vt:lpstr>
      <vt:lpstr>Tahoma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여승은</dc:creator>
  <cp:lastModifiedBy>yeo seungeun</cp:lastModifiedBy>
  <cp:revision>4133</cp:revision>
  <cp:lastPrinted>2019-01-31T01:22:56Z</cp:lastPrinted>
  <dcterms:created xsi:type="dcterms:W3CDTF">2014-03-24T10:18:17Z</dcterms:created>
  <dcterms:modified xsi:type="dcterms:W3CDTF">2019-08-06T06:43:33Z</dcterms:modified>
</cp:coreProperties>
</file>