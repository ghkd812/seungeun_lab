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4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5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6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drawings/drawing1.xml" ContentType="application/vnd.openxmlformats-officedocument.drawingml.chartshapes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charts/chart6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charts/chart6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9"/>
  </p:notesMasterIdLst>
  <p:handoutMasterIdLst>
    <p:handoutMasterId r:id="rId50"/>
  </p:handoutMasterIdLst>
  <p:sldIdLst>
    <p:sldId id="256" r:id="rId2"/>
    <p:sldId id="541" r:id="rId3"/>
    <p:sldId id="543" r:id="rId4"/>
    <p:sldId id="586" r:id="rId5"/>
    <p:sldId id="542" r:id="rId6"/>
    <p:sldId id="544" r:id="rId7"/>
    <p:sldId id="545" r:id="rId8"/>
    <p:sldId id="546" r:id="rId9"/>
    <p:sldId id="547" r:id="rId10"/>
    <p:sldId id="548" r:id="rId11"/>
    <p:sldId id="549" r:id="rId12"/>
    <p:sldId id="550" r:id="rId13"/>
    <p:sldId id="551" r:id="rId14"/>
    <p:sldId id="552" r:id="rId15"/>
    <p:sldId id="553" r:id="rId16"/>
    <p:sldId id="554" r:id="rId17"/>
    <p:sldId id="555" r:id="rId18"/>
    <p:sldId id="556" r:id="rId19"/>
    <p:sldId id="557" r:id="rId20"/>
    <p:sldId id="558" r:id="rId21"/>
    <p:sldId id="559" r:id="rId22"/>
    <p:sldId id="560" r:id="rId23"/>
    <p:sldId id="561" r:id="rId24"/>
    <p:sldId id="562" r:id="rId25"/>
    <p:sldId id="563" r:id="rId26"/>
    <p:sldId id="564" r:id="rId27"/>
    <p:sldId id="565" r:id="rId28"/>
    <p:sldId id="566" r:id="rId29"/>
    <p:sldId id="567" r:id="rId30"/>
    <p:sldId id="568" r:id="rId31"/>
    <p:sldId id="569" r:id="rId32"/>
    <p:sldId id="570" r:id="rId33"/>
    <p:sldId id="571" r:id="rId34"/>
    <p:sldId id="572" r:id="rId35"/>
    <p:sldId id="573" r:id="rId36"/>
    <p:sldId id="575" r:id="rId37"/>
    <p:sldId id="576" r:id="rId38"/>
    <p:sldId id="577" r:id="rId39"/>
    <p:sldId id="578" r:id="rId40"/>
    <p:sldId id="579" r:id="rId41"/>
    <p:sldId id="580" r:id="rId42"/>
    <p:sldId id="574" r:id="rId43"/>
    <p:sldId id="581" r:id="rId44"/>
    <p:sldId id="582" r:id="rId45"/>
    <p:sldId id="583" r:id="rId46"/>
    <p:sldId id="584" r:id="rId47"/>
    <p:sldId id="585" r:id="rId48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857" userDrawn="1">
          <p15:clr>
            <a:srgbClr val="A4A3A4"/>
          </p15:clr>
        </p15:guide>
        <p15:guide id="3" orient="horz" pos="2795" userDrawn="1">
          <p15:clr>
            <a:srgbClr val="A4A3A4"/>
          </p15:clr>
        </p15:guide>
        <p15:guide id="4" pos="363" userDrawn="1">
          <p15:clr>
            <a:srgbClr val="A4A3A4"/>
          </p15:clr>
        </p15:guide>
        <p15:guide id="5" pos="53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744642"/>
    <a:srgbClr val="902679"/>
    <a:srgbClr val="DD492B"/>
    <a:srgbClr val="00072A"/>
    <a:srgbClr val="207196"/>
    <a:srgbClr val="0052B6"/>
    <a:srgbClr val="6A4C57"/>
    <a:srgbClr val="4D4373"/>
    <a:srgbClr val="5D54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4684" autoAdjust="0"/>
  </p:normalViewPr>
  <p:slideViewPr>
    <p:cSldViewPr snapToGrid="0" showGuides="1">
      <p:cViewPr varScale="1">
        <p:scale>
          <a:sx n="106" d="100"/>
          <a:sy n="106" d="100"/>
        </p:scale>
        <p:origin x="2052" y="78"/>
      </p:cViewPr>
      <p:guideLst>
        <p:guide orient="horz" pos="3838"/>
        <p:guide pos="2857"/>
        <p:guide orient="horz" pos="2795"/>
        <p:guide pos="363"/>
        <p:guide pos="53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7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chartUserShapes" Target="../drawings/drawing1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51648;&#50669;&#48324;%20&#51116;&#44396;&#47588;&#54056;&#53556;%20(VER.%202%202018-03-06).xlsx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51648;&#50669;&#48324;%20&#51116;&#44396;&#47588;&#54056;&#53556;%20(VER.%202%202018-03-06).xlsx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51648;&#50669;&#48324;%20&#51116;&#44396;&#47588;&#54056;&#53556;%20(VER.%202%202018-03-06).xlsx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51648;&#50669;&#48324;%20&#51116;&#44396;&#47588;&#54056;&#53556;%20(VER.%202%202018-03-06).xlsx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51648;&#50669;&#48324;%20&#51116;&#44396;&#47588;&#54056;&#53556;%20(VER.%202%202018-03-06).xlsx" TargetMode="External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51648;&#50669;&#48324;%20&#51116;&#44396;&#47588;&#54056;&#53556;%20(VER.%202%202018-03-06).xlsx" TargetMode="External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51648;&#50669;&#48324;%20&#51116;&#44396;&#47588;&#54056;&#53556;%20(VER.%202%202018-03-06).xlsx" TargetMode="External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51648;&#50669;&#48324;%20&#51116;&#44396;&#47588;&#54056;&#53556;%20(VER.%202%202018-03-06).xlsx" TargetMode="External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51648;&#50669;&#48324;%20&#51116;&#44396;&#47588;&#54056;&#53556;%20(VER.%202%202018-03-06).xlsx" TargetMode="External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54408;&#44288;&#47144;&#48516;&#49437;\&#49345;&#54408;&#44288;&#47144;&#48516;&#49437;_190304.xlsx" TargetMode="External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기기타입별회원가입!$B$19:$E$19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기기타입별회원가입!$B$20:$E$20</c:f>
              <c:numCache>
                <c:formatCode>_(* #,##0_);_(* \(#,##0\);_(* "-"_);_(@_)</c:formatCode>
                <c:ptCount val="4"/>
                <c:pt idx="0">
                  <c:v>50002</c:v>
                </c:pt>
                <c:pt idx="1">
                  <c:v>51039</c:v>
                </c:pt>
                <c:pt idx="2">
                  <c:v>76333</c:v>
                </c:pt>
                <c:pt idx="3">
                  <c:v>162636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0629456"/>
        <c:axId val="650633376"/>
      </c:barChart>
      <c:catAx>
        <c:axId val="650629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50633376"/>
        <c:crosses val="autoZero"/>
        <c:auto val="1"/>
        <c:lblAlgn val="ctr"/>
        <c:lblOffset val="100"/>
        <c:noMultiLvlLbl val="0"/>
      </c:catAx>
      <c:valAx>
        <c:axId val="650633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50629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기기타입별회원가입!$C$12</c:f>
              <c:strCache>
                <c:ptCount val="1"/>
                <c:pt idx="0">
                  <c:v>PC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기기타입별회원가입!$B$13:$B$16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기기타입별회원가입!$C$13:$C$16</c:f>
              <c:numCache>
                <c:formatCode>0%</c:formatCode>
                <c:ptCount val="4"/>
                <c:pt idx="0">
                  <c:v>0.83876644934202627</c:v>
                </c:pt>
                <c:pt idx="1">
                  <c:v>0.69296028527204689</c:v>
                </c:pt>
                <c:pt idx="2">
                  <c:v>0.52593340589878435</c:v>
                </c:pt>
                <c:pt idx="3">
                  <c:v>0.29754738729508196</c:v>
                </c:pt>
              </c:numCache>
            </c:numRef>
          </c:val>
        </c:ser>
        <c:ser>
          <c:idx val="1"/>
          <c:order val="1"/>
          <c:tx>
            <c:strRef>
              <c:f>기기타입별회원가입!$D$12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기기타입별회원가입!$B$13:$B$16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기기타입별회원가입!$D$13:$D$16</c:f>
              <c:numCache>
                <c:formatCode>0%</c:formatCode>
                <c:ptCount val="4"/>
                <c:pt idx="0">
                  <c:v>0.16123355065797368</c:v>
                </c:pt>
                <c:pt idx="1">
                  <c:v>0.30703971472795316</c:v>
                </c:pt>
                <c:pt idx="2">
                  <c:v>0.47406659410121571</c:v>
                </c:pt>
                <c:pt idx="3">
                  <c:v>0.70245261270491799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49334256"/>
        <c:axId val="549333136"/>
      </c:barChart>
      <c:catAx>
        <c:axId val="549334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9333136"/>
        <c:crosses val="autoZero"/>
        <c:auto val="1"/>
        <c:lblAlgn val="ctr"/>
        <c:lblOffset val="100"/>
        <c:noMultiLvlLbl val="0"/>
      </c:catAx>
      <c:valAx>
        <c:axId val="549333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9334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성별연령별회원가입!$H$21</c:f>
              <c:strCache>
                <c:ptCount val="1"/>
                <c:pt idx="0">
                  <c:v>20대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21538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성별연령별회원가입!$I$21:$L$21</c:f>
              <c:numCache>
                <c:formatCode>0%</c:formatCode>
                <c:ptCount val="4"/>
                <c:pt idx="0">
                  <c:v>0.18517921219207353</c:v>
                </c:pt>
                <c:pt idx="1">
                  <c:v>0.14580698703762252</c:v>
                </c:pt>
                <c:pt idx="2">
                  <c:v>0.11944566010211524</c:v>
                </c:pt>
                <c:pt idx="3">
                  <c:v>0.11989572554326196</c:v>
                </c:pt>
              </c:numCache>
            </c:numRef>
          </c:val>
        </c:ser>
        <c:ser>
          <c:idx val="1"/>
          <c:order val="1"/>
          <c:tx>
            <c:strRef>
              <c:f>성별연령별회원가입!$H$22</c:f>
              <c:strCache>
                <c:ptCount val="1"/>
                <c:pt idx="0">
                  <c:v>30대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21538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성별연령별회원가입!$I$22:$L$22</c:f>
              <c:numCache>
                <c:formatCode>0%</c:formatCode>
                <c:ptCount val="4"/>
                <c:pt idx="0">
                  <c:v>0.31246220215296538</c:v>
                </c:pt>
                <c:pt idx="1">
                  <c:v>0.2694040467910212</c:v>
                </c:pt>
                <c:pt idx="2">
                  <c:v>0.23417943107221006</c:v>
                </c:pt>
                <c:pt idx="3">
                  <c:v>0.19612154740109847</c:v>
                </c:pt>
              </c:numCache>
            </c:numRef>
          </c:val>
        </c:ser>
        <c:ser>
          <c:idx val="2"/>
          <c:order val="2"/>
          <c:tx>
            <c:strRef>
              <c:f>성별연령별회원가입!$H$23</c:f>
              <c:strCache>
                <c:ptCount val="1"/>
                <c:pt idx="0">
                  <c:v>40대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520515175473293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2.7669233797037035E-2"/>
                  <c:y val="-3.302376801193017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3.9966671040164686E-2"/>
                  <c:y val="-2.201584534128677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6.1487186215637979E-3"/>
                  <c:y val="-3.302376801193017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성별연령별회원가입!$I$23:$L$23</c:f>
              <c:numCache>
                <c:formatCode>0%</c:formatCode>
                <c:ptCount val="4"/>
                <c:pt idx="0">
                  <c:v>0.26055315889206948</c:v>
                </c:pt>
                <c:pt idx="1">
                  <c:v>0.29392586152386974</c:v>
                </c:pt>
                <c:pt idx="2">
                  <c:v>0.31363967906637491</c:v>
                </c:pt>
                <c:pt idx="3">
                  <c:v>0.2810932898193107</c:v>
                </c:pt>
              </c:numCache>
            </c:numRef>
          </c:val>
        </c:ser>
        <c:ser>
          <c:idx val="3"/>
          <c:order val="3"/>
          <c:tx>
            <c:strRef>
              <c:f>성별연령별회원가입!$H$24</c:f>
              <c:strCache>
                <c:ptCount val="1"/>
                <c:pt idx="0">
                  <c:v>50대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2230779323456691E-3"/>
                  <c:y val="-5.045239607673077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5371796553909496E-2"/>
                  <c:y val="-5.503961335321693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3.3817952418600888E-2"/>
                  <c:y val="1.100792267064338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성별연령별회원가입!$I$24:$L$24</c:f>
              <c:numCache>
                <c:formatCode>0%</c:formatCode>
                <c:ptCount val="4"/>
                <c:pt idx="0">
                  <c:v>0.17913155666653227</c:v>
                </c:pt>
                <c:pt idx="1">
                  <c:v>0.20919617451786279</c:v>
                </c:pt>
                <c:pt idx="2">
                  <c:v>0.23307075127644056</c:v>
                </c:pt>
                <c:pt idx="3">
                  <c:v>0.26089508875268647</c:v>
                </c:pt>
              </c:numCache>
            </c:numRef>
          </c:val>
        </c:ser>
        <c:ser>
          <c:idx val="4"/>
          <c:order val="4"/>
          <c:tx>
            <c:strRef>
              <c:f>성별연령별회원가입!$H$25</c:f>
              <c:strCache>
                <c:ptCount val="1"/>
                <c:pt idx="0">
                  <c:v>60대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2.152051517547318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성별연령별회원가입!$I$25:$L$25</c:f>
              <c:numCache>
                <c:formatCode>0%</c:formatCode>
                <c:ptCount val="4"/>
                <c:pt idx="0">
                  <c:v>5.8521146635487645E-2</c:v>
                </c:pt>
                <c:pt idx="1">
                  <c:v>7.6173727473917166E-2</c:v>
                </c:pt>
                <c:pt idx="2">
                  <c:v>9.1932895696571842E-2</c:v>
                </c:pt>
                <c:pt idx="3">
                  <c:v>0.12731831568892779</c:v>
                </c:pt>
              </c:numCache>
            </c:numRef>
          </c:val>
        </c:ser>
        <c:ser>
          <c:idx val="5"/>
          <c:order val="5"/>
          <c:tx>
            <c:strRef>
              <c:f>성별연령별회원가입!$H$26</c:f>
              <c:strCache>
                <c:ptCount val="1"/>
                <c:pt idx="0">
                  <c:v>70대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4594874486255192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5376129706008951E-2"/>
                      <c:h val="7.9587280908751695E-2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2.4594874486255192E-2"/>
                  <c:y val="-1.65118840059650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2.4594874486255081E-2"/>
                  <c:y val="-1.0090479215346155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성별연령별회원가입!$I$20:$L$20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성별연령별회원가입!$I$26:$L$26</c:f>
              <c:numCache>
                <c:formatCode>0%</c:formatCode>
                <c:ptCount val="4"/>
                <c:pt idx="0">
                  <c:v>4.1527234608716686E-3</c:v>
                </c:pt>
                <c:pt idx="1">
                  <c:v>5.4932026557066079E-3</c:v>
                </c:pt>
                <c:pt idx="2">
                  <c:v>7.7315827862873814E-3</c:v>
                </c:pt>
                <c:pt idx="3">
                  <c:v>1.4676032794714638E-2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1774960"/>
        <c:axId val="842956976"/>
      </c:barChart>
      <c:catAx>
        <c:axId val="471774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42956976"/>
        <c:crosses val="autoZero"/>
        <c:auto val="1"/>
        <c:lblAlgn val="ctr"/>
        <c:lblOffset val="100"/>
        <c:noMultiLvlLbl val="0"/>
      </c:catAx>
      <c:valAx>
        <c:axId val="84295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71774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연령별출발자수!$B$31</c:f>
              <c:strCache>
                <c:ptCount val="1"/>
                <c:pt idx="0">
                  <c:v>20대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3.0799638649907624E-3"/>
                  <c:y val="2.239866807290325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21538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연령별출발자수!$C$30:$F$30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연령별출발자수!$C$31:$F$31</c:f>
              <c:numCache>
                <c:formatCode>0%</c:formatCode>
                <c:ptCount val="4"/>
                <c:pt idx="0">
                  <c:v>9.8138381939476618E-2</c:v>
                </c:pt>
                <c:pt idx="1">
                  <c:v>8.814662103183718E-2</c:v>
                </c:pt>
                <c:pt idx="2">
                  <c:v>7.6482886845551157E-2</c:v>
                </c:pt>
                <c:pt idx="3">
                  <c:v>6.7726026901201566E-2</c:v>
                </c:pt>
              </c:numCache>
            </c:numRef>
          </c:val>
        </c:ser>
        <c:ser>
          <c:idx val="1"/>
          <c:order val="1"/>
          <c:tx>
            <c:strRef>
              <c:f>연령별출발자수!$B$32</c:f>
              <c:strCache>
                <c:ptCount val="1"/>
                <c:pt idx="0">
                  <c:v>30대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21538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연령별출발자수!$C$30:$F$30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연령별출발자수!$C$32:$F$32</c:f>
              <c:numCache>
                <c:formatCode>0%</c:formatCode>
                <c:ptCount val="4"/>
                <c:pt idx="0">
                  <c:v>0.14830058726646592</c:v>
                </c:pt>
                <c:pt idx="1">
                  <c:v>0.12722240088206918</c:v>
                </c:pt>
                <c:pt idx="2">
                  <c:v>0.11323402808423824</c:v>
                </c:pt>
                <c:pt idx="3">
                  <c:v>0.10264145989828874</c:v>
                </c:pt>
              </c:numCache>
            </c:numRef>
          </c:val>
        </c:ser>
        <c:ser>
          <c:idx val="2"/>
          <c:order val="2"/>
          <c:tx>
            <c:strRef>
              <c:f>연령별출발자수!$B$33</c:f>
              <c:strCache>
                <c:ptCount val="1"/>
                <c:pt idx="0">
                  <c:v>40대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연령별출발자수!$C$30:$F$30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연령별출발자수!$C$33:$F$33</c:f>
              <c:numCache>
                <c:formatCode>0%</c:formatCode>
                <c:ptCount val="4"/>
                <c:pt idx="0">
                  <c:v>0.2192683292019498</c:v>
                </c:pt>
                <c:pt idx="1">
                  <c:v>0.22649538291909771</c:v>
                </c:pt>
                <c:pt idx="2">
                  <c:v>0.23048560218577654</c:v>
                </c:pt>
                <c:pt idx="3">
                  <c:v>0.2172669230194709</c:v>
                </c:pt>
              </c:numCache>
            </c:numRef>
          </c:val>
        </c:ser>
        <c:ser>
          <c:idx val="3"/>
          <c:order val="3"/>
          <c:tx>
            <c:strRef>
              <c:f>연령별출발자수!$B$34</c:f>
              <c:strCache>
                <c:ptCount val="1"/>
                <c:pt idx="0">
                  <c:v>50대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연령별출발자수!$C$30:$F$30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연령별출발자수!$C$34:$F$34</c:f>
              <c:numCache>
                <c:formatCode>0%</c:formatCode>
                <c:ptCount val="4"/>
                <c:pt idx="0">
                  <c:v>0.31654494335290889</c:v>
                </c:pt>
                <c:pt idx="1">
                  <c:v>0.32715234069922361</c:v>
                </c:pt>
                <c:pt idx="2">
                  <c:v>0.32991142589122724</c:v>
                </c:pt>
                <c:pt idx="3">
                  <c:v>0.33398817216225818</c:v>
                </c:pt>
              </c:numCache>
            </c:numRef>
          </c:val>
        </c:ser>
        <c:ser>
          <c:idx val="4"/>
          <c:order val="4"/>
          <c:tx>
            <c:strRef>
              <c:f>연령별출발자수!$B$35</c:f>
              <c:strCache>
                <c:ptCount val="1"/>
                <c:pt idx="0">
                  <c:v>60대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연령별출발자수!$C$30:$F$30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연령별출발자수!$C$35:$F$35</c:f>
              <c:numCache>
                <c:formatCode>0%</c:formatCode>
                <c:ptCount val="4"/>
                <c:pt idx="0">
                  <c:v>0.17815967658753265</c:v>
                </c:pt>
                <c:pt idx="1">
                  <c:v>0.18982576836495613</c:v>
                </c:pt>
                <c:pt idx="2">
                  <c:v>0.20309346220347688</c:v>
                </c:pt>
                <c:pt idx="3">
                  <c:v>0.22410199190202768</c:v>
                </c:pt>
              </c:numCache>
            </c:numRef>
          </c:val>
        </c:ser>
        <c:ser>
          <c:idx val="5"/>
          <c:order val="5"/>
          <c:tx>
            <c:strRef>
              <c:f>연령별출발자수!$B$36</c:f>
              <c:strCache>
                <c:ptCount val="1"/>
                <c:pt idx="0">
                  <c:v>70대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1599277299817503E-3"/>
                  <c:y val="3.359800210935498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9.2398915949725696E-3"/>
                  <c:y val="5.599667018225803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2319855459963501E-2"/>
                  <c:y val="3.359800210935477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3.0799638649908642E-2"/>
                  <c:y val="6.719600421870976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연령별출발자수!$C$30:$F$30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연령별출발자수!$C$36:$F$36</c:f>
              <c:numCache>
                <c:formatCode>0%</c:formatCode>
                <c:ptCount val="4"/>
                <c:pt idx="0">
                  <c:v>3.9588081651666142E-2</c:v>
                </c:pt>
                <c:pt idx="1">
                  <c:v>4.1157486102816186E-2</c:v>
                </c:pt>
                <c:pt idx="2">
                  <c:v>4.6792594789729934E-2</c:v>
                </c:pt>
                <c:pt idx="3">
                  <c:v>5.4275426116752935E-2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42962016"/>
        <c:axId val="842962576"/>
      </c:barChart>
      <c:catAx>
        <c:axId val="84296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42962576"/>
        <c:crosses val="autoZero"/>
        <c:auto val="1"/>
        <c:lblAlgn val="ctr"/>
        <c:lblOffset val="100"/>
        <c:noMultiLvlLbl val="0"/>
      </c:catAx>
      <c:valAx>
        <c:axId val="842962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42962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70748431530936"/>
          <c:y val="0.11838514473382164"/>
          <c:w val="0.58159710815327847"/>
          <c:h val="0.77254395479877935"/>
        </c:manualLayout>
      </c:layout>
      <c:pieChart>
        <c:varyColors val="1"/>
        <c:ser>
          <c:idx val="0"/>
          <c:order val="0"/>
          <c:explosion val="3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17526147592621527"/>
                  <c:y val="0.1299267401685218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20428112133598283"/>
                  <c:y val="-7.876733677887030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성별연령별회원가입!$C$33:$D$33</c:f>
              <c:strCache>
                <c:ptCount val="2"/>
                <c:pt idx="0">
                  <c:v>남성</c:v>
                </c:pt>
                <c:pt idx="1">
                  <c:v>여성</c:v>
                </c:pt>
              </c:strCache>
            </c:strRef>
          </c:cat>
          <c:val>
            <c:numRef>
              <c:f>성별연령별회원가입!$C$34:$D$34</c:f>
              <c:numCache>
                <c:formatCode>0%</c:formatCode>
                <c:ptCount val="2"/>
                <c:pt idx="0">
                  <c:v>0.37</c:v>
                </c:pt>
                <c:pt idx="1">
                  <c:v>0.63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전국지역별회원현황!$B$30</c:f>
              <c:strCache>
                <c:ptCount val="1"/>
                <c:pt idx="0">
                  <c:v>서울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전국지역별회원현황!$C$29:$F$29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전국지역별회원현황!$C$30:$F$30</c:f>
              <c:numCache>
                <c:formatCode>0%</c:formatCode>
                <c:ptCount val="4"/>
                <c:pt idx="0">
                  <c:v>0.34095390104215567</c:v>
                </c:pt>
                <c:pt idx="1">
                  <c:v>0.3287009063444109</c:v>
                </c:pt>
                <c:pt idx="2">
                  <c:v>0.32212060967528167</c:v>
                </c:pt>
                <c:pt idx="3">
                  <c:v>0.30771510840108401</c:v>
                </c:pt>
              </c:numCache>
            </c:numRef>
          </c:val>
        </c:ser>
        <c:ser>
          <c:idx val="1"/>
          <c:order val="1"/>
          <c:tx>
            <c:strRef>
              <c:f>전국지역별회원현황!$B$31</c:f>
              <c:strCache>
                <c:ptCount val="1"/>
                <c:pt idx="0">
                  <c:v>경기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전국지역별회원현황!$C$29:$F$29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전국지역별회원현황!$C$31:$F$31</c:f>
              <c:numCache>
                <c:formatCode>0%</c:formatCode>
                <c:ptCount val="4"/>
                <c:pt idx="0">
                  <c:v>0.30025349732419493</c:v>
                </c:pt>
                <c:pt idx="1">
                  <c:v>0.30142817907168362</c:v>
                </c:pt>
                <c:pt idx="2">
                  <c:v>0.30345924453280321</c:v>
                </c:pt>
                <c:pt idx="3">
                  <c:v>0.30267615176151763</c:v>
                </c:pt>
              </c:numCache>
            </c:numRef>
          </c:val>
        </c:ser>
        <c:ser>
          <c:idx val="2"/>
          <c:order val="2"/>
          <c:tx>
            <c:strRef>
              <c:f>전국지역별회원현황!$B$32</c:f>
              <c:strCache>
                <c:ptCount val="1"/>
                <c:pt idx="0">
                  <c:v>인천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전국지역별회원현황!$C$29:$F$29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전국지역별회원현황!$C$32:$F$32</c:f>
              <c:numCache>
                <c:formatCode>0%</c:formatCode>
                <c:ptCount val="4"/>
                <c:pt idx="0">
                  <c:v>5.6121490939817859E-2</c:v>
                </c:pt>
                <c:pt idx="1">
                  <c:v>5.6879978028014283E-2</c:v>
                </c:pt>
                <c:pt idx="2">
                  <c:v>5.6858846918489067E-2</c:v>
                </c:pt>
                <c:pt idx="3">
                  <c:v>5.0982384823848238E-2</c:v>
                </c:pt>
              </c:numCache>
            </c:numRef>
          </c:val>
        </c:ser>
        <c:ser>
          <c:idx val="3"/>
          <c:order val="3"/>
          <c:tx>
            <c:strRef>
              <c:f>전국지역별회원현황!$B$33</c:f>
              <c:strCache>
                <c:ptCount val="1"/>
                <c:pt idx="0">
                  <c:v>부산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전국지역별회원현황!$C$29:$F$29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전국지역별회원현황!$C$33:$F$33</c:f>
              <c:numCache>
                <c:formatCode>0%</c:formatCode>
                <c:ptCount val="4"/>
                <c:pt idx="0">
                  <c:v>4.4526335555346915E-2</c:v>
                </c:pt>
                <c:pt idx="1">
                  <c:v>4.3202416918429E-2</c:v>
                </c:pt>
                <c:pt idx="2">
                  <c:v>4.3392975480450631E-2</c:v>
                </c:pt>
                <c:pt idx="3">
                  <c:v>4.725609756097561E-2</c:v>
                </c:pt>
              </c:numCache>
            </c:numRef>
          </c:val>
        </c:ser>
        <c:ser>
          <c:idx val="4"/>
          <c:order val="4"/>
          <c:tx>
            <c:strRef>
              <c:f>전국지역별회원현황!$B$34</c:f>
              <c:strCache>
                <c:ptCount val="1"/>
                <c:pt idx="0">
                  <c:v>충남</c:v>
                </c:pt>
              </c:strCache>
            </c:strRef>
          </c:tx>
          <c:spPr>
            <a:solidFill>
              <a:srgbClr val="A50021"/>
            </a:solidFill>
            <a:ln>
              <a:solidFill>
                <a:srgbClr val="DD492B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전국지역별회원현황!$C$29:$F$29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전국지역별회원현황!$C$34:$F$34</c:f>
              <c:numCache>
                <c:formatCode>0%</c:formatCode>
                <c:ptCount val="4"/>
                <c:pt idx="0">
                  <c:v>3.1968829217913809E-2</c:v>
                </c:pt>
                <c:pt idx="1">
                  <c:v>3.1584729469925847E-2</c:v>
                </c:pt>
                <c:pt idx="2">
                  <c:v>3.0695825049701791E-2</c:v>
                </c:pt>
                <c:pt idx="3">
                  <c:v>3.785569105691057E-2</c:v>
                </c:pt>
              </c:numCache>
            </c:numRef>
          </c:val>
        </c:ser>
        <c:ser>
          <c:idx val="5"/>
          <c:order val="5"/>
          <c:tx>
            <c:strRef>
              <c:f>전국지역별회원현황!$B$35</c:f>
              <c:strCache>
                <c:ptCount val="1"/>
                <c:pt idx="0">
                  <c:v>대구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9629028235530711E-3"/>
                  <c:y val="-4.6593860396722878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전국지역별회원현황!$C$29:$F$29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전국지역별회원현황!$C$35:$F$35</c:f>
              <c:numCache>
                <c:formatCode>0%</c:formatCode>
                <c:ptCount val="4"/>
                <c:pt idx="0">
                  <c:v>2.9081776359027322E-2</c:v>
                </c:pt>
                <c:pt idx="1">
                  <c:v>2.8783301290854161E-2</c:v>
                </c:pt>
                <c:pt idx="2">
                  <c:v>3.0245195493704441E-2</c:v>
                </c:pt>
                <c:pt idx="3">
                  <c:v>3.1419376693766939E-2</c:v>
                </c:pt>
              </c:numCache>
            </c:numRef>
          </c:val>
        </c:ser>
        <c:ser>
          <c:idx val="15"/>
          <c:order val="6"/>
          <c:tx>
            <c:strRef>
              <c:f>전국지역별회원현황!$B$45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74464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전국지역별회원현황!$C$29:$F$29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전국지역별회원현황!$C$45:$F$45</c:f>
              <c:numCache>
                <c:formatCode>0%</c:formatCode>
                <c:ptCount val="4"/>
                <c:pt idx="0">
                  <c:v>5.8210496666979625E-3</c:v>
                </c:pt>
                <c:pt idx="1">
                  <c:v>6.0148310903597917E-3</c:v>
                </c:pt>
                <c:pt idx="2">
                  <c:v>6.2823061630218691E-3</c:v>
                </c:pt>
                <c:pt idx="3">
                  <c:v>5.6741192411924116E-3</c:v>
                </c:pt>
              </c:numCache>
            </c:numRef>
          </c:val>
        </c:ser>
        <c:ser>
          <c:idx val="17"/>
          <c:order val="7"/>
          <c:tx>
            <c:strRef>
              <c:f>전국지역별회원현황!$B$47</c:f>
              <c:strCache>
                <c:ptCount val="1"/>
                <c:pt idx="0">
                  <c:v>세종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전국지역별회원현황!$C$29:$F$29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전국지역별회원현황!$C$47:$F$47</c:f>
              <c:numCache>
                <c:formatCode>0%</c:formatCode>
                <c:ptCount val="4"/>
                <c:pt idx="0">
                  <c:v>3.6616280161487183E-3</c:v>
                </c:pt>
                <c:pt idx="1">
                  <c:v>5.026091733040374E-3</c:v>
                </c:pt>
                <c:pt idx="2">
                  <c:v>2.1206096752816436E-4</c:v>
                </c:pt>
                <c:pt idx="3">
                  <c:v>8.8922764227642272E-4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67435344"/>
        <c:axId val="567435904"/>
      </c:barChart>
      <c:catAx>
        <c:axId val="56743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435904"/>
        <c:crosses val="autoZero"/>
        <c:auto val="1"/>
        <c:lblAlgn val="ctr"/>
        <c:lblOffset val="100"/>
        <c:noMultiLvlLbl val="0"/>
      </c:catAx>
      <c:valAx>
        <c:axId val="567435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435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cat>
            <c:strRef>
              <c:f>지자체별회원현황!$B$8:$B$32</c:f>
              <c:strCache>
                <c:ptCount val="25"/>
                <c:pt idx="0">
                  <c:v>송파</c:v>
                </c:pt>
                <c:pt idx="1">
                  <c:v>강남</c:v>
                </c:pt>
                <c:pt idx="2">
                  <c:v>서초</c:v>
                </c:pt>
                <c:pt idx="3">
                  <c:v>양천</c:v>
                </c:pt>
                <c:pt idx="4">
                  <c:v>노원</c:v>
                </c:pt>
                <c:pt idx="5">
                  <c:v>강서</c:v>
                </c:pt>
                <c:pt idx="6">
                  <c:v>강동</c:v>
                </c:pt>
                <c:pt idx="7">
                  <c:v>동작</c:v>
                </c:pt>
                <c:pt idx="8">
                  <c:v>영등포</c:v>
                </c:pt>
                <c:pt idx="9">
                  <c:v>마포</c:v>
                </c:pt>
                <c:pt idx="10">
                  <c:v>은평</c:v>
                </c:pt>
                <c:pt idx="11">
                  <c:v>성북</c:v>
                </c:pt>
                <c:pt idx="12">
                  <c:v>구로</c:v>
                </c:pt>
                <c:pt idx="13">
                  <c:v>관악</c:v>
                </c:pt>
                <c:pt idx="14">
                  <c:v>광진</c:v>
                </c:pt>
                <c:pt idx="15">
                  <c:v>성동</c:v>
                </c:pt>
                <c:pt idx="16">
                  <c:v>동대문</c:v>
                </c:pt>
                <c:pt idx="17">
                  <c:v>도봉</c:v>
                </c:pt>
                <c:pt idx="18">
                  <c:v>중랑</c:v>
                </c:pt>
                <c:pt idx="19">
                  <c:v>서대문</c:v>
                </c:pt>
                <c:pt idx="20">
                  <c:v>용산</c:v>
                </c:pt>
                <c:pt idx="21">
                  <c:v>강북</c:v>
                </c:pt>
                <c:pt idx="22">
                  <c:v>중구</c:v>
                </c:pt>
                <c:pt idx="23">
                  <c:v>금천</c:v>
                </c:pt>
                <c:pt idx="24">
                  <c:v>종로</c:v>
                </c:pt>
              </c:strCache>
            </c:strRef>
          </c:cat>
          <c:val>
            <c:numRef>
              <c:f>지자체별회원현황!$D$8:$D$32</c:f>
              <c:numCache>
                <c:formatCode>0%</c:formatCode>
                <c:ptCount val="25"/>
                <c:pt idx="0">
                  <c:v>9.3023255813953487E-2</c:v>
                </c:pt>
                <c:pt idx="1">
                  <c:v>8.8895004816292825E-2</c:v>
                </c:pt>
                <c:pt idx="2">
                  <c:v>7.2932434292004952E-2</c:v>
                </c:pt>
                <c:pt idx="3">
                  <c:v>6.0547681299022979E-2</c:v>
                </c:pt>
                <c:pt idx="4">
                  <c:v>5.7107472134305767E-2</c:v>
                </c:pt>
                <c:pt idx="5">
                  <c:v>5.2841612770056418E-2</c:v>
                </c:pt>
                <c:pt idx="6">
                  <c:v>4.5135544241089856E-2</c:v>
                </c:pt>
                <c:pt idx="7">
                  <c:v>4.3484243842025594E-2</c:v>
                </c:pt>
                <c:pt idx="8">
                  <c:v>4.3209027108848219E-2</c:v>
                </c:pt>
                <c:pt idx="9">
                  <c:v>4.279620200908215E-2</c:v>
                </c:pt>
                <c:pt idx="10">
                  <c:v>4.0319251410485757E-2</c:v>
                </c:pt>
                <c:pt idx="11">
                  <c:v>3.839273427824412E-2</c:v>
                </c:pt>
                <c:pt idx="12">
                  <c:v>3.6741433879179851E-2</c:v>
                </c:pt>
                <c:pt idx="13">
                  <c:v>3.3989266547406083E-2</c:v>
                </c:pt>
                <c:pt idx="14">
                  <c:v>3.1374707582221002E-2</c:v>
                </c:pt>
                <c:pt idx="15">
                  <c:v>2.8760148617035915E-2</c:v>
                </c:pt>
                <c:pt idx="16">
                  <c:v>2.7796890050915096E-2</c:v>
                </c:pt>
                <c:pt idx="17">
                  <c:v>2.7521673317737718E-2</c:v>
                </c:pt>
                <c:pt idx="18">
                  <c:v>2.6420806385028209E-2</c:v>
                </c:pt>
                <c:pt idx="19">
                  <c:v>2.5319939452318699E-2</c:v>
                </c:pt>
                <c:pt idx="20">
                  <c:v>2.1879730287601488E-2</c:v>
                </c:pt>
                <c:pt idx="21">
                  <c:v>1.8439521122884273E-2</c:v>
                </c:pt>
                <c:pt idx="22">
                  <c:v>1.5824962157699188E-2</c:v>
                </c:pt>
                <c:pt idx="23">
                  <c:v>1.3760836658868859E-2</c:v>
                </c:pt>
                <c:pt idx="24">
                  <c:v>1.3485619925691483E-2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8585760"/>
        <c:axId val="548586320"/>
      </c:barChart>
      <c:catAx>
        <c:axId val="548585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586320"/>
        <c:crosses val="autoZero"/>
        <c:auto val="1"/>
        <c:lblAlgn val="ctr"/>
        <c:lblOffset val="100"/>
        <c:noMultiLvlLbl val="0"/>
      </c:catAx>
      <c:valAx>
        <c:axId val="548586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585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가입경로매체!$C$18</c:f>
              <c:strCache>
                <c:ptCount val="1"/>
                <c:pt idx="0">
                  <c:v>검색엔진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가입경로매체!$D$17:$F$17</c:f>
              <c:numCache>
                <c:formatCode>General</c:formatCod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numCache>
            </c:numRef>
          </c:cat>
          <c:val>
            <c:numRef>
              <c:f>가입경로매체!$D$18:$F$18</c:f>
              <c:numCache>
                <c:formatCode>0%</c:formatCode>
                <c:ptCount val="3"/>
                <c:pt idx="0">
                  <c:v>0.37209431963877587</c:v>
                </c:pt>
                <c:pt idx="1">
                  <c:v>0.36141740712985759</c:v>
                </c:pt>
                <c:pt idx="2">
                  <c:v>0.32206532591641707</c:v>
                </c:pt>
              </c:numCache>
            </c:numRef>
          </c:val>
        </c:ser>
        <c:ser>
          <c:idx val="1"/>
          <c:order val="1"/>
          <c:tx>
            <c:strRef>
              <c:f>가입경로매체!$C$19</c:f>
              <c:strCache>
                <c:ptCount val="1"/>
                <c:pt idx="0">
                  <c:v>주변인소개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0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가입경로매체!$D$17:$F$17</c:f>
              <c:numCache>
                <c:formatCode>General</c:formatCod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numCache>
            </c:numRef>
          </c:cat>
          <c:val>
            <c:numRef>
              <c:f>가입경로매체!$D$19:$F$19</c:f>
              <c:numCache>
                <c:formatCode>0%</c:formatCode>
                <c:ptCount val="3"/>
                <c:pt idx="0">
                  <c:v>0.35208205585595631</c:v>
                </c:pt>
                <c:pt idx="1">
                  <c:v>0.36527138422010491</c:v>
                </c:pt>
                <c:pt idx="2">
                  <c:v>0.3854656967622308</c:v>
                </c:pt>
              </c:numCache>
            </c:numRef>
          </c:val>
        </c:ser>
        <c:ser>
          <c:idx val="2"/>
          <c:order val="2"/>
          <c:tx>
            <c:strRef>
              <c:f>가입경로매체!$C$20</c:f>
              <c:strCache>
                <c:ptCount val="1"/>
                <c:pt idx="0">
                  <c:v>신문 및 대중매체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가입경로매체!$D$17:$F$17</c:f>
              <c:numCache>
                <c:formatCode>General</c:formatCod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numCache>
            </c:numRef>
          </c:cat>
          <c:val>
            <c:numRef>
              <c:f>가입경로매체!$D$20:$F$20</c:f>
              <c:numCache>
                <c:formatCode>0%</c:formatCode>
                <c:ptCount val="3"/>
                <c:pt idx="0">
                  <c:v>0.11249233513573778</c:v>
                </c:pt>
                <c:pt idx="1">
                  <c:v>0.11342468686436141</c:v>
                </c:pt>
                <c:pt idx="2">
                  <c:v>0.1069747539580659</c:v>
                </c:pt>
              </c:numCache>
            </c:numRef>
          </c:val>
        </c:ser>
        <c:ser>
          <c:idx val="3"/>
          <c:order val="3"/>
          <c:tx>
            <c:strRef>
              <c:f>가입경로매체!$C$21</c:f>
              <c:strCache>
                <c:ptCount val="1"/>
                <c:pt idx="0">
                  <c:v>인터넷 배너광고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가입경로매체!$D$17:$F$17</c:f>
              <c:numCache>
                <c:formatCode>General</c:formatCod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numCache>
            </c:numRef>
          </c:cat>
          <c:val>
            <c:numRef>
              <c:f>가입경로매체!$D$21:$F$21</c:f>
              <c:numCache>
                <c:formatCode>0%</c:formatCode>
                <c:ptCount val="3"/>
                <c:pt idx="0">
                  <c:v>5.0783209766430679E-2</c:v>
                </c:pt>
                <c:pt idx="1">
                  <c:v>4.9619955036933949E-2</c:v>
                </c:pt>
                <c:pt idx="2">
                  <c:v>5.3344743973755528E-2</c:v>
                </c:pt>
              </c:numCache>
            </c:numRef>
          </c:val>
        </c:ser>
        <c:ser>
          <c:idx val="4"/>
          <c:order val="4"/>
          <c:tx>
            <c:strRef>
              <c:f>가입경로매체!$C$22</c:f>
              <c:strCache>
                <c:ptCount val="1"/>
                <c:pt idx="0">
                  <c:v>이메일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9307628377564189E-17"/>
                  <c:y val="-8.42304651644019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9.591698271857874E-3"/>
                  <c:y val="-8.42304651644019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1.684609303288038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가입경로매체!$D$17:$F$17</c:f>
              <c:numCache>
                <c:formatCode>General</c:formatCod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numCache>
            </c:numRef>
          </c:cat>
          <c:val>
            <c:numRef>
              <c:f>가입경로매체!$D$22:$F$22</c:f>
              <c:numCache>
                <c:formatCode>0%</c:formatCode>
                <c:ptCount val="3"/>
                <c:pt idx="0">
                  <c:v>1.0368470929260271E-2</c:v>
                </c:pt>
                <c:pt idx="1">
                  <c:v>8.6714484530564188E-3</c:v>
                </c:pt>
                <c:pt idx="2">
                  <c:v>1.205248894594209E-2</c:v>
                </c:pt>
              </c:numCache>
            </c:numRef>
          </c:val>
        </c:ser>
        <c:ser>
          <c:idx val="5"/>
          <c:order val="5"/>
          <c:tx>
            <c:strRef>
              <c:f>가입경로매체!$C$23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74464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1972327572859774E-3"/>
                  <c:y val="-1.684609303288038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5986163786429888E-2"/>
                  <c:y val="-1.684609303288039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3.1972327572858603E-3"/>
                  <c:y val="-1.684609303288039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가입경로매체!$D$17:$F$17</c:f>
              <c:numCache>
                <c:formatCode>General</c:formatCod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numCache>
            </c:numRef>
          </c:cat>
          <c:val>
            <c:numRef>
              <c:f>가입경로매체!$D$23:$F$23</c:f>
              <c:numCache>
                <c:formatCode>0%</c:formatCode>
                <c:ptCount val="3"/>
                <c:pt idx="0">
                  <c:v>0.10217960867383911</c:v>
                </c:pt>
                <c:pt idx="1">
                  <c:v>0.10159511829568568</c:v>
                </c:pt>
                <c:pt idx="2">
                  <c:v>0.12009699044358865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48591360"/>
        <c:axId val="548591920"/>
      </c:barChart>
      <c:catAx>
        <c:axId val="548591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591920"/>
        <c:crosses val="autoZero"/>
        <c:auto val="1"/>
        <c:lblAlgn val="ctr"/>
        <c:lblOffset val="100"/>
        <c:noMultiLvlLbl val="0"/>
      </c:catAx>
      <c:valAx>
        <c:axId val="548591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48591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지역별연령별여행추이!$B$22:$B$25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지역별연령별여행추이!$C$22:$C$25</c:f>
              <c:numCache>
                <c:formatCode>0%</c:formatCode>
                <c:ptCount val="4"/>
                <c:pt idx="0">
                  <c:v>0.23867868315209295</c:v>
                </c:pt>
                <c:pt idx="1">
                  <c:v>0.21222381831862644</c:v>
                </c:pt>
                <c:pt idx="2">
                  <c:v>0.22378100384089578</c:v>
                </c:pt>
                <c:pt idx="3">
                  <c:v>0.23776080030148344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4760420288578767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지역별연령별여행추이!$B$22:$B$25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지역별연령별여행추이!$D$22:$D$25</c:f>
              <c:numCache>
                <c:formatCode>0%</c:formatCode>
                <c:ptCount val="4"/>
                <c:pt idx="0">
                  <c:v>0.45594369134515123</c:v>
                </c:pt>
                <c:pt idx="1">
                  <c:v>0.43053560435050275</c:v>
                </c:pt>
                <c:pt idx="2">
                  <c:v>0.43473732178894603</c:v>
                </c:pt>
                <c:pt idx="3">
                  <c:v>0.4220425502757888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지역별연령별여행추이!$B$22:$B$25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지역별연령별여행추이!$E$22:$E$25</c:f>
              <c:numCache>
                <c:formatCode>0%</c:formatCode>
                <c:ptCount val="4"/>
                <c:pt idx="0">
                  <c:v>8.5207805750037238E-2</c:v>
                </c:pt>
                <c:pt idx="1">
                  <c:v>9.0464464053628846E-2</c:v>
                </c:pt>
                <c:pt idx="2">
                  <c:v>6.7931775275047193E-2</c:v>
                </c:pt>
                <c:pt idx="3">
                  <c:v>6.591524204323547E-2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지역별연령별여행추이!$B$22:$B$25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지역별연령별여행추이!$F$22:$F$25</c:f>
              <c:numCache>
                <c:formatCode>0%</c:formatCode>
                <c:ptCount val="4"/>
                <c:pt idx="0">
                  <c:v>0.10714285714285714</c:v>
                </c:pt>
                <c:pt idx="1">
                  <c:v>0.12647923934605651</c:v>
                </c:pt>
                <c:pt idx="2">
                  <c:v>0.14631208905670204</c:v>
                </c:pt>
                <c:pt idx="3">
                  <c:v>0.14282777758744733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지역별연령별여행추이!$B$22:$B$25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지역별연령별여행추이!$G$22:$G$25</c:f>
              <c:numCache>
                <c:formatCode>0%</c:formatCode>
                <c:ptCount val="4"/>
                <c:pt idx="0">
                  <c:v>2.8266050945925814E-2</c:v>
                </c:pt>
                <c:pt idx="1">
                  <c:v>3.4988713318284424E-2</c:v>
                </c:pt>
                <c:pt idx="2">
                  <c:v>3.769285853785561E-2</c:v>
                </c:pt>
                <c:pt idx="3">
                  <c:v>3.9603960396039604E-2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지역별연령별여행추이!$B$22:$B$25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지역별연령별여행추이!$H$22:$H$25</c:f>
              <c:numCache>
                <c:formatCode>0%</c:formatCode>
                <c:ptCount val="4"/>
                <c:pt idx="0">
                  <c:v>5.0238343512587519E-2</c:v>
                </c:pt>
                <c:pt idx="1">
                  <c:v>5.8211915999726381E-2</c:v>
                </c:pt>
                <c:pt idx="2">
                  <c:v>5.133129353557711E-2</c:v>
                </c:pt>
                <c:pt idx="3">
                  <c:v>5.5260543355373601E-2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rgbClr val="521F9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지역별연령별여행추이!$B$22:$B$25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지역별연령별여행추이!$I$22:$I$25</c:f>
              <c:numCache>
                <c:formatCode>0%</c:formatCode>
                <c:ptCount val="4"/>
                <c:pt idx="0">
                  <c:v>3.1357068374795176E-2</c:v>
                </c:pt>
                <c:pt idx="1">
                  <c:v>4.210274300567754E-2</c:v>
                </c:pt>
                <c:pt idx="2">
                  <c:v>3.2517414230844345E-2</c:v>
                </c:pt>
                <c:pt idx="3">
                  <c:v>2.7852958306211244E-2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744642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1.26120352580865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1.26120352580865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지역별연령별여행추이!$B$22:$B$25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지역별연령별여행추이!$J$22:$J$25</c:f>
              <c:numCache>
                <c:formatCode>0%</c:formatCode>
                <c:ptCount val="4"/>
                <c:pt idx="0">
                  <c:v>3.1654997765529569E-3</c:v>
                </c:pt>
                <c:pt idx="1">
                  <c:v>4.9935016074970926E-3</c:v>
                </c:pt>
                <c:pt idx="2">
                  <c:v>5.6962437341318926E-3</c:v>
                </c:pt>
                <c:pt idx="3">
                  <c:v>8.7361677344205014E-3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52476112"/>
        <c:axId val="552476672"/>
      </c:barChart>
      <c:catAx>
        <c:axId val="55247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2476672"/>
        <c:crosses val="autoZero"/>
        <c:auto val="1"/>
        <c:lblAlgn val="ctr"/>
        <c:lblOffset val="100"/>
        <c:noMultiLvlLbl val="0"/>
      </c:catAx>
      <c:valAx>
        <c:axId val="552476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5247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지역별연령별여행추이!$C$43:$C$46</c:f>
              <c:numCache>
                <c:formatCode>0%</c:formatCode>
                <c:ptCount val="4"/>
                <c:pt idx="0">
                  <c:v>0.17836299272866438</c:v>
                </c:pt>
                <c:pt idx="1">
                  <c:v>0.16361303566846291</c:v>
                </c:pt>
                <c:pt idx="2">
                  <c:v>0.17022047282123107</c:v>
                </c:pt>
                <c:pt idx="3">
                  <c:v>0.16914469253483913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5917006865744101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지역별연령별여행추이!$D$43:$D$46</c:f>
              <c:numCache>
                <c:formatCode>0%</c:formatCode>
                <c:ptCount val="4"/>
                <c:pt idx="0">
                  <c:v>0.44405376961347109</c:v>
                </c:pt>
                <c:pt idx="1">
                  <c:v>0.42019502181164997</c:v>
                </c:pt>
                <c:pt idx="2">
                  <c:v>0.44215305112168263</c:v>
                </c:pt>
                <c:pt idx="3">
                  <c:v>0.42780914883696836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지역별연령별여행추이!$E$43:$E$46</c:f>
              <c:numCache>
                <c:formatCode>0%</c:formatCode>
                <c:ptCount val="4"/>
                <c:pt idx="0">
                  <c:v>6.3145809414466125E-2</c:v>
                </c:pt>
                <c:pt idx="1">
                  <c:v>7.023351295868617E-2</c:v>
                </c:pt>
                <c:pt idx="2">
                  <c:v>6.1022433652894156E-2</c:v>
                </c:pt>
                <c:pt idx="3">
                  <c:v>6.9704191058384712E-2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3.197233562191479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지역별연령별여행추이!$F$43:$F$46</c:f>
              <c:numCache>
                <c:formatCode>0%</c:formatCode>
                <c:ptCount val="4"/>
                <c:pt idx="0">
                  <c:v>8.5892652123995411E-2</c:v>
                </c:pt>
                <c:pt idx="1">
                  <c:v>9.5996920708237107E-2</c:v>
                </c:pt>
                <c:pt idx="2">
                  <c:v>0.11173359735336022</c:v>
                </c:pt>
                <c:pt idx="3">
                  <c:v>0.11417914313837227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지역별연령별여행추이!$G$43:$G$46</c:f>
              <c:numCache>
                <c:formatCode>0%</c:formatCode>
                <c:ptCount val="4"/>
                <c:pt idx="0">
                  <c:v>4.1690585533869118E-2</c:v>
                </c:pt>
                <c:pt idx="1">
                  <c:v>4.3315370798049785E-2</c:v>
                </c:pt>
                <c:pt idx="2">
                  <c:v>3.9747893071889112E-2</c:v>
                </c:pt>
                <c:pt idx="3">
                  <c:v>3.7766150339325497E-2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3.197233562191479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3.1972335621914794E-3"/>
                  <c:y val="-1.9312710906684574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지역별연령별여행추이!$H$43:$H$46</c:f>
              <c:numCache>
                <c:formatCode>0%</c:formatCode>
                <c:ptCount val="4"/>
                <c:pt idx="0">
                  <c:v>0.14922981247608114</c:v>
                </c:pt>
                <c:pt idx="1">
                  <c:v>0.15789068514241725</c:v>
                </c:pt>
                <c:pt idx="2">
                  <c:v>0.13979377460095144</c:v>
                </c:pt>
                <c:pt idx="3">
                  <c:v>0.14912189815054655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rgbClr val="521F9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지역별연령별여행추이!$I$43:$I$46</c:f>
              <c:numCache>
                <c:formatCode>0%</c:formatCode>
                <c:ptCount val="4"/>
                <c:pt idx="0">
                  <c:v>3.2768848067355527E-2</c:v>
                </c:pt>
                <c:pt idx="1">
                  <c:v>4.2981780857069538E-2</c:v>
                </c:pt>
                <c:pt idx="2">
                  <c:v>2.9340030426698221E-2</c:v>
                </c:pt>
                <c:pt idx="3">
                  <c:v>2.4452157695694969E-2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744642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-1.26411931693760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6.3944671243829007E-3"/>
                  <c:y val="-1.26411931693760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6.3944671243829588E-3"/>
                  <c:y val="-1.26411931693760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지역별연령별여행추이!$B$43:$B$46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지역별연령별여행추이!$J$43:$J$46</c:f>
              <c:numCache>
                <c:formatCode>0%</c:formatCode>
                <c:ptCount val="4"/>
                <c:pt idx="0">
                  <c:v>4.8555300420972062E-3</c:v>
                </c:pt>
                <c:pt idx="1">
                  <c:v>5.7736720554272519E-3</c:v>
                </c:pt>
                <c:pt idx="2">
                  <c:v>5.9887469512931351E-3</c:v>
                </c:pt>
                <c:pt idx="3">
                  <c:v>7.8226182458685182E-3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5462496"/>
        <c:axId val="845463056"/>
      </c:barChart>
      <c:catAx>
        <c:axId val="84546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45463056"/>
        <c:crosses val="autoZero"/>
        <c:auto val="1"/>
        <c:lblAlgn val="ctr"/>
        <c:lblOffset val="100"/>
        <c:noMultiLvlLbl val="0"/>
      </c:catAx>
      <c:valAx>
        <c:axId val="845463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45462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지역별연령별여행추이!$B$64:$B$67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지역별연령별여행추이!$C$64:$C$67</c:f>
              <c:numCache>
                <c:formatCode>0%</c:formatCode>
                <c:ptCount val="4"/>
                <c:pt idx="0">
                  <c:v>0.23713815789473683</c:v>
                </c:pt>
                <c:pt idx="1">
                  <c:v>0.19591830937908311</c:v>
                </c:pt>
                <c:pt idx="2">
                  <c:v>0.18184646309945438</c:v>
                </c:pt>
                <c:pt idx="3">
                  <c:v>0.16688119755911518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지역별연령별여행추이!$B$64:$B$67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지역별연령별여행추이!$D$64:$D$67</c:f>
              <c:numCache>
                <c:formatCode>0%</c:formatCode>
                <c:ptCount val="4"/>
                <c:pt idx="0">
                  <c:v>0.3582730263157895</c:v>
                </c:pt>
                <c:pt idx="1">
                  <c:v>0.37928194057831049</c:v>
                </c:pt>
                <c:pt idx="2">
                  <c:v>0.42091030917966882</c:v>
                </c:pt>
                <c:pt idx="3">
                  <c:v>0.43846538901601828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지역별연령별여행추이!$B$64:$B$67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지역별연령별여행추이!$E$64:$E$67</c:f>
              <c:numCache>
                <c:formatCode>0%</c:formatCode>
                <c:ptCount val="4"/>
                <c:pt idx="0">
                  <c:v>0.12041118421052631</c:v>
                </c:pt>
                <c:pt idx="1">
                  <c:v>0.11938305970573197</c:v>
                </c:pt>
                <c:pt idx="2">
                  <c:v>7.1204652053221018E-2</c:v>
                </c:pt>
                <c:pt idx="3">
                  <c:v>7.5884344012204424E-2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지역별연령별여행추이!$B$64:$B$67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지역별연령별여행추이!$F$64:$F$67</c:f>
              <c:numCache>
                <c:formatCode>0%</c:formatCode>
                <c:ptCount val="4"/>
                <c:pt idx="0">
                  <c:v>0.13945723684210526</c:v>
                </c:pt>
                <c:pt idx="1">
                  <c:v>0.15328353121626995</c:v>
                </c:pt>
                <c:pt idx="2">
                  <c:v>0.17995596822054177</c:v>
                </c:pt>
                <c:pt idx="3">
                  <c:v>0.16640446224256292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지역별연령별여행추이!$B$64:$B$67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지역별연령별여행추이!$G$64:$G$67</c:f>
              <c:numCache>
                <c:formatCode>0%</c:formatCode>
                <c:ptCount val="4"/>
                <c:pt idx="0">
                  <c:v>2.356907894736842E-2</c:v>
                </c:pt>
                <c:pt idx="1">
                  <c:v>2.6685792194512298E-2</c:v>
                </c:pt>
                <c:pt idx="2">
                  <c:v>3.0283813534986121E-2</c:v>
                </c:pt>
                <c:pt idx="3">
                  <c:v>2.9462242562929061E-2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지역별연령별여행추이!$B$64:$B$67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지역별연령별여행추이!$H$64:$H$67</c:f>
              <c:numCache>
                <c:formatCode>0%</c:formatCode>
                <c:ptCount val="4"/>
                <c:pt idx="0">
                  <c:v>7.4424342105263164E-2</c:v>
                </c:pt>
                <c:pt idx="1">
                  <c:v>7.4163494858830878E-2</c:v>
                </c:pt>
                <c:pt idx="2">
                  <c:v>7.7905140231645451E-2</c:v>
                </c:pt>
                <c:pt idx="3">
                  <c:v>8.749284897025171E-2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rgbClr val="521F9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지역별연령별여행추이!$B$64:$B$67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지역별연령별여행추이!$I$64:$I$67</c:f>
              <c:numCache>
                <c:formatCode>0%</c:formatCode>
                <c:ptCount val="4"/>
                <c:pt idx="0">
                  <c:v>4.3898026315789471E-2</c:v>
                </c:pt>
                <c:pt idx="1">
                  <c:v>4.6213713571550304E-2</c:v>
                </c:pt>
                <c:pt idx="2">
                  <c:v>3.2928113333971477E-2</c:v>
                </c:pt>
                <c:pt idx="3">
                  <c:v>3.0046243325705567E-2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744642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889483092473826E-2"/>
                  <c:y val="-1.398434247807812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3.1491384874563863E-2"/>
                  <c:y val="-1.410989807839503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지역별연령별여행추이!$B$64:$B$67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지역별연령별여행추이!$J$64:$J$67</c:f>
              <c:numCache>
                <c:formatCode>0%</c:formatCode>
                <c:ptCount val="4"/>
                <c:pt idx="0">
                  <c:v>2.8289473684210528E-3</c:v>
                </c:pt>
                <c:pt idx="1">
                  <c:v>5.0701584957109583E-3</c:v>
                </c:pt>
                <c:pt idx="2">
                  <c:v>4.9655403465109597E-3</c:v>
                </c:pt>
                <c:pt idx="3">
                  <c:v>5.3632723112128147E-3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5469216"/>
        <c:axId val="845469776"/>
      </c:barChart>
      <c:catAx>
        <c:axId val="845469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45469776"/>
        <c:crosses val="autoZero"/>
        <c:auto val="1"/>
        <c:lblAlgn val="ctr"/>
        <c:lblOffset val="100"/>
        <c:noMultiLvlLbl val="0"/>
      </c:catAx>
      <c:valAx>
        <c:axId val="845469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45469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지역별연령별여행추이!$B$85:$B$88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지역별연령별여행추이!$C$85:$C$88</c:f>
              <c:numCache>
                <c:formatCode>0%</c:formatCode>
                <c:ptCount val="4"/>
                <c:pt idx="0">
                  <c:v>0.33225153037814609</c:v>
                </c:pt>
                <c:pt idx="1">
                  <c:v>0.28976303052345914</c:v>
                </c:pt>
                <c:pt idx="2">
                  <c:v>0.28240676556217942</c:v>
                </c:pt>
                <c:pt idx="3">
                  <c:v>0.26791758380543429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지역별연령별여행추이!$B$85:$B$88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지역별연령별여행추이!$D$85:$D$88</c:f>
              <c:numCache>
                <c:formatCode>0%</c:formatCode>
                <c:ptCount val="4"/>
                <c:pt idx="0">
                  <c:v>0.25167586199178577</c:v>
                </c:pt>
                <c:pt idx="1">
                  <c:v>0.27294854936630947</c:v>
                </c:pt>
                <c:pt idx="2">
                  <c:v>0.32674800129395998</c:v>
                </c:pt>
                <c:pt idx="3">
                  <c:v>0.33313607332298922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지역별연령별여행추이!$B$85:$B$88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지역별연령별여행추이!$E$85:$E$88</c:f>
              <c:numCache>
                <c:formatCode>0%</c:formatCode>
                <c:ptCount val="4"/>
                <c:pt idx="0">
                  <c:v>0.17910180511879314</c:v>
                </c:pt>
                <c:pt idx="1">
                  <c:v>0.18759850413600798</c:v>
                </c:pt>
                <c:pt idx="2">
                  <c:v>9.8733767734183644E-2</c:v>
                </c:pt>
                <c:pt idx="3">
                  <c:v>0.11515173384332263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지역별연령별여행추이!$B$85:$B$88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지역별연령별여행추이!$F$85:$F$88</c:f>
              <c:numCache>
                <c:formatCode>0%</c:formatCode>
                <c:ptCount val="4"/>
                <c:pt idx="0">
                  <c:v>0.12315767091554103</c:v>
                </c:pt>
                <c:pt idx="1">
                  <c:v>0.13355528821494186</c:v>
                </c:pt>
                <c:pt idx="2">
                  <c:v>0.16580402668022243</c:v>
                </c:pt>
                <c:pt idx="3">
                  <c:v>0.16209721069534153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지역별연령별여행추이!$B$85:$B$88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지역별연령별여행추이!$G$85:$G$88</c:f>
              <c:numCache>
                <c:formatCode>0%</c:formatCode>
                <c:ptCount val="4"/>
                <c:pt idx="0">
                  <c:v>2.6399722461586669E-2</c:v>
                </c:pt>
                <c:pt idx="1">
                  <c:v>3.0821885870426842E-2</c:v>
                </c:pt>
                <c:pt idx="2">
                  <c:v>3.8279649398462651E-2</c:v>
                </c:pt>
                <c:pt idx="3">
                  <c:v>3.7015119258109914E-2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지역별연령별여행추이!$B$85:$B$88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지역별연령별여행추이!$H$85:$H$88</c:f>
              <c:numCache>
                <c:formatCode>0%</c:formatCode>
                <c:ptCount val="4"/>
                <c:pt idx="0">
                  <c:v>2.6892129323947762E-2</c:v>
                </c:pt>
                <c:pt idx="1">
                  <c:v>3.2034244467448174E-2</c:v>
                </c:pt>
                <c:pt idx="2">
                  <c:v>3.4313045889366421E-2</c:v>
                </c:pt>
                <c:pt idx="3">
                  <c:v>3.4546963518926138E-2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rgbClr val="521F9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지역별연령별여행추이!$B$85:$B$88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지역별연령별여행추이!$I$85:$I$88</c:f>
              <c:numCache>
                <c:formatCode>0%</c:formatCode>
                <c:ptCount val="4"/>
                <c:pt idx="0">
                  <c:v>5.410879953445169E-2</c:v>
                </c:pt>
                <c:pt idx="1">
                  <c:v>4.4446931333874229E-2</c:v>
                </c:pt>
                <c:pt idx="2">
                  <c:v>4.211531648104503E-2</c:v>
                </c:pt>
                <c:pt idx="3">
                  <c:v>3.872550788438639E-2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74464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505932932749592E-2"/>
                  <c:y val="-1.268842815352398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5.7318197130397888E-17"/>
                  <c:y val="-1.550818986417720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6.252966466374796E-3"/>
                  <c:y val="-1.66967725434403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8758899399124274E-2"/>
                  <c:y val="-1.661518028890984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지역별연령별여행추이!$B$85:$B$88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지역별연령별여행추이!$J$85:$J$88</c:f>
              <c:numCache>
                <c:formatCode>0%</c:formatCode>
                <c:ptCount val="4"/>
                <c:pt idx="0">
                  <c:v>6.4124802757478429E-3</c:v>
                </c:pt>
                <c:pt idx="1">
                  <c:v>8.8315660875322912E-3</c:v>
                </c:pt>
                <c:pt idx="2">
                  <c:v>1.1599426960580434E-2</c:v>
                </c:pt>
                <c:pt idx="3">
                  <c:v>1.1409807671489915E-2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19794784"/>
        <c:axId val="519795344"/>
      </c:barChart>
      <c:catAx>
        <c:axId val="519794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9795344"/>
        <c:crosses val="autoZero"/>
        <c:auto val="1"/>
        <c:lblAlgn val="ctr"/>
        <c:lblOffset val="100"/>
        <c:noMultiLvlLbl val="0"/>
      </c:catAx>
      <c:valAx>
        <c:axId val="519795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9794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지역별연령별여행추이!$B$107:$B$110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지역별연령별여행추이!$C$107:$C$110</c:f>
              <c:numCache>
                <c:formatCode>0%</c:formatCode>
                <c:ptCount val="4"/>
                <c:pt idx="0">
                  <c:v>0.35127082078251948</c:v>
                </c:pt>
                <c:pt idx="1">
                  <c:v>0.3104781389911121</c:v>
                </c:pt>
                <c:pt idx="2">
                  <c:v>0.32125926699383939</c:v>
                </c:pt>
                <c:pt idx="3">
                  <c:v>0.30348645149770098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1281705054901857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6.2563410109803715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3.1281705054901857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지역별연령별여행추이!$B$107:$B$110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지역별연령별여행추이!$D$107:$D$110</c:f>
              <c:numCache>
                <c:formatCode>0%</c:formatCode>
                <c:ptCount val="4"/>
                <c:pt idx="0">
                  <c:v>0.21012097627692658</c:v>
                </c:pt>
                <c:pt idx="1">
                  <c:v>0.22182513849955493</c:v>
                </c:pt>
                <c:pt idx="2">
                  <c:v>0.27712227211026419</c:v>
                </c:pt>
                <c:pt idx="3">
                  <c:v>0.27238962546314899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지역별연령별여행추이!$B$107:$B$110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지역별연령별여행추이!$E$107:$E$110</c:f>
              <c:numCache>
                <c:formatCode>0%</c:formatCode>
                <c:ptCount val="4"/>
                <c:pt idx="0">
                  <c:v>0.19505999967435728</c:v>
                </c:pt>
                <c:pt idx="1">
                  <c:v>0.20903136666179539</c:v>
                </c:pt>
                <c:pt idx="2">
                  <c:v>9.5510076224287352E-2</c:v>
                </c:pt>
                <c:pt idx="3">
                  <c:v>0.13080666041694566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지역별연령별여행추이!$B$107:$B$110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지역별연령별여행추이!$F$107:$F$110</c:f>
              <c:numCache>
                <c:formatCode>0%</c:formatCode>
                <c:ptCount val="4"/>
                <c:pt idx="0">
                  <c:v>0.11368187960988001</c:v>
                </c:pt>
                <c:pt idx="1">
                  <c:v>0.1225970161151041</c:v>
                </c:pt>
                <c:pt idx="2">
                  <c:v>0.14805262608332465</c:v>
                </c:pt>
                <c:pt idx="3">
                  <c:v>0.14085085487255034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지역별연령별여행추이!$B$107:$B$110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지역별연령별여행추이!$G$107:$G$110</c:f>
              <c:numCache>
                <c:formatCode>0%</c:formatCode>
                <c:ptCount val="4"/>
                <c:pt idx="0">
                  <c:v>3.7123272058224924E-2</c:v>
                </c:pt>
                <c:pt idx="1">
                  <c:v>4.758804851802155E-2</c:v>
                </c:pt>
                <c:pt idx="2">
                  <c:v>5.9507152552991542E-2</c:v>
                </c:pt>
                <c:pt idx="3">
                  <c:v>5.8113477076916206E-2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지역별연령별여행추이!$B$107:$B$110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지역별연령별여행추이!$H$107:$H$110</c:f>
              <c:numCache>
                <c:formatCode>0%</c:formatCode>
                <c:ptCount val="4"/>
                <c:pt idx="0">
                  <c:v>3.3378380578667141E-2</c:v>
                </c:pt>
                <c:pt idx="1">
                  <c:v>3.6893358664027313E-2</c:v>
                </c:pt>
                <c:pt idx="2">
                  <c:v>3.9386029027879292E-2</c:v>
                </c:pt>
                <c:pt idx="3">
                  <c:v>3.9337529574572566E-2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rgbClr val="521F9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지역별연령별여행추이!$B$107:$B$110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지역별연령별여행추이!$I$107:$I$110</c:f>
              <c:numCache>
                <c:formatCode>0%</c:formatCode>
                <c:ptCount val="4"/>
                <c:pt idx="0">
                  <c:v>5.0686292068971135E-2</c:v>
                </c:pt>
                <c:pt idx="1">
                  <c:v>3.8899443344714429E-2</c:v>
                </c:pt>
                <c:pt idx="2">
                  <c:v>4.0680797744596431E-2</c:v>
                </c:pt>
                <c:pt idx="3">
                  <c:v>3.6569795991250389E-2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74464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1.26918602869359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1.71669902369280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1.9655061220737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3.1281705054901857E-3"/>
                  <c:y val="-1.963940459518628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지역별연령별여행추이!$B$107:$B$110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지역별연령별여행추이!$J$107:$J$110</c:f>
              <c:numCache>
                <c:formatCode>0%</c:formatCode>
                <c:ptCount val="4"/>
                <c:pt idx="0">
                  <c:v>8.6783789504534577E-3</c:v>
                </c:pt>
                <c:pt idx="1">
                  <c:v>1.2687489205670179E-2</c:v>
                </c:pt>
                <c:pt idx="2">
                  <c:v>1.8481779262817168E-2</c:v>
                </c:pt>
                <c:pt idx="3">
                  <c:v>1.844560510691487E-2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19801504"/>
        <c:axId val="519802064"/>
      </c:barChart>
      <c:catAx>
        <c:axId val="519801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9802064"/>
        <c:crosses val="autoZero"/>
        <c:auto val="1"/>
        <c:lblAlgn val="ctr"/>
        <c:lblOffset val="100"/>
        <c:noMultiLvlLbl val="0"/>
      </c:catAx>
      <c:valAx>
        <c:axId val="519802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9801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지역별연령별여행추이!$C$21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지역별연령별여행추이!$B$128:$B$131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지역별연령별여행추이!$C$128:$C$131</c:f>
              <c:numCache>
                <c:formatCode>0%</c:formatCode>
                <c:ptCount val="4"/>
                <c:pt idx="0">
                  <c:v>0.23168999797119091</c:v>
                </c:pt>
                <c:pt idx="1">
                  <c:v>0.21034282393957002</c:v>
                </c:pt>
                <c:pt idx="2">
                  <c:v>0.21046136698379841</c:v>
                </c:pt>
                <c:pt idx="3">
                  <c:v>0.20636239736728385</c:v>
                </c:pt>
              </c:numCache>
            </c:numRef>
          </c:val>
        </c:ser>
        <c:ser>
          <c:idx val="1"/>
          <c:order val="1"/>
          <c:tx>
            <c:strRef>
              <c:f>지역별연령별여행추이!$D$21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6.3257801691772629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지역별연령별여행추이!$B$128:$B$131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지역별연령별여행추이!$D$128:$D$131</c:f>
              <c:numCache>
                <c:formatCode>0%</c:formatCode>
                <c:ptCount val="4"/>
                <c:pt idx="0">
                  <c:v>0.25360113613308988</c:v>
                </c:pt>
                <c:pt idx="1">
                  <c:v>0.2629549416301305</c:v>
                </c:pt>
                <c:pt idx="2">
                  <c:v>0.31889654074280482</c:v>
                </c:pt>
                <c:pt idx="3">
                  <c:v>0.31303393943423197</c:v>
                </c:pt>
              </c:numCache>
            </c:numRef>
          </c:val>
        </c:ser>
        <c:ser>
          <c:idx val="2"/>
          <c:order val="2"/>
          <c:tx>
            <c:strRef>
              <c:f>지역별연령별여행추이!$E$21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지역별연령별여행추이!$B$128:$B$131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지역별연령별여행추이!$E$128:$E$131</c:f>
              <c:numCache>
                <c:formatCode>0%</c:formatCode>
                <c:ptCount val="4"/>
                <c:pt idx="0">
                  <c:v>0.1921282207344289</c:v>
                </c:pt>
                <c:pt idx="1">
                  <c:v>0.19697850087158628</c:v>
                </c:pt>
                <c:pt idx="2">
                  <c:v>8.7695553520958563E-2</c:v>
                </c:pt>
                <c:pt idx="3">
                  <c:v>0.1234584316723731</c:v>
                </c:pt>
              </c:numCache>
            </c:numRef>
          </c:val>
        </c:ser>
        <c:ser>
          <c:idx val="3"/>
          <c:order val="3"/>
          <c:tx>
            <c:strRef>
              <c:f>지역별연령별여행추이!$F$21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지역별연령별여행추이!$B$128:$B$131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지역별연령별여행추이!$F$128:$F$131</c:f>
              <c:numCache>
                <c:formatCode>0%</c:formatCode>
                <c:ptCount val="4"/>
                <c:pt idx="0">
                  <c:v>0.17488334347737877</c:v>
                </c:pt>
                <c:pt idx="1">
                  <c:v>0.19354497913475252</c:v>
                </c:pt>
                <c:pt idx="2">
                  <c:v>0.22511046534771706</c:v>
                </c:pt>
                <c:pt idx="3">
                  <c:v>0.20915467207392879</c:v>
                </c:pt>
              </c:numCache>
            </c:numRef>
          </c:val>
        </c:ser>
        <c:ser>
          <c:idx val="4"/>
          <c:order val="4"/>
          <c:tx>
            <c:strRef>
              <c:f>지역별연령별여행추이!$G$21</c:f>
              <c:strCache>
                <c:ptCount val="1"/>
                <c:pt idx="0">
                  <c:v>미주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지역별연령별여행추이!$B$128:$B$131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지역별연령별여행추이!$G$128:$G$131</c:f>
              <c:numCache>
                <c:formatCode>0%</c:formatCode>
                <c:ptCount val="4"/>
                <c:pt idx="0">
                  <c:v>3.2866707242848445E-2</c:v>
                </c:pt>
                <c:pt idx="1">
                  <c:v>3.9089324388569012E-2</c:v>
                </c:pt>
                <c:pt idx="2">
                  <c:v>4.4504597746904982E-2</c:v>
                </c:pt>
                <c:pt idx="3">
                  <c:v>4.7634876840740616E-2</c:v>
                </c:pt>
              </c:numCache>
            </c:numRef>
          </c:val>
        </c:ser>
        <c:ser>
          <c:idx val="5"/>
          <c:order val="5"/>
          <c:tx>
            <c:strRef>
              <c:f>지역별연령별여행추이!$H$21</c:f>
              <c:strCache>
                <c:ptCount val="1"/>
                <c:pt idx="0">
                  <c:v>대양주/괌사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지역별연령별여행추이!$B$128:$B$131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지역별연령별여행추이!$H$128:$H$131</c:f>
              <c:numCache>
                <c:formatCode>0%</c:formatCode>
                <c:ptCount val="4"/>
                <c:pt idx="0">
                  <c:v>3.8885507540407115E-2</c:v>
                </c:pt>
                <c:pt idx="1">
                  <c:v>3.5074745127040306E-2</c:v>
                </c:pt>
                <c:pt idx="2">
                  <c:v>3.7856773217626684E-2</c:v>
                </c:pt>
                <c:pt idx="3">
                  <c:v>3.7662467174151511E-2</c:v>
                </c:pt>
              </c:numCache>
            </c:numRef>
          </c:val>
        </c:ser>
        <c:ser>
          <c:idx val="6"/>
          <c:order val="6"/>
          <c:tx>
            <c:strRef>
              <c:f>지역별연령별여행추이!$I$21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rgbClr val="521F9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지역별연령별여행추이!$B$128:$B$131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지역별연령별여행추이!$I$128:$I$131</c:f>
              <c:numCache>
                <c:formatCode>0%</c:formatCode>
                <c:ptCount val="4"/>
                <c:pt idx="0">
                  <c:v>7.0196794481639277E-2</c:v>
                </c:pt>
                <c:pt idx="1">
                  <c:v>5.2929058158575883E-2</c:v>
                </c:pt>
                <c:pt idx="2">
                  <c:v>5.7959476135504159E-2</c:v>
                </c:pt>
                <c:pt idx="3">
                  <c:v>4.7402187281853539E-2</c:v>
                </c:pt>
              </c:numCache>
            </c:numRef>
          </c:val>
        </c:ser>
        <c:ser>
          <c:idx val="7"/>
          <c:order val="7"/>
          <c:tx>
            <c:strRef>
              <c:f>지역별연령별여행추이!$J$21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74464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4886702537658931E-3"/>
                  <c:y val="-1.415474759016534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1.558835838941333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3.1628900845886892E-3"/>
                  <c:y val="-1.920991968325040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1597129672460049E-16"/>
                  <c:y val="-1.825428987105474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지역별연령별여행추이!$B$128:$B$131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지역별연령별여행추이!$J$128:$J$131</c:f>
              <c:numCache>
                <c:formatCode>0%</c:formatCode>
                <c:ptCount val="4"/>
                <c:pt idx="0">
                  <c:v>5.7482924190167036E-3</c:v>
                </c:pt>
                <c:pt idx="1">
                  <c:v>9.0856267497754998E-3</c:v>
                </c:pt>
                <c:pt idx="2">
                  <c:v>1.7515226304685324E-2</c:v>
                </c:pt>
                <c:pt idx="3">
                  <c:v>1.5291028155436625E-2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19808224"/>
        <c:axId val="519808784"/>
      </c:barChart>
      <c:catAx>
        <c:axId val="519808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9808784"/>
        <c:crosses val="autoZero"/>
        <c:auto val="1"/>
        <c:lblAlgn val="ctr"/>
        <c:lblOffset val="100"/>
        <c:noMultiLvlLbl val="0"/>
      </c:catAx>
      <c:valAx>
        <c:axId val="519808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9808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년도별선행예약시점!$C$8</c:f>
              <c:strCache>
                <c:ptCount val="1"/>
                <c:pt idx="0">
                  <c:v>2015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년도별선행예약시점!$B$9:$B$303</c:f>
              <c:numCache>
                <c:formatCode>General</c:formatCode>
                <c:ptCount val="29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226</c:v>
                </c:pt>
                <c:pt idx="225">
                  <c:v>228</c:v>
                </c:pt>
                <c:pt idx="226">
                  <c:v>229</c:v>
                </c:pt>
                <c:pt idx="227">
                  <c:v>232</c:v>
                </c:pt>
                <c:pt idx="228">
                  <c:v>233</c:v>
                </c:pt>
                <c:pt idx="229">
                  <c:v>235</c:v>
                </c:pt>
                <c:pt idx="230">
                  <c:v>236</c:v>
                </c:pt>
                <c:pt idx="231">
                  <c:v>237</c:v>
                </c:pt>
                <c:pt idx="232">
                  <c:v>238</c:v>
                </c:pt>
                <c:pt idx="233">
                  <c:v>240</c:v>
                </c:pt>
                <c:pt idx="234">
                  <c:v>241</c:v>
                </c:pt>
                <c:pt idx="235">
                  <c:v>242</c:v>
                </c:pt>
                <c:pt idx="236">
                  <c:v>243</c:v>
                </c:pt>
                <c:pt idx="237">
                  <c:v>244</c:v>
                </c:pt>
                <c:pt idx="238">
                  <c:v>246</c:v>
                </c:pt>
                <c:pt idx="239">
                  <c:v>247</c:v>
                </c:pt>
                <c:pt idx="240">
                  <c:v>249</c:v>
                </c:pt>
                <c:pt idx="241">
                  <c:v>250</c:v>
                </c:pt>
                <c:pt idx="242">
                  <c:v>251</c:v>
                </c:pt>
                <c:pt idx="243">
                  <c:v>252</c:v>
                </c:pt>
                <c:pt idx="244">
                  <c:v>253</c:v>
                </c:pt>
                <c:pt idx="245">
                  <c:v>254</c:v>
                </c:pt>
                <c:pt idx="246">
                  <c:v>255</c:v>
                </c:pt>
                <c:pt idx="247">
                  <c:v>256</c:v>
                </c:pt>
                <c:pt idx="248">
                  <c:v>257</c:v>
                </c:pt>
                <c:pt idx="249">
                  <c:v>258</c:v>
                </c:pt>
                <c:pt idx="250">
                  <c:v>259</c:v>
                </c:pt>
                <c:pt idx="251">
                  <c:v>263</c:v>
                </c:pt>
                <c:pt idx="252">
                  <c:v>265</c:v>
                </c:pt>
                <c:pt idx="253">
                  <c:v>266</c:v>
                </c:pt>
                <c:pt idx="254">
                  <c:v>268</c:v>
                </c:pt>
                <c:pt idx="255">
                  <c:v>273</c:v>
                </c:pt>
                <c:pt idx="256">
                  <c:v>275</c:v>
                </c:pt>
                <c:pt idx="257">
                  <c:v>277</c:v>
                </c:pt>
                <c:pt idx="258">
                  <c:v>278</c:v>
                </c:pt>
                <c:pt idx="259">
                  <c:v>279</c:v>
                </c:pt>
                <c:pt idx="260">
                  <c:v>281</c:v>
                </c:pt>
                <c:pt idx="261">
                  <c:v>284</c:v>
                </c:pt>
                <c:pt idx="262">
                  <c:v>285</c:v>
                </c:pt>
                <c:pt idx="263">
                  <c:v>286</c:v>
                </c:pt>
                <c:pt idx="264">
                  <c:v>287</c:v>
                </c:pt>
                <c:pt idx="265">
                  <c:v>288</c:v>
                </c:pt>
                <c:pt idx="266">
                  <c:v>290</c:v>
                </c:pt>
                <c:pt idx="267">
                  <c:v>302</c:v>
                </c:pt>
                <c:pt idx="268">
                  <c:v>303</c:v>
                </c:pt>
                <c:pt idx="269">
                  <c:v>304</c:v>
                </c:pt>
                <c:pt idx="270">
                  <c:v>306</c:v>
                </c:pt>
                <c:pt idx="271">
                  <c:v>307</c:v>
                </c:pt>
                <c:pt idx="272">
                  <c:v>309</c:v>
                </c:pt>
                <c:pt idx="273">
                  <c:v>310</c:v>
                </c:pt>
                <c:pt idx="274">
                  <c:v>323</c:v>
                </c:pt>
                <c:pt idx="275">
                  <c:v>331</c:v>
                </c:pt>
                <c:pt idx="276">
                  <c:v>335</c:v>
                </c:pt>
                <c:pt idx="277">
                  <c:v>337</c:v>
                </c:pt>
                <c:pt idx="278">
                  <c:v>339</c:v>
                </c:pt>
                <c:pt idx="279">
                  <c:v>341</c:v>
                </c:pt>
                <c:pt idx="280">
                  <c:v>344</c:v>
                </c:pt>
                <c:pt idx="281">
                  <c:v>353</c:v>
                </c:pt>
                <c:pt idx="282">
                  <c:v>362</c:v>
                </c:pt>
                <c:pt idx="283">
                  <c:v>395</c:v>
                </c:pt>
                <c:pt idx="284">
                  <c:v>408</c:v>
                </c:pt>
                <c:pt idx="285">
                  <c:v>409</c:v>
                </c:pt>
                <c:pt idx="286">
                  <c:v>414</c:v>
                </c:pt>
                <c:pt idx="287">
                  <c:v>424</c:v>
                </c:pt>
                <c:pt idx="288">
                  <c:v>433</c:v>
                </c:pt>
                <c:pt idx="289">
                  <c:v>465</c:v>
                </c:pt>
                <c:pt idx="290">
                  <c:v>467</c:v>
                </c:pt>
                <c:pt idx="291">
                  <c:v>488</c:v>
                </c:pt>
                <c:pt idx="292">
                  <c:v>544</c:v>
                </c:pt>
                <c:pt idx="293">
                  <c:v>562</c:v>
                </c:pt>
                <c:pt idx="294">
                  <c:v>695</c:v>
                </c:pt>
              </c:numCache>
            </c:numRef>
          </c:cat>
          <c:val>
            <c:numRef>
              <c:f>년도별선행예약시점!$C$9:$C$303</c:f>
              <c:numCache>
                <c:formatCode>General</c:formatCode>
                <c:ptCount val="295"/>
                <c:pt idx="0">
                  <c:v>2</c:v>
                </c:pt>
                <c:pt idx="1">
                  <c:v>59</c:v>
                </c:pt>
                <c:pt idx="2">
                  <c:v>147</c:v>
                </c:pt>
                <c:pt idx="3">
                  <c:v>295</c:v>
                </c:pt>
                <c:pt idx="4">
                  <c:v>420</c:v>
                </c:pt>
                <c:pt idx="5">
                  <c:v>479</c:v>
                </c:pt>
                <c:pt idx="6">
                  <c:v>591</c:v>
                </c:pt>
                <c:pt idx="7">
                  <c:v>665</c:v>
                </c:pt>
                <c:pt idx="8">
                  <c:v>822</c:v>
                </c:pt>
                <c:pt idx="9">
                  <c:v>858</c:v>
                </c:pt>
                <c:pt idx="10">
                  <c:v>974</c:v>
                </c:pt>
                <c:pt idx="11">
                  <c:v>1131</c:v>
                </c:pt>
                <c:pt idx="12">
                  <c:v>1063</c:v>
                </c:pt>
                <c:pt idx="13">
                  <c:v>964</c:v>
                </c:pt>
                <c:pt idx="14">
                  <c:v>1152</c:v>
                </c:pt>
                <c:pt idx="15">
                  <c:v>1218</c:v>
                </c:pt>
                <c:pt idx="16">
                  <c:v>1235</c:v>
                </c:pt>
                <c:pt idx="17">
                  <c:v>1186</c:v>
                </c:pt>
                <c:pt idx="18">
                  <c:v>1254</c:v>
                </c:pt>
                <c:pt idx="19">
                  <c:v>1241</c:v>
                </c:pt>
                <c:pt idx="20">
                  <c:v>1175</c:v>
                </c:pt>
                <c:pt idx="21">
                  <c:v>1091</c:v>
                </c:pt>
                <c:pt idx="22">
                  <c:v>1218</c:v>
                </c:pt>
                <c:pt idx="23">
                  <c:v>1165</c:v>
                </c:pt>
                <c:pt idx="24">
                  <c:v>1258</c:v>
                </c:pt>
                <c:pt idx="25">
                  <c:v>1091</c:v>
                </c:pt>
                <c:pt idx="26">
                  <c:v>1163</c:v>
                </c:pt>
                <c:pt idx="27">
                  <c:v>1139</c:v>
                </c:pt>
                <c:pt idx="28">
                  <c:v>1170</c:v>
                </c:pt>
                <c:pt idx="29">
                  <c:v>1184</c:v>
                </c:pt>
                <c:pt idx="30">
                  <c:v>1288</c:v>
                </c:pt>
                <c:pt idx="31">
                  <c:v>1253</c:v>
                </c:pt>
                <c:pt idx="32">
                  <c:v>1048</c:v>
                </c:pt>
                <c:pt idx="33">
                  <c:v>1076</c:v>
                </c:pt>
                <c:pt idx="34">
                  <c:v>1066</c:v>
                </c:pt>
                <c:pt idx="35">
                  <c:v>1005</c:v>
                </c:pt>
                <c:pt idx="36">
                  <c:v>1218</c:v>
                </c:pt>
                <c:pt idx="37">
                  <c:v>1250</c:v>
                </c:pt>
                <c:pt idx="38">
                  <c:v>1080</c:v>
                </c:pt>
                <c:pt idx="39">
                  <c:v>1112</c:v>
                </c:pt>
                <c:pt idx="40">
                  <c:v>1000</c:v>
                </c:pt>
                <c:pt idx="41">
                  <c:v>930</c:v>
                </c:pt>
                <c:pt idx="42">
                  <c:v>798</c:v>
                </c:pt>
                <c:pt idx="43">
                  <c:v>940</c:v>
                </c:pt>
                <c:pt idx="44">
                  <c:v>1063</c:v>
                </c:pt>
                <c:pt idx="45">
                  <c:v>919</c:v>
                </c:pt>
                <c:pt idx="46">
                  <c:v>895</c:v>
                </c:pt>
                <c:pt idx="47">
                  <c:v>764</c:v>
                </c:pt>
                <c:pt idx="48">
                  <c:v>817</c:v>
                </c:pt>
                <c:pt idx="49">
                  <c:v>814</c:v>
                </c:pt>
                <c:pt idx="50">
                  <c:v>933</c:v>
                </c:pt>
                <c:pt idx="51">
                  <c:v>883</c:v>
                </c:pt>
                <c:pt idx="52">
                  <c:v>897</c:v>
                </c:pt>
                <c:pt idx="53">
                  <c:v>739</c:v>
                </c:pt>
                <c:pt idx="54">
                  <c:v>753</c:v>
                </c:pt>
                <c:pt idx="55">
                  <c:v>682</c:v>
                </c:pt>
                <c:pt idx="56">
                  <c:v>779</c:v>
                </c:pt>
                <c:pt idx="57">
                  <c:v>754</c:v>
                </c:pt>
                <c:pt idx="58">
                  <c:v>772</c:v>
                </c:pt>
                <c:pt idx="59">
                  <c:v>858</c:v>
                </c:pt>
                <c:pt idx="60">
                  <c:v>683</c:v>
                </c:pt>
                <c:pt idx="61">
                  <c:v>696</c:v>
                </c:pt>
                <c:pt idx="62">
                  <c:v>691</c:v>
                </c:pt>
                <c:pt idx="63">
                  <c:v>646</c:v>
                </c:pt>
                <c:pt idx="64">
                  <c:v>735</c:v>
                </c:pt>
                <c:pt idx="65">
                  <c:v>715</c:v>
                </c:pt>
                <c:pt idx="66">
                  <c:v>596</c:v>
                </c:pt>
                <c:pt idx="67">
                  <c:v>578</c:v>
                </c:pt>
                <c:pt idx="68">
                  <c:v>591</c:v>
                </c:pt>
                <c:pt idx="69">
                  <c:v>443</c:v>
                </c:pt>
                <c:pt idx="70">
                  <c:v>502</c:v>
                </c:pt>
                <c:pt idx="71">
                  <c:v>610</c:v>
                </c:pt>
                <c:pt idx="72">
                  <c:v>579</c:v>
                </c:pt>
                <c:pt idx="73">
                  <c:v>457</c:v>
                </c:pt>
                <c:pt idx="74">
                  <c:v>524</c:v>
                </c:pt>
                <c:pt idx="75">
                  <c:v>575</c:v>
                </c:pt>
                <c:pt idx="76">
                  <c:v>418</c:v>
                </c:pt>
                <c:pt idx="77">
                  <c:v>532</c:v>
                </c:pt>
                <c:pt idx="78">
                  <c:v>528</c:v>
                </c:pt>
                <c:pt idx="79">
                  <c:v>501</c:v>
                </c:pt>
                <c:pt idx="80">
                  <c:v>547</c:v>
                </c:pt>
                <c:pt idx="81">
                  <c:v>569</c:v>
                </c:pt>
                <c:pt idx="82">
                  <c:v>395</c:v>
                </c:pt>
                <c:pt idx="83">
                  <c:v>404</c:v>
                </c:pt>
                <c:pt idx="84">
                  <c:v>446</c:v>
                </c:pt>
                <c:pt idx="85">
                  <c:v>512</c:v>
                </c:pt>
                <c:pt idx="86">
                  <c:v>385</c:v>
                </c:pt>
                <c:pt idx="87">
                  <c:v>369</c:v>
                </c:pt>
                <c:pt idx="88">
                  <c:v>409</c:v>
                </c:pt>
                <c:pt idx="89">
                  <c:v>398</c:v>
                </c:pt>
                <c:pt idx="90">
                  <c:v>395</c:v>
                </c:pt>
                <c:pt idx="91">
                  <c:v>388</c:v>
                </c:pt>
                <c:pt idx="92">
                  <c:v>437</c:v>
                </c:pt>
                <c:pt idx="93">
                  <c:v>403</c:v>
                </c:pt>
                <c:pt idx="94">
                  <c:v>432</c:v>
                </c:pt>
                <c:pt idx="95">
                  <c:v>361</c:v>
                </c:pt>
                <c:pt idx="96">
                  <c:v>393</c:v>
                </c:pt>
                <c:pt idx="97">
                  <c:v>310</c:v>
                </c:pt>
                <c:pt idx="98">
                  <c:v>363</c:v>
                </c:pt>
                <c:pt idx="99">
                  <c:v>368</c:v>
                </c:pt>
                <c:pt idx="100">
                  <c:v>293</c:v>
                </c:pt>
                <c:pt idx="101">
                  <c:v>325</c:v>
                </c:pt>
                <c:pt idx="102">
                  <c:v>353</c:v>
                </c:pt>
                <c:pt idx="103">
                  <c:v>383</c:v>
                </c:pt>
                <c:pt idx="104">
                  <c:v>242</c:v>
                </c:pt>
                <c:pt idx="105">
                  <c:v>362</c:v>
                </c:pt>
                <c:pt idx="106">
                  <c:v>252</c:v>
                </c:pt>
                <c:pt idx="107">
                  <c:v>235</c:v>
                </c:pt>
                <c:pt idx="108">
                  <c:v>335</c:v>
                </c:pt>
                <c:pt idx="109">
                  <c:v>258</c:v>
                </c:pt>
                <c:pt idx="110">
                  <c:v>276</c:v>
                </c:pt>
                <c:pt idx="111">
                  <c:v>236</c:v>
                </c:pt>
                <c:pt idx="112">
                  <c:v>282</c:v>
                </c:pt>
                <c:pt idx="113">
                  <c:v>251</c:v>
                </c:pt>
                <c:pt idx="114">
                  <c:v>198</c:v>
                </c:pt>
                <c:pt idx="115">
                  <c:v>272</c:v>
                </c:pt>
                <c:pt idx="116">
                  <c:v>169</c:v>
                </c:pt>
                <c:pt idx="117">
                  <c:v>223</c:v>
                </c:pt>
                <c:pt idx="118">
                  <c:v>175</c:v>
                </c:pt>
                <c:pt idx="119">
                  <c:v>190</c:v>
                </c:pt>
                <c:pt idx="120">
                  <c:v>175</c:v>
                </c:pt>
                <c:pt idx="121">
                  <c:v>191</c:v>
                </c:pt>
                <c:pt idx="122">
                  <c:v>197</c:v>
                </c:pt>
                <c:pt idx="123">
                  <c:v>187</c:v>
                </c:pt>
                <c:pt idx="124">
                  <c:v>142</c:v>
                </c:pt>
                <c:pt idx="125">
                  <c:v>160</c:v>
                </c:pt>
                <c:pt idx="126">
                  <c:v>96</c:v>
                </c:pt>
                <c:pt idx="127">
                  <c:v>132</c:v>
                </c:pt>
                <c:pt idx="128">
                  <c:v>138</c:v>
                </c:pt>
                <c:pt idx="129">
                  <c:v>184</c:v>
                </c:pt>
                <c:pt idx="130">
                  <c:v>167</c:v>
                </c:pt>
                <c:pt idx="131">
                  <c:v>179</c:v>
                </c:pt>
                <c:pt idx="132">
                  <c:v>117</c:v>
                </c:pt>
                <c:pt idx="133">
                  <c:v>93</c:v>
                </c:pt>
                <c:pt idx="134">
                  <c:v>114</c:v>
                </c:pt>
                <c:pt idx="135">
                  <c:v>126</c:v>
                </c:pt>
                <c:pt idx="136">
                  <c:v>111</c:v>
                </c:pt>
                <c:pt idx="137">
                  <c:v>68</c:v>
                </c:pt>
                <c:pt idx="138">
                  <c:v>100</c:v>
                </c:pt>
                <c:pt idx="139">
                  <c:v>61</c:v>
                </c:pt>
                <c:pt idx="140">
                  <c:v>131</c:v>
                </c:pt>
                <c:pt idx="141">
                  <c:v>100</c:v>
                </c:pt>
                <c:pt idx="142">
                  <c:v>131</c:v>
                </c:pt>
                <c:pt idx="143">
                  <c:v>121</c:v>
                </c:pt>
                <c:pt idx="144">
                  <c:v>86</c:v>
                </c:pt>
                <c:pt idx="145">
                  <c:v>71</c:v>
                </c:pt>
                <c:pt idx="146">
                  <c:v>66</c:v>
                </c:pt>
                <c:pt idx="147">
                  <c:v>88</c:v>
                </c:pt>
                <c:pt idx="148">
                  <c:v>86</c:v>
                </c:pt>
                <c:pt idx="149">
                  <c:v>98</c:v>
                </c:pt>
                <c:pt idx="150">
                  <c:v>78</c:v>
                </c:pt>
                <c:pt idx="151">
                  <c:v>118</c:v>
                </c:pt>
                <c:pt idx="152">
                  <c:v>74</c:v>
                </c:pt>
                <c:pt idx="153">
                  <c:v>62</c:v>
                </c:pt>
                <c:pt idx="154">
                  <c:v>94</c:v>
                </c:pt>
                <c:pt idx="155">
                  <c:v>37</c:v>
                </c:pt>
                <c:pt idx="156">
                  <c:v>56</c:v>
                </c:pt>
                <c:pt idx="157">
                  <c:v>83</c:v>
                </c:pt>
                <c:pt idx="158">
                  <c:v>84</c:v>
                </c:pt>
                <c:pt idx="159">
                  <c:v>70</c:v>
                </c:pt>
                <c:pt idx="160">
                  <c:v>69</c:v>
                </c:pt>
                <c:pt idx="161">
                  <c:v>46</c:v>
                </c:pt>
                <c:pt idx="162">
                  <c:v>65</c:v>
                </c:pt>
                <c:pt idx="163">
                  <c:v>56</c:v>
                </c:pt>
                <c:pt idx="164">
                  <c:v>82</c:v>
                </c:pt>
                <c:pt idx="165">
                  <c:v>25</c:v>
                </c:pt>
                <c:pt idx="166">
                  <c:v>83</c:v>
                </c:pt>
                <c:pt idx="167">
                  <c:v>58</c:v>
                </c:pt>
                <c:pt idx="168">
                  <c:v>53</c:v>
                </c:pt>
                <c:pt idx="169">
                  <c:v>48</c:v>
                </c:pt>
                <c:pt idx="170">
                  <c:v>28</c:v>
                </c:pt>
                <c:pt idx="171">
                  <c:v>83</c:v>
                </c:pt>
                <c:pt idx="172">
                  <c:v>56</c:v>
                </c:pt>
                <c:pt idx="173">
                  <c:v>40</c:v>
                </c:pt>
                <c:pt idx="174">
                  <c:v>27</c:v>
                </c:pt>
                <c:pt idx="175">
                  <c:v>30</c:v>
                </c:pt>
                <c:pt idx="176">
                  <c:v>50</c:v>
                </c:pt>
                <c:pt idx="177">
                  <c:v>22</c:v>
                </c:pt>
                <c:pt idx="178">
                  <c:v>60</c:v>
                </c:pt>
                <c:pt idx="179">
                  <c:v>19</c:v>
                </c:pt>
                <c:pt idx="180">
                  <c:v>39</c:v>
                </c:pt>
                <c:pt idx="181">
                  <c:v>35</c:v>
                </c:pt>
                <c:pt idx="182">
                  <c:v>46</c:v>
                </c:pt>
                <c:pt idx="183">
                  <c:v>21</c:v>
                </c:pt>
                <c:pt idx="184">
                  <c:v>23</c:v>
                </c:pt>
                <c:pt idx="185">
                  <c:v>30</c:v>
                </c:pt>
                <c:pt idx="186">
                  <c:v>16</c:v>
                </c:pt>
                <c:pt idx="187">
                  <c:v>50</c:v>
                </c:pt>
                <c:pt idx="188">
                  <c:v>38</c:v>
                </c:pt>
                <c:pt idx="189">
                  <c:v>19</c:v>
                </c:pt>
                <c:pt idx="190">
                  <c:v>44</c:v>
                </c:pt>
                <c:pt idx="191">
                  <c:v>14</c:v>
                </c:pt>
                <c:pt idx="192">
                  <c:v>5</c:v>
                </c:pt>
                <c:pt idx="193">
                  <c:v>11</c:v>
                </c:pt>
                <c:pt idx="194">
                  <c:v>12</c:v>
                </c:pt>
                <c:pt idx="195">
                  <c:v>26</c:v>
                </c:pt>
                <c:pt idx="196">
                  <c:v>4</c:v>
                </c:pt>
                <c:pt idx="197">
                  <c:v>13</c:v>
                </c:pt>
                <c:pt idx="198">
                  <c:v>2</c:v>
                </c:pt>
                <c:pt idx="199">
                  <c:v>22</c:v>
                </c:pt>
                <c:pt idx="200">
                  <c:v>6</c:v>
                </c:pt>
                <c:pt idx="201">
                  <c:v>8</c:v>
                </c:pt>
                <c:pt idx="202">
                  <c:v>10</c:v>
                </c:pt>
                <c:pt idx="203">
                  <c:v>22</c:v>
                </c:pt>
                <c:pt idx="204">
                  <c:v>3</c:v>
                </c:pt>
                <c:pt idx="205">
                  <c:v>8</c:v>
                </c:pt>
                <c:pt idx="206">
                  <c:v>27</c:v>
                </c:pt>
                <c:pt idx="207">
                  <c:v>8</c:v>
                </c:pt>
                <c:pt idx="208">
                  <c:v>5</c:v>
                </c:pt>
                <c:pt idx="209">
                  <c:v>11</c:v>
                </c:pt>
                <c:pt idx="210">
                  <c:v>14</c:v>
                </c:pt>
                <c:pt idx="211">
                  <c:v>13</c:v>
                </c:pt>
                <c:pt idx="212">
                  <c:v>20</c:v>
                </c:pt>
                <c:pt idx="213">
                  <c:v>16</c:v>
                </c:pt>
                <c:pt idx="214">
                  <c:v>8</c:v>
                </c:pt>
                <c:pt idx="215">
                  <c:v>5</c:v>
                </c:pt>
                <c:pt idx="216">
                  <c:v>16</c:v>
                </c:pt>
                <c:pt idx="217">
                  <c:v>2</c:v>
                </c:pt>
                <c:pt idx="218">
                  <c:v>21</c:v>
                </c:pt>
                <c:pt idx="219">
                  <c:v>16</c:v>
                </c:pt>
                <c:pt idx="220">
                  <c:v>11</c:v>
                </c:pt>
                <c:pt idx="221">
                  <c:v>12</c:v>
                </c:pt>
                <c:pt idx="222">
                  <c:v>9</c:v>
                </c:pt>
                <c:pt idx="223">
                  <c:v>10</c:v>
                </c:pt>
                <c:pt idx="224">
                  <c:v>2</c:v>
                </c:pt>
                <c:pt idx="225">
                  <c:v>2</c:v>
                </c:pt>
                <c:pt idx="226">
                  <c:v>5</c:v>
                </c:pt>
                <c:pt idx="227">
                  <c:v>2</c:v>
                </c:pt>
                <c:pt idx="228">
                  <c:v>4</c:v>
                </c:pt>
                <c:pt idx="229">
                  <c:v>14</c:v>
                </c:pt>
                <c:pt idx="230">
                  <c:v>2</c:v>
                </c:pt>
                <c:pt idx="231">
                  <c:v>2</c:v>
                </c:pt>
                <c:pt idx="232">
                  <c:v>2</c:v>
                </c:pt>
                <c:pt idx="233">
                  <c:v>2</c:v>
                </c:pt>
                <c:pt idx="234">
                  <c:v>2</c:v>
                </c:pt>
                <c:pt idx="235">
                  <c:v>7</c:v>
                </c:pt>
                <c:pt idx="236">
                  <c:v>3</c:v>
                </c:pt>
                <c:pt idx="237">
                  <c:v>4</c:v>
                </c:pt>
                <c:pt idx="238">
                  <c:v>7</c:v>
                </c:pt>
                <c:pt idx="239">
                  <c:v>2</c:v>
                </c:pt>
                <c:pt idx="240">
                  <c:v>5</c:v>
                </c:pt>
                <c:pt idx="241">
                  <c:v>4</c:v>
                </c:pt>
                <c:pt idx="242">
                  <c:v>2</c:v>
                </c:pt>
                <c:pt idx="243">
                  <c:v>1</c:v>
                </c:pt>
                <c:pt idx="244">
                  <c:v>22</c:v>
                </c:pt>
                <c:pt idx="245">
                  <c:v>4</c:v>
                </c:pt>
                <c:pt idx="246">
                  <c:v>2</c:v>
                </c:pt>
                <c:pt idx="247">
                  <c:v>2</c:v>
                </c:pt>
                <c:pt idx="248">
                  <c:v>2</c:v>
                </c:pt>
                <c:pt idx="249">
                  <c:v>3</c:v>
                </c:pt>
                <c:pt idx="250">
                  <c:v>6</c:v>
                </c:pt>
                <c:pt idx="251">
                  <c:v>11</c:v>
                </c:pt>
                <c:pt idx="252">
                  <c:v>6</c:v>
                </c:pt>
                <c:pt idx="253">
                  <c:v>2</c:v>
                </c:pt>
                <c:pt idx="254">
                  <c:v>6</c:v>
                </c:pt>
                <c:pt idx="255">
                  <c:v>4</c:v>
                </c:pt>
                <c:pt idx="256">
                  <c:v>8</c:v>
                </c:pt>
                <c:pt idx="257">
                  <c:v>9</c:v>
                </c:pt>
                <c:pt idx="258">
                  <c:v>4</c:v>
                </c:pt>
                <c:pt idx="259">
                  <c:v>7</c:v>
                </c:pt>
                <c:pt idx="260">
                  <c:v>5</c:v>
                </c:pt>
                <c:pt idx="261">
                  <c:v>5</c:v>
                </c:pt>
                <c:pt idx="262">
                  <c:v>13</c:v>
                </c:pt>
                <c:pt idx="263">
                  <c:v>2</c:v>
                </c:pt>
                <c:pt idx="264">
                  <c:v>2</c:v>
                </c:pt>
                <c:pt idx="265">
                  <c:v>8</c:v>
                </c:pt>
                <c:pt idx="266">
                  <c:v>5</c:v>
                </c:pt>
                <c:pt idx="267">
                  <c:v>4</c:v>
                </c:pt>
                <c:pt idx="268">
                  <c:v>2</c:v>
                </c:pt>
                <c:pt idx="269">
                  <c:v>1</c:v>
                </c:pt>
                <c:pt idx="270">
                  <c:v>2</c:v>
                </c:pt>
                <c:pt idx="271">
                  <c:v>2</c:v>
                </c:pt>
                <c:pt idx="272">
                  <c:v>3</c:v>
                </c:pt>
                <c:pt idx="273">
                  <c:v>2</c:v>
                </c:pt>
                <c:pt idx="274">
                  <c:v>2</c:v>
                </c:pt>
                <c:pt idx="275">
                  <c:v>3</c:v>
                </c:pt>
                <c:pt idx="276">
                  <c:v>1</c:v>
                </c:pt>
                <c:pt idx="277">
                  <c:v>2</c:v>
                </c:pt>
                <c:pt idx="278">
                  <c:v>1</c:v>
                </c:pt>
                <c:pt idx="279">
                  <c:v>2</c:v>
                </c:pt>
                <c:pt idx="280">
                  <c:v>1</c:v>
                </c:pt>
                <c:pt idx="281">
                  <c:v>6</c:v>
                </c:pt>
                <c:pt idx="282">
                  <c:v>2</c:v>
                </c:pt>
                <c:pt idx="283">
                  <c:v>1</c:v>
                </c:pt>
                <c:pt idx="284">
                  <c:v>2</c:v>
                </c:pt>
                <c:pt idx="285">
                  <c:v>2</c:v>
                </c:pt>
                <c:pt idx="286">
                  <c:v>3</c:v>
                </c:pt>
                <c:pt idx="287">
                  <c:v>3</c:v>
                </c:pt>
                <c:pt idx="288">
                  <c:v>8</c:v>
                </c:pt>
                <c:pt idx="289">
                  <c:v>2</c:v>
                </c:pt>
                <c:pt idx="290">
                  <c:v>4</c:v>
                </c:pt>
                <c:pt idx="291">
                  <c:v>2</c:v>
                </c:pt>
                <c:pt idx="292">
                  <c:v>1</c:v>
                </c:pt>
                <c:pt idx="293">
                  <c:v>1</c:v>
                </c:pt>
                <c:pt idx="294">
                  <c:v>2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년도별선행예약시점!$F$8</c:f>
              <c:strCache>
                <c:ptCount val="1"/>
                <c:pt idx="0">
                  <c:v>2016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년도별선행예약시점!$E$9:$E$310</c:f>
              <c:numCache>
                <c:formatCode>General</c:formatCode>
                <c:ptCount val="30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253</c:v>
                </c:pt>
                <c:pt idx="251">
                  <c:v>254</c:v>
                </c:pt>
                <c:pt idx="252">
                  <c:v>256</c:v>
                </c:pt>
                <c:pt idx="253">
                  <c:v>257</c:v>
                </c:pt>
                <c:pt idx="254">
                  <c:v>258</c:v>
                </c:pt>
                <c:pt idx="255">
                  <c:v>259</c:v>
                </c:pt>
                <c:pt idx="256">
                  <c:v>260</c:v>
                </c:pt>
                <c:pt idx="257">
                  <c:v>264</c:v>
                </c:pt>
                <c:pt idx="258">
                  <c:v>265</c:v>
                </c:pt>
                <c:pt idx="259">
                  <c:v>266</c:v>
                </c:pt>
                <c:pt idx="260">
                  <c:v>270</c:v>
                </c:pt>
                <c:pt idx="261">
                  <c:v>271</c:v>
                </c:pt>
                <c:pt idx="262">
                  <c:v>272</c:v>
                </c:pt>
                <c:pt idx="263">
                  <c:v>274</c:v>
                </c:pt>
                <c:pt idx="264">
                  <c:v>276</c:v>
                </c:pt>
                <c:pt idx="265">
                  <c:v>277</c:v>
                </c:pt>
                <c:pt idx="266">
                  <c:v>278</c:v>
                </c:pt>
                <c:pt idx="267">
                  <c:v>280</c:v>
                </c:pt>
                <c:pt idx="268">
                  <c:v>281</c:v>
                </c:pt>
                <c:pt idx="269">
                  <c:v>283</c:v>
                </c:pt>
                <c:pt idx="270">
                  <c:v>285</c:v>
                </c:pt>
                <c:pt idx="271">
                  <c:v>286</c:v>
                </c:pt>
                <c:pt idx="272">
                  <c:v>287</c:v>
                </c:pt>
                <c:pt idx="273">
                  <c:v>292</c:v>
                </c:pt>
                <c:pt idx="274">
                  <c:v>295</c:v>
                </c:pt>
                <c:pt idx="275">
                  <c:v>297</c:v>
                </c:pt>
                <c:pt idx="276">
                  <c:v>298</c:v>
                </c:pt>
                <c:pt idx="277">
                  <c:v>309</c:v>
                </c:pt>
                <c:pt idx="278">
                  <c:v>313</c:v>
                </c:pt>
                <c:pt idx="279">
                  <c:v>318</c:v>
                </c:pt>
                <c:pt idx="280">
                  <c:v>320</c:v>
                </c:pt>
                <c:pt idx="281">
                  <c:v>333</c:v>
                </c:pt>
                <c:pt idx="282">
                  <c:v>351</c:v>
                </c:pt>
                <c:pt idx="283">
                  <c:v>354</c:v>
                </c:pt>
                <c:pt idx="284">
                  <c:v>356</c:v>
                </c:pt>
                <c:pt idx="285">
                  <c:v>358</c:v>
                </c:pt>
                <c:pt idx="286">
                  <c:v>363</c:v>
                </c:pt>
                <c:pt idx="287">
                  <c:v>377</c:v>
                </c:pt>
                <c:pt idx="288">
                  <c:v>386</c:v>
                </c:pt>
                <c:pt idx="289">
                  <c:v>392</c:v>
                </c:pt>
                <c:pt idx="290">
                  <c:v>402</c:v>
                </c:pt>
                <c:pt idx="291">
                  <c:v>428</c:v>
                </c:pt>
                <c:pt idx="292">
                  <c:v>440</c:v>
                </c:pt>
                <c:pt idx="293">
                  <c:v>456</c:v>
                </c:pt>
                <c:pt idx="294">
                  <c:v>486</c:v>
                </c:pt>
                <c:pt idx="295">
                  <c:v>490</c:v>
                </c:pt>
                <c:pt idx="296">
                  <c:v>515</c:v>
                </c:pt>
                <c:pt idx="297">
                  <c:v>525</c:v>
                </c:pt>
                <c:pt idx="298">
                  <c:v>564</c:v>
                </c:pt>
                <c:pt idx="299">
                  <c:v>569</c:v>
                </c:pt>
                <c:pt idx="300">
                  <c:v>612</c:v>
                </c:pt>
                <c:pt idx="301">
                  <c:v>789</c:v>
                </c:pt>
              </c:numCache>
            </c:numRef>
          </c:cat>
          <c:val>
            <c:numRef>
              <c:f>년도별선행예약시점!$F$9:$F$310</c:f>
              <c:numCache>
                <c:formatCode>General</c:formatCode>
                <c:ptCount val="302"/>
                <c:pt idx="0">
                  <c:v>3</c:v>
                </c:pt>
                <c:pt idx="1">
                  <c:v>64</c:v>
                </c:pt>
                <c:pt idx="2">
                  <c:v>105</c:v>
                </c:pt>
                <c:pt idx="3">
                  <c:v>192</c:v>
                </c:pt>
                <c:pt idx="4">
                  <c:v>339</c:v>
                </c:pt>
                <c:pt idx="5">
                  <c:v>440</c:v>
                </c:pt>
                <c:pt idx="6">
                  <c:v>553</c:v>
                </c:pt>
                <c:pt idx="7">
                  <c:v>659</c:v>
                </c:pt>
                <c:pt idx="8">
                  <c:v>900</c:v>
                </c:pt>
                <c:pt idx="9">
                  <c:v>897</c:v>
                </c:pt>
                <c:pt idx="10">
                  <c:v>854</c:v>
                </c:pt>
                <c:pt idx="11">
                  <c:v>1009</c:v>
                </c:pt>
                <c:pt idx="12">
                  <c:v>1025</c:v>
                </c:pt>
                <c:pt idx="13">
                  <c:v>977</c:v>
                </c:pt>
                <c:pt idx="14">
                  <c:v>1144</c:v>
                </c:pt>
                <c:pt idx="15">
                  <c:v>1291</c:v>
                </c:pt>
                <c:pt idx="16">
                  <c:v>1291</c:v>
                </c:pt>
                <c:pt idx="17">
                  <c:v>1271</c:v>
                </c:pt>
                <c:pt idx="18">
                  <c:v>1344</c:v>
                </c:pt>
                <c:pt idx="19">
                  <c:v>1304</c:v>
                </c:pt>
                <c:pt idx="20">
                  <c:v>1200</c:v>
                </c:pt>
                <c:pt idx="21">
                  <c:v>1278</c:v>
                </c:pt>
                <c:pt idx="22">
                  <c:v>1470</c:v>
                </c:pt>
                <c:pt idx="23">
                  <c:v>1410</c:v>
                </c:pt>
                <c:pt idx="24">
                  <c:v>1247</c:v>
                </c:pt>
                <c:pt idx="25">
                  <c:v>1339</c:v>
                </c:pt>
                <c:pt idx="26">
                  <c:v>1254</c:v>
                </c:pt>
                <c:pt idx="27">
                  <c:v>1214</c:v>
                </c:pt>
                <c:pt idx="28">
                  <c:v>1230</c:v>
                </c:pt>
                <c:pt idx="29">
                  <c:v>1221</c:v>
                </c:pt>
                <c:pt idx="30">
                  <c:v>1299</c:v>
                </c:pt>
                <c:pt idx="31">
                  <c:v>1459</c:v>
                </c:pt>
                <c:pt idx="32">
                  <c:v>1151</c:v>
                </c:pt>
                <c:pt idx="33">
                  <c:v>1270</c:v>
                </c:pt>
                <c:pt idx="34">
                  <c:v>1093</c:v>
                </c:pt>
                <c:pt idx="35">
                  <c:v>1183</c:v>
                </c:pt>
                <c:pt idx="36">
                  <c:v>1240</c:v>
                </c:pt>
                <c:pt idx="37">
                  <c:v>1254</c:v>
                </c:pt>
                <c:pt idx="38">
                  <c:v>1010</c:v>
                </c:pt>
                <c:pt idx="39">
                  <c:v>1119</c:v>
                </c:pt>
                <c:pt idx="40">
                  <c:v>924</c:v>
                </c:pt>
                <c:pt idx="41">
                  <c:v>839</c:v>
                </c:pt>
                <c:pt idx="42">
                  <c:v>974</c:v>
                </c:pt>
                <c:pt idx="43">
                  <c:v>944</c:v>
                </c:pt>
                <c:pt idx="44">
                  <c:v>984</c:v>
                </c:pt>
                <c:pt idx="45">
                  <c:v>830</c:v>
                </c:pt>
                <c:pt idx="46">
                  <c:v>944</c:v>
                </c:pt>
                <c:pt idx="47">
                  <c:v>819</c:v>
                </c:pt>
                <c:pt idx="48">
                  <c:v>771</c:v>
                </c:pt>
                <c:pt idx="49">
                  <c:v>825</c:v>
                </c:pt>
                <c:pt idx="50">
                  <c:v>855</c:v>
                </c:pt>
                <c:pt idx="51">
                  <c:v>853</c:v>
                </c:pt>
                <c:pt idx="52">
                  <c:v>826</c:v>
                </c:pt>
                <c:pt idx="53">
                  <c:v>880</c:v>
                </c:pt>
                <c:pt idx="54">
                  <c:v>759</c:v>
                </c:pt>
                <c:pt idx="55">
                  <c:v>724</c:v>
                </c:pt>
                <c:pt idx="56">
                  <c:v>678</c:v>
                </c:pt>
                <c:pt idx="57">
                  <c:v>774</c:v>
                </c:pt>
                <c:pt idx="58">
                  <c:v>726</c:v>
                </c:pt>
                <c:pt idx="59">
                  <c:v>702</c:v>
                </c:pt>
                <c:pt idx="60">
                  <c:v>675</c:v>
                </c:pt>
                <c:pt idx="61">
                  <c:v>744</c:v>
                </c:pt>
                <c:pt idx="62">
                  <c:v>733</c:v>
                </c:pt>
                <c:pt idx="63">
                  <c:v>621</c:v>
                </c:pt>
                <c:pt idx="64">
                  <c:v>742</c:v>
                </c:pt>
                <c:pt idx="65">
                  <c:v>699</c:v>
                </c:pt>
                <c:pt idx="66">
                  <c:v>725</c:v>
                </c:pt>
                <c:pt idx="67">
                  <c:v>606</c:v>
                </c:pt>
                <c:pt idx="68">
                  <c:v>641</c:v>
                </c:pt>
                <c:pt idx="69">
                  <c:v>604</c:v>
                </c:pt>
                <c:pt idx="70">
                  <c:v>598</c:v>
                </c:pt>
                <c:pt idx="71">
                  <c:v>605</c:v>
                </c:pt>
                <c:pt idx="72">
                  <c:v>680</c:v>
                </c:pt>
                <c:pt idx="73">
                  <c:v>613</c:v>
                </c:pt>
                <c:pt idx="74">
                  <c:v>658</c:v>
                </c:pt>
                <c:pt idx="75">
                  <c:v>530</c:v>
                </c:pt>
                <c:pt idx="76">
                  <c:v>541</c:v>
                </c:pt>
                <c:pt idx="77">
                  <c:v>544</c:v>
                </c:pt>
                <c:pt idx="78">
                  <c:v>513</c:v>
                </c:pt>
                <c:pt idx="79">
                  <c:v>558</c:v>
                </c:pt>
                <c:pt idx="80">
                  <c:v>598</c:v>
                </c:pt>
                <c:pt idx="81">
                  <c:v>593</c:v>
                </c:pt>
                <c:pt idx="82">
                  <c:v>484</c:v>
                </c:pt>
                <c:pt idx="83">
                  <c:v>413</c:v>
                </c:pt>
                <c:pt idx="84">
                  <c:v>478</c:v>
                </c:pt>
                <c:pt idx="85">
                  <c:v>526</c:v>
                </c:pt>
                <c:pt idx="86">
                  <c:v>487</c:v>
                </c:pt>
                <c:pt idx="87">
                  <c:v>433</c:v>
                </c:pt>
                <c:pt idx="88">
                  <c:v>412</c:v>
                </c:pt>
                <c:pt idx="89">
                  <c:v>359</c:v>
                </c:pt>
                <c:pt idx="90">
                  <c:v>412</c:v>
                </c:pt>
                <c:pt idx="91">
                  <c:v>409</c:v>
                </c:pt>
                <c:pt idx="92">
                  <c:v>398</c:v>
                </c:pt>
                <c:pt idx="93">
                  <c:v>379</c:v>
                </c:pt>
                <c:pt idx="94">
                  <c:v>410</c:v>
                </c:pt>
                <c:pt idx="95">
                  <c:v>469</c:v>
                </c:pt>
                <c:pt idx="96">
                  <c:v>348</c:v>
                </c:pt>
                <c:pt idx="97">
                  <c:v>326</c:v>
                </c:pt>
                <c:pt idx="98">
                  <c:v>303</c:v>
                </c:pt>
                <c:pt idx="99">
                  <c:v>338</c:v>
                </c:pt>
                <c:pt idx="100">
                  <c:v>287</c:v>
                </c:pt>
                <c:pt idx="101">
                  <c:v>320</c:v>
                </c:pt>
                <c:pt idx="102">
                  <c:v>246</c:v>
                </c:pt>
                <c:pt idx="103">
                  <c:v>268</c:v>
                </c:pt>
                <c:pt idx="104">
                  <c:v>309</c:v>
                </c:pt>
                <c:pt idx="105">
                  <c:v>332</c:v>
                </c:pt>
                <c:pt idx="106">
                  <c:v>305</c:v>
                </c:pt>
                <c:pt idx="107">
                  <c:v>274</c:v>
                </c:pt>
                <c:pt idx="108">
                  <c:v>326</c:v>
                </c:pt>
                <c:pt idx="109">
                  <c:v>292</c:v>
                </c:pt>
                <c:pt idx="110">
                  <c:v>290</c:v>
                </c:pt>
                <c:pt idx="111">
                  <c:v>361</c:v>
                </c:pt>
                <c:pt idx="112">
                  <c:v>195</c:v>
                </c:pt>
                <c:pt idx="113">
                  <c:v>332</c:v>
                </c:pt>
                <c:pt idx="114">
                  <c:v>255</c:v>
                </c:pt>
                <c:pt idx="115">
                  <c:v>283</c:v>
                </c:pt>
                <c:pt idx="116">
                  <c:v>274</c:v>
                </c:pt>
                <c:pt idx="117">
                  <c:v>245</c:v>
                </c:pt>
                <c:pt idx="118">
                  <c:v>242</c:v>
                </c:pt>
                <c:pt idx="119">
                  <c:v>231</c:v>
                </c:pt>
                <c:pt idx="120">
                  <c:v>264</c:v>
                </c:pt>
                <c:pt idx="121">
                  <c:v>223</c:v>
                </c:pt>
                <c:pt idx="122">
                  <c:v>197</c:v>
                </c:pt>
                <c:pt idx="123">
                  <c:v>245</c:v>
                </c:pt>
                <c:pt idx="124">
                  <c:v>169</c:v>
                </c:pt>
                <c:pt idx="125">
                  <c:v>217</c:v>
                </c:pt>
                <c:pt idx="126">
                  <c:v>288</c:v>
                </c:pt>
                <c:pt idx="127">
                  <c:v>266</c:v>
                </c:pt>
                <c:pt idx="128">
                  <c:v>254</c:v>
                </c:pt>
                <c:pt idx="129">
                  <c:v>235</c:v>
                </c:pt>
                <c:pt idx="130">
                  <c:v>229</c:v>
                </c:pt>
                <c:pt idx="131">
                  <c:v>180</c:v>
                </c:pt>
                <c:pt idx="132">
                  <c:v>208</c:v>
                </c:pt>
                <c:pt idx="133">
                  <c:v>125</c:v>
                </c:pt>
                <c:pt idx="134">
                  <c:v>145</c:v>
                </c:pt>
                <c:pt idx="135">
                  <c:v>216</c:v>
                </c:pt>
                <c:pt idx="136">
                  <c:v>151</c:v>
                </c:pt>
                <c:pt idx="137">
                  <c:v>133</c:v>
                </c:pt>
                <c:pt idx="138">
                  <c:v>149</c:v>
                </c:pt>
                <c:pt idx="139">
                  <c:v>171</c:v>
                </c:pt>
                <c:pt idx="140">
                  <c:v>135</c:v>
                </c:pt>
                <c:pt idx="141">
                  <c:v>149</c:v>
                </c:pt>
                <c:pt idx="142">
                  <c:v>122</c:v>
                </c:pt>
                <c:pt idx="143">
                  <c:v>117</c:v>
                </c:pt>
                <c:pt idx="144">
                  <c:v>122</c:v>
                </c:pt>
                <c:pt idx="145">
                  <c:v>134</c:v>
                </c:pt>
                <c:pt idx="146">
                  <c:v>136</c:v>
                </c:pt>
                <c:pt idx="147">
                  <c:v>99</c:v>
                </c:pt>
                <c:pt idx="148">
                  <c:v>146</c:v>
                </c:pt>
                <c:pt idx="149">
                  <c:v>72</c:v>
                </c:pt>
                <c:pt idx="150">
                  <c:v>147</c:v>
                </c:pt>
                <c:pt idx="151">
                  <c:v>112</c:v>
                </c:pt>
                <c:pt idx="152">
                  <c:v>121</c:v>
                </c:pt>
                <c:pt idx="153">
                  <c:v>89</c:v>
                </c:pt>
                <c:pt idx="154">
                  <c:v>94</c:v>
                </c:pt>
                <c:pt idx="155">
                  <c:v>66</c:v>
                </c:pt>
                <c:pt idx="156">
                  <c:v>51</c:v>
                </c:pt>
                <c:pt idx="157">
                  <c:v>114</c:v>
                </c:pt>
                <c:pt idx="158">
                  <c:v>75</c:v>
                </c:pt>
                <c:pt idx="159">
                  <c:v>115</c:v>
                </c:pt>
                <c:pt idx="160">
                  <c:v>57</c:v>
                </c:pt>
                <c:pt idx="161">
                  <c:v>53</c:v>
                </c:pt>
                <c:pt idx="162">
                  <c:v>78</c:v>
                </c:pt>
                <c:pt idx="163">
                  <c:v>94</c:v>
                </c:pt>
                <c:pt idx="164">
                  <c:v>71</c:v>
                </c:pt>
                <c:pt idx="165">
                  <c:v>57</c:v>
                </c:pt>
                <c:pt idx="166">
                  <c:v>50</c:v>
                </c:pt>
                <c:pt idx="167">
                  <c:v>36</c:v>
                </c:pt>
                <c:pt idx="168">
                  <c:v>45</c:v>
                </c:pt>
                <c:pt idx="169">
                  <c:v>58</c:v>
                </c:pt>
                <c:pt idx="170">
                  <c:v>58</c:v>
                </c:pt>
                <c:pt idx="171">
                  <c:v>56</c:v>
                </c:pt>
                <c:pt idx="172">
                  <c:v>61</c:v>
                </c:pt>
                <c:pt idx="173">
                  <c:v>51</c:v>
                </c:pt>
                <c:pt idx="174">
                  <c:v>33</c:v>
                </c:pt>
                <c:pt idx="175">
                  <c:v>55</c:v>
                </c:pt>
                <c:pt idx="176">
                  <c:v>39</c:v>
                </c:pt>
                <c:pt idx="177">
                  <c:v>33</c:v>
                </c:pt>
                <c:pt idx="178">
                  <c:v>40</c:v>
                </c:pt>
                <c:pt idx="179">
                  <c:v>20</c:v>
                </c:pt>
                <c:pt idx="180">
                  <c:v>42</c:v>
                </c:pt>
                <c:pt idx="181">
                  <c:v>5</c:v>
                </c:pt>
                <c:pt idx="182">
                  <c:v>18</c:v>
                </c:pt>
                <c:pt idx="183">
                  <c:v>24</c:v>
                </c:pt>
                <c:pt idx="184">
                  <c:v>36</c:v>
                </c:pt>
                <c:pt idx="185">
                  <c:v>26</c:v>
                </c:pt>
                <c:pt idx="186">
                  <c:v>13</c:v>
                </c:pt>
                <c:pt idx="187">
                  <c:v>14</c:v>
                </c:pt>
                <c:pt idx="188">
                  <c:v>36</c:v>
                </c:pt>
                <c:pt idx="189">
                  <c:v>30</c:v>
                </c:pt>
                <c:pt idx="190">
                  <c:v>34</c:v>
                </c:pt>
                <c:pt idx="191">
                  <c:v>22</c:v>
                </c:pt>
                <c:pt idx="192">
                  <c:v>27</c:v>
                </c:pt>
                <c:pt idx="193">
                  <c:v>24</c:v>
                </c:pt>
                <c:pt idx="194">
                  <c:v>21</c:v>
                </c:pt>
                <c:pt idx="195">
                  <c:v>7</c:v>
                </c:pt>
                <c:pt idx="196">
                  <c:v>26</c:v>
                </c:pt>
                <c:pt idx="197">
                  <c:v>20</c:v>
                </c:pt>
                <c:pt idx="198">
                  <c:v>13</c:v>
                </c:pt>
                <c:pt idx="199">
                  <c:v>41</c:v>
                </c:pt>
                <c:pt idx="200">
                  <c:v>13</c:v>
                </c:pt>
                <c:pt idx="201">
                  <c:v>4</c:v>
                </c:pt>
                <c:pt idx="202">
                  <c:v>21</c:v>
                </c:pt>
                <c:pt idx="203">
                  <c:v>9</c:v>
                </c:pt>
                <c:pt idx="204">
                  <c:v>14</c:v>
                </c:pt>
                <c:pt idx="205">
                  <c:v>39</c:v>
                </c:pt>
                <c:pt idx="206">
                  <c:v>26</c:v>
                </c:pt>
                <c:pt idx="207">
                  <c:v>23</c:v>
                </c:pt>
                <c:pt idx="208">
                  <c:v>21</c:v>
                </c:pt>
                <c:pt idx="209">
                  <c:v>2</c:v>
                </c:pt>
                <c:pt idx="210">
                  <c:v>14</c:v>
                </c:pt>
                <c:pt idx="211">
                  <c:v>13</c:v>
                </c:pt>
                <c:pt idx="212">
                  <c:v>6</c:v>
                </c:pt>
                <c:pt idx="213">
                  <c:v>6</c:v>
                </c:pt>
                <c:pt idx="214">
                  <c:v>8</c:v>
                </c:pt>
                <c:pt idx="215">
                  <c:v>2</c:v>
                </c:pt>
                <c:pt idx="216">
                  <c:v>8</c:v>
                </c:pt>
                <c:pt idx="217">
                  <c:v>16</c:v>
                </c:pt>
                <c:pt idx="218">
                  <c:v>18</c:v>
                </c:pt>
                <c:pt idx="219">
                  <c:v>14</c:v>
                </c:pt>
                <c:pt idx="220">
                  <c:v>6</c:v>
                </c:pt>
                <c:pt idx="221">
                  <c:v>16</c:v>
                </c:pt>
                <c:pt idx="222">
                  <c:v>7</c:v>
                </c:pt>
                <c:pt idx="223">
                  <c:v>7</c:v>
                </c:pt>
                <c:pt idx="224">
                  <c:v>17</c:v>
                </c:pt>
                <c:pt idx="225">
                  <c:v>18</c:v>
                </c:pt>
                <c:pt idx="226">
                  <c:v>8</c:v>
                </c:pt>
                <c:pt idx="227">
                  <c:v>1</c:v>
                </c:pt>
                <c:pt idx="228">
                  <c:v>3</c:v>
                </c:pt>
                <c:pt idx="229">
                  <c:v>7</c:v>
                </c:pt>
                <c:pt idx="230">
                  <c:v>4</c:v>
                </c:pt>
                <c:pt idx="231">
                  <c:v>8</c:v>
                </c:pt>
                <c:pt idx="232">
                  <c:v>3</c:v>
                </c:pt>
                <c:pt idx="233">
                  <c:v>3</c:v>
                </c:pt>
                <c:pt idx="234">
                  <c:v>3</c:v>
                </c:pt>
                <c:pt idx="235">
                  <c:v>10</c:v>
                </c:pt>
                <c:pt idx="236">
                  <c:v>2</c:v>
                </c:pt>
                <c:pt idx="237">
                  <c:v>8</c:v>
                </c:pt>
                <c:pt idx="238">
                  <c:v>6</c:v>
                </c:pt>
                <c:pt idx="239">
                  <c:v>2</c:v>
                </c:pt>
                <c:pt idx="240">
                  <c:v>4</c:v>
                </c:pt>
                <c:pt idx="241">
                  <c:v>1</c:v>
                </c:pt>
                <c:pt idx="242">
                  <c:v>4</c:v>
                </c:pt>
                <c:pt idx="243">
                  <c:v>4</c:v>
                </c:pt>
                <c:pt idx="244">
                  <c:v>9</c:v>
                </c:pt>
                <c:pt idx="245">
                  <c:v>12</c:v>
                </c:pt>
                <c:pt idx="246">
                  <c:v>2</c:v>
                </c:pt>
                <c:pt idx="247">
                  <c:v>8</c:v>
                </c:pt>
                <c:pt idx="248">
                  <c:v>23</c:v>
                </c:pt>
                <c:pt idx="249">
                  <c:v>2</c:v>
                </c:pt>
                <c:pt idx="250">
                  <c:v>11</c:v>
                </c:pt>
                <c:pt idx="251">
                  <c:v>4</c:v>
                </c:pt>
                <c:pt idx="252">
                  <c:v>12</c:v>
                </c:pt>
                <c:pt idx="253">
                  <c:v>4</c:v>
                </c:pt>
                <c:pt idx="254">
                  <c:v>2</c:v>
                </c:pt>
                <c:pt idx="255">
                  <c:v>12</c:v>
                </c:pt>
                <c:pt idx="256">
                  <c:v>3</c:v>
                </c:pt>
                <c:pt idx="257">
                  <c:v>4</c:v>
                </c:pt>
                <c:pt idx="258">
                  <c:v>2</c:v>
                </c:pt>
                <c:pt idx="259">
                  <c:v>4</c:v>
                </c:pt>
                <c:pt idx="260">
                  <c:v>8</c:v>
                </c:pt>
                <c:pt idx="261">
                  <c:v>8</c:v>
                </c:pt>
                <c:pt idx="262">
                  <c:v>2</c:v>
                </c:pt>
                <c:pt idx="263">
                  <c:v>4</c:v>
                </c:pt>
                <c:pt idx="264">
                  <c:v>2</c:v>
                </c:pt>
                <c:pt idx="265">
                  <c:v>1</c:v>
                </c:pt>
                <c:pt idx="266">
                  <c:v>2</c:v>
                </c:pt>
                <c:pt idx="267">
                  <c:v>16</c:v>
                </c:pt>
                <c:pt idx="268">
                  <c:v>2</c:v>
                </c:pt>
                <c:pt idx="269">
                  <c:v>1</c:v>
                </c:pt>
                <c:pt idx="270">
                  <c:v>4</c:v>
                </c:pt>
                <c:pt idx="271">
                  <c:v>16</c:v>
                </c:pt>
                <c:pt idx="272">
                  <c:v>9</c:v>
                </c:pt>
                <c:pt idx="273">
                  <c:v>2</c:v>
                </c:pt>
                <c:pt idx="274">
                  <c:v>12</c:v>
                </c:pt>
                <c:pt idx="275">
                  <c:v>3</c:v>
                </c:pt>
                <c:pt idx="276">
                  <c:v>4</c:v>
                </c:pt>
                <c:pt idx="277">
                  <c:v>4</c:v>
                </c:pt>
                <c:pt idx="278">
                  <c:v>2</c:v>
                </c:pt>
                <c:pt idx="279">
                  <c:v>2</c:v>
                </c:pt>
                <c:pt idx="280">
                  <c:v>3</c:v>
                </c:pt>
                <c:pt idx="281">
                  <c:v>2</c:v>
                </c:pt>
                <c:pt idx="282">
                  <c:v>14</c:v>
                </c:pt>
                <c:pt idx="283">
                  <c:v>2</c:v>
                </c:pt>
                <c:pt idx="284">
                  <c:v>2</c:v>
                </c:pt>
                <c:pt idx="285">
                  <c:v>1</c:v>
                </c:pt>
                <c:pt idx="286">
                  <c:v>7</c:v>
                </c:pt>
                <c:pt idx="287">
                  <c:v>6</c:v>
                </c:pt>
                <c:pt idx="288">
                  <c:v>2</c:v>
                </c:pt>
                <c:pt idx="289">
                  <c:v>2</c:v>
                </c:pt>
                <c:pt idx="290">
                  <c:v>1</c:v>
                </c:pt>
                <c:pt idx="291">
                  <c:v>2</c:v>
                </c:pt>
                <c:pt idx="292">
                  <c:v>2</c:v>
                </c:pt>
                <c:pt idx="293">
                  <c:v>3</c:v>
                </c:pt>
                <c:pt idx="294">
                  <c:v>2</c:v>
                </c:pt>
                <c:pt idx="295">
                  <c:v>3</c:v>
                </c:pt>
                <c:pt idx="296">
                  <c:v>2</c:v>
                </c:pt>
                <c:pt idx="297">
                  <c:v>2</c:v>
                </c:pt>
                <c:pt idx="298">
                  <c:v>2</c:v>
                </c:pt>
                <c:pt idx="299">
                  <c:v>3</c:v>
                </c:pt>
                <c:pt idx="300">
                  <c:v>2</c:v>
                </c:pt>
                <c:pt idx="301">
                  <c:v>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년도별선행예약시점!$I$8</c:f>
              <c:strCache>
                <c:ptCount val="1"/>
                <c:pt idx="0">
                  <c:v>2017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년도별선행예약시점!$H$9:$H$365</c:f>
              <c:numCache>
                <c:formatCode>General</c:formatCode>
                <c:ptCount val="35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285</c:v>
                </c:pt>
                <c:pt idx="284">
                  <c:v>286</c:v>
                </c:pt>
                <c:pt idx="285">
                  <c:v>287</c:v>
                </c:pt>
                <c:pt idx="286">
                  <c:v>288</c:v>
                </c:pt>
                <c:pt idx="287">
                  <c:v>289</c:v>
                </c:pt>
                <c:pt idx="288">
                  <c:v>290</c:v>
                </c:pt>
                <c:pt idx="289">
                  <c:v>291</c:v>
                </c:pt>
                <c:pt idx="290">
                  <c:v>292</c:v>
                </c:pt>
                <c:pt idx="291">
                  <c:v>293</c:v>
                </c:pt>
                <c:pt idx="292">
                  <c:v>294</c:v>
                </c:pt>
                <c:pt idx="293">
                  <c:v>295</c:v>
                </c:pt>
                <c:pt idx="294">
                  <c:v>296</c:v>
                </c:pt>
                <c:pt idx="295">
                  <c:v>297</c:v>
                </c:pt>
                <c:pt idx="296">
                  <c:v>298</c:v>
                </c:pt>
                <c:pt idx="297">
                  <c:v>299</c:v>
                </c:pt>
                <c:pt idx="298">
                  <c:v>300</c:v>
                </c:pt>
                <c:pt idx="299">
                  <c:v>301</c:v>
                </c:pt>
                <c:pt idx="300">
                  <c:v>302</c:v>
                </c:pt>
                <c:pt idx="301">
                  <c:v>303</c:v>
                </c:pt>
                <c:pt idx="302">
                  <c:v>304</c:v>
                </c:pt>
                <c:pt idx="303">
                  <c:v>305</c:v>
                </c:pt>
                <c:pt idx="304">
                  <c:v>306</c:v>
                </c:pt>
                <c:pt idx="305">
                  <c:v>307</c:v>
                </c:pt>
                <c:pt idx="306">
                  <c:v>308</c:v>
                </c:pt>
                <c:pt idx="307">
                  <c:v>310</c:v>
                </c:pt>
                <c:pt idx="308">
                  <c:v>311</c:v>
                </c:pt>
                <c:pt idx="309">
                  <c:v>312</c:v>
                </c:pt>
                <c:pt idx="310">
                  <c:v>313</c:v>
                </c:pt>
                <c:pt idx="311">
                  <c:v>314</c:v>
                </c:pt>
                <c:pt idx="312">
                  <c:v>316</c:v>
                </c:pt>
                <c:pt idx="313">
                  <c:v>317</c:v>
                </c:pt>
                <c:pt idx="314">
                  <c:v>319</c:v>
                </c:pt>
                <c:pt idx="315">
                  <c:v>320</c:v>
                </c:pt>
                <c:pt idx="316">
                  <c:v>321</c:v>
                </c:pt>
                <c:pt idx="317">
                  <c:v>323</c:v>
                </c:pt>
                <c:pt idx="318">
                  <c:v>324</c:v>
                </c:pt>
                <c:pt idx="319">
                  <c:v>325</c:v>
                </c:pt>
                <c:pt idx="320">
                  <c:v>326</c:v>
                </c:pt>
                <c:pt idx="321">
                  <c:v>327</c:v>
                </c:pt>
                <c:pt idx="322">
                  <c:v>328</c:v>
                </c:pt>
                <c:pt idx="323">
                  <c:v>329</c:v>
                </c:pt>
                <c:pt idx="324">
                  <c:v>330</c:v>
                </c:pt>
                <c:pt idx="325">
                  <c:v>333</c:v>
                </c:pt>
                <c:pt idx="326">
                  <c:v>334</c:v>
                </c:pt>
                <c:pt idx="327">
                  <c:v>335</c:v>
                </c:pt>
                <c:pt idx="328">
                  <c:v>337</c:v>
                </c:pt>
                <c:pt idx="329">
                  <c:v>338</c:v>
                </c:pt>
                <c:pt idx="330">
                  <c:v>339</c:v>
                </c:pt>
                <c:pt idx="331">
                  <c:v>340</c:v>
                </c:pt>
                <c:pt idx="332">
                  <c:v>342</c:v>
                </c:pt>
                <c:pt idx="333">
                  <c:v>345</c:v>
                </c:pt>
                <c:pt idx="334">
                  <c:v>347</c:v>
                </c:pt>
                <c:pt idx="335">
                  <c:v>350</c:v>
                </c:pt>
                <c:pt idx="336">
                  <c:v>353</c:v>
                </c:pt>
                <c:pt idx="337">
                  <c:v>354</c:v>
                </c:pt>
                <c:pt idx="338">
                  <c:v>355</c:v>
                </c:pt>
                <c:pt idx="339">
                  <c:v>362</c:v>
                </c:pt>
                <c:pt idx="340">
                  <c:v>365</c:v>
                </c:pt>
                <c:pt idx="341">
                  <c:v>369</c:v>
                </c:pt>
                <c:pt idx="342">
                  <c:v>372</c:v>
                </c:pt>
                <c:pt idx="343">
                  <c:v>373</c:v>
                </c:pt>
                <c:pt idx="344">
                  <c:v>402</c:v>
                </c:pt>
                <c:pt idx="345">
                  <c:v>414</c:v>
                </c:pt>
                <c:pt idx="346">
                  <c:v>415</c:v>
                </c:pt>
                <c:pt idx="347">
                  <c:v>420</c:v>
                </c:pt>
                <c:pt idx="348">
                  <c:v>423</c:v>
                </c:pt>
                <c:pt idx="349">
                  <c:v>427</c:v>
                </c:pt>
                <c:pt idx="350">
                  <c:v>457</c:v>
                </c:pt>
                <c:pt idx="351">
                  <c:v>461</c:v>
                </c:pt>
                <c:pt idx="352">
                  <c:v>497</c:v>
                </c:pt>
                <c:pt idx="353">
                  <c:v>502</c:v>
                </c:pt>
                <c:pt idx="354">
                  <c:v>508</c:v>
                </c:pt>
                <c:pt idx="355">
                  <c:v>520</c:v>
                </c:pt>
                <c:pt idx="356">
                  <c:v>537</c:v>
                </c:pt>
              </c:numCache>
            </c:numRef>
          </c:cat>
          <c:val>
            <c:numRef>
              <c:f>년도별선행예약시점!$I$9:$I$365</c:f>
              <c:numCache>
                <c:formatCode>General</c:formatCode>
                <c:ptCount val="357"/>
                <c:pt idx="0">
                  <c:v>47</c:v>
                </c:pt>
                <c:pt idx="1">
                  <c:v>101</c:v>
                </c:pt>
                <c:pt idx="2">
                  <c:v>192</c:v>
                </c:pt>
                <c:pt idx="3">
                  <c:v>224</c:v>
                </c:pt>
                <c:pt idx="4">
                  <c:v>385</c:v>
                </c:pt>
                <c:pt idx="5">
                  <c:v>474</c:v>
                </c:pt>
                <c:pt idx="6">
                  <c:v>556</c:v>
                </c:pt>
                <c:pt idx="7">
                  <c:v>730</c:v>
                </c:pt>
                <c:pt idx="8">
                  <c:v>751</c:v>
                </c:pt>
                <c:pt idx="9">
                  <c:v>795</c:v>
                </c:pt>
                <c:pt idx="10">
                  <c:v>917</c:v>
                </c:pt>
                <c:pt idx="11">
                  <c:v>1015</c:v>
                </c:pt>
                <c:pt idx="12">
                  <c:v>1051</c:v>
                </c:pt>
                <c:pt idx="13">
                  <c:v>1140</c:v>
                </c:pt>
                <c:pt idx="14">
                  <c:v>1163</c:v>
                </c:pt>
                <c:pt idx="15">
                  <c:v>1264</c:v>
                </c:pt>
                <c:pt idx="16">
                  <c:v>1211</c:v>
                </c:pt>
                <c:pt idx="17">
                  <c:v>1274</c:v>
                </c:pt>
                <c:pt idx="18">
                  <c:v>1359</c:v>
                </c:pt>
                <c:pt idx="19">
                  <c:v>1401</c:v>
                </c:pt>
                <c:pt idx="20">
                  <c:v>1344</c:v>
                </c:pt>
                <c:pt idx="21">
                  <c:v>1278</c:v>
                </c:pt>
                <c:pt idx="22">
                  <c:v>1313</c:v>
                </c:pt>
                <c:pt idx="23">
                  <c:v>1433</c:v>
                </c:pt>
                <c:pt idx="24">
                  <c:v>1389</c:v>
                </c:pt>
                <c:pt idx="25">
                  <c:v>1459</c:v>
                </c:pt>
                <c:pt idx="26">
                  <c:v>1376</c:v>
                </c:pt>
                <c:pt idx="27">
                  <c:v>1328</c:v>
                </c:pt>
                <c:pt idx="28">
                  <c:v>1453</c:v>
                </c:pt>
                <c:pt idx="29">
                  <c:v>1350</c:v>
                </c:pt>
                <c:pt idx="30">
                  <c:v>1529</c:v>
                </c:pt>
                <c:pt idx="31">
                  <c:v>1393</c:v>
                </c:pt>
                <c:pt idx="32">
                  <c:v>1276</c:v>
                </c:pt>
                <c:pt idx="33">
                  <c:v>1389</c:v>
                </c:pt>
                <c:pt idx="34">
                  <c:v>1214</c:v>
                </c:pt>
                <c:pt idx="35">
                  <c:v>1154</c:v>
                </c:pt>
                <c:pt idx="36">
                  <c:v>1279</c:v>
                </c:pt>
                <c:pt idx="37">
                  <c:v>1262</c:v>
                </c:pt>
                <c:pt idx="38">
                  <c:v>1400</c:v>
                </c:pt>
                <c:pt idx="39">
                  <c:v>1172</c:v>
                </c:pt>
                <c:pt idx="40">
                  <c:v>1081</c:v>
                </c:pt>
                <c:pt idx="41">
                  <c:v>1044</c:v>
                </c:pt>
                <c:pt idx="42">
                  <c:v>1148</c:v>
                </c:pt>
                <c:pt idx="43">
                  <c:v>1275</c:v>
                </c:pt>
                <c:pt idx="44">
                  <c:v>1167</c:v>
                </c:pt>
                <c:pt idx="45">
                  <c:v>1328</c:v>
                </c:pt>
                <c:pt idx="46">
                  <c:v>1096</c:v>
                </c:pt>
                <c:pt idx="47">
                  <c:v>1066</c:v>
                </c:pt>
                <c:pt idx="48">
                  <c:v>1082</c:v>
                </c:pt>
                <c:pt idx="49">
                  <c:v>1112</c:v>
                </c:pt>
                <c:pt idx="50">
                  <c:v>1033</c:v>
                </c:pt>
                <c:pt idx="51">
                  <c:v>1106</c:v>
                </c:pt>
                <c:pt idx="52">
                  <c:v>1066</c:v>
                </c:pt>
                <c:pt idx="53">
                  <c:v>1080</c:v>
                </c:pt>
                <c:pt idx="54">
                  <c:v>943</c:v>
                </c:pt>
                <c:pt idx="55">
                  <c:v>1005</c:v>
                </c:pt>
                <c:pt idx="56">
                  <c:v>1003</c:v>
                </c:pt>
                <c:pt idx="57">
                  <c:v>943</c:v>
                </c:pt>
                <c:pt idx="58">
                  <c:v>973</c:v>
                </c:pt>
                <c:pt idx="59">
                  <c:v>909</c:v>
                </c:pt>
                <c:pt idx="60">
                  <c:v>823</c:v>
                </c:pt>
                <c:pt idx="61">
                  <c:v>843</c:v>
                </c:pt>
                <c:pt idx="62">
                  <c:v>871</c:v>
                </c:pt>
                <c:pt idx="63">
                  <c:v>805</c:v>
                </c:pt>
                <c:pt idx="64">
                  <c:v>871</c:v>
                </c:pt>
                <c:pt idx="65">
                  <c:v>929</c:v>
                </c:pt>
                <c:pt idx="66">
                  <c:v>840</c:v>
                </c:pt>
                <c:pt idx="67">
                  <c:v>794</c:v>
                </c:pt>
                <c:pt idx="68">
                  <c:v>924</c:v>
                </c:pt>
                <c:pt idx="69">
                  <c:v>752</c:v>
                </c:pt>
                <c:pt idx="70">
                  <c:v>938</c:v>
                </c:pt>
                <c:pt idx="71">
                  <c:v>763</c:v>
                </c:pt>
                <c:pt idx="72">
                  <c:v>732</c:v>
                </c:pt>
                <c:pt idx="73">
                  <c:v>753</c:v>
                </c:pt>
                <c:pt idx="74">
                  <c:v>733</c:v>
                </c:pt>
                <c:pt idx="75">
                  <c:v>771</c:v>
                </c:pt>
                <c:pt idx="76">
                  <c:v>757</c:v>
                </c:pt>
                <c:pt idx="77">
                  <c:v>831</c:v>
                </c:pt>
                <c:pt idx="78">
                  <c:v>727</c:v>
                </c:pt>
                <c:pt idx="79">
                  <c:v>794</c:v>
                </c:pt>
                <c:pt idx="80">
                  <c:v>787</c:v>
                </c:pt>
                <c:pt idx="81">
                  <c:v>839</c:v>
                </c:pt>
                <c:pt idx="82">
                  <c:v>600</c:v>
                </c:pt>
                <c:pt idx="83">
                  <c:v>661</c:v>
                </c:pt>
                <c:pt idx="84">
                  <c:v>635</c:v>
                </c:pt>
                <c:pt idx="85">
                  <c:v>619</c:v>
                </c:pt>
                <c:pt idx="86">
                  <c:v>635</c:v>
                </c:pt>
                <c:pt idx="87">
                  <c:v>729</c:v>
                </c:pt>
                <c:pt idx="88">
                  <c:v>613</c:v>
                </c:pt>
                <c:pt idx="89">
                  <c:v>621</c:v>
                </c:pt>
                <c:pt idx="90">
                  <c:v>487</c:v>
                </c:pt>
                <c:pt idx="91">
                  <c:v>698</c:v>
                </c:pt>
                <c:pt idx="92">
                  <c:v>590</c:v>
                </c:pt>
                <c:pt idx="93">
                  <c:v>683</c:v>
                </c:pt>
                <c:pt idx="94">
                  <c:v>558</c:v>
                </c:pt>
                <c:pt idx="95">
                  <c:v>478</c:v>
                </c:pt>
                <c:pt idx="96">
                  <c:v>519</c:v>
                </c:pt>
                <c:pt idx="97">
                  <c:v>540</c:v>
                </c:pt>
                <c:pt idx="98">
                  <c:v>578</c:v>
                </c:pt>
                <c:pt idx="99">
                  <c:v>561</c:v>
                </c:pt>
                <c:pt idx="100">
                  <c:v>512</c:v>
                </c:pt>
                <c:pt idx="101">
                  <c:v>443</c:v>
                </c:pt>
                <c:pt idx="102">
                  <c:v>569</c:v>
                </c:pt>
                <c:pt idx="103">
                  <c:v>413</c:v>
                </c:pt>
                <c:pt idx="104">
                  <c:v>439</c:v>
                </c:pt>
                <c:pt idx="105">
                  <c:v>572</c:v>
                </c:pt>
                <c:pt idx="106">
                  <c:v>466</c:v>
                </c:pt>
                <c:pt idx="107">
                  <c:v>477</c:v>
                </c:pt>
                <c:pt idx="108">
                  <c:v>535</c:v>
                </c:pt>
                <c:pt idx="109">
                  <c:v>463</c:v>
                </c:pt>
                <c:pt idx="110">
                  <c:v>359</c:v>
                </c:pt>
                <c:pt idx="111">
                  <c:v>423</c:v>
                </c:pt>
                <c:pt idx="112">
                  <c:v>491</c:v>
                </c:pt>
                <c:pt idx="113">
                  <c:v>501</c:v>
                </c:pt>
                <c:pt idx="114">
                  <c:v>403</c:v>
                </c:pt>
                <c:pt idx="115">
                  <c:v>453</c:v>
                </c:pt>
                <c:pt idx="116">
                  <c:v>338</c:v>
                </c:pt>
                <c:pt idx="117">
                  <c:v>284</c:v>
                </c:pt>
                <c:pt idx="118">
                  <c:v>414</c:v>
                </c:pt>
                <c:pt idx="119">
                  <c:v>439</c:v>
                </c:pt>
                <c:pt idx="120">
                  <c:v>322</c:v>
                </c:pt>
                <c:pt idx="121">
                  <c:v>394</c:v>
                </c:pt>
                <c:pt idx="122">
                  <c:v>415</c:v>
                </c:pt>
                <c:pt idx="123">
                  <c:v>293</c:v>
                </c:pt>
                <c:pt idx="124">
                  <c:v>333</c:v>
                </c:pt>
                <c:pt idx="125">
                  <c:v>345</c:v>
                </c:pt>
                <c:pt idx="126">
                  <c:v>329</c:v>
                </c:pt>
                <c:pt idx="127">
                  <c:v>390</c:v>
                </c:pt>
                <c:pt idx="128">
                  <c:v>377</c:v>
                </c:pt>
                <c:pt idx="129">
                  <c:v>301</c:v>
                </c:pt>
                <c:pt idx="130">
                  <c:v>290</c:v>
                </c:pt>
                <c:pt idx="131">
                  <c:v>259</c:v>
                </c:pt>
                <c:pt idx="132">
                  <c:v>225</c:v>
                </c:pt>
                <c:pt idx="133">
                  <c:v>270</c:v>
                </c:pt>
                <c:pt idx="134">
                  <c:v>294</c:v>
                </c:pt>
                <c:pt idx="135">
                  <c:v>330</c:v>
                </c:pt>
                <c:pt idx="136">
                  <c:v>266</c:v>
                </c:pt>
                <c:pt idx="137">
                  <c:v>329</c:v>
                </c:pt>
                <c:pt idx="138">
                  <c:v>216</c:v>
                </c:pt>
                <c:pt idx="139">
                  <c:v>274</c:v>
                </c:pt>
                <c:pt idx="140">
                  <c:v>232</c:v>
                </c:pt>
                <c:pt idx="141">
                  <c:v>293</c:v>
                </c:pt>
                <c:pt idx="142">
                  <c:v>296</c:v>
                </c:pt>
                <c:pt idx="143">
                  <c:v>246</c:v>
                </c:pt>
                <c:pt idx="144">
                  <c:v>124</c:v>
                </c:pt>
                <c:pt idx="145">
                  <c:v>180</c:v>
                </c:pt>
                <c:pt idx="146">
                  <c:v>224</c:v>
                </c:pt>
                <c:pt idx="147">
                  <c:v>258</c:v>
                </c:pt>
                <c:pt idx="148">
                  <c:v>197</c:v>
                </c:pt>
                <c:pt idx="149">
                  <c:v>289</c:v>
                </c:pt>
                <c:pt idx="150">
                  <c:v>214</c:v>
                </c:pt>
                <c:pt idx="151">
                  <c:v>170</c:v>
                </c:pt>
                <c:pt idx="152">
                  <c:v>141</c:v>
                </c:pt>
                <c:pt idx="153">
                  <c:v>145</c:v>
                </c:pt>
                <c:pt idx="154">
                  <c:v>147</c:v>
                </c:pt>
                <c:pt idx="155">
                  <c:v>163</c:v>
                </c:pt>
                <c:pt idx="156">
                  <c:v>152</c:v>
                </c:pt>
                <c:pt idx="157">
                  <c:v>178</c:v>
                </c:pt>
                <c:pt idx="158">
                  <c:v>148</c:v>
                </c:pt>
                <c:pt idx="159">
                  <c:v>80</c:v>
                </c:pt>
                <c:pt idx="160">
                  <c:v>119</c:v>
                </c:pt>
                <c:pt idx="161">
                  <c:v>133</c:v>
                </c:pt>
                <c:pt idx="162">
                  <c:v>163</c:v>
                </c:pt>
                <c:pt idx="163">
                  <c:v>118</c:v>
                </c:pt>
                <c:pt idx="164">
                  <c:v>147</c:v>
                </c:pt>
                <c:pt idx="165">
                  <c:v>127</c:v>
                </c:pt>
                <c:pt idx="166">
                  <c:v>120</c:v>
                </c:pt>
                <c:pt idx="167">
                  <c:v>140</c:v>
                </c:pt>
                <c:pt idx="168">
                  <c:v>122</c:v>
                </c:pt>
                <c:pt idx="169">
                  <c:v>94</c:v>
                </c:pt>
                <c:pt idx="170">
                  <c:v>112</c:v>
                </c:pt>
                <c:pt idx="171">
                  <c:v>117</c:v>
                </c:pt>
                <c:pt idx="172">
                  <c:v>108</c:v>
                </c:pt>
                <c:pt idx="173">
                  <c:v>128</c:v>
                </c:pt>
                <c:pt idx="174">
                  <c:v>95</c:v>
                </c:pt>
                <c:pt idx="175">
                  <c:v>83</c:v>
                </c:pt>
                <c:pt idx="176">
                  <c:v>107</c:v>
                </c:pt>
                <c:pt idx="177">
                  <c:v>90</c:v>
                </c:pt>
                <c:pt idx="178">
                  <c:v>67</c:v>
                </c:pt>
                <c:pt idx="179">
                  <c:v>113</c:v>
                </c:pt>
                <c:pt idx="180">
                  <c:v>112</c:v>
                </c:pt>
                <c:pt idx="181">
                  <c:v>109</c:v>
                </c:pt>
                <c:pt idx="182">
                  <c:v>140</c:v>
                </c:pt>
                <c:pt idx="183">
                  <c:v>92</c:v>
                </c:pt>
                <c:pt idx="184">
                  <c:v>124</c:v>
                </c:pt>
                <c:pt idx="185">
                  <c:v>84</c:v>
                </c:pt>
                <c:pt idx="186">
                  <c:v>72</c:v>
                </c:pt>
                <c:pt idx="187">
                  <c:v>64</c:v>
                </c:pt>
                <c:pt idx="188">
                  <c:v>66</c:v>
                </c:pt>
                <c:pt idx="189">
                  <c:v>62</c:v>
                </c:pt>
                <c:pt idx="190">
                  <c:v>92</c:v>
                </c:pt>
                <c:pt idx="191">
                  <c:v>72</c:v>
                </c:pt>
                <c:pt idx="192">
                  <c:v>70</c:v>
                </c:pt>
                <c:pt idx="193">
                  <c:v>38</c:v>
                </c:pt>
                <c:pt idx="194">
                  <c:v>85</c:v>
                </c:pt>
                <c:pt idx="195">
                  <c:v>81</c:v>
                </c:pt>
                <c:pt idx="196">
                  <c:v>47</c:v>
                </c:pt>
                <c:pt idx="197">
                  <c:v>88</c:v>
                </c:pt>
                <c:pt idx="198">
                  <c:v>88</c:v>
                </c:pt>
                <c:pt idx="199">
                  <c:v>45</c:v>
                </c:pt>
                <c:pt idx="200">
                  <c:v>52</c:v>
                </c:pt>
                <c:pt idx="201">
                  <c:v>67</c:v>
                </c:pt>
                <c:pt idx="202">
                  <c:v>62</c:v>
                </c:pt>
                <c:pt idx="203">
                  <c:v>51</c:v>
                </c:pt>
                <c:pt idx="204">
                  <c:v>50</c:v>
                </c:pt>
                <c:pt idx="205">
                  <c:v>71</c:v>
                </c:pt>
                <c:pt idx="206">
                  <c:v>64</c:v>
                </c:pt>
                <c:pt idx="207">
                  <c:v>30</c:v>
                </c:pt>
                <c:pt idx="208">
                  <c:v>37</c:v>
                </c:pt>
                <c:pt idx="209">
                  <c:v>62</c:v>
                </c:pt>
                <c:pt idx="210">
                  <c:v>50</c:v>
                </c:pt>
                <c:pt idx="211">
                  <c:v>27</c:v>
                </c:pt>
                <c:pt idx="212">
                  <c:v>50</c:v>
                </c:pt>
                <c:pt idx="213">
                  <c:v>31</c:v>
                </c:pt>
                <c:pt idx="214">
                  <c:v>39</c:v>
                </c:pt>
                <c:pt idx="215">
                  <c:v>71</c:v>
                </c:pt>
                <c:pt idx="216">
                  <c:v>50</c:v>
                </c:pt>
                <c:pt idx="217">
                  <c:v>53</c:v>
                </c:pt>
                <c:pt idx="218">
                  <c:v>30</c:v>
                </c:pt>
                <c:pt idx="219">
                  <c:v>48</c:v>
                </c:pt>
                <c:pt idx="220">
                  <c:v>48</c:v>
                </c:pt>
                <c:pt idx="221">
                  <c:v>47</c:v>
                </c:pt>
                <c:pt idx="222">
                  <c:v>39</c:v>
                </c:pt>
                <c:pt idx="223">
                  <c:v>40</c:v>
                </c:pt>
                <c:pt idx="224">
                  <c:v>75</c:v>
                </c:pt>
                <c:pt idx="225">
                  <c:v>27</c:v>
                </c:pt>
                <c:pt idx="226">
                  <c:v>30</c:v>
                </c:pt>
                <c:pt idx="227">
                  <c:v>63</c:v>
                </c:pt>
                <c:pt idx="228">
                  <c:v>45</c:v>
                </c:pt>
                <c:pt idx="229">
                  <c:v>27</c:v>
                </c:pt>
                <c:pt idx="230">
                  <c:v>39</c:v>
                </c:pt>
                <c:pt idx="231">
                  <c:v>38</c:v>
                </c:pt>
                <c:pt idx="232">
                  <c:v>53</c:v>
                </c:pt>
                <c:pt idx="233">
                  <c:v>24</c:v>
                </c:pt>
                <c:pt idx="234">
                  <c:v>32</c:v>
                </c:pt>
                <c:pt idx="235">
                  <c:v>52</c:v>
                </c:pt>
                <c:pt idx="236">
                  <c:v>46</c:v>
                </c:pt>
                <c:pt idx="237">
                  <c:v>56</c:v>
                </c:pt>
                <c:pt idx="238">
                  <c:v>53</c:v>
                </c:pt>
                <c:pt idx="239">
                  <c:v>72</c:v>
                </c:pt>
                <c:pt idx="240">
                  <c:v>51</c:v>
                </c:pt>
                <c:pt idx="241">
                  <c:v>38</c:v>
                </c:pt>
                <c:pt idx="242">
                  <c:v>53</c:v>
                </c:pt>
                <c:pt idx="243">
                  <c:v>36</c:v>
                </c:pt>
                <c:pt idx="244">
                  <c:v>59</c:v>
                </c:pt>
                <c:pt idx="245">
                  <c:v>56</c:v>
                </c:pt>
                <c:pt idx="246">
                  <c:v>37</c:v>
                </c:pt>
                <c:pt idx="247">
                  <c:v>31</c:v>
                </c:pt>
                <c:pt idx="248">
                  <c:v>15</c:v>
                </c:pt>
                <c:pt idx="249">
                  <c:v>30</c:v>
                </c:pt>
                <c:pt idx="250">
                  <c:v>36</c:v>
                </c:pt>
                <c:pt idx="251">
                  <c:v>34</c:v>
                </c:pt>
                <c:pt idx="252">
                  <c:v>26</c:v>
                </c:pt>
                <c:pt idx="253">
                  <c:v>17</c:v>
                </c:pt>
                <c:pt idx="254">
                  <c:v>28</c:v>
                </c:pt>
                <c:pt idx="255">
                  <c:v>23</c:v>
                </c:pt>
                <c:pt idx="256">
                  <c:v>14</c:v>
                </c:pt>
                <c:pt idx="257">
                  <c:v>34</c:v>
                </c:pt>
                <c:pt idx="258">
                  <c:v>32</c:v>
                </c:pt>
                <c:pt idx="259">
                  <c:v>57</c:v>
                </c:pt>
                <c:pt idx="260">
                  <c:v>27</c:v>
                </c:pt>
                <c:pt idx="261">
                  <c:v>18</c:v>
                </c:pt>
                <c:pt idx="262">
                  <c:v>19</c:v>
                </c:pt>
                <c:pt idx="263">
                  <c:v>38</c:v>
                </c:pt>
                <c:pt idx="264">
                  <c:v>18</c:v>
                </c:pt>
                <c:pt idx="265">
                  <c:v>18</c:v>
                </c:pt>
                <c:pt idx="266">
                  <c:v>29</c:v>
                </c:pt>
                <c:pt idx="267">
                  <c:v>10</c:v>
                </c:pt>
                <c:pt idx="268">
                  <c:v>22</c:v>
                </c:pt>
                <c:pt idx="269">
                  <c:v>45</c:v>
                </c:pt>
                <c:pt idx="270">
                  <c:v>15</c:v>
                </c:pt>
                <c:pt idx="271">
                  <c:v>39</c:v>
                </c:pt>
                <c:pt idx="272">
                  <c:v>17</c:v>
                </c:pt>
                <c:pt idx="273">
                  <c:v>11</c:v>
                </c:pt>
                <c:pt idx="274">
                  <c:v>27</c:v>
                </c:pt>
                <c:pt idx="275">
                  <c:v>25</c:v>
                </c:pt>
                <c:pt idx="276">
                  <c:v>20</c:v>
                </c:pt>
                <c:pt idx="277">
                  <c:v>4</c:v>
                </c:pt>
                <c:pt idx="278">
                  <c:v>25</c:v>
                </c:pt>
                <c:pt idx="279">
                  <c:v>14</c:v>
                </c:pt>
                <c:pt idx="280">
                  <c:v>17</c:v>
                </c:pt>
                <c:pt idx="281">
                  <c:v>22</c:v>
                </c:pt>
                <c:pt idx="282">
                  <c:v>5</c:v>
                </c:pt>
                <c:pt idx="283">
                  <c:v>11</c:v>
                </c:pt>
                <c:pt idx="284">
                  <c:v>16</c:v>
                </c:pt>
                <c:pt idx="285">
                  <c:v>6</c:v>
                </c:pt>
                <c:pt idx="286">
                  <c:v>26</c:v>
                </c:pt>
                <c:pt idx="287">
                  <c:v>4</c:v>
                </c:pt>
                <c:pt idx="288">
                  <c:v>6</c:v>
                </c:pt>
                <c:pt idx="289">
                  <c:v>18</c:v>
                </c:pt>
                <c:pt idx="290">
                  <c:v>5</c:v>
                </c:pt>
                <c:pt idx="291">
                  <c:v>14</c:v>
                </c:pt>
                <c:pt idx="292">
                  <c:v>9</c:v>
                </c:pt>
                <c:pt idx="293">
                  <c:v>11</c:v>
                </c:pt>
                <c:pt idx="294">
                  <c:v>8</c:v>
                </c:pt>
                <c:pt idx="295">
                  <c:v>4</c:v>
                </c:pt>
                <c:pt idx="296">
                  <c:v>6</c:v>
                </c:pt>
                <c:pt idx="297">
                  <c:v>5</c:v>
                </c:pt>
                <c:pt idx="298">
                  <c:v>16</c:v>
                </c:pt>
                <c:pt idx="299">
                  <c:v>10</c:v>
                </c:pt>
                <c:pt idx="300">
                  <c:v>13</c:v>
                </c:pt>
                <c:pt idx="301">
                  <c:v>14</c:v>
                </c:pt>
                <c:pt idx="302">
                  <c:v>4</c:v>
                </c:pt>
                <c:pt idx="303">
                  <c:v>8</c:v>
                </c:pt>
                <c:pt idx="304">
                  <c:v>7</c:v>
                </c:pt>
                <c:pt idx="305">
                  <c:v>4</c:v>
                </c:pt>
                <c:pt idx="306">
                  <c:v>4</c:v>
                </c:pt>
                <c:pt idx="307">
                  <c:v>6</c:v>
                </c:pt>
                <c:pt idx="308">
                  <c:v>13</c:v>
                </c:pt>
                <c:pt idx="309">
                  <c:v>10</c:v>
                </c:pt>
                <c:pt idx="310">
                  <c:v>12</c:v>
                </c:pt>
                <c:pt idx="311">
                  <c:v>5</c:v>
                </c:pt>
                <c:pt idx="312">
                  <c:v>5</c:v>
                </c:pt>
                <c:pt idx="313">
                  <c:v>4</c:v>
                </c:pt>
                <c:pt idx="314">
                  <c:v>4</c:v>
                </c:pt>
                <c:pt idx="315">
                  <c:v>2</c:v>
                </c:pt>
                <c:pt idx="316">
                  <c:v>3</c:v>
                </c:pt>
                <c:pt idx="317">
                  <c:v>4</c:v>
                </c:pt>
                <c:pt idx="318">
                  <c:v>11</c:v>
                </c:pt>
                <c:pt idx="319">
                  <c:v>2</c:v>
                </c:pt>
                <c:pt idx="320">
                  <c:v>3</c:v>
                </c:pt>
                <c:pt idx="321">
                  <c:v>4</c:v>
                </c:pt>
                <c:pt idx="322">
                  <c:v>8</c:v>
                </c:pt>
                <c:pt idx="323">
                  <c:v>2</c:v>
                </c:pt>
                <c:pt idx="324">
                  <c:v>7</c:v>
                </c:pt>
                <c:pt idx="325">
                  <c:v>5</c:v>
                </c:pt>
                <c:pt idx="326">
                  <c:v>2</c:v>
                </c:pt>
                <c:pt idx="327">
                  <c:v>2</c:v>
                </c:pt>
                <c:pt idx="328">
                  <c:v>1</c:v>
                </c:pt>
                <c:pt idx="329">
                  <c:v>4</c:v>
                </c:pt>
                <c:pt idx="330">
                  <c:v>12</c:v>
                </c:pt>
                <c:pt idx="331">
                  <c:v>4</c:v>
                </c:pt>
                <c:pt idx="332">
                  <c:v>2</c:v>
                </c:pt>
                <c:pt idx="333">
                  <c:v>3</c:v>
                </c:pt>
                <c:pt idx="334">
                  <c:v>4</c:v>
                </c:pt>
                <c:pt idx="335">
                  <c:v>1</c:v>
                </c:pt>
                <c:pt idx="336">
                  <c:v>3</c:v>
                </c:pt>
                <c:pt idx="337">
                  <c:v>2</c:v>
                </c:pt>
                <c:pt idx="338">
                  <c:v>6</c:v>
                </c:pt>
                <c:pt idx="339">
                  <c:v>16</c:v>
                </c:pt>
                <c:pt idx="340">
                  <c:v>2</c:v>
                </c:pt>
                <c:pt idx="341">
                  <c:v>2</c:v>
                </c:pt>
                <c:pt idx="342">
                  <c:v>2</c:v>
                </c:pt>
                <c:pt idx="343">
                  <c:v>10</c:v>
                </c:pt>
                <c:pt idx="344">
                  <c:v>5</c:v>
                </c:pt>
                <c:pt idx="345">
                  <c:v>4</c:v>
                </c:pt>
                <c:pt idx="346">
                  <c:v>2</c:v>
                </c:pt>
                <c:pt idx="347">
                  <c:v>2</c:v>
                </c:pt>
                <c:pt idx="348">
                  <c:v>6</c:v>
                </c:pt>
                <c:pt idx="349">
                  <c:v>4</c:v>
                </c:pt>
                <c:pt idx="350">
                  <c:v>2</c:v>
                </c:pt>
                <c:pt idx="351">
                  <c:v>2</c:v>
                </c:pt>
                <c:pt idx="352">
                  <c:v>2</c:v>
                </c:pt>
                <c:pt idx="353">
                  <c:v>2</c:v>
                </c:pt>
                <c:pt idx="354">
                  <c:v>3</c:v>
                </c:pt>
                <c:pt idx="355">
                  <c:v>3</c:v>
                </c:pt>
                <c:pt idx="356">
                  <c:v>12</c:v>
                </c:pt>
              </c:numCache>
            </c:numRef>
          </c:val>
          <c:smooth val="0"/>
        </c:ser>
        <c:ser>
          <c:idx val="0"/>
          <c:order val="3"/>
          <c:tx>
            <c:strRef>
              <c:f>년도별선행예약시점!$L$8</c:f>
              <c:strCache>
                <c:ptCount val="1"/>
                <c:pt idx="0">
                  <c:v>2018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년도별선행예약시점!$K$9:$K$339</c:f>
              <c:numCache>
                <c:formatCode>General</c:formatCode>
                <c:ptCount val="3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266</c:v>
                </c:pt>
                <c:pt idx="265">
                  <c:v>267</c:v>
                </c:pt>
                <c:pt idx="266">
                  <c:v>268</c:v>
                </c:pt>
                <c:pt idx="267">
                  <c:v>269</c:v>
                </c:pt>
                <c:pt idx="268">
                  <c:v>270</c:v>
                </c:pt>
                <c:pt idx="269">
                  <c:v>271</c:v>
                </c:pt>
                <c:pt idx="270">
                  <c:v>272</c:v>
                </c:pt>
                <c:pt idx="271">
                  <c:v>274</c:v>
                </c:pt>
                <c:pt idx="272">
                  <c:v>275</c:v>
                </c:pt>
                <c:pt idx="273">
                  <c:v>277</c:v>
                </c:pt>
                <c:pt idx="274">
                  <c:v>279</c:v>
                </c:pt>
                <c:pt idx="275">
                  <c:v>280</c:v>
                </c:pt>
                <c:pt idx="276">
                  <c:v>281</c:v>
                </c:pt>
                <c:pt idx="277">
                  <c:v>284</c:v>
                </c:pt>
                <c:pt idx="278">
                  <c:v>286</c:v>
                </c:pt>
                <c:pt idx="279">
                  <c:v>287</c:v>
                </c:pt>
                <c:pt idx="280">
                  <c:v>288</c:v>
                </c:pt>
                <c:pt idx="281">
                  <c:v>289</c:v>
                </c:pt>
                <c:pt idx="282">
                  <c:v>290</c:v>
                </c:pt>
                <c:pt idx="283">
                  <c:v>291</c:v>
                </c:pt>
                <c:pt idx="284">
                  <c:v>292</c:v>
                </c:pt>
                <c:pt idx="285">
                  <c:v>294</c:v>
                </c:pt>
                <c:pt idx="286">
                  <c:v>295</c:v>
                </c:pt>
                <c:pt idx="287">
                  <c:v>296</c:v>
                </c:pt>
                <c:pt idx="288">
                  <c:v>297</c:v>
                </c:pt>
                <c:pt idx="289">
                  <c:v>298</c:v>
                </c:pt>
                <c:pt idx="290">
                  <c:v>299</c:v>
                </c:pt>
                <c:pt idx="291">
                  <c:v>303</c:v>
                </c:pt>
                <c:pt idx="292">
                  <c:v>309</c:v>
                </c:pt>
                <c:pt idx="293">
                  <c:v>310</c:v>
                </c:pt>
                <c:pt idx="294">
                  <c:v>311</c:v>
                </c:pt>
                <c:pt idx="295">
                  <c:v>312</c:v>
                </c:pt>
                <c:pt idx="296">
                  <c:v>313</c:v>
                </c:pt>
                <c:pt idx="297">
                  <c:v>314</c:v>
                </c:pt>
                <c:pt idx="298">
                  <c:v>315</c:v>
                </c:pt>
                <c:pt idx="299">
                  <c:v>316</c:v>
                </c:pt>
                <c:pt idx="300">
                  <c:v>317</c:v>
                </c:pt>
                <c:pt idx="301">
                  <c:v>318</c:v>
                </c:pt>
                <c:pt idx="302">
                  <c:v>324</c:v>
                </c:pt>
                <c:pt idx="303">
                  <c:v>325</c:v>
                </c:pt>
                <c:pt idx="304">
                  <c:v>326</c:v>
                </c:pt>
                <c:pt idx="305">
                  <c:v>332</c:v>
                </c:pt>
                <c:pt idx="306">
                  <c:v>334</c:v>
                </c:pt>
                <c:pt idx="307">
                  <c:v>339</c:v>
                </c:pt>
                <c:pt idx="308">
                  <c:v>340</c:v>
                </c:pt>
                <c:pt idx="309">
                  <c:v>346</c:v>
                </c:pt>
                <c:pt idx="310">
                  <c:v>348</c:v>
                </c:pt>
                <c:pt idx="311">
                  <c:v>350</c:v>
                </c:pt>
                <c:pt idx="312">
                  <c:v>358</c:v>
                </c:pt>
                <c:pt idx="313">
                  <c:v>361</c:v>
                </c:pt>
                <c:pt idx="314">
                  <c:v>370</c:v>
                </c:pt>
                <c:pt idx="315">
                  <c:v>381</c:v>
                </c:pt>
                <c:pt idx="316">
                  <c:v>382</c:v>
                </c:pt>
                <c:pt idx="317">
                  <c:v>383</c:v>
                </c:pt>
                <c:pt idx="318">
                  <c:v>385</c:v>
                </c:pt>
                <c:pt idx="319">
                  <c:v>397</c:v>
                </c:pt>
                <c:pt idx="320">
                  <c:v>400</c:v>
                </c:pt>
                <c:pt idx="321">
                  <c:v>415</c:v>
                </c:pt>
                <c:pt idx="322">
                  <c:v>417</c:v>
                </c:pt>
                <c:pt idx="323">
                  <c:v>425</c:v>
                </c:pt>
                <c:pt idx="324">
                  <c:v>445</c:v>
                </c:pt>
                <c:pt idx="325">
                  <c:v>448</c:v>
                </c:pt>
                <c:pt idx="326">
                  <c:v>495</c:v>
                </c:pt>
                <c:pt idx="327">
                  <c:v>556</c:v>
                </c:pt>
                <c:pt idx="328">
                  <c:v>593</c:v>
                </c:pt>
                <c:pt idx="329">
                  <c:v>659</c:v>
                </c:pt>
                <c:pt idx="330">
                  <c:v>1660</c:v>
                </c:pt>
              </c:numCache>
            </c:numRef>
          </c:cat>
          <c:val>
            <c:numRef>
              <c:f>년도별선행예약시점!$L$9:$L$339</c:f>
              <c:numCache>
                <c:formatCode>General</c:formatCode>
                <c:ptCount val="331"/>
                <c:pt idx="0">
                  <c:v>47</c:v>
                </c:pt>
                <c:pt idx="1">
                  <c:v>113</c:v>
                </c:pt>
                <c:pt idx="2">
                  <c:v>182</c:v>
                </c:pt>
                <c:pt idx="3">
                  <c:v>293</c:v>
                </c:pt>
                <c:pt idx="4">
                  <c:v>449</c:v>
                </c:pt>
                <c:pt idx="5">
                  <c:v>526</c:v>
                </c:pt>
                <c:pt idx="6">
                  <c:v>634</c:v>
                </c:pt>
                <c:pt idx="7">
                  <c:v>762</c:v>
                </c:pt>
                <c:pt idx="8">
                  <c:v>817</c:v>
                </c:pt>
                <c:pt idx="9">
                  <c:v>944</c:v>
                </c:pt>
                <c:pt idx="10">
                  <c:v>1044</c:v>
                </c:pt>
                <c:pt idx="11">
                  <c:v>1022</c:v>
                </c:pt>
                <c:pt idx="12">
                  <c:v>1157</c:v>
                </c:pt>
                <c:pt idx="13">
                  <c:v>1135</c:v>
                </c:pt>
                <c:pt idx="14">
                  <c:v>1266</c:v>
                </c:pt>
                <c:pt idx="15">
                  <c:v>1458</c:v>
                </c:pt>
                <c:pt idx="16">
                  <c:v>1348</c:v>
                </c:pt>
                <c:pt idx="17">
                  <c:v>1420</c:v>
                </c:pt>
                <c:pt idx="18">
                  <c:v>1418</c:v>
                </c:pt>
                <c:pt idx="19">
                  <c:v>1334</c:v>
                </c:pt>
                <c:pt idx="20">
                  <c:v>1373</c:v>
                </c:pt>
                <c:pt idx="21">
                  <c:v>1450</c:v>
                </c:pt>
                <c:pt idx="22">
                  <c:v>1599</c:v>
                </c:pt>
                <c:pt idx="23">
                  <c:v>1491</c:v>
                </c:pt>
                <c:pt idx="24">
                  <c:v>1423</c:v>
                </c:pt>
                <c:pt idx="25">
                  <c:v>1415</c:v>
                </c:pt>
                <c:pt idx="26">
                  <c:v>1485</c:v>
                </c:pt>
                <c:pt idx="27">
                  <c:v>1435</c:v>
                </c:pt>
                <c:pt idx="28">
                  <c:v>1301</c:v>
                </c:pt>
                <c:pt idx="29">
                  <c:v>1316</c:v>
                </c:pt>
                <c:pt idx="30">
                  <c:v>1337</c:v>
                </c:pt>
                <c:pt idx="31">
                  <c:v>1498</c:v>
                </c:pt>
                <c:pt idx="32">
                  <c:v>1200</c:v>
                </c:pt>
                <c:pt idx="33">
                  <c:v>1302</c:v>
                </c:pt>
                <c:pt idx="34">
                  <c:v>1202</c:v>
                </c:pt>
                <c:pt idx="35">
                  <c:v>1289</c:v>
                </c:pt>
                <c:pt idx="36">
                  <c:v>1454</c:v>
                </c:pt>
                <c:pt idx="37">
                  <c:v>1328</c:v>
                </c:pt>
                <c:pt idx="38">
                  <c:v>1362</c:v>
                </c:pt>
                <c:pt idx="39">
                  <c:v>1252</c:v>
                </c:pt>
                <c:pt idx="40">
                  <c:v>1203</c:v>
                </c:pt>
                <c:pt idx="41">
                  <c:v>1311</c:v>
                </c:pt>
                <c:pt idx="42">
                  <c:v>1186</c:v>
                </c:pt>
                <c:pt idx="43">
                  <c:v>1169</c:v>
                </c:pt>
                <c:pt idx="44">
                  <c:v>1129</c:v>
                </c:pt>
                <c:pt idx="45">
                  <c:v>1199</c:v>
                </c:pt>
                <c:pt idx="46">
                  <c:v>1158</c:v>
                </c:pt>
                <c:pt idx="47">
                  <c:v>1028</c:v>
                </c:pt>
                <c:pt idx="48">
                  <c:v>1150</c:v>
                </c:pt>
                <c:pt idx="49">
                  <c:v>1096</c:v>
                </c:pt>
                <c:pt idx="50">
                  <c:v>1114</c:v>
                </c:pt>
                <c:pt idx="51">
                  <c:v>1086</c:v>
                </c:pt>
                <c:pt idx="52">
                  <c:v>1096</c:v>
                </c:pt>
                <c:pt idx="53">
                  <c:v>1015</c:v>
                </c:pt>
                <c:pt idx="54">
                  <c:v>1077</c:v>
                </c:pt>
                <c:pt idx="55">
                  <c:v>1053</c:v>
                </c:pt>
                <c:pt idx="56">
                  <c:v>943</c:v>
                </c:pt>
                <c:pt idx="57">
                  <c:v>947</c:v>
                </c:pt>
                <c:pt idx="58">
                  <c:v>881</c:v>
                </c:pt>
                <c:pt idx="59">
                  <c:v>898</c:v>
                </c:pt>
                <c:pt idx="60">
                  <c:v>799</c:v>
                </c:pt>
                <c:pt idx="61">
                  <c:v>903</c:v>
                </c:pt>
                <c:pt idx="62">
                  <c:v>862</c:v>
                </c:pt>
                <c:pt idx="63">
                  <c:v>959</c:v>
                </c:pt>
                <c:pt idx="64">
                  <c:v>1019</c:v>
                </c:pt>
                <c:pt idx="65">
                  <c:v>845</c:v>
                </c:pt>
                <c:pt idx="66">
                  <c:v>1033</c:v>
                </c:pt>
                <c:pt idx="67">
                  <c:v>746</c:v>
                </c:pt>
                <c:pt idx="68">
                  <c:v>805</c:v>
                </c:pt>
                <c:pt idx="69">
                  <c:v>815</c:v>
                </c:pt>
                <c:pt idx="70">
                  <c:v>843</c:v>
                </c:pt>
                <c:pt idx="71">
                  <c:v>891</c:v>
                </c:pt>
                <c:pt idx="72">
                  <c:v>758</c:v>
                </c:pt>
                <c:pt idx="73">
                  <c:v>798</c:v>
                </c:pt>
                <c:pt idx="74">
                  <c:v>719</c:v>
                </c:pt>
                <c:pt idx="75">
                  <c:v>727</c:v>
                </c:pt>
                <c:pt idx="76">
                  <c:v>781</c:v>
                </c:pt>
                <c:pt idx="77">
                  <c:v>825</c:v>
                </c:pt>
                <c:pt idx="78">
                  <c:v>693</c:v>
                </c:pt>
                <c:pt idx="79">
                  <c:v>846</c:v>
                </c:pt>
                <c:pt idx="80">
                  <c:v>671</c:v>
                </c:pt>
                <c:pt idx="81">
                  <c:v>603</c:v>
                </c:pt>
                <c:pt idx="82">
                  <c:v>646</c:v>
                </c:pt>
                <c:pt idx="83">
                  <c:v>571</c:v>
                </c:pt>
                <c:pt idx="84">
                  <c:v>736</c:v>
                </c:pt>
                <c:pt idx="85">
                  <c:v>780</c:v>
                </c:pt>
                <c:pt idx="86">
                  <c:v>655</c:v>
                </c:pt>
                <c:pt idx="87">
                  <c:v>628</c:v>
                </c:pt>
                <c:pt idx="88">
                  <c:v>551</c:v>
                </c:pt>
                <c:pt idx="89">
                  <c:v>462</c:v>
                </c:pt>
                <c:pt idx="90">
                  <c:v>535</c:v>
                </c:pt>
                <c:pt idx="91">
                  <c:v>547</c:v>
                </c:pt>
                <c:pt idx="92">
                  <c:v>623</c:v>
                </c:pt>
                <c:pt idx="93">
                  <c:v>551</c:v>
                </c:pt>
                <c:pt idx="94">
                  <c:v>606</c:v>
                </c:pt>
                <c:pt idx="95">
                  <c:v>646</c:v>
                </c:pt>
                <c:pt idx="96">
                  <c:v>522</c:v>
                </c:pt>
                <c:pt idx="97">
                  <c:v>529</c:v>
                </c:pt>
                <c:pt idx="98">
                  <c:v>548</c:v>
                </c:pt>
                <c:pt idx="99">
                  <c:v>570</c:v>
                </c:pt>
                <c:pt idx="100">
                  <c:v>505</c:v>
                </c:pt>
                <c:pt idx="101">
                  <c:v>524</c:v>
                </c:pt>
                <c:pt idx="102">
                  <c:v>460</c:v>
                </c:pt>
                <c:pt idx="103">
                  <c:v>539</c:v>
                </c:pt>
                <c:pt idx="104">
                  <c:v>468</c:v>
                </c:pt>
                <c:pt idx="105">
                  <c:v>473</c:v>
                </c:pt>
                <c:pt idx="106">
                  <c:v>491</c:v>
                </c:pt>
                <c:pt idx="107">
                  <c:v>411</c:v>
                </c:pt>
                <c:pt idx="108">
                  <c:v>468</c:v>
                </c:pt>
                <c:pt idx="109">
                  <c:v>483</c:v>
                </c:pt>
                <c:pt idx="110">
                  <c:v>428</c:v>
                </c:pt>
                <c:pt idx="111">
                  <c:v>447</c:v>
                </c:pt>
                <c:pt idx="112">
                  <c:v>452</c:v>
                </c:pt>
                <c:pt idx="113">
                  <c:v>416</c:v>
                </c:pt>
                <c:pt idx="114">
                  <c:v>426</c:v>
                </c:pt>
                <c:pt idx="115">
                  <c:v>425</c:v>
                </c:pt>
                <c:pt idx="116">
                  <c:v>438</c:v>
                </c:pt>
                <c:pt idx="117">
                  <c:v>361</c:v>
                </c:pt>
                <c:pt idx="118">
                  <c:v>349</c:v>
                </c:pt>
                <c:pt idx="119">
                  <c:v>418</c:v>
                </c:pt>
                <c:pt idx="120">
                  <c:v>395</c:v>
                </c:pt>
                <c:pt idx="121">
                  <c:v>347</c:v>
                </c:pt>
                <c:pt idx="122">
                  <c:v>348</c:v>
                </c:pt>
                <c:pt idx="123">
                  <c:v>463</c:v>
                </c:pt>
                <c:pt idx="124">
                  <c:v>332</c:v>
                </c:pt>
                <c:pt idx="125">
                  <c:v>314</c:v>
                </c:pt>
                <c:pt idx="126">
                  <c:v>376</c:v>
                </c:pt>
                <c:pt idx="127">
                  <c:v>465</c:v>
                </c:pt>
                <c:pt idx="128">
                  <c:v>462</c:v>
                </c:pt>
                <c:pt idx="129">
                  <c:v>420</c:v>
                </c:pt>
                <c:pt idx="130">
                  <c:v>343</c:v>
                </c:pt>
                <c:pt idx="131">
                  <c:v>326</c:v>
                </c:pt>
                <c:pt idx="132">
                  <c:v>272</c:v>
                </c:pt>
                <c:pt idx="133">
                  <c:v>330</c:v>
                </c:pt>
                <c:pt idx="134">
                  <c:v>336</c:v>
                </c:pt>
                <c:pt idx="135">
                  <c:v>316</c:v>
                </c:pt>
                <c:pt idx="136">
                  <c:v>309</c:v>
                </c:pt>
                <c:pt idx="137">
                  <c:v>282</c:v>
                </c:pt>
                <c:pt idx="138">
                  <c:v>265</c:v>
                </c:pt>
                <c:pt idx="139">
                  <c:v>232</c:v>
                </c:pt>
                <c:pt idx="140">
                  <c:v>325</c:v>
                </c:pt>
                <c:pt idx="141">
                  <c:v>273</c:v>
                </c:pt>
                <c:pt idx="142">
                  <c:v>234</c:v>
                </c:pt>
                <c:pt idx="143">
                  <c:v>335</c:v>
                </c:pt>
                <c:pt idx="144">
                  <c:v>192</c:v>
                </c:pt>
                <c:pt idx="145">
                  <c:v>280</c:v>
                </c:pt>
                <c:pt idx="146">
                  <c:v>219</c:v>
                </c:pt>
                <c:pt idx="147">
                  <c:v>346</c:v>
                </c:pt>
                <c:pt idx="148">
                  <c:v>249</c:v>
                </c:pt>
                <c:pt idx="149">
                  <c:v>299</c:v>
                </c:pt>
                <c:pt idx="150">
                  <c:v>226</c:v>
                </c:pt>
                <c:pt idx="151">
                  <c:v>196</c:v>
                </c:pt>
                <c:pt idx="152">
                  <c:v>194</c:v>
                </c:pt>
                <c:pt idx="153">
                  <c:v>221</c:v>
                </c:pt>
                <c:pt idx="154">
                  <c:v>189</c:v>
                </c:pt>
                <c:pt idx="155">
                  <c:v>191</c:v>
                </c:pt>
                <c:pt idx="156">
                  <c:v>179</c:v>
                </c:pt>
                <c:pt idx="157">
                  <c:v>278</c:v>
                </c:pt>
                <c:pt idx="158">
                  <c:v>174</c:v>
                </c:pt>
                <c:pt idx="159">
                  <c:v>144</c:v>
                </c:pt>
                <c:pt idx="160">
                  <c:v>228</c:v>
                </c:pt>
                <c:pt idx="161">
                  <c:v>238</c:v>
                </c:pt>
                <c:pt idx="162">
                  <c:v>152</c:v>
                </c:pt>
                <c:pt idx="163">
                  <c:v>121</c:v>
                </c:pt>
                <c:pt idx="164">
                  <c:v>136</c:v>
                </c:pt>
                <c:pt idx="165">
                  <c:v>184</c:v>
                </c:pt>
                <c:pt idx="166">
                  <c:v>135</c:v>
                </c:pt>
                <c:pt idx="167">
                  <c:v>235</c:v>
                </c:pt>
                <c:pt idx="168">
                  <c:v>140</c:v>
                </c:pt>
                <c:pt idx="169">
                  <c:v>169</c:v>
                </c:pt>
                <c:pt idx="170">
                  <c:v>131</c:v>
                </c:pt>
                <c:pt idx="171">
                  <c:v>175</c:v>
                </c:pt>
                <c:pt idx="172">
                  <c:v>162</c:v>
                </c:pt>
                <c:pt idx="173">
                  <c:v>170</c:v>
                </c:pt>
                <c:pt idx="174">
                  <c:v>142</c:v>
                </c:pt>
                <c:pt idx="175">
                  <c:v>148</c:v>
                </c:pt>
                <c:pt idx="176">
                  <c:v>147</c:v>
                </c:pt>
                <c:pt idx="177">
                  <c:v>133</c:v>
                </c:pt>
                <c:pt idx="178">
                  <c:v>110</c:v>
                </c:pt>
                <c:pt idx="179">
                  <c:v>136</c:v>
                </c:pt>
                <c:pt idx="180">
                  <c:v>97</c:v>
                </c:pt>
                <c:pt idx="181">
                  <c:v>120</c:v>
                </c:pt>
                <c:pt idx="182">
                  <c:v>147</c:v>
                </c:pt>
                <c:pt idx="183">
                  <c:v>79</c:v>
                </c:pt>
                <c:pt idx="184">
                  <c:v>123</c:v>
                </c:pt>
                <c:pt idx="185">
                  <c:v>165</c:v>
                </c:pt>
                <c:pt idx="186">
                  <c:v>98</c:v>
                </c:pt>
                <c:pt idx="187">
                  <c:v>69</c:v>
                </c:pt>
                <c:pt idx="188">
                  <c:v>66</c:v>
                </c:pt>
                <c:pt idx="189">
                  <c:v>142</c:v>
                </c:pt>
                <c:pt idx="190">
                  <c:v>38</c:v>
                </c:pt>
                <c:pt idx="191">
                  <c:v>114</c:v>
                </c:pt>
                <c:pt idx="192">
                  <c:v>142</c:v>
                </c:pt>
                <c:pt idx="193">
                  <c:v>81</c:v>
                </c:pt>
                <c:pt idx="194">
                  <c:v>114</c:v>
                </c:pt>
                <c:pt idx="195">
                  <c:v>108</c:v>
                </c:pt>
                <c:pt idx="196">
                  <c:v>70</c:v>
                </c:pt>
                <c:pt idx="197">
                  <c:v>102</c:v>
                </c:pt>
                <c:pt idx="198">
                  <c:v>81</c:v>
                </c:pt>
                <c:pt idx="199">
                  <c:v>71</c:v>
                </c:pt>
                <c:pt idx="200">
                  <c:v>48</c:v>
                </c:pt>
                <c:pt idx="201">
                  <c:v>75</c:v>
                </c:pt>
                <c:pt idx="202">
                  <c:v>72</c:v>
                </c:pt>
                <c:pt idx="203">
                  <c:v>63</c:v>
                </c:pt>
                <c:pt idx="204">
                  <c:v>74</c:v>
                </c:pt>
                <c:pt idx="205">
                  <c:v>73</c:v>
                </c:pt>
                <c:pt idx="206">
                  <c:v>61</c:v>
                </c:pt>
                <c:pt idx="207">
                  <c:v>57</c:v>
                </c:pt>
                <c:pt idx="208">
                  <c:v>30</c:v>
                </c:pt>
                <c:pt idx="209">
                  <c:v>73</c:v>
                </c:pt>
                <c:pt idx="210">
                  <c:v>86</c:v>
                </c:pt>
                <c:pt idx="211">
                  <c:v>71</c:v>
                </c:pt>
                <c:pt idx="212">
                  <c:v>48</c:v>
                </c:pt>
                <c:pt idx="213">
                  <c:v>69</c:v>
                </c:pt>
                <c:pt idx="214">
                  <c:v>54</c:v>
                </c:pt>
                <c:pt idx="215">
                  <c:v>70</c:v>
                </c:pt>
                <c:pt idx="216">
                  <c:v>41</c:v>
                </c:pt>
                <c:pt idx="217">
                  <c:v>44</c:v>
                </c:pt>
                <c:pt idx="218">
                  <c:v>92</c:v>
                </c:pt>
                <c:pt idx="219">
                  <c:v>42</c:v>
                </c:pt>
                <c:pt idx="220">
                  <c:v>67</c:v>
                </c:pt>
                <c:pt idx="221">
                  <c:v>56</c:v>
                </c:pt>
                <c:pt idx="222">
                  <c:v>48</c:v>
                </c:pt>
                <c:pt idx="223">
                  <c:v>34</c:v>
                </c:pt>
                <c:pt idx="224">
                  <c:v>35</c:v>
                </c:pt>
                <c:pt idx="225">
                  <c:v>20</c:v>
                </c:pt>
                <c:pt idx="226">
                  <c:v>45</c:v>
                </c:pt>
                <c:pt idx="227">
                  <c:v>43</c:v>
                </c:pt>
                <c:pt idx="228">
                  <c:v>35</c:v>
                </c:pt>
                <c:pt idx="229">
                  <c:v>19</c:v>
                </c:pt>
                <c:pt idx="230">
                  <c:v>37</c:v>
                </c:pt>
                <c:pt idx="231">
                  <c:v>43</c:v>
                </c:pt>
                <c:pt idx="232">
                  <c:v>37</c:v>
                </c:pt>
                <c:pt idx="233">
                  <c:v>9</c:v>
                </c:pt>
                <c:pt idx="234">
                  <c:v>10</c:v>
                </c:pt>
                <c:pt idx="235">
                  <c:v>62</c:v>
                </c:pt>
                <c:pt idx="236">
                  <c:v>29</c:v>
                </c:pt>
                <c:pt idx="237">
                  <c:v>8</c:v>
                </c:pt>
                <c:pt idx="238">
                  <c:v>26</c:v>
                </c:pt>
                <c:pt idx="239">
                  <c:v>22</c:v>
                </c:pt>
                <c:pt idx="240">
                  <c:v>18</c:v>
                </c:pt>
                <c:pt idx="241">
                  <c:v>16</c:v>
                </c:pt>
                <c:pt idx="242">
                  <c:v>12</c:v>
                </c:pt>
                <c:pt idx="243">
                  <c:v>22</c:v>
                </c:pt>
                <c:pt idx="244">
                  <c:v>10</c:v>
                </c:pt>
                <c:pt idx="245">
                  <c:v>20</c:v>
                </c:pt>
                <c:pt idx="246">
                  <c:v>15</c:v>
                </c:pt>
                <c:pt idx="247">
                  <c:v>17</c:v>
                </c:pt>
                <c:pt idx="248">
                  <c:v>25</c:v>
                </c:pt>
                <c:pt idx="249">
                  <c:v>18</c:v>
                </c:pt>
                <c:pt idx="250">
                  <c:v>14</c:v>
                </c:pt>
                <c:pt idx="251">
                  <c:v>10</c:v>
                </c:pt>
                <c:pt idx="252">
                  <c:v>12</c:v>
                </c:pt>
                <c:pt idx="253">
                  <c:v>20</c:v>
                </c:pt>
                <c:pt idx="254">
                  <c:v>14</c:v>
                </c:pt>
                <c:pt idx="255">
                  <c:v>23</c:v>
                </c:pt>
                <c:pt idx="256">
                  <c:v>8</c:v>
                </c:pt>
                <c:pt idx="257">
                  <c:v>22</c:v>
                </c:pt>
                <c:pt idx="258">
                  <c:v>18</c:v>
                </c:pt>
                <c:pt idx="259">
                  <c:v>2</c:v>
                </c:pt>
                <c:pt idx="260">
                  <c:v>2</c:v>
                </c:pt>
                <c:pt idx="261">
                  <c:v>5</c:v>
                </c:pt>
                <c:pt idx="262">
                  <c:v>9</c:v>
                </c:pt>
                <c:pt idx="263">
                  <c:v>9</c:v>
                </c:pt>
                <c:pt idx="264">
                  <c:v>7</c:v>
                </c:pt>
                <c:pt idx="265">
                  <c:v>12</c:v>
                </c:pt>
                <c:pt idx="266">
                  <c:v>7</c:v>
                </c:pt>
                <c:pt idx="267">
                  <c:v>25</c:v>
                </c:pt>
                <c:pt idx="268">
                  <c:v>8</c:v>
                </c:pt>
                <c:pt idx="269">
                  <c:v>2</c:v>
                </c:pt>
                <c:pt idx="270">
                  <c:v>2</c:v>
                </c:pt>
                <c:pt idx="271">
                  <c:v>18</c:v>
                </c:pt>
                <c:pt idx="272">
                  <c:v>8</c:v>
                </c:pt>
                <c:pt idx="273">
                  <c:v>18</c:v>
                </c:pt>
                <c:pt idx="274">
                  <c:v>5</c:v>
                </c:pt>
                <c:pt idx="275">
                  <c:v>1</c:v>
                </c:pt>
                <c:pt idx="276">
                  <c:v>6</c:v>
                </c:pt>
                <c:pt idx="277">
                  <c:v>27</c:v>
                </c:pt>
                <c:pt idx="278">
                  <c:v>6</c:v>
                </c:pt>
                <c:pt idx="279">
                  <c:v>3</c:v>
                </c:pt>
                <c:pt idx="280">
                  <c:v>8</c:v>
                </c:pt>
                <c:pt idx="281">
                  <c:v>9</c:v>
                </c:pt>
                <c:pt idx="282">
                  <c:v>8</c:v>
                </c:pt>
                <c:pt idx="283">
                  <c:v>2</c:v>
                </c:pt>
                <c:pt idx="284">
                  <c:v>2</c:v>
                </c:pt>
                <c:pt idx="285">
                  <c:v>6</c:v>
                </c:pt>
                <c:pt idx="286">
                  <c:v>2</c:v>
                </c:pt>
                <c:pt idx="287">
                  <c:v>6</c:v>
                </c:pt>
                <c:pt idx="288">
                  <c:v>2</c:v>
                </c:pt>
                <c:pt idx="289">
                  <c:v>10</c:v>
                </c:pt>
                <c:pt idx="290">
                  <c:v>4</c:v>
                </c:pt>
                <c:pt idx="291">
                  <c:v>6</c:v>
                </c:pt>
                <c:pt idx="292">
                  <c:v>10</c:v>
                </c:pt>
                <c:pt idx="293">
                  <c:v>9</c:v>
                </c:pt>
                <c:pt idx="294">
                  <c:v>14</c:v>
                </c:pt>
                <c:pt idx="295">
                  <c:v>8</c:v>
                </c:pt>
                <c:pt idx="296">
                  <c:v>4</c:v>
                </c:pt>
                <c:pt idx="297">
                  <c:v>6</c:v>
                </c:pt>
                <c:pt idx="298">
                  <c:v>1</c:v>
                </c:pt>
                <c:pt idx="299">
                  <c:v>8</c:v>
                </c:pt>
                <c:pt idx="300">
                  <c:v>2</c:v>
                </c:pt>
                <c:pt idx="301">
                  <c:v>2</c:v>
                </c:pt>
                <c:pt idx="302">
                  <c:v>1</c:v>
                </c:pt>
                <c:pt idx="303">
                  <c:v>2</c:v>
                </c:pt>
                <c:pt idx="304">
                  <c:v>4</c:v>
                </c:pt>
                <c:pt idx="305">
                  <c:v>4</c:v>
                </c:pt>
                <c:pt idx="306">
                  <c:v>2</c:v>
                </c:pt>
                <c:pt idx="307">
                  <c:v>2</c:v>
                </c:pt>
                <c:pt idx="308">
                  <c:v>3</c:v>
                </c:pt>
                <c:pt idx="309">
                  <c:v>2</c:v>
                </c:pt>
                <c:pt idx="310">
                  <c:v>4</c:v>
                </c:pt>
                <c:pt idx="311">
                  <c:v>4</c:v>
                </c:pt>
                <c:pt idx="312">
                  <c:v>9</c:v>
                </c:pt>
                <c:pt idx="313">
                  <c:v>2</c:v>
                </c:pt>
                <c:pt idx="314">
                  <c:v>2</c:v>
                </c:pt>
                <c:pt idx="315">
                  <c:v>2</c:v>
                </c:pt>
                <c:pt idx="316">
                  <c:v>2</c:v>
                </c:pt>
                <c:pt idx="317">
                  <c:v>10</c:v>
                </c:pt>
                <c:pt idx="318">
                  <c:v>2</c:v>
                </c:pt>
                <c:pt idx="319">
                  <c:v>2</c:v>
                </c:pt>
                <c:pt idx="320">
                  <c:v>2</c:v>
                </c:pt>
                <c:pt idx="321">
                  <c:v>2</c:v>
                </c:pt>
                <c:pt idx="322">
                  <c:v>2</c:v>
                </c:pt>
                <c:pt idx="323">
                  <c:v>2</c:v>
                </c:pt>
                <c:pt idx="324">
                  <c:v>1</c:v>
                </c:pt>
                <c:pt idx="325">
                  <c:v>3</c:v>
                </c:pt>
                <c:pt idx="326">
                  <c:v>10</c:v>
                </c:pt>
                <c:pt idx="327">
                  <c:v>2</c:v>
                </c:pt>
                <c:pt idx="328">
                  <c:v>2</c:v>
                </c:pt>
                <c:pt idx="329">
                  <c:v>2</c:v>
                </c:pt>
                <c:pt idx="330">
                  <c:v>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55261840"/>
        <c:axId val="855262400"/>
      </c:lineChart>
      <c:catAx>
        <c:axId val="855261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5262400"/>
        <c:crosses val="autoZero"/>
        <c:auto val="1"/>
        <c:lblAlgn val="ctr"/>
        <c:lblOffset val="100"/>
        <c:tickLblSkip val="20"/>
        <c:noMultiLvlLbl val="0"/>
      </c:catAx>
      <c:valAx>
        <c:axId val="855262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5261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'18년연령별선행예약'!$H$14</c:f>
              <c:strCache>
                <c:ptCount val="1"/>
                <c:pt idx="0">
                  <c:v>30일이내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'18년연령별선행예약'!$G$15:$G$20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'18년연령별선행예약'!$H$15:$H$20</c:f>
              <c:numCache>
                <c:formatCode>0%</c:formatCode>
                <c:ptCount val="6"/>
                <c:pt idx="0">
                  <c:v>0.33973001588141877</c:v>
                </c:pt>
                <c:pt idx="1">
                  <c:v>0.33315593400745075</c:v>
                </c:pt>
                <c:pt idx="2">
                  <c:v>0.30313436903788499</c:v>
                </c:pt>
                <c:pt idx="3">
                  <c:v>0.21133016441985505</c:v>
                </c:pt>
                <c:pt idx="4">
                  <c:v>0.18270405669599218</c:v>
                </c:pt>
                <c:pt idx="5">
                  <c:v>0.24290622216566993</c:v>
                </c:pt>
              </c:numCache>
            </c:numRef>
          </c:val>
        </c:ser>
        <c:ser>
          <c:idx val="1"/>
          <c:order val="1"/>
          <c:tx>
            <c:strRef>
              <c:f>'18년연령별선행예약'!$I$14</c:f>
              <c:strCache>
                <c:ptCount val="1"/>
                <c:pt idx="0">
                  <c:v>30~59일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2154554056738086E-2"/>
                  <c:y val="1.02586015748972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5824681469098663E-2"/>
                  <c:y val="-2.350902369755841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848442664437748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'18년연령별선행예약'!$G$15:$G$20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'18년연령별선행예약'!$I$15:$I$20</c:f>
              <c:numCache>
                <c:formatCode>0%</c:formatCode>
                <c:ptCount val="6"/>
                <c:pt idx="0">
                  <c:v>0.3180254102699841</c:v>
                </c:pt>
                <c:pt idx="1">
                  <c:v>0.30162320383182545</c:v>
                </c:pt>
                <c:pt idx="2">
                  <c:v>0.29953665849005179</c:v>
                </c:pt>
                <c:pt idx="3">
                  <c:v>0.27855268968025143</c:v>
                </c:pt>
                <c:pt idx="4">
                  <c:v>0.26362414467253176</c:v>
                </c:pt>
                <c:pt idx="5">
                  <c:v>0.29214912838783558</c:v>
                </c:pt>
              </c:numCache>
            </c:numRef>
          </c:val>
        </c:ser>
        <c:ser>
          <c:idx val="2"/>
          <c:order val="2"/>
          <c:tx>
            <c:strRef>
              <c:f>'18년연령별선행예약'!$J$14</c:f>
              <c:strCache>
                <c:ptCount val="1"/>
                <c:pt idx="0">
                  <c:v>60~89일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3.1649362938196107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'18년연령별선행예약'!$G$15:$G$20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'18년연령별선행예약'!$J$15:$J$20</c:f>
              <c:numCache>
                <c:formatCode>0%</c:formatCode>
                <c:ptCount val="6"/>
                <c:pt idx="0">
                  <c:v>0.15709370037056644</c:v>
                </c:pt>
                <c:pt idx="1">
                  <c:v>0.17283129324108568</c:v>
                </c:pt>
                <c:pt idx="2">
                  <c:v>0.17857726901062959</c:v>
                </c:pt>
                <c:pt idx="3">
                  <c:v>0.19496610301566275</c:v>
                </c:pt>
                <c:pt idx="4">
                  <c:v>0.2013685239491691</c:v>
                </c:pt>
                <c:pt idx="5">
                  <c:v>0.20473342664461128</c:v>
                </c:pt>
              </c:numCache>
            </c:numRef>
          </c:val>
        </c:ser>
        <c:ser>
          <c:idx val="3"/>
          <c:order val="3"/>
          <c:tx>
            <c:strRef>
              <c:f>'18년연령별선행예약'!$K$14</c:f>
              <c:strCache>
                <c:ptCount val="1"/>
                <c:pt idx="0">
                  <c:v>90~119일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3298725876394539E-3"/>
                  <c:y val="-9.40360947902336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4.747404440729474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'18년연령별선행예약'!$G$15:$G$20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'18년연령별선행예약'!$K$15:$K$20</c:f>
              <c:numCache>
                <c:formatCode>0%</c:formatCode>
                <c:ptCount val="6"/>
                <c:pt idx="0">
                  <c:v>8.7612493382742185E-2</c:v>
                </c:pt>
                <c:pt idx="1">
                  <c:v>9.0074507716870672E-2</c:v>
                </c:pt>
                <c:pt idx="2">
                  <c:v>9.8555464704279089E-2</c:v>
                </c:pt>
                <c:pt idx="3">
                  <c:v>0.13122418764123744</c:v>
                </c:pt>
                <c:pt idx="4">
                  <c:v>0.14067082111436952</c:v>
                </c:pt>
                <c:pt idx="5">
                  <c:v>0.1127369894388599</c:v>
                </c:pt>
              </c:numCache>
            </c:numRef>
          </c:val>
        </c:ser>
        <c:ser>
          <c:idx val="4"/>
          <c:order val="4"/>
          <c:tx>
            <c:strRef>
              <c:f>'18년연령별선행예약'!$L$14</c:f>
              <c:strCache>
                <c:ptCount val="1"/>
                <c:pt idx="0">
                  <c:v>120~149일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'18년연령별선행예약'!$G$15:$G$20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'18년연령별선행예약'!$L$15:$L$20</c:f>
              <c:numCache>
                <c:formatCode>0%</c:formatCode>
                <c:ptCount val="6"/>
                <c:pt idx="0">
                  <c:v>5.1482265749073587E-2</c:v>
                </c:pt>
                <c:pt idx="1">
                  <c:v>5.1756253326237359E-2</c:v>
                </c:pt>
                <c:pt idx="2">
                  <c:v>6.2196783864813303E-2</c:v>
                </c:pt>
                <c:pt idx="3">
                  <c:v>8.987246421984986E-2</c:v>
                </c:pt>
                <c:pt idx="4">
                  <c:v>0.10050097751710654</c:v>
                </c:pt>
                <c:pt idx="5">
                  <c:v>7.0874157017432243E-2</c:v>
                </c:pt>
              </c:numCache>
            </c:numRef>
          </c:val>
        </c:ser>
        <c:ser>
          <c:idx val="5"/>
          <c:order val="5"/>
          <c:tx>
            <c:strRef>
              <c:f>'18년연령별선행예약'!$M$14</c:f>
              <c:strCache>
                <c:ptCount val="1"/>
                <c:pt idx="0">
                  <c:v>150~179일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6.3298725876394539E-3"/>
                  <c:y val="5.129300787448735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3.1649362938197269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9.4948088814591804E-3"/>
                  <c:y val="1.025860157489718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'18년연령별선행예약'!$G$15:$G$20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'18년연령별선행예약'!$M$15:$M$20</c:f>
              <c:numCache>
                <c:formatCode>0%</c:formatCode>
                <c:ptCount val="6"/>
                <c:pt idx="0">
                  <c:v>2.7130757014293277E-2</c:v>
                </c:pt>
                <c:pt idx="1">
                  <c:v>2.7275146354443853E-2</c:v>
                </c:pt>
                <c:pt idx="2">
                  <c:v>3.221586263286999E-2</c:v>
                </c:pt>
                <c:pt idx="3">
                  <c:v>5.1118210862619806E-2</c:v>
                </c:pt>
                <c:pt idx="4">
                  <c:v>5.6085043988269793E-2</c:v>
                </c:pt>
                <c:pt idx="5">
                  <c:v>3.6009670441531999E-2</c:v>
                </c:pt>
              </c:numCache>
            </c:numRef>
          </c:val>
        </c:ser>
        <c:ser>
          <c:idx val="6"/>
          <c:order val="6"/>
          <c:tx>
            <c:strRef>
              <c:f>'18년연령별선행예약'!$N$14</c:f>
              <c:strCache>
                <c:ptCount val="1"/>
                <c:pt idx="0">
                  <c:v>180일~ 이전</c:v>
                </c:pt>
              </c:strCache>
            </c:strRef>
          </c:tx>
          <c:spPr>
            <a:solidFill>
              <a:srgbClr val="74464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424221332218877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2659745175278908E-2"/>
                  <c:y val="5.12930078744854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9.4948088814591804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2.0572085909828224E-2"/>
                  <c:y val="1.02586015748972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2.5319490350557815E-2"/>
                  <c:y val="5.12930078744854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1.8989617762918243E-2"/>
                  <c:y val="1.025860157489728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'18년연령별선행예약'!$G$15:$G$20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'18년연령별선행예약'!$N$15:$N$20</c:f>
              <c:numCache>
                <c:formatCode>0%</c:formatCode>
                <c:ptCount val="6"/>
                <c:pt idx="0">
                  <c:v>1.892535733192165E-2</c:v>
                </c:pt>
                <c:pt idx="1">
                  <c:v>2.3283661522086215E-2</c:v>
                </c:pt>
                <c:pt idx="2">
                  <c:v>2.5783592259471244E-2</c:v>
                </c:pt>
                <c:pt idx="3">
                  <c:v>4.2936180160523647E-2</c:v>
                </c:pt>
                <c:pt idx="4">
                  <c:v>5.5046432062561095E-2</c:v>
                </c:pt>
                <c:pt idx="5">
                  <c:v>4.0590405904059039E-2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55268000"/>
        <c:axId val="855268560"/>
      </c:barChart>
      <c:catAx>
        <c:axId val="85526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5268560"/>
        <c:crosses val="autoZero"/>
        <c:auto val="1"/>
        <c:lblAlgn val="ctr"/>
        <c:lblOffset val="100"/>
        <c:noMultiLvlLbl val="0"/>
      </c:catAx>
      <c:valAx>
        <c:axId val="855268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526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년선행예약시점지역별!$C$12</c:f>
              <c:strCache>
                <c:ptCount val="1"/>
                <c:pt idx="0">
                  <c:v>30일이내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년선행예약시점지역별!$B$13:$B$16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년선행예약시점지역별!$C$13:$C$16</c:f>
              <c:numCache>
                <c:formatCode>0%</c:formatCode>
                <c:ptCount val="4"/>
                <c:pt idx="0">
                  <c:v>0.42055969939992149</c:v>
                </c:pt>
                <c:pt idx="1">
                  <c:v>0.42208703790360319</c:v>
                </c:pt>
                <c:pt idx="2">
                  <c:v>0.30136687735467199</c:v>
                </c:pt>
                <c:pt idx="3">
                  <c:v>0.33415539952416873</c:v>
                </c:pt>
              </c:numCache>
            </c:numRef>
          </c:val>
        </c:ser>
        <c:ser>
          <c:idx val="1"/>
          <c:order val="1"/>
          <c:tx>
            <c:strRef>
              <c:f>년선행예약시점지역별!$D$12</c:f>
              <c:strCache>
                <c:ptCount val="1"/>
                <c:pt idx="0">
                  <c:v>30~59일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8769633295063287E-2"/>
                  <c:y val="5.114584822570219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5026177726751087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4.0667538805970516E-2"/>
                  <c:y val="2.045833929028085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21538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년선행예약시점지역별!$B$13:$B$16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년선행예약시점지역별!$D$13:$D$16</c:f>
              <c:numCache>
                <c:formatCode>0%</c:formatCode>
                <c:ptCount val="4"/>
                <c:pt idx="0">
                  <c:v>0.34423195558297348</c:v>
                </c:pt>
                <c:pt idx="1">
                  <c:v>0.34394010294805805</c:v>
                </c:pt>
                <c:pt idx="2">
                  <c:v>0.33639505557804278</c:v>
                </c:pt>
                <c:pt idx="3">
                  <c:v>0.32252074508210993</c:v>
                </c:pt>
              </c:numCache>
            </c:numRef>
          </c:val>
        </c:ser>
        <c:ser>
          <c:idx val="2"/>
          <c:order val="2"/>
          <c:tx>
            <c:strRef>
              <c:f>년선행예약시점지역별!$E$12</c:f>
              <c:strCache>
                <c:ptCount val="1"/>
                <c:pt idx="0">
                  <c:v>60~89일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5026177726751087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5026177726751087E-2"/>
                  <c:y val="-1.02291696451404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8769633295063259E-2"/>
                  <c:y val="1.02291696451404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8769633295063315E-2"/>
                  <c:y val="1.02291696451404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년선행예약시점지역별!$B$13:$B$16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년선행예약시점지역별!$E$13:$E$16</c:f>
              <c:numCache>
                <c:formatCode>0%</c:formatCode>
                <c:ptCount val="4"/>
                <c:pt idx="0">
                  <c:v>0.14828108350625316</c:v>
                </c:pt>
                <c:pt idx="1">
                  <c:v>0.14553111839026672</c:v>
                </c:pt>
                <c:pt idx="2">
                  <c:v>0.18647445278201574</c:v>
                </c:pt>
                <c:pt idx="3">
                  <c:v>0.17724714211106599</c:v>
                </c:pt>
              </c:numCache>
            </c:numRef>
          </c:val>
        </c:ser>
        <c:ser>
          <c:idx val="3"/>
          <c:order val="3"/>
          <c:tx>
            <c:strRef>
              <c:f>년선행예약시점지역별!$F$12</c:f>
              <c:strCache>
                <c:ptCount val="1"/>
                <c:pt idx="0">
                  <c:v>90~119일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년선행예약시점지역별!$B$13:$B$16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년선행예약시점지역별!$F$13:$F$16</c:f>
              <c:numCache>
                <c:formatCode>0%</c:formatCode>
                <c:ptCount val="4"/>
                <c:pt idx="0">
                  <c:v>5.2548931635914981E-2</c:v>
                </c:pt>
                <c:pt idx="1">
                  <c:v>6.0879737950397757E-2</c:v>
                </c:pt>
                <c:pt idx="2">
                  <c:v>9.1976211974966526E-2</c:v>
                </c:pt>
                <c:pt idx="3">
                  <c:v>8.8463993500841415E-2</c:v>
                </c:pt>
              </c:numCache>
            </c:numRef>
          </c:val>
        </c:ser>
        <c:ser>
          <c:idx val="4"/>
          <c:order val="4"/>
          <c:tx>
            <c:strRef>
              <c:f>년선행예약시점지역별!$G$12</c:f>
              <c:strCache>
                <c:ptCount val="1"/>
                <c:pt idx="0">
                  <c:v>120~149일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9.3848166475316002E-3"/>
                  <c:y val="-2.04583392902808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6.2565444316877716E-3"/>
                  <c:y val="-9.3766305217428104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년선행예약시점지역별!$B$13:$B$16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년선행예약시점지역별!$G$13:$G$16</c:f>
              <c:numCache>
                <c:formatCode>0%</c:formatCode>
                <c:ptCount val="4"/>
                <c:pt idx="0">
                  <c:v>2.0189557512197857E-2</c:v>
                </c:pt>
                <c:pt idx="1">
                  <c:v>1.9840898455779129E-2</c:v>
                </c:pt>
                <c:pt idx="2">
                  <c:v>3.9107014976492202E-2</c:v>
                </c:pt>
                <c:pt idx="3">
                  <c:v>4.6799744675912497E-2</c:v>
                </c:pt>
              </c:numCache>
            </c:numRef>
          </c:val>
        </c:ser>
        <c:ser>
          <c:idx val="5"/>
          <c:order val="5"/>
          <c:tx>
            <c:strRef>
              <c:f>년선행예약시점지역별!$H$12</c:f>
              <c:strCache>
                <c:ptCount val="1"/>
                <c:pt idx="0">
                  <c:v>150일~ 이전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8769633295063315E-2"/>
                  <c:y val="1.02291696451404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1897905510907201E-2"/>
                  <c:y val="1.02291696451404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1282722158438858E-2"/>
                  <c:y val="1.02291696451404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3.1282722158438858E-3"/>
                  <c:y val="1.02291696451404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년선행예약시점지역별!$B$13:$B$16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년선행예약시점지역별!$H$13:$H$16</c:f>
              <c:numCache>
                <c:formatCode>0%</c:formatCode>
                <c:ptCount val="4"/>
                <c:pt idx="0">
                  <c:v>1.4188772362739049E-2</c:v>
                </c:pt>
                <c:pt idx="1">
                  <c:v>7.72110435189518E-3</c:v>
                </c:pt>
                <c:pt idx="2">
                  <c:v>4.4680387333810752E-2</c:v>
                </c:pt>
                <c:pt idx="3">
                  <c:v>3.0812975105901468E-2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55273600"/>
        <c:axId val="855274160"/>
      </c:barChart>
      <c:catAx>
        <c:axId val="855273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5274160"/>
        <c:crosses val="autoZero"/>
        <c:auto val="1"/>
        <c:lblAlgn val="ctr"/>
        <c:lblOffset val="100"/>
        <c:noMultiLvlLbl val="0"/>
      </c:catAx>
      <c:valAx>
        <c:axId val="85527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5273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년선행예약시점지역별!$C$12</c:f>
              <c:strCache>
                <c:ptCount val="1"/>
                <c:pt idx="0">
                  <c:v>30일이내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년선행예약시점지역별!$B$39:$B$42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년선행예약시점지역별!$C$39:$C$42</c:f>
              <c:numCache>
                <c:formatCode>0%</c:formatCode>
                <c:ptCount val="4"/>
                <c:pt idx="0">
                  <c:v>0.4238292011019284</c:v>
                </c:pt>
                <c:pt idx="1">
                  <c:v>0.41247484909456739</c:v>
                </c:pt>
                <c:pt idx="2">
                  <c:v>0.30656934306569344</c:v>
                </c:pt>
                <c:pt idx="3">
                  <c:v>0.33525924814286784</c:v>
                </c:pt>
              </c:numCache>
            </c:numRef>
          </c:val>
        </c:ser>
        <c:ser>
          <c:idx val="1"/>
          <c:order val="1"/>
          <c:tx>
            <c:strRef>
              <c:f>년선행예약시점지역별!$D$12</c:f>
              <c:strCache>
                <c:ptCount val="1"/>
                <c:pt idx="0">
                  <c:v>30~59일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1665255859007334E-2"/>
                  <c:y val="1.02291696451404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년선행예약시점지역별!$B$39:$B$42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년선행예약시점지역별!$D$39:$D$42</c:f>
              <c:numCache>
                <c:formatCode>0%</c:formatCode>
                <c:ptCount val="4"/>
                <c:pt idx="0">
                  <c:v>0.42162534435261706</c:v>
                </c:pt>
                <c:pt idx="1">
                  <c:v>0.41247484909456739</c:v>
                </c:pt>
                <c:pt idx="2">
                  <c:v>0.40535832780358327</c:v>
                </c:pt>
                <c:pt idx="3">
                  <c:v>0.36317250694079689</c:v>
                </c:pt>
              </c:numCache>
            </c:numRef>
          </c:val>
        </c:ser>
        <c:ser>
          <c:idx val="2"/>
          <c:order val="2"/>
          <c:tx>
            <c:strRef>
              <c:f>년선행예약시점지역별!$E$12</c:f>
              <c:strCache>
                <c:ptCount val="1"/>
                <c:pt idx="0">
                  <c:v>60~89일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년선행예약시점지역별!$B$39:$B$42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년선행예약시점지역별!$E$39:$E$42</c:f>
              <c:numCache>
                <c:formatCode>0%</c:formatCode>
                <c:ptCount val="4"/>
                <c:pt idx="0">
                  <c:v>0.11267217630853994</c:v>
                </c:pt>
                <c:pt idx="1">
                  <c:v>0.13480885311871227</c:v>
                </c:pt>
                <c:pt idx="2">
                  <c:v>0.17493364299933642</c:v>
                </c:pt>
                <c:pt idx="3">
                  <c:v>0.19591806107901252</c:v>
                </c:pt>
              </c:numCache>
            </c:numRef>
          </c:val>
        </c:ser>
        <c:ser>
          <c:idx val="3"/>
          <c:order val="3"/>
          <c:tx>
            <c:strRef>
              <c:f>년선행예약시점지역별!$F$12</c:f>
              <c:strCache>
                <c:ptCount val="1"/>
                <c:pt idx="0">
                  <c:v>90~119일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년선행예약시점지역별!$B$39:$B$42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년선행예약시점지역별!$F$39:$F$42</c:f>
              <c:numCache>
                <c:formatCode>0%</c:formatCode>
                <c:ptCount val="4"/>
                <c:pt idx="0">
                  <c:v>2.4655647382920112E-2</c:v>
                </c:pt>
                <c:pt idx="1">
                  <c:v>3.2903302165936794E-2</c:v>
                </c:pt>
                <c:pt idx="2">
                  <c:v>7.1167883211678828E-2</c:v>
                </c:pt>
                <c:pt idx="3">
                  <c:v>6.2954903579200125E-2</c:v>
                </c:pt>
              </c:numCache>
            </c:numRef>
          </c:val>
        </c:ser>
        <c:ser>
          <c:idx val="4"/>
          <c:order val="4"/>
          <c:tx>
            <c:strRef>
              <c:f>년선행예약시점지역별!$G$12</c:f>
              <c:strCache>
                <c:ptCount val="1"/>
                <c:pt idx="0">
                  <c:v>120~149일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년선행예약시점지역별!$B$39:$B$42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년선행예약시점지역별!$G$39:$G$42</c:f>
              <c:numCache>
                <c:formatCode>0%</c:formatCode>
                <c:ptCount val="4"/>
                <c:pt idx="0">
                  <c:v>7.8512396694214882E-3</c:v>
                </c:pt>
                <c:pt idx="1">
                  <c:v>4.734288081429755E-3</c:v>
                </c:pt>
                <c:pt idx="2">
                  <c:v>1.7252820172528202E-2</c:v>
                </c:pt>
                <c:pt idx="3">
                  <c:v>2.9939221130036768E-2</c:v>
                </c:pt>
              </c:numCache>
            </c:numRef>
          </c:val>
        </c:ser>
        <c:ser>
          <c:idx val="5"/>
          <c:order val="5"/>
          <c:tx>
            <c:strRef>
              <c:f>년선행예약시점지역별!$H$12</c:f>
              <c:strCache>
                <c:ptCount val="1"/>
                <c:pt idx="0">
                  <c:v>150일~ 이전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년선행예약시점지역별!$B$39:$B$42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년선행예약시점지역별!$H$39:$H$42</c:f>
              <c:numCache>
                <c:formatCode>0%</c:formatCode>
                <c:ptCount val="4"/>
                <c:pt idx="0">
                  <c:v>9.3663911845730027E-3</c:v>
                </c:pt>
                <c:pt idx="1">
                  <c:v>2.6038584447863654E-3</c:v>
                </c:pt>
                <c:pt idx="2">
                  <c:v>2.4717982747179828E-2</c:v>
                </c:pt>
                <c:pt idx="3">
                  <c:v>1.2756059128085841E-2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56049824"/>
        <c:axId val="856050384"/>
      </c:barChart>
      <c:catAx>
        <c:axId val="856049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6050384"/>
        <c:crosses val="autoZero"/>
        <c:auto val="1"/>
        <c:lblAlgn val="ctr"/>
        <c:lblOffset val="100"/>
        <c:noMultiLvlLbl val="0"/>
      </c:catAx>
      <c:valAx>
        <c:axId val="856050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6049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2338145231846E-2"/>
          <c:y val="6.0185185185185182E-2"/>
          <c:w val="0.70553958880139978"/>
          <c:h val="0.820494313210848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년선행예약시점지역별!$C$12</c:f>
              <c:strCache>
                <c:ptCount val="1"/>
                <c:pt idx="0">
                  <c:v>30일이내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21538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년선행예약시점지역별!$B$52:$B$55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년선행예약시점지역별!$C$52:$C$55</c:f>
              <c:numCache>
                <c:formatCode>0%</c:formatCode>
                <c:ptCount val="4"/>
                <c:pt idx="0">
                  <c:v>0.38702300986136917</c:v>
                </c:pt>
                <c:pt idx="1">
                  <c:v>0.3876968870147588</c:v>
                </c:pt>
                <c:pt idx="2">
                  <c:v>0.37166473317865428</c:v>
                </c:pt>
                <c:pt idx="3">
                  <c:v>0.30151216305062462</c:v>
                </c:pt>
              </c:numCache>
            </c:numRef>
          </c:val>
        </c:ser>
        <c:ser>
          <c:idx val="1"/>
          <c:order val="1"/>
          <c:tx>
            <c:strRef>
              <c:f>년선행예약시점지역별!$D$12</c:f>
              <c:strCache>
                <c:ptCount val="1"/>
                <c:pt idx="0">
                  <c:v>30~59일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9723230694137553E-2"/>
                  <c:y val="5.114586882333065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2.6420649505900048E-2"/>
                  <c:y val="1.022917376466617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21538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년선행예약시점지역별!$B$52:$B$55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년선행예약시점지역별!$D$52:$D$55</c:f>
              <c:numCache>
                <c:formatCode>0%</c:formatCode>
                <c:ptCount val="4"/>
                <c:pt idx="0">
                  <c:v>0.34500500214377589</c:v>
                </c:pt>
                <c:pt idx="1">
                  <c:v>0.35495473148952</c:v>
                </c:pt>
                <c:pt idx="2">
                  <c:v>0.34396751740139209</c:v>
                </c:pt>
                <c:pt idx="3">
                  <c:v>0.33188691650230112</c:v>
                </c:pt>
              </c:numCache>
            </c:numRef>
          </c:val>
        </c:ser>
        <c:ser>
          <c:idx val="2"/>
          <c:order val="2"/>
          <c:tx>
            <c:strRef>
              <c:f>년선행예약시점지역별!$E$12</c:f>
              <c:strCache>
                <c:ptCount val="1"/>
                <c:pt idx="0">
                  <c:v>60~89일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9815487129425036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9815487129424977E-2"/>
                  <c:y val="-9.376634297931114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3118068317662482E-2"/>
                  <c:y val="-9.376634297931114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3.6328393070612565E-2"/>
                  <c:y val="-1.022917376466617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년선행예약시점지역별!$B$52:$B$55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년선행예약시점지역별!$E$52:$E$55</c:f>
              <c:numCache>
                <c:formatCode>0%</c:formatCode>
                <c:ptCount val="4"/>
                <c:pt idx="0">
                  <c:v>0.1524939259682721</c:v>
                </c:pt>
                <c:pt idx="1">
                  <c:v>0.16519905742279548</c:v>
                </c:pt>
                <c:pt idx="2">
                  <c:v>0.18184454756380511</c:v>
                </c:pt>
                <c:pt idx="3">
                  <c:v>0.2131492439184747</c:v>
                </c:pt>
              </c:numCache>
            </c:numRef>
          </c:val>
        </c:ser>
        <c:ser>
          <c:idx val="3"/>
          <c:order val="3"/>
          <c:tx>
            <c:strRef>
              <c:f>년선행예약시점지역별!$F$12</c:f>
              <c:strCache>
                <c:ptCount val="1"/>
                <c:pt idx="0">
                  <c:v>90~119일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년선행예약시점지역별!$B$52:$B$55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년선행예약시점지역별!$F$52:$F$55</c:f>
              <c:numCache>
                <c:formatCode>0%</c:formatCode>
                <c:ptCount val="4"/>
                <c:pt idx="0">
                  <c:v>6.9172502501071889E-2</c:v>
                </c:pt>
                <c:pt idx="1">
                  <c:v>5.3702095994046878E-2</c:v>
                </c:pt>
                <c:pt idx="2">
                  <c:v>4.7708816705336429E-2</c:v>
                </c:pt>
                <c:pt idx="3">
                  <c:v>8.7836949375410908E-2</c:v>
                </c:pt>
              </c:numCache>
            </c:numRef>
          </c:val>
        </c:ser>
        <c:ser>
          <c:idx val="4"/>
          <c:order val="4"/>
          <c:tx>
            <c:strRef>
              <c:f>년선행예약시점지역별!$G$12</c:f>
              <c:strCache>
                <c:ptCount val="1"/>
                <c:pt idx="0">
                  <c:v>120~149일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3118068317662541E-2"/>
                  <c:y val="1.022917376466608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6512905941187411E-2"/>
                  <c:y val="1.022917376466617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년선행예약시점지역별!$B$52:$B$55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년선행예약시점지역별!$G$52:$G$55</c:f>
              <c:numCache>
                <c:formatCode>0%</c:formatCode>
                <c:ptCount val="4"/>
                <c:pt idx="0">
                  <c:v>2.9155352293840218E-2</c:v>
                </c:pt>
                <c:pt idx="1">
                  <c:v>2.4804663276696018E-2</c:v>
                </c:pt>
                <c:pt idx="2">
                  <c:v>3.1902552204176336E-2</c:v>
                </c:pt>
                <c:pt idx="3">
                  <c:v>4.3523997370151217E-2</c:v>
                </c:pt>
              </c:numCache>
            </c:numRef>
          </c:val>
        </c:ser>
        <c:ser>
          <c:idx val="5"/>
          <c:order val="5"/>
          <c:tx>
            <c:strRef>
              <c:f>년선행예약시점지역별!$H$12</c:f>
              <c:strCache>
                <c:ptCount val="1"/>
                <c:pt idx="0">
                  <c:v>150일~ 이전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6512905941187529E-2"/>
                  <c:y val="3.068752129399844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9.9077435647125182E-3"/>
                  <c:y val="1.022917376466608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6420649505900048E-2"/>
                  <c:y val="3.580210817633162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3.9630974258849955E-2"/>
                  <c:y val="5.114586882332995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년선행예약시점지역별!$B$52:$B$55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년선행예약시점지역별!$H$52:$H$55</c:f>
              <c:numCache>
                <c:formatCode>0%</c:formatCode>
                <c:ptCount val="4"/>
                <c:pt idx="0">
                  <c:v>1.7150207231670715E-2</c:v>
                </c:pt>
                <c:pt idx="1">
                  <c:v>1.3642564802182811E-2</c:v>
                </c:pt>
                <c:pt idx="2">
                  <c:v>2.2911832946635732E-2</c:v>
                </c:pt>
                <c:pt idx="3">
                  <c:v>2.2090729783037475E-2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56055424"/>
        <c:axId val="856055984"/>
      </c:barChart>
      <c:catAx>
        <c:axId val="856055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6055984"/>
        <c:crosses val="autoZero"/>
        <c:auto val="1"/>
        <c:lblAlgn val="ctr"/>
        <c:lblOffset val="100"/>
        <c:noMultiLvlLbl val="0"/>
      </c:catAx>
      <c:valAx>
        <c:axId val="856055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6055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년선행예약시점지역별!$C$12</c:f>
              <c:strCache>
                <c:ptCount val="1"/>
                <c:pt idx="0">
                  <c:v>30일이내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2527502553588366E-2"/>
                  <c:y val="2.045833929028083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6.26375127679424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21538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년선행예약시점지역별!$B$26:$B$29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년선행예약시점지역별!$C$26:$C$29</c:f>
              <c:numCache>
                <c:formatCode>0%</c:formatCode>
                <c:ptCount val="4"/>
                <c:pt idx="0">
                  <c:v>0.23088462197839876</c:v>
                </c:pt>
                <c:pt idx="1">
                  <c:v>0.23146638433033351</c:v>
                </c:pt>
                <c:pt idx="2">
                  <c:v>0.16974774935377485</c:v>
                </c:pt>
                <c:pt idx="3">
                  <c:v>0.16552833188782884</c:v>
                </c:pt>
              </c:numCache>
            </c:numRef>
          </c:val>
        </c:ser>
        <c:ser>
          <c:idx val="1"/>
          <c:order val="1"/>
          <c:tx>
            <c:strRef>
              <c:f>년선행예약시점지역별!$D$12</c:f>
              <c:strCache>
                <c:ptCount val="1"/>
                <c:pt idx="0">
                  <c:v>30~59일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21538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년선행예약시점지역별!$B$26:$B$29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년선행예약시점지역별!$D$26:$D$29</c:f>
              <c:numCache>
                <c:formatCode>0%</c:formatCode>
                <c:ptCount val="4"/>
                <c:pt idx="0">
                  <c:v>0.29470255443168181</c:v>
                </c:pt>
                <c:pt idx="1">
                  <c:v>0.26204340921122288</c:v>
                </c:pt>
                <c:pt idx="2">
                  <c:v>0.24139406364203583</c:v>
                </c:pt>
                <c:pt idx="3">
                  <c:v>0.2365929459381324</c:v>
                </c:pt>
              </c:numCache>
            </c:numRef>
          </c:val>
        </c:ser>
        <c:ser>
          <c:idx val="2"/>
          <c:order val="2"/>
          <c:tx>
            <c:strRef>
              <c:f>년선행예약시점지역별!$E$12</c:f>
              <c:strCache>
                <c:ptCount val="1"/>
                <c:pt idx="0">
                  <c:v>60~89일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92312946877964E-2"/>
                  <c:y val="1.02291696451404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2.1923129468779581E-2"/>
                  <c:y val="1.534375446771070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6.2637512767941828E-2"/>
                  <c:y val="-4.688315260871405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3.4450632022367887E-2"/>
                  <c:y val="-3.06875089354213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21538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년선행예약시점지역별!$B$26:$B$29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년선행예약시점지역별!$E$26:$E$29</c:f>
              <c:numCache>
                <c:formatCode>0%</c:formatCode>
                <c:ptCount val="4"/>
                <c:pt idx="0">
                  <c:v>0.21819818275330019</c:v>
                </c:pt>
                <c:pt idx="1">
                  <c:v>0.2179777660137639</c:v>
                </c:pt>
                <c:pt idx="2">
                  <c:v>0.20809341296015688</c:v>
                </c:pt>
                <c:pt idx="3">
                  <c:v>0.19239664642960394</c:v>
                </c:pt>
              </c:numCache>
            </c:numRef>
          </c:val>
        </c:ser>
        <c:ser>
          <c:idx val="3"/>
          <c:order val="3"/>
          <c:tx>
            <c:strRef>
              <c:f>년선행예약시점지역별!$F$12</c:f>
              <c:strCache>
                <c:ptCount val="1"/>
                <c:pt idx="0">
                  <c:v>90~119일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92312946877964E-2"/>
                  <c:y val="5.114584822570219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8791253830382548E-2"/>
                  <c:y val="5.114584822570219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1.2527502553588366E-2"/>
                  <c:y val="1.53437544677106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2527502553588366E-2"/>
                  <c:y val="1.53437544677106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년선행예약시점지역별!$B$26:$B$29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년선행예약시점지역별!$F$26:$F$29</c:f>
              <c:numCache>
                <c:formatCode>0%</c:formatCode>
                <c:ptCount val="4"/>
                <c:pt idx="0">
                  <c:v>0.14837990742328133</c:v>
                </c:pt>
                <c:pt idx="1">
                  <c:v>0.14125992588671255</c:v>
                </c:pt>
                <c:pt idx="2">
                  <c:v>0.16406096800071307</c:v>
                </c:pt>
                <c:pt idx="3">
                  <c:v>0.15504842440011565</c:v>
                </c:pt>
              </c:numCache>
            </c:numRef>
          </c:val>
        </c:ser>
        <c:ser>
          <c:idx val="4"/>
          <c:order val="4"/>
          <c:tx>
            <c:strRef>
              <c:f>년선행예약시점지역별!$G$12</c:f>
              <c:strCache>
                <c:ptCount val="1"/>
                <c:pt idx="0">
                  <c:v>120~149일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6.2637512767941828E-3"/>
                  <c:y val="1.53437544677106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192312946877964E-2"/>
                  <c:y val="5.114584822570219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1.2527502553588366E-2"/>
                  <c:y val="1.534375446771056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년선행예약시점지역별!$B$26:$B$29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년선행예약시점지역별!$G$26:$G$29</c:f>
              <c:numCache>
                <c:formatCode>0%</c:formatCode>
                <c:ptCount val="4"/>
                <c:pt idx="0">
                  <c:v>6.1524944282530428E-2</c:v>
                </c:pt>
                <c:pt idx="1">
                  <c:v>9.0333509793541558E-2</c:v>
                </c:pt>
                <c:pt idx="2">
                  <c:v>0.10976022818433015</c:v>
                </c:pt>
                <c:pt idx="3">
                  <c:v>0.1183326105810928</c:v>
                </c:pt>
              </c:numCache>
            </c:numRef>
          </c:val>
        </c:ser>
        <c:ser>
          <c:idx val="5"/>
          <c:order val="5"/>
          <c:tx>
            <c:strRef>
              <c:f>년선행예약시점지역별!$H$12</c:f>
              <c:strCache>
                <c:ptCount val="1"/>
                <c:pt idx="0">
                  <c:v>150일~ 이전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8791253830382521E-2"/>
                  <c:y val="1.02291696451404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1.2527502553588366E-2"/>
                  <c:y val="2.04583392902808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4.0714383299162188E-2"/>
                  <c:y val="7.92760647498383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683717057970272E-2"/>
                      <c:h val="9.952982064721648E-2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5.0110010214353462E-2"/>
                  <c:y val="2.5572924112851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년선행예약시점지역별!$B$26:$B$29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년선행예약시점지역별!$H$26:$H$29</c:f>
              <c:numCache>
                <c:formatCode>0%</c:formatCode>
                <c:ptCount val="4"/>
                <c:pt idx="0">
                  <c:v>4.6309789130807473E-2</c:v>
                </c:pt>
                <c:pt idx="1">
                  <c:v>5.6919004764425622E-2</c:v>
                </c:pt>
                <c:pt idx="2">
                  <c:v>0.10694357785898921</c:v>
                </c:pt>
                <c:pt idx="3">
                  <c:v>0.13210104076322637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56061024"/>
        <c:axId val="856061584"/>
      </c:barChart>
      <c:catAx>
        <c:axId val="856061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6061584"/>
        <c:crosses val="autoZero"/>
        <c:auto val="1"/>
        <c:lblAlgn val="ctr"/>
        <c:lblOffset val="100"/>
        <c:noMultiLvlLbl val="0"/>
      </c:catAx>
      <c:valAx>
        <c:axId val="856061584"/>
        <c:scaling>
          <c:orientation val="minMax"/>
          <c:max val="0.4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6061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전체예약취소시점!$C$8</c:f>
              <c:strCache>
                <c:ptCount val="1"/>
                <c:pt idx="0">
                  <c:v>2015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전체예약취소시점!$B$9:$B$247</c:f>
              <c:numCache>
                <c:formatCode>General</c:formatCode>
                <c:ptCount val="23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220</c:v>
                </c:pt>
                <c:pt idx="219">
                  <c:v>221</c:v>
                </c:pt>
                <c:pt idx="220">
                  <c:v>222</c:v>
                </c:pt>
                <c:pt idx="221">
                  <c:v>223</c:v>
                </c:pt>
                <c:pt idx="222">
                  <c:v>225</c:v>
                </c:pt>
                <c:pt idx="223">
                  <c:v>229</c:v>
                </c:pt>
                <c:pt idx="224">
                  <c:v>231</c:v>
                </c:pt>
                <c:pt idx="225">
                  <c:v>234</c:v>
                </c:pt>
                <c:pt idx="226">
                  <c:v>236</c:v>
                </c:pt>
                <c:pt idx="227">
                  <c:v>237</c:v>
                </c:pt>
                <c:pt idx="228">
                  <c:v>243</c:v>
                </c:pt>
                <c:pt idx="229">
                  <c:v>248</c:v>
                </c:pt>
                <c:pt idx="230">
                  <c:v>250</c:v>
                </c:pt>
                <c:pt idx="231">
                  <c:v>251</c:v>
                </c:pt>
                <c:pt idx="232">
                  <c:v>252</c:v>
                </c:pt>
                <c:pt idx="233">
                  <c:v>253</c:v>
                </c:pt>
                <c:pt idx="234">
                  <c:v>255</c:v>
                </c:pt>
                <c:pt idx="235">
                  <c:v>276</c:v>
                </c:pt>
                <c:pt idx="236">
                  <c:v>287</c:v>
                </c:pt>
                <c:pt idx="237">
                  <c:v>296</c:v>
                </c:pt>
                <c:pt idx="238">
                  <c:v>322</c:v>
                </c:pt>
              </c:numCache>
            </c:numRef>
          </c:cat>
          <c:val>
            <c:numRef>
              <c:f>전체예약취소시점!$C$9:$C$247</c:f>
              <c:numCache>
                <c:formatCode>General</c:formatCode>
                <c:ptCount val="239"/>
                <c:pt idx="0">
                  <c:v>602</c:v>
                </c:pt>
                <c:pt idx="1">
                  <c:v>1461</c:v>
                </c:pt>
                <c:pt idx="2">
                  <c:v>1992</c:v>
                </c:pt>
                <c:pt idx="3">
                  <c:v>3173</c:v>
                </c:pt>
                <c:pt idx="4">
                  <c:v>3351</c:v>
                </c:pt>
                <c:pt idx="5">
                  <c:v>3513</c:v>
                </c:pt>
                <c:pt idx="6">
                  <c:v>3762</c:v>
                </c:pt>
                <c:pt idx="7">
                  <c:v>5202</c:v>
                </c:pt>
                <c:pt idx="8">
                  <c:v>5822</c:v>
                </c:pt>
                <c:pt idx="9">
                  <c:v>5868</c:v>
                </c:pt>
                <c:pt idx="10">
                  <c:v>5652</c:v>
                </c:pt>
                <c:pt idx="11">
                  <c:v>4939</c:v>
                </c:pt>
                <c:pt idx="12">
                  <c:v>4005</c:v>
                </c:pt>
                <c:pt idx="13">
                  <c:v>3640</c:v>
                </c:pt>
                <c:pt idx="14">
                  <c:v>3921</c:v>
                </c:pt>
                <c:pt idx="15">
                  <c:v>4256</c:v>
                </c:pt>
                <c:pt idx="16">
                  <c:v>3900</c:v>
                </c:pt>
                <c:pt idx="17">
                  <c:v>3533</c:v>
                </c:pt>
                <c:pt idx="18">
                  <c:v>3093</c:v>
                </c:pt>
                <c:pt idx="19">
                  <c:v>2781</c:v>
                </c:pt>
                <c:pt idx="20">
                  <c:v>2708</c:v>
                </c:pt>
                <c:pt idx="21">
                  <c:v>2818</c:v>
                </c:pt>
                <c:pt idx="22">
                  <c:v>2902</c:v>
                </c:pt>
                <c:pt idx="23">
                  <c:v>2924</c:v>
                </c:pt>
                <c:pt idx="24">
                  <c:v>2846</c:v>
                </c:pt>
                <c:pt idx="25">
                  <c:v>2409</c:v>
                </c:pt>
                <c:pt idx="26">
                  <c:v>2109</c:v>
                </c:pt>
                <c:pt idx="27">
                  <c:v>2074</c:v>
                </c:pt>
                <c:pt idx="28">
                  <c:v>2246</c:v>
                </c:pt>
                <c:pt idx="29">
                  <c:v>2553</c:v>
                </c:pt>
                <c:pt idx="30">
                  <c:v>2779</c:v>
                </c:pt>
                <c:pt idx="31">
                  <c:v>2791</c:v>
                </c:pt>
                <c:pt idx="32">
                  <c:v>2549</c:v>
                </c:pt>
                <c:pt idx="33">
                  <c:v>2303</c:v>
                </c:pt>
                <c:pt idx="34">
                  <c:v>2016</c:v>
                </c:pt>
                <c:pt idx="35">
                  <c:v>2262</c:v>
                </c:pt>
                <c:pt idx="36">
                  <c:v>2054</c:v>
                </c:pt>
                <c:pt idx="37">
                  <c:v>2254</c:v>
                </c:pt>
                <c:pt idx="38">
                  <c:v>2093</c:v>
                </c:pt>
                <c:pt idx="39">
                  <c:v>1797</c:v>
                </c:pt>
                <c:pt idx="40">
                  <c:v>1661</c:v>
                </c:pt>
                <c:pt idx="41">
                  <c:v>1542</c:v>
                </c:pt>
                <c:pt idx="42">
                  <c:v>1686</c:v>
                </c:pt>
                <c:pt idx="43">
                  <c:v>1615</c:v>
                </c:pt>
                <c:pt idx="44">
                  <c:v>1579</c:v>
                </c:pt>
                <c:pt idx="45">
                  <c:v>1668</c:v>
                </c:pt>
                <c:pt idx="46">
                  <c:v>1438</c:v>
                </c:pt>
                <c:pt idx="47">
                  <c:v>1189</c:v>
                </c:pt>
                <c:pt idx="48">
                  <c:v>1239</c:v>
                </c:pt>
                <c:pt idx="49">
                  <c:v>1149</c:v>
                </c:pt>
                <c:pt idx="50">
                  <c:v>1140</c:v>
                </c:pt>
                <c:pt idx="51">
                  <c:v>1462</c:v>
                </c:pt>
                <c:pt idx="52">
                  <c:v>1176</c:v>
                </c:pt>
                <c:pt idx="53">
                  <c:v>1214</c:v>
                </c:pt>
                <c:pt idx="54">
                  <c:v>934</c:v>
                </c:pt>
                <c:pt idx="55">
                  <c:v>847</c:v>
                </c:pt>
                <c:pt idx="56">
                  <c:v>1032</c:v>
                </c:pt>
                <c:pt idx="57">
                  <c:v>997</c:v>
                </c:pt>
                <c:pt idx="58">
                  <c:v>1071</c:v>
                </c:pt>
                <c:pt idx="59">
                  <c:v>1015</c:v>
                </c:pt>
                <c:pt idx="60">
                  <c:v>993</c:v>
                </c:pt>
                <c:pt idx="61">
                  <c:v>789</c:v>
                </c:pt>
                <c:pt idx="62">
                  <c:v>605</c:v>
                </c:pt>
                <c:pt idx="63">
                  <c:v>733</c:v>
                </c:pt>
                <c:pt idx="64">
                  <c:v>814</c:v>
                </c:pt>
                <c:pt idx="65">
                  <c:v>768</c:v>
                </c:pt>
                <c:pt idx="66">
                  <c:v>772</c:v>
                </c:pt>
                <c:pt idx="67">
                  <c:v>733</c:v>
                </c:pt>
                <c:pt idx="68">
                  <c:v>641</c:v>
                </c:pt>
                <c:pt idx="69">
                  <c:v>599</c:v>
                </c:pt>
                <c:pt idx="70">
                  <c:v>640</c:v>
                </c:pt>
                <c:pt idx="71">
                  <c:v>721</c:v>
                </c:pt>
                <c:pt idx="72">
                  <c:v>561</c:v>
                </c:pt>
                <c:pt idx="73">
                  <c:v>621</c:v>
                </c:pt>
                <c:pt idx="74">
                  <c:v>481</c:v>
                </c:pt>
                <c:pt idx="75">
                  <c:v>577</c:v>
                </c:pt>
                <c:pt idx="76">
                  <c:v>534</c:v>
                </c:pt>
                <c:pt idx="77">
                  <c:v>469</c:v>
                </c:pt>
                <c:pt idx="78">
                  <c:v>555</c:v>
                </c:pt>
                <c:pt idx="79">
                  <c:v>440</c:v>
                </c:pt>
                <c:pt idx="80">
                  <c:v>497</c:v>
                </c:pt>
                <c:pt idx="81">
                  <c:v>462</c:v>
                </c:pt>
                <c:pt idx="82">
                  <c:v>380</c:v>
                </c:pt>
                <c:pt idx="83">
                  <c:v>366</c:v>
                </c:pt>
                <c:pt idx="84">
                  <c:v>359</c:v>
                </c:pt>
                <c:pt idx="85">
                  <c:v>524</c:v>
                </c:pt>
                <c:pt idx="86">
                  <c:v>440</c:v>
                </c:pt>
                <c:pt idx="87">
                  <c:v>505</c:v>
                </c:pt>
                <c:pt idx="88">
                  <c:v>403</c:v>
                </c:pt>
                <c:pt idx="89">
                  <c:v>405</c:v>
                </c:pt>
                <c:pt idx="90">
                  <c:v>250</c:v>
                </c:pt>
                <c:pt idx="91">
                  <c:v>293</c:v>
                </c:pt>
                <c:pt idx="92">
                  <c:v>238</c:v>
                </c:pt>
                <c:pt idx="93">
                  <c:v>274</c:v>
                </c:pt>
                <c:pt idx="94">
                  <c:v>307</c:v>
                </c:pt>
                <c:pt idx="95">
                  <c:v>272</c:v>
                </c:pt>
                <c:pt idx="96">
                  <c:v>273</c:v>
                </c:pt>
                <c:pt idx="97">
                  <c:v>207</c:v>
                </c:pt>
                <c:pt idx="98">
                  <c:v>178</c:v>
                </c:pt>
                <c:pt idx="99">
                  <c:v>246</c:v>
                </c:pt>
                <c:pt idx="100">
                  <c:v>306</c:v>
                </c:pt>
                <c:pt idx="101">
                  <c:v>288</c:v>
                </c:pt>
                <c:pt idx="102">
                  <c:v>212</c:v>
                </c:pt>
                <c:pt idx="103">
                  <c:v>261</c:v>
                </c:pt>
                <c:pt idx="104">
                  <c:v>152</c:v>
                </c:pt>
                <c:pt idx="105">
                  <c:v>169</c:v>
                </c:pt>
                <c:pt idx="106">
                  <c:v>264</c:v>
                </c:pt>
                <c:pt idx="107">
                  <c:v>218</c:v>
                </c:pt>
                <c:pt idx="108">
                  <c:v>182</c:v>
                </c:pt>
                <c:pt idx="109">
                  <c:v>232</c:v>
                </c:pt>
                <c:pt idx="110">
                  <c:v>173</c:v>
                </c:pt>
                <c:pt idx="111">
                  <c:v>135</c:v>
                </c:pt>
                <c:pt idx="112">
                  <c:v>139</c:v>
                </c:pt>
                <c:pt idx="113">
                  <c:v>150</c:v>
                </c:pt>
                <c:pt idx="114">
                  <c:v>209</c:v>
                </c:pt>
                <c:pt idx="115">
                  <c:v>157</c:v>
                </c:pt>
                <c:pt idx="116">
                  <c:v>166</c:v>
                </c:pt>
                <c:pt idx="117">
                  <c:v>128</c:v>
                </c:pt>
                <c:pt idx="118">
                  <c:v>115</c:v>
                </c:pt>
                <c:pt idx="119">
                  <c:v>104</c:v>
                </c:pt>
                <c:pt idx="120">
                  <c:v>129</c:v>
                </c:pt>
                <c:pt idx="121">
                  <c:v>144</c:v>
                </c:pt>
                <c:pt idx="122">
                  <c:v>185</c:v>
                </c:pt>
                <c:pt idx="123">
                  <c:v>178</c:v>
                </c:pt>
                <c:pt idx="124">
                  <c:v>126</c:v>
                </c:pt>
                <c:pt idx="125">
                  <c:v>104</c:v>
                </c:pt>
                <c:pt idx="126">
                  <c:v>74</c:v>
                </c:pt>
                <c:pt idx="127">
                  <c:v>137</c:v>
                </c:pt>
                <c:pt idx="128">
                  <c:v>100</c:v>
                </c:pt>
                <c:pt idx="129">
                  <c:v>98</c:v>
                </c:pt>
                <c:pt idx="130">
                  <c:v>93</c:v>
                </c:pt>
                <c:pt idx="131">
                  <c:v>95</c:v>
                </c:pt>
                <c:pt idx="132">
                  <c:v>61</c:v>
                </c:pt>
                <c:pt idx="133">
                  <c:v>77</c:v>
                </c:pt>
                <c:pt idx="134">
                  <c:v>87</c:v>
                </c:pt>
                <c:pt idx="135">
                  <c:v>70</c:v>
                </c:pt>
                <c:pt idx="136">
                  <c:v>79</c:v>
                </c:pt>
                <c:pt idx="137">
                  <c:v>88</c:v>
                </c:pt>
                <c:pt idx="138">
                  <c:v>57</c:v>
                </c:pt>
                <c:pt idx="139">
                  <c:v>82</c:v>
                </c:pt>
                <c:pt idx="140">
                  <c:v>42</c:v>
                </c:pt>
                <c:pt idx="141">
                  <c:v>76</c:v>
                </c:pt>
                <c:pt idx="142">
                  <c:v>56</c:v>
                </c:pt>
                <c:pt idx="143">
                  <c:v>101</c:v>
                </c:pt>
                <c:pt idx="144">
                  <c:v>53</c:v>
                </c:pt>
                <c:pt idx="145">
                  <c:v>41</c:v>
                </c:pt>
                <c:pt idx="146">
                  <c:v>42</c:v>
                </c:pt>
                <c:pt idx="147">
                  <c:v>75</c:v>
                </c:pt>
                <c:pt idx="148">
                  <c:v>79</c:v>
                </c:pt>
                <c:pt idx="149">
                  <c:v>36</c:v>
                </c:pt>
                <c:pt idx="150">
                  <c:v>50</c:v>
                </c:pt>
                <c:pt idx="151">
                  <c:v>63</c:v>
                </c:pt>
                <c:pt idx="152">
                  <c:v>59</c:v>
                </c:pt>
                <c:pt idx="153">
                  <c:v>32</c:v>
                </c:pt>
                <c:pt idx="154">
                  <c:v>51</c:v>
                </c:pt>
                <c:pt idx="155">
                  <c:v>61</c:v>
                </c:pt>
                <c:pt idx="156">
                  <c:v>39</c:v>
                </c:pt>
                <c:pt idx="157">
                  <c:v>46</c:v>
                </c:pt>
                <c:pt idx="158">
                  <c:v>42</c:v>
                </c:pt>
                <c:pt idx="159">
                  <c:v>34</c:v>
                </c:pt>
                <c:pt idx="160">
                  <c:v>44</c:v>
                </c:pt>
                <c:pt idx="161">
                  <c:v>24</c:v>
                </c:pt>
                <c:pt idx="162">
                  <c:v>15</c:v>
                </c:pt>
                <c:pt idx="163">
                  <c:v>13</c:v>
                </c:pt>
                <c:pt idx="164">
                  <c:v>27</c:v>
                </c:pt>
                <c:pt idx="165">
                  <c:v>37</c:v>
                </c:pt>
                <c:pt idx="166">
                  <c:v>34</c:v>
                </c:pt>
                <c:pt idx="167">
                  <c:v>19</c:v>
                </c:pt>
                <c:pt idx="168">
                  <c:v>12</c:v>
                </c:pt>
                <c:pt idx="169">
                  <c:v>48</c:v>
                </c:pt>
                <c:pt idx="170">
                  <c:v>44</c:v>
                </c:pt>
                <c:pt idx="171">
                  <c:v>18</c:v>
                </c:pt>
                <c:pt idx="172">
                  <c:v>25</c:v>
                </c:pt>
                <c:pt idx="173">
                  <c:v>18</c:v>
                </c:pt>
                <c:pt idx="174">
                  <c:v>11</c:v>
                </c:pt>
                <c:pt idx="175">
                  <c:v>7</c:v>
                </c:pt>
                <c:pt idx="176">
                  <c:v>12</c:v>
                </c:pt>
                <c:pt idx="177">
                  <c:v>15</c:v>
                </c:pt>
                <c:pt idx="178">
                  <c:v>23</c:v>
                </c:pt>
                <c:pt idx="179">
                  <c:v>16</c:v>
                </c:pt>
                <c:pt idx="180">
                  <c:v>27</c:v>
                </c:pt>
                <c:pt idx="181">
                  <c:v>23</c:v>
                </c:pt>
                <c:pt idx="182">
                  <c:v>4</c:v>
                </c:pt>
                <c:pt idx="183">
                  <c:v>8</c:v>
                </c:pt>
                <c:pt idx="184">
                  <c:v>5</c:v>
                </c:pt>
                <c:pt idx="185">
                  <c:v>28</c:v>
                </c:pt>
                <c:pt idx="186">
                  <c:v>10</c:v>
                </c:pt>
                <c:pt idx="187">
                  <c:v>8</c:v>
                </c:pt>
                <c:pt idx="188">
                  <c:v>16</c:v>
                </c:pt>
                <c:pt idx="189">
                  <c:v>16</c:v>
                </c:pt>
                <c:pt idx="190">
                  <c:v>5</c:v>
                </c:pt>
                <c:pt idx="191">
                  <c:v>6</c:v>
                </c:pt>
                <c:pt idx="192">
                  <c:v>8</c:v>
                </c:pt>
                <c:pt idx="193">
                  <c:v>7</c:v>
                </c:pt>
                <c:pt idx="194">
                  <c:v>5</c:v>
                </c:pt>
                <c:pt idx="195">
                  <c:v>3</c:v>
                </c:pt>
                <c:pt idx="196">
                  <c:v>11</c:v>
                </c:pt>
                <c:pt idx="197">
                  <c:v>29</c:v>
                </c:pt>
                <c:pt idx="198">
                  <c:v>11</c:v>
                </c:pt>
                <c:pt idx="199">
                  <c:v>5</c:v>
                </c:pt>
                <c:pt idx="200">
                  <c:v>10</c:v>
                </c:pt>
                <c:pt idx="201">
                  <c:v>5</c:v>
                </c:pt>
                <c:pt idx="202">
                  <c:v>10</c:v>
                </c:pt>
                <c:pt idx="203">
                  <c:v>7</c:v>
                </c:pt>
                <c:pt idx="204">
                  <c:v>3</c:v>
                </c:pt>
                <c:pt idx="205">
                  <c:v>5</c:v>
                </c:pt>
                <c:pt idx="206">
                  <c:v>7</c:v>
                </c:pt>
                <c:pt idx="207">
                  <c:v>25</c:v>
                </c:pt>
                <c:pt idx="208">
                  <c:v>13</c:v>
                </c:pt>
                <c:pt idx="209">
                  <c:v>1</c:v>
                </c:pt>
                <c:pt idx="210">
                  <c:v>2</c:v>
                </c:pt>
                <c:pt idx="211">
                  <c:v>4</c:v>
                </c:pt>
                <c:pt idx="212">
                  <c:v>11</c:v>
                </c:pt>
                <c:pt idx="213">
                  <c:v>1</c:v>
                </c:pt>
                <c:pt idx="214">
                  <c:v>8</c:v>
                </c:pt>
                <c:pt idx="215">
                  <c:v>4</c:v>
                </c:pt>
                <c:pt idx="216">
                  <c:v>2</c:v>
                </c:pt>
                <c:pt idx="217">
                  <c:v>5</c:v>
                </c:pt>
                <c:pt idx="218">
                  <c:v>3</c:v>
                </c:pt>
                <c:pt idx="219">
                  <c:v>1</c:v>
                </c:pt>
                <c:pt idx="220">
                  <c:v>2</c:v>
                </c:pt>
                <c:pt idx="221">
                  <c:v>9</c:v>
                </c:pt>
                <c:pt idx="222">
                  <c:v>2</c:v>
                </c:pt>
                <c:pt idx="223">
                  <c:v>2</c:v>
                </c:pt>
                <c:pt idx="224">
                  <c:v>6</c:v>
                </c:pt>
                <c:pt idx="225">
                  <c:v>2</c:v>
                </c:pt>
                <c:pt idx="226">
                  <c:v>2</c:v>
                </c:pt>
                <c:pt idx="227">
                  <c:v>6</c:v>
                </c:pt>
                <c:pt idx="228">
                  <c:v>10</c:v>
                </c:pt>
                <c:pt idx="229">
                  <c:v>4</c:v>
                </c:pt>
                <c:pt idx="230">
                  <c:v>2</c:v>
                </c:pt>
                <c:pt idx="231">
                  <c:v>2</c:v>
                </c:pt>
                <c:pt idx="232">
                  <c:v>4</c:v>
                </c:pt>
                <c:pt idx="233">
                  <c:v>2</c:v>
                </c:pt>
                <c:pt idx="234">
                  <c:v>1</c:v>
                </c:pt>
                <c:pt idx="235">
                  <c:v>2</c:v>
                </c:pt>
                <c:pt idx="236">
                  <c:v>2</c:v>
                </c:pt>
                <c:pt idx="237">
                  <c:v>3</c:v>
                </c:pt>
                <c:pt idx="238">
                  <c:v>4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전체예약취소시점!$G$8</c:f>
              <c:strCache>
                <c:ptCount val="1"/>
                <c:pt idx="0">
                  <c:v>2016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전체예약취소시점!$F$9:$F$344</c:f>
              <c:numCache>
                <c:formatCode>General</c:formatCode>
                <c:ptCount val="33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228</c:v>
                </c:pt>
                <c:pt idx="227">
                  <c:v>229</c:v>
                </c:pt>
                <c:pt idx="228">
                  <c:v>230</c:v>
                </c:pt>
                <c:pt idx="229">
                  <c:v>231</c:v>
                </c:pt>
                <c:pt idx="230">
                  <c:v>232</c:v>
                </c:pt>
                <c:pt idx="231">
                  <c:v>233</c:v>
                </c:pt>
                <c:pt idx="232">
                  <c:v>236</c:v>
                </c:pt>
                <c:pt idx="233">
                  <c:v>237</c:v>
                </c:pt>
                <c:pt idx="234">
                  <c:v>238</c:v>
                </c:pt>
                <c:pt idx="235">
                  <c:v>239</c:v>
                </c:pt>
                <c:pt idx="236">
                  <c:v>240</c:v>
                </c:pt>
                <c:pt idx="237">
                  <c:v>242</c:v>
                </c:pt>
                <c:pt idx="238">
                  <c:v>243</c:v>
                </c:pt>
                <c:pt idx="239">
                  <c:v>247</c:v>
                </c:pt>
                <c:pt idx="240">
                  <c:v>248</c:v>
                </c:pt>
                <c:pt idx="241">
                  <c:v>249</c:v>
                </c:pt>
                <c:pt idx="242">
                  <c:v>250</c:v>
                </c:pt>
                <c:pt idx="243">
                  <c:v>251</c:v>
                </c:pt>
                <c:pt idx="244">
                  <c:v>252</c:v>
                </c:pt>
                <c:pt idx="245">
                  <c:v>254</c:v>
                </c:pt>
                <c:pt idx="246">
                  <c:v>255</c:v>
                </c:pt>
                <c:pt idx="247">
                  <c:v>256</c:v>
                </c:pt>
                <c:pt idx="248">
                  <c:v>257</c:v>
                </c:pt>
                <c:pt idx="249">
                  <c:v>258</c:v>
                </c:pt>
                <c:pt idx="250">
                  <c:v>259</c:v>
                </c:pt>
                <c:pt idx="251">
                  <c:v>260</c:v>
                </c:pt>
                <c:pt idx="252">
                  <c:v>261</c:v>
                </c:pt>
                <c:pt idx="253">
                  <c:v>262</c:v>
                </c:pt>
                <c:pt idx="254">
                  <c:v>263</c:v>
                </c:pt>
                <c:pt idx="255">
                  <c:v>264</c:v>
                </c:pt>
                <c:pt idx="256">
                  <c:v>265</c:v>
                </c:pt>
                <c:pt idx="257">
                  <c:v>266</c:v>
                </c:pt>
                <c:pt idx="258">
                  <c:v>267</c:v>
                </c:pt>
                <c:pt idx="259">
                  <c:v>268</c:v>
                </c:pt>
                <c:pt idx="260">
                  <c:v>269</c:v>
                </c:pt>
                <c:pt idx="261">
                  <c:v>270</c:v>
                </c:pt>
                <c:pt idx="262">
                  <c:v>271</c:v>
                </c:pt>
                <c:pt idx="263">
                  <c:v>272</c:v>
                </c:pt>
                <c:pt idx="264">
                  <c:v>273</c:v>
                </c:pt>
                <c:pt idx="265">
                  <c:v>274</c:v>
                </c:pt>
                <c:pt idx="266">
                  <c:v>275</c:v>
                </c:pt>
                <c:pt idx="267">
                  <c:v>276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280</c:v>
                </c:pt>
                <c:pt idx="272">
                  <c:v>281</c:v>
                </c:pt>
                <c:pt idx="273">
                  <c:v>282</c:v>
                </c:pt>
                <c:pt idx="274">
                  <c:v>283</c:v>
                </c:pt>
                <c:pt idx="275">
                  <c:v>284</c:v>
                </c:pt>
                <c:pt idx="276">
                  <c:v>285</c:v>
                </c:pt>
                <c:pt idx="277">
                  <c:v>286</c:v>
                </c:pt>
                <c:pt idx="278">
                  <c:v>287</c:v>
                </c:pt>
                <c:pt idx="279">
                  <c:v>288</c:v>
                </c:pt>
                <c:pt idx="280">
                  <c:v>289</c:v>
                </c:pt>
                <c:pt idx="281">
                  <c:v>290</c:v>
                </c:pt>
                <c:pt idx="282">
                  <c:v>291</c:v>
                </c:pt>
                <c:pt idx="283">
                  <c:v>292</c:v>
                </c:pt>
                <c:pt idx="284">
                  <c:v>293</c:v>
                </c:pt>
                <c:pt idx="285">
                  <c:v>294</c:v>
                </c:pt>
                <c:pt idx="286">
                  <c:v>295</c:v>
                </c:pt>
                <c:pt idx="287">
                  <c:v>296</c:v>
                </c:pt>
                <c:pt idx="288">
                  <c:v>297</c:v>
                </c:pt>
                <c:pt idx="289">
                  <c:v>298</c:v>
                </c:pt>
                <c:pt idx="290">
                  <c:v>299</c:v>
                </c:pt>
                <c:pt idx="291">
                  <c:v>300</c:v>
                </c:pt>
                <c:pt idx="292">
                  <c:v>301</c:v>
                </c:pt>
                <c:pt idx="293">
                  <c:v>302</c:v>
                </c:pt>
                <c:pt idx="294">
                  <c:v>303</c:v>
                </c:pt>
                <c:pt idx="295">
                  <c:v>304</c:v>
                </c:pt>
                <c:pt idx="296">
                  <c:v>305</c:v>
                </c:pt>
                <c:pt idx="297">
                  <c:v>306</c:v>
                </c:pt>
                <c:pt idx="298">
                  <c:v>307</c:v>
                </c:pt>
                <c:pt idx="299">
                  <c:v>308</c:v>
                </c:pt>
                <c:pt idx="300">
                  <c:v>310</c:v>
                </c:pt>
                <c:pt idx="301">
                  <c:v>311</c:v>
                </c:pt>
                <c:pt idx="302">
                  <c:v>312</c:v>
                </c:pt>
                <c:pt idx="303">
                  <c:v>313</c:v>
                </c:pt>
                <c:pt idx="304">
                  <c:v>314</c:v>
                </c:pt>
                <c:pt idx="305">
                  <c:v>315</c:v>
                </c:pt>
                <c:pt idx="306">
                  <c:v>316</c:v>
                </c:pt>
                <c:pt idx="307">
                  <c:v>317</c:v>
                </c:pt>
                <c:pt idx="308">
                  <c:v>318</c:v>
                </c:pt>
                <c:pt idx="309">
                  <c:v>319</c:v>
                </c:pt>
                <c:pt idx="310">
                  <c:v>320</c:v>
                </c:pt>
                <c:pt idx="311">
                  <c:v>321</c:v>
                </c:pt>
                <c:pt idx="312">
                  <c:v>323</c:v>
                </c:pt>
                <c:pt idx="313">
                  <c:v>324</c:v>
                </c:pt>
                <c:pt idx="314">
                  <c:v>325</c:v>
                </c:pt>
                <c:pt idx="315">
                  <c:v>327</c:v>
                </c:pt>
                <c:pt idx="316">
                  <c:v>328</c:v>
                </c:pt>
                <c:pt idx="317">
                  <c:v>329</c:v>
                </c:pt>
                <c:pt idx="318">
                  <c:v>330</c:v>
                </c:pt>
                <c:pt idx="319">
                  <c:v>331</c:v>
                </c:pt>
                <c:pt idx="320">
                  <c:v>332</c:v>
                </c:pt>
                <c:pt idx="321">
                  <c:v>333</c:v>
                </c:pt>
                <c:pt idx="322">
                  <c:v>334</c:v>
                </c:pt>
                <c:pt idx="323">
                  <c:v>336</c:v>
                </c:pt>
                <c:pt idx="324">
                  <c:v>338</c:v>
                </c:pt>
                <c:pt idx="325">
                  <c:v>339</c:v>
                </c:pt>
                <c:pt idx="326">
                  <c:v>341</c:v>
                </c:pt>
                <c:pt idx="327">
                  <c:v>343</c:v>
                </c:pt>
                <c:pt idx="328">
                  <c:v>344</c:v>
                </c:pt>
                <c:pt idx="329">
                  <c:v>346</c:v>
                </c:pt>
                <c:pt idx="330">
                  <c:v>350</c:v>
                </c:pt>
                <c:pt idx="331">
                  <c:v>351</c:v>
                </c:pt>
                <c:pt idx="332">
                  <c:v>352</c:v>
                </c:pt>
                <c:pt idx="333">
                  <c:v>353</c:v>
                </c:pt>
                <c:pt idx="334">
                  <c:v>357</c:v>
                </c:pt>
                <c:pt idx="335">
                  <c:v>371</c:v>
                </c:pt>
              </c:numCache>
            </c:numRef>
          </c:cat>
          <c:val>
            <c:numRef>
              <c:f>전체예약취소시점!$G$9:$G$344</c:f>
              <c:numCache>
                <c:formatCode>General</c:formatCode>
                <c:ptCount val="336"/>
                <c:pt idx="0">
                  <c:v>451</c:v>
                </c:pt>
                <c:pt idx="1">
                  <c:v>1245</c:v>
                </c:pt>
                <c:pt idx="2">
                  <c:v>1484</c:v>
                </c:pt>
                <c:pt idx="3">
                  <c:v>2374</c:v>
                </c:pt>
                <c:pt idx="4">
                  <c:v>3349</c:v>
                </c:pt>
                <c:pt idx="5">
                  <c:v>3623</c:v>
                </c:pt>
                <c:pt idx="6">
                  <c:v>4187</c:v>
                </c:pt>
                <c:pt idx="7">
                  <c:v>5349</c:v>
                </c:pt>
                <c:pt idx="8">
                  <c:v>5956</c:v>
                </c:pt>
                <c:pt idx="9">
                  <c:v>5679</c:v>
                </c:pt>
                <c:pt idx="10">
                  <c:v>5411</c:v>
                </c:pt>
                <c:pt idx="11">
                  <c:v>5304</c:v>
                </c:pt>
                <c:pt idx="12">
                  <c:v>4453</c:v>
                </c:pt>
                <c:pt idx="13">
                  <c:v>4253</c:v>
                </c:pt>
                <c:pt idx="14">
                  <c:v>4271</c:v>
                </c:pt>
                <c:pt idx="15">
                  <c:v>4675</c:v>
                </c:pt>
                <c:pt idx="16">
                  <c:v>4090</c:v>
                </c:pt>
                <c:pt idx="17">
                  <c:v>3991</c:v>
                </c:pt>
                <c:pt idx="18">
                  <c:v>3536</c:v>
                </c:pt>
                <c:pt idx="19">
                  <c:v>3469</c:v>
                </c:pt>
                <c:pt idx="20">
                  <c:v>3225</c:v>
                </c:pt>
                <c:pt idx="21">
                  <c:v>3201</c:v>
                </c:pt>
                <c:pt idx="22">
                  <c:v>3475</c:v>
                </c:pt>
                <c:pt idx="23">
                  <c:v>3267</c:v>
                </c:pt>
                <c:pt idx="24">
                  <c:v>2977</c:v>
                </c:pt>
                <c:pt idx="25">
                  <c:v>2875</c:v>
                </c:pt>
                <c:pt idx="26">
                  <c:v>2582</c:v>
                </c:pt>
                <c:pt idx="27">
                  <c:v>2400</c:v>
                </c:pt>
                <c:pt idx="28">
                  <c:v>2577</c:v>
                </c:pt>
                <c:pt idx="29">
                  <c:v>2814</c:v>
                </c:pt>
                <c:pt idx="30">
                  <c:v>3395</c:v>
                </c:pt>
                <c:pt idx="31">
                  <c:v>3254</c:v>
                </c:pt>
                <c:pt idx="32">
                  <c:v>2939</c:v>
                </c:pt>
                <c:pt idx="33">
                  <c:v>2794</c:v>
                </c:pt>
                <c:pt idx="34">
                  <c:v>2366</c:v>
                </c:pt>
                <c:pt idx="35">
                  <c:v>2501</c:v>
                </c:pt>
                <c:pt idx="36">
                  <c:v>2549</c:v>
                </c:pt>
                <c:pt idx="37">
                  <c:v>2376</c:v>
                </c:pt>
                <c:pt idx="38">
                  <c:v>2242</c:v>
                </c:pt>
                <c:pt idx="39">
                  <c:v>2013</c:v>
                </c:pt>
                <c:pt idx="40">
                  <c:v>1808</c:v>
                </c:pt>
                <c:pt idx="41">
                  <c:v>1878</c:v>
                </c:pt>
                <c:pt idx="42">
                  <c:v>1841</c:v>
                </c:pt>
                <c:pt idx="43">
                  <c:v>1863</c:v>
                </c:pt>
                <c:pt idx="44">
                  <c:v>2131</c:v>
                </c:pt>
                <c:pt idx="45">
                  <c:v>1754</c:v>
                </c:pt>
                <c:pt idx="46">
                  <c:v>1512</c:v>
                </c:pt>
                <c:pt idx="47">
                  <c:v>1466</c:v>
                </c:pt>
                <c:pt idx="48">
                  <c:v>1439</c:v>
                </c:pt>
                <c:pt idx="49">
                  <c:v>1418</c:v>
                </c:pt>
                <c:pt idx="50">
                  <c:v>1669</c:v>
                </c:pt>
                <c:pt idx="51">
                  <c:v>1464</c:v>
                </c:pt>
                <c:pt idx="52">
                  <c:v>1411</c:v>
                </c:pt>
                <c:pt idx="53">
                  <c:v>1407</c:v>
                </c:pt>
                <c:pt idx="54">
                  <c:v>1220</c:v>
                </c:pt>
                <c:pt idx="55">
                  <c:v>1212</c:v>
                </c:pt>
                <c:pt idx="56">
                  <c:v>984</c:v>
                </c:pt>
                <c:pt idx="57">
                  <c:v>1274</c:v>
                </c:pt>
                <c:pt idx="58">
                  <c:v>1124</c:v>
                </c:pt>
                <c:pt idx="59">
                  <c:v>1201</c:v>
                </c:pt>
                <c:pt idx="60">
                  <c:v>1067</c:v>
                </c:pt>
                <c:pt idx="61">
                  <c:v>945</c:v>
                </c:pt>
                <c:pt idx="62">
                  <c:v>804</c:v>
                </c:pt>
                <c:pt idx="63">
                  <c:v>999</c:v>
                </c:pt>
                <c:pt idx="64">
                  <c:v>944</c:v>
                </c:pt>
                <c:pt idx="65">
                  <c:v>944</c:v>
                </c:pt>
                <c:pt idx="66">
                  <c:v>999</c:v>
                </c:pt>
                <c:pt idx="67">
                  <c:v>987</c:v>
                </c:pt>
                <c:pt idx="68">
                  <c:v>815</c:v>
                </c:pt>
                <c:pt idx="69">
                  <c:v>775</c:v>
                </c:pt>
                <c:pt idx="70">
                  <c:v>742</c:v>
                </c:pt>
                <c:pt idx="71">
                  <c:v>800</c:v>
                </c:pt>
                <c:pt idx="72">
                  <c:v>757</c:v>
                </c:pt>
                <c:pt idx="73">
                  <c:v>676</c:v>
                </c:pt>
                <c:pt idx="74">
                  <c:v>635</c:v>
                </c:pt>
                <c:pt idx="75">
                  <c:v>747</c:v>
                </c:pt>
                <c:pt idx="76">
                  <c:v>463</c:v>
                </c:pt>
                <c:pt idx="77">
                  <c:v>580</c:v>
                </c:pt>
                <c:pt idx="78">
                  <c:v>659</c:v>
                </c:pt>
                <c:pt idx="79">
                  <c:v>748</c:v>
                </c:pt>
                <c:pt idx="80">
                  <c:v>628</c:v>
                </c:pt>
                <c:pt idx="81">
                  <c:v>615</c:v>
                </c:pt>
                <c:pt idx="82">
                  <c:v>547</c:v>
                </c:pt>
                <c:pt idx="83">
                  <c:v>445</c:v>
                </c:pt>
                <c:pt idx="84">
                  <c:v>582</c:v>
                </c:pt>
                <c:pt idx="85">
                  <c:v>445</c:v>
                </c:pt>
                <c:pt idx="86">
                  <c:v>558</c:v>
                </c:pt>
                <c:pt idx="87">
                  <c:v>546</c:v>
                </c:pt>
                <c:pt idx="88">
                  <c:v>539</c:v>
                </c:pt>
                <c:pt idx="89">
                  <c:v>475</c:v>
                </c:pt>
                <c:pt idx="90">
                  <c:v>497</c:v>
                </c:pt>
                <c:pt idx="91">
                  <c:v>420</c:v>
                </c:pt>
                <c:pt idx="92">
                  <c:v>411</c:v>
                </c:pt>
                <c:pt idx="93">
                  <c:v>417</c:v>
                </c:pt>
                <c:pt idx="94">
                  <c:v>361</c:v>
                </c:pt>
                <c:pt idx="95">
                  <c:v>367</c:v>
                </c:pt>
                <c:pt idx="96">
                  <c:v>334</c:v>
                </c:pt>
                <c:pt idx="97">
                  <c:v>319</c:v>
                </c:pt>
                <c:pt idx="98">
                  <c:v>325</c:v>
                </c:pt>
                <c:pt idx="99">
                  <c:v>406</c:v>
                </c:pt>
                <c:pt idx="100">
                  <c:v>418</c:v>
                </c:pt>
                <c:pt idx="101">
                  <c:v>378</c:v>
                </c:pt>
                <c:pt idx="102">
                  <c:v>349</c:v>
                </c:pt>
                <c:pt idx="103">
                  <c:v>256</c:v>
                </c:pt>
                <c:pt idx="104">
                  <c:v>205</c:v>
                </c:pt>
                <c:pt idx="105">
                  <c:v>279</c:v>
                </c:pt>
                <c:pt idx="106">
                  <c:v>259</c:v>
                </c:pt>
                <c:pt idx="107">
                  <c:v>249</c:v>
                </c:pt>
                <c:pt idx="108">
                  <c:v>290</c:v>
                </c:pt>
                <c:pt idx="109">
                  <c:v>267</c:v>
                </c:pt>
                <c:pt idx="110">
                  <c:v>284</c:v>
                </c:pt>
                <c:pt idx="111">
                  <c:v>205</c:v>
                </c:pt>
                <c:pt idx="112">
                  <c:v>289</c:v>
                </c:pt>
                <c:pt idx="113">
                  <c:v>329</c:v>
                </c:pt>
                <c:pt idx="114">
                  <c:v>242</c:v>
                </c:pt>
                <c:pt idx="115">
                  <c:v>228</c:v>
                </c:pt>
                <c:pt idx="116">
                  <c:v>169</c:v>
                </c:pt>
                <c:pt idx="117">
                  <c:v>204</c:v>
                </c:pt>
                <c:pt idx="118">
                  <c:v>229</c:v>
                </c:pt>
                <c:pt idx="119">
                  <c:v>162</c:v>
                </c:pt>
                <c:pt idx="120">
                  <c:v>223</c:v>
                </c:pt>
                <c:pt idx="121">
                  <c:v>237</c:v>
                </c:pt>
                <c:pt idx="122">
                  <c:v>231</c:v>
                </c:pt>
                <c:pt idx="123">
                  <c:v>223</c:v>
                </c:pt>
                <c:pt idx="124">
                  <c:v>177</c:v>
                </c:pt>
                <c:pt idx="125">
                  <c:v>191</c:v>
                </c:pt>
                <c:pt idx="126">
                  <c:v>289</c:v>
                </c:pt>
                <c:pt idx="127">
                  <c:v>209</c:v>
                </c:pt>
                <c:pt idx="128">
                  <c:v>156</c:v>
                </c:pt>
                <c:pt idx="129">
                  <c:v>211</c:v>
                </c:pt>
                <c:pt idx="130">
                  <c:v>177</c:v>
                </c:pt>
                <c:pt idx="131">
                  <c:v>183</c:v>
                </c:pt>
                <c:pt idx="132">
                  <c:v>148</c:v>
                </c:pt>
                <c:pt idx="133">
                  <c:v>128</c:v>
                </c:pt>
                <c:pt idx="134">
                  <c:v>176</c:v>
                </c:pt>
                <c:pt idx="135">
                  <c:v>165</c:v>
                </c:pt>
                <c:pt idx="136">
                  <c:v>135</c:v>
                </c:pt>
                <c:pt idx="137">
                  <c:v>159</c:v>
                </c:pt>
                <c:pt idx="138">
                  <c:v>135</c:v>
                </c:pt>
                <c:pt idx="139">
                  <c:v>143</c:v>
                </c:pt>
                <c:pt idx="140">
                  <c:v>196</c:v>
                </c:pt>
                <c:pt idx="141">
                  <c:v>177</c:v>
                </c:pt>
                <c:pt idx="142">
                  <c:v>116</c:v>
                </c:pt>
                <c:pt idx="143">
                  <c:v>100</c:v>
                </c:pt>
                <c:pt idx="144">
                  <c:v>100</c:v>
                </c:pt>
                <c:pt idx="145">
                  <c:v>113</c:v>
                </c:pt>
                <c:pt idx="146">
                  <c:v>107</c:v>
                </c:pt>
                <c:pt idx="147">
                  <c:v>153</c:v>
                </c:pt>
                <c:pt idx="148">
                  <c:v>119</c:v>
                </c:pt>
                <c:pt idx="149">
                  <c:v>121</c:v>
                </c:pt>
                <c:pt idx="150">
                  <c:v>70</c:v>
                </c:pt>
                <c:pt idx="151">
                  <c:v>93</c:v>
                </c:pt>
                <c:pt idx="152">
                  <c:v>64</c:v>
                </c:pt>
                <c:pt idx="153">
                  <c:v>115</c:v>
                </c:pt>
                <c:pt idx="154">
                  <c:v>67</c:v>
                </c:pt>
                <c:pt idx="155">
                  <c:v>117</c:v>
                </c:pt>
                <c:pt idx="156">
                  <c:v>57</c:v>
                </c:pt>
                <c:pt idx="157">
                  <c:v>89</c:v>
                </c:pt>
                <c:pt idx="158">
                  <c:v>66</c:v>
                </c:pt>
                <c:pt idx="159">
                  <c:v>113</c:v>
                </c:pt>
                <c:pt idx="160">
                  <c:v>65</c:v>
                </c:pt>
                <c:pt idx="161">
                  <c:v>39</c:v>
                </c:pt>
                <c:pt idx="162">
                  <c:v>59</c:v>
                </c:pt>
                <c:pt idx="163">
                  <c:v>76</c:v>
                </c:pt>
                <c:pt idx="164">
                  <c:v>51</c:v>
                </c:pt>
                <c:pt idx="165">
                  <c:v>64</c:v>
                </c:pt>
                <c:pt idx="166">
                  <c:v>45</c:v>
                </c:pt>
                <c:pt idx="167">
                  <c:v>74</c:v>
                </c:pt>
                <c:pt idx="168">
                  <c:v>63</c:v>
                </c:pt>
                <c:pt idx="169">
                  <c:v>73</c:v>
                </c:pt>
                <c:pt idx="170">
                  <c:v>57</c:v>
                </c:pt>
                <c:pt idx="171">
                  <c:v>36</c:v>
                </c:pt>
                <c:pt idx="172">
                  <c:v>29</c:v>
                </c:pt>
                <c:pt idx="173">
                  <c:v>49</c:v>
                </c:pt>
                <c:pt idx="174">
                  <c:v>53</c:v>
                </c:pt>
                <c:pt idx="175">
                  <c:v>76</c:v>
                </c:pt>
                <c:pt idx="176">
                  <c:v>46</c:v>
                </c:pt>
                <c:pt idx="177">
                  <c:v>50</c:v>
                </c:pt>
                <c:pt idx="178">
                  <c:v>51</c:v>
                </c:pt>
                <c:pt idx="179">
                  <c:v>26</c:v>
                </c:pt>
                <c:pt idx="180">
                  <c:v>29</c:v>
                </c:pt>
                <c:pt idx="181">
                  <c:v>33</c:v>
                </c:pt>
                <c:pt idx="182">
                  <c:v>38</c:v>
                </c:pt>
                <c:pt idx="183">
                  <c:v>51</c:v>
                </c:pt>
                <c:pt idx="184">
                  <c:v>44</c:v>
                </c:pt>
                <c:pt idx="185">
                  <c:v>26</c:v>
                </c:pt>
                <c:pt idx="186">
                  <c:v>30</c:v>
                </c:pt>
                <c:pt idx="187">
                  <c:v>59</c:v>
                </c:pt>
                <c:pt idx="188">
                  <c:v>36</c:v>
                </c:pt>
                <c:pt idx="189">
                  <c:v>25</c:v>
                </c:pt>
                <c:pt idx="190">
                  <c:v>25</c:v>
                </c:pt>
                <c:pt idx="191">
                  <c:v>11</c:v>
                </c:pt>
                <c:pt idx="192">
                  <c:v>18</c:v>
                </c:pt>
                <c:pt idx="193">
                  <c:v>25</c:v>
                </c:pt>
                <c:pt idx="194">
                  <c:v>23</c:v>
                </c:pt>
                <c:pt idx="195">
                  <c:v>8</c:v>
                </c:pt>
                <c:pt idx="196">
                  <c:v>15</c:v>
                </c:pt>
                <c:pt idx="197">
                  <c:v>13</c:v>
                </c:pt>
                <c:pt idx="198">
                  <c:v>13</c:v>
                </c:pt>
                <c:pt idx="199">
                  <c:v>12</c:v>
                </c:pt>
                <c:pt idx="200">
                  <c:v>12</c:v>
                </c:pt>
                <c:pt idx="201">
                  <c:v>24</c:v>
                </c:pt>
                <c:pt idx="202">
                  <c:v>19</c:v>
                </c:pt>
                <c:pt idx="203">
                  <c:v>11</c:v>
                </c:pt>
                <c:pt idx="204">
                  <c:v>29</c:v>
                </c:pt>
                <c:pt idx="205">
                  <c:v>7</c:v>
                </c:pt>
                <c:pt idx="206">
                  <c:v>10</c:v>
                </c:pt>
                <c:pt idx="207">
                  <c:v>24</c:v>
                </c:pt>
                <c:pt idx="208">
                  <c:v>26</c:v>
                </c:pt>
                <c:pt idx="209">
                  <c:v>16</c:v>
                </c:pt>
                <c:pt idx="210">
                  <c:v>13</c:v>
                </c:pt>
                <c:pt idx="211">
                  <c:v>6</c:v>
                </c:pt>
                <c:pt idx="212">
                  <c:v>21</c:v>
                </c:pt>
                <c:pt idx="213">
                  <c:v>7</c:v>
                </c:pt>
                <c:pt idx="214">
                  <c:v>4</c:v>
                </c:pt>
                <c:pt idx="215">
                  <c:v>10</c:v>
                </c:pt>
                <c:pt idx="216">
                  <c:v>28</c:v>
                </c:pt>
                <c:pt idx="217">
                  <c:v>25</c:v>
                </c:pt>
                <c:pt idx="218">
                  <c:v>17</c:v>
                </c:pt>
                <c:pt idx="219">
                  <c:v>12</c:v>
                </c:pt>
                <c:pt idx="220">
                  <c:v>11</c:v>
                </c:pt>
                <c:pt idx="221">
                  <c:v>8</c:v>
                </c:pt>
                <c:pt idx="222">
                  <c:v>14</c:v>
                </c:pt>
                <c:pt idx="223">
                  <c:v>6</c:v>
                </c:pt>
                <c:pt idx="224">
                  <c:v>1</c:v>
                </c:pt>
                <c:pt idx="225">
                  <c:v>4</c:v>
                </c:pt>
                <c:pt idx="226">
                  <c:v>4</c:v>
                </c:pt>
                <c:pt idx="227">
                  <c:v>4</c:v>
                </c:pt>
                <c:pt idx="228">
                  <c:v>7</c:v>
                </c:pt>
                <c:pt idx="229">
                  <c:v>6</c:v>
                </c:pt>
                <c:pt idx="230">
                  <c:v>10</c:v>
                </c:pt>
                <c:pt idx="231">
                  <c:v>3</c:v>
                </c:pt>
                <c:pt idx="232">
                  <c:v>3</c:v>
                </c:pt>
                <c:pt idx="233">
                  <c:v>14</c:v>
                </c:pt>
                <c:pt idx="234">
                  <c:v>2</c:v>
                </c:pt>
                <c:pt idx="235">
                  <c:v>4</c:v>
                </c:pt>
                <c:pt idx="236">
                  <c:v>4</c:v>
                </c:pt>
                <c:pt idx="237">
                  <c:v>7</c:v>
                </c:pt>
                <c:pt idx="238">
                  <c:v>3</c:v>
                </c:pt>
                <c:pt idx="239">
                  <c:v>12</c:v>
                </c:pt>
                <c:pt idx="240">
                  <c:v>4</c:v>
                </c:pt>
                <c:pt idx="241">
                  <c:v>5</c:v>
                </c:pt>
                <c:pt idx="242">
                  <c:v>8</c:v>
                </c:pt>
                <c:pt idx="243">
                  <c:v>4</c:v>
                </c:pt>
                <c:pt idx="244">
                  <c:v>2</c:v>
                </c:pt>
                <c:pt idx="245">
                  <c:v>4</c:v>
                </c:pt>
                <c:pt idx="246">
                  <c:v>1</c:v>
                </c:pt>
                <c:pt idx="247">
                  <c:v>3</c:v>
                </c:pt>
                <c:pt idx="248">
                  <c:v>2</c:v>
                </c:pt>
                <c:pt idx="249">
                  <c:v>4</c:v>
                </c:pt>
                <c:pt idx="250">
                  <c:v>2</c:v>
                </c:pt>
                <c:pt idx="251">
                  <c:v>9</c:v>
                </c:pt>
                <c:pt idx="252">
                  <c:v>8</c:v>
                </c:pt>
                <c:pt idx="253">
                  <c:v>20</c:v>
                </c:pt>
                <c:pt idx="254">
                  <c:v>7</c:v>
                </c:pt>
                <c:pt idx="255">
                  <c:v>5</c:v>
                </c:pt>
                <c:pt idx="256">
                  <c:v>6</c:v>
                </c:pt>
                <c:pt idx="257">
                  <c:v>12</c:v>
                </c:pt>
                <c:pt idx="258">
                  <c:v>8</c:v>
                </c:pt>
                <c:pt idx="259">
                  <c:v>29</c:v>
                </c:pt>
                <c:pt idx="260">
                  <c:v>20</c:v>
                </c:pt>
                <c:pt idx="261">
                  <c:v>18</c:v>
                </c:pt>
                <c:pt idx="262">
                  <c:v>11</c:v>
                </c:pt>
                <c:pt idx="263">
                  <c:v>15</c:v>
                </c:pt>
                <c:pt idx="264">
                  <c:v>26</c:v>
                </c:pt>
                <c:pt idx="265">
                  <c:v>11</c:v>
                </c:pt>
                <c:pt idx="266">
                  <c:v>23</c:v>
                </c:pt>
                <c:pt idx="267">
                  <c:v>46</c:v>
                </c:pt>
                <c:pt idx="268">
                  <c:v>35</c:v>
                </c:pt>
                <c:pt idx="269">
                  <c:v>14</c:v>
                </c:pt>
                <c:pt idx="270">
                  <c:v>10</c:v>
                </c:pt>
                <c:pt idx="271">
                  <c:v>10</c:v>
                </c:pt>
                <c:pt idx="272">
                  <c:v>20</c:v>
                </c:pt>
                <c:pt idx="273">
                  <c:v>25</c:v>
                </c:pt>
                <c:pt idx="274">
                  <c:v>20</c:v>
                </c:pt>
                <c:pt idx="275">
                  <c:v>28</c:v>
                </c:pt>
                <c:pt idx="276">
                  <c:v>10</c:v>
                </c:pt>
                <c:pt idx="277">
                  <c:v>22</c:v>
                </c:pt>
                <c:pt idx="278">
                  <c:v>12</c:v>
                </c:pt>
                <c:pt idx="279">
                  <c:v>24</c:v>
                </c:pt>
                <c:pt idx="280">
                  <c:v>13</c:v>
                </c:pt>
                <c:pt idx="281">
                  <c:v>46</c:v>
                </c:pt>
                <c:pt idx="282">
                  <c:v>11</c:v>
                </c:pt>
                <c:pt idx="283">
                  <c:v>10</c:v>
                </c:pt>
                <c:pt idx="284">
                  <c:v>21</c:v>
                </c:pt>
                <c:pt idx="285">
                  <c:v>12</c:v>
                </c:pt>
                <c:pt idx="286">
                  <c:v>5</c:v>
                </c:pt>
                <c:pt idx="287">
                  <c:v>17</c:v>
                </c:pt>
                <c:pt idx="288">
                  <c:v>31</c:v>
                </c:pt>
                <c:pt idx="289">
                  <c:v>13</c:v>
                </c:pt>
                <c:pt idx="290">
                  <c:v>5</c:v>
                </c:pt>
                <c:pt idx="291">
                  <c:v>12</c:v>
                </c:pt>
                <c:pt idx="292">
                  <c:v>13</c:v>
                </c:pt>
                <c:pt idx="293">
                  <c:v>33</c:v>
                </c:pt>
                <c:pt idx="294">
                  <c:v>29</c:v>
                </c:pt>
                <c:pt idx="295">
                  <c:v>19</c:v>
                </c:pt>
                <c:pt idx="296">
                  <c:v>9</c:v>
                </c:pt>
                <c:pt idx="297">
                  <c:v>14</c:v>
                </c:pt>
                <c:pt idx="298">
                  <c:v>6</c:v>
                </c:pt>
                <c:pt idx="299">
                  <c:v>6</c:v>
                </c:pt>
                <c:pt idx="300">
                  <c:v>1</c:v>
                </c:pt>
                <c:pt idx="301">
                  <c:v>5</c:v>
                </c:pt>
                <c:pt idx="302">
                  <c:v>5</c:v>
                </c:pt>
                <c:pt idx="303">
                  <c:v>15</c:v>
                </c:pt>
                <c:pt idx="304">
                  <c:v>6</c:v>
                </c:pt>
                <c:pt idx="305">
                  <c:v>5</c:v>
                </c:pt>
                <c:pt idx="306">
                  <c:v>12</c:v>
                </c:pt>
                <c:pt idx="307">
                  <c:v>3</c:v>
                </c:pt>
                <c:pt idx="308">
                  <c:v>2</c:v>
                </c:pt>
                <c:pt idx="309">
                  <c:v>3</c:v>
                </c:pt>
                <c:pt idx="310">
                  <c:v>8</c:v>
                </c:pt>
                <c:pt idx="311">
                  <c:v>3</c:v>
                </c:pt>
                <c:pt idx="312">
                  <c:v>5</c:v>
                </c:pt>
                <c:pt idx="313">
                  <c:v>19</c:v>
                </c:pt>
                <c:pt idx="314">
                  <c:v>1</c:v>
                </c:pt>
                <c:pt idx="315">
                  <c:v>11</c:v>
                </c:pt>
                <c:pt idx="316">
                  <c:v>8</c:v>
                </c:pt>
                <c:pt idx="317">
                  <c:v>3</c:v>
                </c:pt>
                <c:pt idx="318">
                  <c:v>7</c:v>
                </c:pt>
                <c:pt idx="319">
                  <c:v>3</c:v>
                </c:pt>
                <c:pt idx="320">
                  <c:v>1</c:v>
                </c:pt>
                <c:pt idx="321">
                  <c:v>10</c:v>
                </c:pt>
                <c:pt idx="322">
                  <c:v>22</c:v>
                </c:pt>
                <c:pt idx="323">
                  <c:v>2</c:v>
                </c:pt>
                <c:pt idx="324">
                  <c:v>8</c:v>
                </c:pt>
                <c:pt idx="325">
                  <c:v>2</c:v>
                </c:pt>
                <c:pt idx="326">
                  <c:v>4</c:v>
                </c:pt>
                <c:pt idx="327">
                  <c:v>4</c:v>
                </c:pt>
                <c:pt idx="328">
                  <c:v>2</c:v>
                </c:pt>
                <c:pt idx="329">
                  <c:v>1</c:v>
                </c:pt>
                <c:pt idx="330">
                  <c:v>2</c:v>
                </c:pt>
                <c:pt idx="331">
                  <c:v>4</c:v>
                </c:pt>
                <c:pt idx="332">
                  <c:v>2</c:v>
                </c:pt>
                <c:pt idx="333">
                  <c:v>4</c:v>
                </c:pt>
                <c:pt idx="334">
                  <c:v>4</c:v>
                </c:pt>
                <c:pt idx="335">
                  <c:v>4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전체예약취소시점!$K$8</c:f>
              <c:strCache>
                <c:ptCount val="1"/>
                <c:pt idx="0">
                  <c:v>2017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전체예약취소시점!$J$9:$J$311</c:f>
              <c:numCache>
                <c:formatCode>General</c:formatCode>
                <c:ptCount val="30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282</c:v>
                </c:pt>
                <c:pt idx="280">
                  <c:v>284</c:v>
                </c:pt>
                <c:pt idx="281">
                  <c:v>286</c:v>
                </c:pt>
                <c:pt idx="282">
                  <c:v>287</c:v>
                </c:pt>
                <c:pt idx="283">
                  <c:v>288</c:v>
                </c:pt>
                <c:pt idx="284">
                  <c:v>289</c:v>
                </c:pt>
                <c:pt idx="285">
                  <c:v>291</c:v>
                </c:pt>
                <c:pt idx="286">
                  <c:v>292</c:v>
                </c:pt>
                <c:pt idx="287">
                  <c:v>295</c:v>
                </c:pt>
                <c:pt idx="288">
                  <c:v>296</c:v>
                </c:pt>
                <c:pt idx="289">
                  <c:v>297</c:v>
                </c:pt>
                <c:pt idx="290">
                  <c:v>299</c:v>
                </c:pt>
                <c:pt idx="291">
                  <c:v>303</c:v>
                </c:pt>
                <c:pt idx="292">
                  <c:v>305</c:v>
                </c:pt>
                <c:pt idx="293">
                  <c:v>309</c:v>
                </c:pt>
                <c:pt idx="294">
                  <c:v>310</c:v>
                </c:pt>
                <c:pt idx="295">
                  <c:v>312</c:v>
                </c:pt>
                <c:pt idx="296">
                  <c:v>313</c:v>
                </c:pt>
                <c:pt idx="297">
                  <c:v>317</c:v>
                </c:pt>
                <c:pt idx="298">
                  <c:v>319</c:v>
                </c:pt>
                <c:pt idx="299">
                  <c:v>321</c:v>
                </c:pt>
                <c:pt idx="300">
                  <c:v>323</c:v>
                </c:pt>
                <c:pt idx="301">
                  <c:v>326</c:v>
                </c:pt>
                <c:pt idx="302">
                  <c:v>332</c:v>
                </c:pt>
              </c:numCache>
            </c:numRef>
          </c:cat>
          <c:val>
            <c:numRef>
              <c:f>전체예약취소시점!$K$9:$K$311</c:f>
              <c:numCache>
                <c:formatCode>General</c:formatCode>
                <c:ptCount val="303"/>
                <c:pt idx="0">
                  <c:v>510</c:v>
                </c:pt>
                <c:pt idx="1">
                  <c:v>1358</c:v>
                </c:pt>
                <c:pt idx="2">
                  <c:v>1603</c:v>
                </c:pt>
                <c:pt idx="3">
                  <c:v>2315</c:v>
                </c:pt>
                <c:pt idx="4">
                  <c:v>2957</c:v>
                </c:pt>
                <c:pt idx="5">
                  <c:v>3082</c:v>
                </c:pt>
                <c:pt idx="6">
                  <c:v>4056</c:v>
                </c:pt>
                <c:pt idx="7">
                  <c:v>4933</c:v>
                </c:pt>
                <c:pt idx="8">
                  <c:v>6051</c:v>
                </c:pt>
                <c:pt idx="9">
                  <c:v>6238</c:v>
                </c:pt>
                <c:pt idx="10">
                  <c:v>6240</c:v>
                </c:pt>
                <c:pt idx="11">
                  <c:v>5781</c:v>
                </c:pt>
                <c:pt idx="12">
                  <c:v>5605</c:v>
                </c:pt>
                <c:pt idx="13">
                  <c:v>5057</c:v>
                </c:pt>
                <c:pt idx="14">
                  <c:v>5604</c:v>
                </c:pt>
                <c:pt idx="15">
                  <c:v>6084</c:v>
                </c:pt>
                <c:pt idx="16">
                  <c:v>5698</c:v>
                </c:pt>
                <c:pt idx="17">
                  <c:v>4932</c:v>
                </c:pt>
                <c:pt idx="18">
                  <c:v>4920</c:v>
                </c:pt>
                <c:pt idx="19">
                  <c:v>4450</c:v>
                </c:pt>
                <c:pt idx="20">
                  <c:v>4482</c:v>
                </c:pt>
                <c:pt idx="21">
                  <c:v>4268</c:v>
                </c:pt>
                <c:pt idx="22">
                  <c:v>4377</c:v>
                </c:pt>
                <c:pt idx="23">
                  <c:v>4505</c:v>
                </c:pt>
                <c:pt idx="24">
                  <c:v>4014</c:v>
                </c:pt>
                <c:pt idx="25">
                  <c:v>3995</c:v>
                </c:pt>
                <c:pt idx="26">
                  <c:v>3932</c:v>
                </c:pt>
                <c:pt idx="27">
                  <c:v>3389</c:v>
                </c:pt>
                <c:pt idx="28">
                  <c:v>3710</c:v>
                </c:pt>
                <c:pt idx="29">
                  <c:v>3871</c:v>
                </c:pt>
                <c:pt idx="30">
                  <c:v>4427</c:v>
                </c:pt>
                <c:pt idx="31">
                  <c:v>4460</c:v>
                </c:pt>
                <c:pt idx="32">
                  <c:v>4629</c:v>
                </c:pt>
                <c:pt idx="33">
                  <c:v>3988</c:v>
                </c:pt>
                <c:pt idx="34">
                  <c:v>3644</c:v>
                </c:pt>
                <c:pt idx="35">
                  <c:v>3607</c:v>
                </c:pt>
                <c:pt idx="36">
                  <c:v>3918</c:v>
                </c:pt>
                <c:pt idx="37">
                  <c:v>3674</c:v>
                </c:pt>
                <c:pt idx="38">
                  <c:v>3531</c:v>
                </c:pt>
                <c:pt idx="39">
                  <c:v>3161</c:v>
                </c:pt>
                <c:pt idx="40">
                  <c:v>3171</c:v>
                </c:pt>
                <c:pt idx="41">
                  <c:v>3040</c:v>
                </c:pt>
                <c:pt idx="42">
                  <c:v>2892</c:v>
                </c:pt>
                <c:pt idx="43">
                  <c:v>3013</c:v>
                </c:pt>
                <c:pt idx="44">
                  <c:v>3118</c:v>
                </c:pt>
                <c:pt idx="45">
                  <c:v>2713</c:v>
                </c:pt>
                <c:pt idx="46">
                  <c:v>2654</c:v>
                </c:pt>
                <c:pt idx="47">
                  <c:v>2667</c:v>
                </c:pt>
                <c:pt idx="48">
                  <c:v>2205</c:v>
                </c:pt>
                <c:pt idx="49">
                  <c:v>2368</c:v>
                </c:pt>
                <c:pt idx="50">
                  <c:v>2339</c:v>
                </c:pt>
                <c:pt idx="51">
                  <c:v>2514</c:v>
                </c:pt>
                <c:pt idx="52">
                  <c:v>2154</c:v>
                </c:pt>
                <c:pt idx="53">
                  <c:v>2146</c:v>
                </c:pt>
                <c:pt idx="54">
                  <c:v>1880</c:v>
                </c:pt>
                <c:pt idx="55">
                  <c:v>1810</c:v>
                </c:pt>
                <c:pt idx="56">
                  <c:v>2020</c:v>
                </c:pt>
                <c:pt idx="57">
                  <c:v>2157</c:v>
                </c:pt>
                <c:pt idx="58">
                  <c:v>2253</c:v>
                </c:pt>
                <c:pt idx="59">
                  <c:v>1720</c:v>
                </c:pt>
                <c:pt idx="60">
                  <c:v>1799</c:v>
                </c:pt>
                <c:pt idx="61">
                  <c:v>1710</c:v>
                </c:pt>
                <c:pt idx="62">
                  <c:v>1575</c:v>
                </c:pt>
                <c:pt idx="63">
                  <c:v>1378</c:v>
                </c:pt>
                <c:pt idx="64">
                  <c:v>1891</c:v>
                </c:pt>
                <c:pt idx="65">
                  <c:v>1805</c:v>
                </c:pt>
                <c:pt idx="66">
                  <c:v>1745</c:v>
                </c:pt>
                <c:pt idx="67">
                  <c:v>1633</c:v>
                </c:pt>
                <c:pt idx="68">
                  <c:v>1460</c:v>
                </c:pt>
                <c:pt idx="69">
                  <c:v>1477</c:v>
                </c:pt>
                <c:pt idx="70">
                  <c:v>1618</c:v>
                </c:pt>
                <c:pt idx="71">
                  <c:v>1518</c:v>
                </c:pt>
                <c:pt idx="72">
                  <c:v>1673</c:v>
                </c:pt>
                <c:pt idx="73">
                  <c:v>1629</c:v>
                </c:pt>
                <c:pt idx="74">
                  <c:v>1344</c:v>
                </c:pt>
                <c:pt idx="75">
                  <c:v>1257</c:v>
                </c:pt>
                <c:pt idx="76">
                  <c:v>1252</c:v>
                </c:pt>
                <c:pt idx="77">
                  <c:v>1103</c:v>
                </c:pt>
                <c:pt idx="78">
                  <c:v>1498</c:v>
                </c:pt>
                <c:pt idx="79">
                  <c:v>1259</c:v>
                </c:pt>
                <c:pt idx="80">
                  <c:v>1340</c:v>
                </c:pt>
                <c:pt idx="81">
                  <c:v>1193</c:v>
                </c:pt>
                <c:pt idx="82">
                  <c:v>1208</c:v>
                </c:pt>
                <c:pt idx="83">
                  <c:v>1062</c:v>
                </c:pt>
                <c:pt idx="84">
                  <c:v>1033</c:v>
                </c:pt>
                <c:pt idx="85">
                  <c:v>1102</c:v>
                </c:pt>
                <c:pt idx="86">
                  <c:v>1197</c:v>
                </c:pt>
                <c:pt idx="87">
                  <c:v>1129</c:v>
                </c:pt>
                <c:pt idx="88">
                  <c:v>1258</c:v>
                </c:pt>
                <c:pt idx="89">
                  <c:v>897</c:v>
                </c:pt>
                <c:pt idx="90">
                  <c:v>895</c:v>
                </c:pt>
                <c:pt idx="91">
                  <c:v>892</c:v>
                </c:pt>
                <c:pt idx="92">
                  <c:v>974</c:v>
                </c:pt>
                <c:pt idx="93">
                  <c:v>948</c:v>
                </c:pt>
                <c:pt idx="94">
                  <c:v>787</c:v>
                </c:pt>
                <c:pt idx="95">
                  <c:v>696</c:v>
                </c:pt>
                <c:pt idx="96">
                  <c:v>850</c:v>
                </c:pt>
                <c:pt idx="97">
                  <c:v>665</c:v>
                </c:pt>
                <c:pt idx="98">
                  <c:v>741</c:v>
                </c:pt>
                <c:pt idx="99">
                  <c:v>767</c:v>
                </c:pt>
                <c:pt idx="100">
                  <c:v>872</c:v>
                </c:pt>
                <c:pt idx="101">
                  <c:v>807</c:v>
                </c:pt>
                <c:pt idx="102">
                  <c:v>756</c:v>
                </c:pt>
                <c:pt idx="103">
                  <c:v>562</c:v>
                </c:pt>
                <c:pt idx="104">
                  <c:v>712</c:v>
                </c:pt>
                <c:pt idx="105">
                  <c:v>695</c:v>
                </c:pt>
                <c:pt idx="106">
                  <c:v>719</c:v>
                </c:pt>
                <c:pt idx="107">
                  <c:v>688</c:v>
                </c:pt>
                <c:pt idx="108">
                  <c:v>688</c:v>
                </c:pt>
                <c:pt idx="109">
                  <c:v>632</c:v>
                </c:pt>
                <c:pt idx="110">
                  <c:v>588</c:v>
                </c:pt>
                <c:pt idx="111">
                  <c:v>519</c:v>
                </c:pt>
                <c:pt idx="112">
                  <c:v>608</c:v>
                </c:pt>
                <c:pt idx="113">
                  <c:v>698</c:v>
                </c:pt>
                <c:pt idx="114">
                  <c:v>632</c:v>
                </c:pt>
                <c:pt idx="115">
                  <c:v>463</c:v>
                </c:pt>
                <c:pt idx="116">
                  <c:v>564</c:v>
                </c:pt>
                <c:pt idx="117">
                  <c:v>434</c:v>
                </c:pt>
                <c:pt idx="118">
                  <c:v>517</c:v>
                </c:pt>
                <c:pt idx="119">
                  <c:v>566</c:v>
                </c:pt>
                <c:pt idx="120">
                  <c:v>435</c:v>
                </c:pt>
                <c:pt idx="121">
                  <c:v>467</c:v>
                </c:pt>
                <c:pt idx="122">
                  <c:v>388</c:v>
                </c:pt>
                <c:pt idx="123">
                  <c:v>474</c:v>
                </c:pt>
                <c:pt idx="124">
                  <c:v>362</c:v>
                </c:pt>
                <c:pt idx="125">
                  <c:v>283</c:v>
                </c:pt>
                <c:pt idx="126">
                  <c:v>432</c:v>
                </c:pt>
                <c:pt idx="127">
                  <c:v>402</c:v>
                </c:pt>
                <c:pt idx="128">
                  <c:v>358</c:v>
                </c:pt>
                <c:pt idx="129">
                  <c:v>455</c:v>
                </c:pt>
                <c:pt idx="130">
                  <c:v>434</c:v>
                </c:pt>
                <c:pt idx="131">
                  <c:v>390</c:v>
                </c:pt>
                <c:pt idx="132">
                  <c:v>349</c:v>
                </c:pt>
                <c:pt idx="133">
                  <c:v>359</c:v>
                </c:pt>
                <c:pt idx="134">
                  <c:v>332</c:v>
                </c:pt>
                <c:pt idx="135">
                  <c:v>360</c:v>
                </c:pt>
                <c:pt idx="136">
                  <c:v>351</c:v>
                </c:pt>
                <c:pt idx="137">
                  <c:v>304</c:v>
                </c:pt>
                <c:pt idx="138">
                  <c:v>238</c:v>
                </c:pt>
                <c:pt idx="139">
                  <c:v>259</c:v>
                </c:pt>
                <c:pt idx="140">
                  <c:v>296</c:v>
                </c:pt>
                <c:pt idx="141">
                  <c:v>317</c:v>
                </c:pt>
                <c:pt idx="142">
                  <c:v>346</c:v>
                </c:pt>
                <c:pt idx="143">
                  <c:v>341</c:v>
                </c:pt>
                <c:pt idx="144">
                  <c:v>340</c:v>
                </c:pt>
                <c:pt idx="145">
                  <c:v>281</c:v>
                </c:pt>
                <c:pt idx="146">
                  <c:v>222</c:v>
                </c:pt>
                <c:pt idx="147">
                  <c:v>281</c:v>
                </c:pt>
                <c:pt idx="148">
                  <c:v>223</c:v>
                </c:pt>
                <c:pt idx="149">
                  <c:v>185</c:v>
                </c:pt>
                <c:pt idx="150">
                  <c:v>185</c:v>
                </c:pt>
                <c:pt idx="151">
                  <c:v>253</c:v>
                </c:pt>
                <c:pt idx="152">
                  <c:v>182</c:v>
                </c:pt>
                <c:pt idx="153">
                  <c:v>136</c:v>
                </c:pt>
                <c:pt idx="154">
                  <c:v>174</c:v>
                </c:pt>
                <c:pt idx="155">
                  <c:v>183</c:v>
                </c:pt>
                <c:pt idx="156">
                  <c:v>187</c:v>
                </c:pt>
                <c:pt idx="157">
                  <c:v>163</c:v>
                </c:pt>
                <c:pt idx="158">
                  <c:v>205</c:v>
                </c:pt>
                <c:pt idx="159">
                  <c:v>222</c:v>
                </c:pt>
                <c:pt idx="160">
                  <c:v>167</c:v>
                </c:pt>
                <c:pt idx="161">
                  <c:v>173</c:v>
                </c:pt>
                <c:pt idx="162">
                  <c:v>206</c:v>
                </c:pt>
                <c:pt idx="163">
                  <c:v>144</c:v>
                </c:pt>
                <c:pt idx="164">
                  <c:v>165</c:v>
                </c:pt>
                <c:pt idx="165">
                  <c:v>127</c:v>
                </c:pt>
                <c:pt idx="166">
                  <c:v>185</c:v>
                </c:pt>
                <c:pt idx="167">
                  <c:v>159</c:v>
                </c:pt>
                <c:pt idx="168">
                  <c:v>171</c:v>
                </c:pt>
                <c:pt idx="169">
                  <c:v>83</c:v>
                </c:pt>
                <c:pt idx="170">
                  <c:v>141</c:v>
                </c:pt>
                <c:pt idx="171">
                  <c:v>195</c:v>
                </c:pt>
                <c:pt idx="172">
                  <c:v>176</c:v>
                </c:pt>
                <c:pt idx="173">
                  <c:v>140</c:v>
                </c:pt>
                <c:pt idx="174">
                  <c:v>138</c:v>
                </c:pt>
                <c:pt idx="175">
                  <c:v>149</c:v>
                </c:pt>
                <c:pt idx="176">
                  <c:v>124</c:v>
                </c:pt>
                <c:pt idx="177">
                  <c:v>148</c:v>
                </c:pt>
                <c:pt idx="178">
                  <c:v>135</c:v>
                </c:pt>
                <c:pt idx="179">
                  <c:v>179</c:v>
                </c:pt>
                <c:pt idx="180">
                  <c:v>99</c:v>
                </c:pt>
                <c:pt idx="181">
                  <c:v>117</c:v>
                </c:pt>
                <c:pt idx="182">
                  <c:v>165</c:v>
                </c:pt>
                <c:pt idx="183">
                  <c:v>136</c:v>
                </c:pt>
                <c:pt idx="184">
                  <c:v>135</c:v>
                </c:pt>
                <c:pt idx="185">
                  <c:v>111</c:v>
                </c:pt>
                <c:pt idx="186">
                  <c:v>113</c:v>
                </c:pt>
                <c:pt idx="187">
                  <c:v>96</c:v>
                </c:pt>
                <c:pt idx="188">
                  <c:v>113</c:v>
                </c:pt>
                <c:pt idx="189">
                  <c:v>128</c:v>
                </c:pt>
                <c:pt idx="190">
                  <c:v>165</c:v>
                </c:pt>
                <c:pt idx="191">
                  <c:v>112</c:v>
                </c:pt>
                <c:pt idx="192">
                  <c:v>175</c:v>
                </c:pt>
                <c:pt idx="193">
                  <c:v>130</c:v>
                </c:pt>
                <c:pt idx="194">
                  <c:v>98</c:v>
                </c:pt>
                <c:pt idx="195">
                  <c:v>115</c:v>
                </c:pt>
                <c:pt idx="196">
                  <c:v>101</c:v>
                </c:pt>
                <c:pt idx="197">
                  <c:v>138</c:v>
                </c:pt>
                <c:pt idx="198">
                  <c:v>140</c:v>
                </c:pt>
                <c:pt idx="199">
                  <c:v>112</c:v>
                </c:pt>
                <c:pt idx="200">
                  <c:v>109</c:v>
                </c:pt>
                <c:pt idx="201">
                  <c:v>72</c:v>
                </c:pt>
                <c:pt idx="202">
                  <c:v>120</c:v>
                </c:pt>
                <c:pt idx="203">
                  <c:v>126</c:v>
                </c:pt>
                <c:pt idx="204">
                  <c:v>161</c:v>
                </c:pt>
                <c:pt idx="205">
                  <c:v>129</c:v>
                </c:pt>
                <c:pt idx="206">
                  <c:v>75</c:v>
                </c:pt>
                <c:pt idx="207">
                  <c:v>149</c:v>
                </c:pt>
                <c:pt idx="208">
                  <c:v>80</c:v>
                </c:pt>
                <c:pt idx="209">
                  <c:v>120</c:v>
                </c:pt>
                <c:pt idx="210">
                  <c:v>125</c:v>
                </c:pt>
                <c:pt idx="211">
                  <c:v>143</c:v>
                </c:pt>
                <c:pt idx="212">
                  <c:v>105</c:v>
                </c:pt>
                <c:pt idx="213">
                  <c:v>79</c:v>
                </c:pt>
                <c:pt idx="214">
                  <c:v>72</c:v>
                </c:pt>
                <c:pt idx="215">
                  <c:v>99</c:v>
                </c:pt>
                <c:pt idx="216">
                  <c:v>71</c:v>
                </c:pt>
                <c:pt idx="217">
                  <c:v>134</c:v>
                </c:pt>
                <c:pt idx="218">
                  <c:v>81</c:v>
                </c:pt>
                <c:pt idx="219">
                  <c:v>109</c:v>
                </c:pt>
                <c:pt idx="220">
                  <c:v>112</c:v>
                </c:pt>
                <c:pt idx="221">
                  <c:v>129</c:v>
                </c:pt>
                <c:pt idx="222">
                  <c:v>133</c:v>
                </c:pt>
                <c:pt idx="223">
                  <c:v>167</c:v>
                </c:pt>
                <c:pt idx="224">
                  <c:v>122</c:v>
                </c:pt>
                <c:pt idx="225">
                  <c:v>114</c:v>
                </c:pt>
                <c:pt idx="226">
                  <c:v>131</c:v>
                </c:pt>
                <c:pt idx="227">
                  <c:v>117</c:v>
                </c:pt>
                <c:pt idx="228">
                  <c:v>124</c:v>
                </c:pt>
                <c:pt idx="229">
                  <c:v>168</c:v>
                </c:pt>
                <c:pt idx="230">
                  <c:v>194</c:v>
                </c:pt>
                <c:pt idx="231">
                  <c:v>130</c:v>
                </c:pt>
                <c:pt idx="232">
                  <c:v>217</c:v>
                </c:pt>
                <c:pt idx="233">
                  <c:v>123</c:v>
                </c:pt>
                <c:pt idx="234">
                  <c:v>125</c:v>
                </c:pt>
                <c:pt idx="235">
                  <c:v>136</c:v>
                </c:pt>
                <c:pt idx="236">
                  <c:v>126</c:v>
                </c:pt>
                <c:pt idx="237">
                  <c:v>130</c:v>
                </c:pt>
                <c:pt idx="238">
                  <c:v>139</c:v>
                </c:pt>
                <c:pt idx="239">
                  <c:v>171</c:v>
                </c:pt>
                <c:pt idx="240">
                  <c:v>172</c:v>
                </c:pt>
                <c:pt idx="241">
                  <c:v>84</c:v>
                </c:pt>
                <c:pt idx="242">
                  <c:v>101</c:v>
                </c:pt>
                <c:pt idx="243">
                  <c:v>88</c:v>
                </c:pt>
                <c:pt idx="244">
                  <c:v>95</c:v>
                </c:pt>
                <c:pt idx="245">
                  <c:v>57</c:v>
                </c:pt>
                <c:pt idx="246">
                  <c:v>71</c:v>
                </c:pt>
                <c:pt idx="247">
                  <c:v>69</c:v>
                </c:pt>
                <c:pt idx="248">
                  <c:v>60</c:v>
                </c:pt>
                <c:pt idx="249">
                  <c:v>63</c:v>
                </c:pt>
                <c:pt idx="250">
                  <c:v>41</c:v>
                </c:pt>
                <c:pt idx="251">
                  <c:v>49</c:v>
                </c:pt>
                <c:pt idx="252">
                  <c:v>113</c:v>
                </c:pt>
                <c:pt idx="253">
                  <c:v>84</c:v>
                </c:pt>
                <c:pt idx="254">
                  <c:v>81</c:v>
                </c:pt>
                <c:pt idx="255">
                  <c:v>73</c:v>
                </c:pt>
                <c:pt idx="256">
                  <c:v>65</c:v>
                </c:pt>
                <c:pt idx="257">
                  <c:v>81</c:v>
                </c:pt>
                <c:pt idx="258">
                  <c:v>50</c:v>
                </c:pt>
                <c:pt idx="259">
                  <c:v>59</c:v>
                </c:pt>
                <c:pt idx="260">
                  <c:v>88</c:v>
                </c:pt>
                <c:pt idx="261">
                  <c:v>68</c:v>
                </c:pt>
                <c:pt idx="262">
                  <c:v>89</c:v>
                </c:pt>
                <c:pt idx="263">
                  <c:v>95</c:v>
                </c:pt>
                <c:pt idx="264">
                  <c:v>97</c:v>
                </c:pt>
                <c:pt idx="265">
                  <c:v>74</c:v>
                </c:pt>
                <c:pt idx="266">
                  <c:v>56</c:v>
                </c:pt>
                <c:pt idx="267">
                  <c:v>60</c:v>
                </c:pt>
                <c:pt idx="268">
                  <c:v>52</c:v>
                </c:pt>
                <c:pt idx="269">
                  <c:v>32</c:v>
                </c:pt>
                <c:pt idx="270">
                  <c:v>39</c:v>
                </c:pt>
                <c:pt idx="271">
                  <c:v>53</c:v>
                </c:pt>
                <c:pt idx="272">
                  <c:v>21</c:v>
                </c:pt>
                <c:pt idx="273">
                  <c:v>13</c:v>
                </c:pt>
                <c:pt idx="274">
                  <c:v>11</c:v>
                </c:pt>
                <c:pt idx="275">
                  <c:v>1</c:v>
                </c:pt>
                <c:pt idx="276">
                  <c:v>4</c:v>
                </c:pt>
                <c:pt idx="277">
                  <c:v>16</c:v>
                </c:pt>
                <c:pt idx="278">
                  <c:v>5</c:v>
                </c:pt>
                <c:pt idx="279">
                  <c:v>1</c:v>
                </c:pt>
                <c:pt idx="280">
                  <c:v>4</c:v>
                </c:pt>
                <c:pt idx="281">
                  <c:v>6</c:v>
                </c:pt>
                <c:pt idx="282">
                  <c:v>20</c:v>
                </c:pt>
                <c:pt idx="283">
                  <c:v>1</c:v>
                </c:pt>
                <c:pt idx="284">
                  <c:v>4</c:v>
                </c:pt>
                <c:pt idx="285">
                  <c:v>4</c:v>
                </c:pt>
                <c:pt idx="286">
                  <c:v>4</c:v>
                </c:pt>
                <c:pt idx="287">
                  <c:v>10</c:v>
                </c:pt>
                <c:pt idx="288">
                  <c:v>4</c:v>
                </c:pt>
                <c:pt idx="289">
                  <c:v>5</c:v>
                </c:pt>
                <c:pt idx="290">
                  <c:v>6</c:v>
                </c:pt>
                <c:pt idx="291">
                  <c:v>2</c:v>
                </c:pt>
                <c:pt idx="292">
                  <c:v>2</c:v>
                </c:pt>
                <c:pt idx="293">
                  <c:v>6</c:v>
                </c:pt>
                <c:pt idx="294">
                  <c:v>10</c:v>
                </c:pt>
                <c:pt idx="295">
                  <c:v>4</c:v>
                </c:pt>
                <c:pt idx="296">
                  <c:v>3</c:v>
                </c:pt>
                <c:pt idx="297">
                  <c:v>7</c:v>
                </c:pt>
                <c:pt idx="298">
                  <c:v>4</c:v>
                </c:pt>
                <c:pt idx="299">
                  <c:v>1</c:v>
                </c:pt>
                <c:pt idx="300">
                  <c:v>1</c:v>
                </c:pt>
                <c:pt idx="301">
                  <c:v>2</c:v>
                </c:pt>
                <c:pt idx="302">
                  <c:v>3</c:v>
                </c:pt>
              </c:numCache>
            </c:numRef>
          </c:val>
          <c:smooth val="0"/>
        </c:ser>
        <c:ser>
          <c:idx val="0"/>
          <c:order val="3"/>
          <c:tx>
            <c:strRef>
              <c:f>전체예약취소시점!$O$8</c:f>
              <c:strCache>
                <c:ptCount val="1"/>
                <c:pt idx="0">
                  <c:v>2018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전체예약취소시점!$N$9:$N$317</c:f>
              <c:numCache>
                <c:formatCode>General</c:formatCode>
                <c:ptCount val="30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290</c:v>
                </c:pt>
                <c:pt idx="289">
                  <c:v>291</c:v>
                </c:pt>
                <c:pt idx="290">
                  <c:v>292</c:v>
                </c:pt>
                <c:pt idx="291">
                  <c:v>293</c:v>
                </c:pt>
                <c:pt idx="292">
                  <c:v>294</c:v>
                </c:pt>
                <c:pt idx="293">
                  <c:v>295</c:v>
                </c:pt>
                <c:pt idx="294">
                  <c:v>296</c:v>
                </c:pt>
                <c:pt idx="295">
                  <c:v>299</c:v>
                </c:pt>
                <c:pt idx="296">
                  <c:v>300</c:v>
                </c:pt>
                <c:pt idx="297">
                  <c:v>302</c:v>
                </c:pt>
                <c:pt idx="298">
                  <c:v>304</c:v>
                </c:pt>
                <c:pt idx="299">
                  <c:v>309</c:v>
                </c:pt>
                <c:pt idx="300">
                  <c:v>310</c:v>
                </c:pt>
                <c:pt idx="301">
                  <c:v>316</c:v>
                </c:pt>
                <c:pt idx="302">
                  <c:v>319</c:v>
                </c:pt>
                <c:pt idx="303">
                  <c:v>320</c:v>
                </c:pt>
                <c:pt idx="304">
                  <c:v>324</c:v>
                </c:pt>
                <c:pt idx="305">
                  <c:v>325</c:v>
                </c:pt>
                <c:pt idx="306">
                  <c:v>329</c:v>
                </c:pt>
                <c:pt idx="307">
                  <c:v>330</c:v>
                </c:pt>
                <c:pt idx="308">
                  <c:v>343</c:v>
                </c:pt>
              </c:numCache>
            </c:numRef>
          </c:cat>
          <c:val>
            <c:numRef>
              <c:f>전체예약취소시점!$O$9:$O$317</c:f>
              <c:numCache>
                <c:formatCode>General</c:formatCode>
                <c:ptCount val="309"/>
                <c:pt idx="0">
                  <c:v>357</c:v>
                </c:pt>
                <c:pt idx="1">
                  <c:v>1162</c:v>
                </c:pt>
                <c:pt idx="2">
                  <c:v>1423</c:v>
                </c:pt>
                <c:pt idx="3">
                  <c:v>2016</c:v>
                </c:pt>
                <c:pt idx="4">
                  <c:v>2436</c:v>
                </c:pt>
                <c:pt idx="5">
                  <c:v>2851</c:v>
                </c:pt>
                <c:pt idx="6">
                  <c:v>3241</c:v>
                </c:pt>
                <c:pt idx="7">
                  <c:v>4079</c:v>
                </c:pt>
                <c:pt idx="8">
                  <c:v>5283</c:v>
                </c:pt>
                <c:pt idx="9">
                  <c:v>5135</c:v>
                </c:pt>
                <c:pt idx="10">
                  <c:v>5335</c:v>
                </c:pt>
                <c:pt idx="11">
                  <c:v>5091</c:v>
                </c:pt>
                <c:pt idx="12">
                  <c:v>4839</c:v>
                </c:pt>
                <c:pt idx="13">
                  <c:v>4564</c:v>
                </c:pt>
                <c:pt idx="14">
                  <c:v>4832</c:v>
                </c:pt>
                <c:pt idx="15">
                  <c:v>4933</c:v>
                </c:pt>
                <c:pt idx="16">
                  <c:v>4531</c:v>
                </c:pt>
                <c:pt idx="17">
                  <c:v>4074</c:v>
                </c:pt>
                <c:pt idx="18">
                  <c:v>4020</c:v>
                </c:pt>
                <c:pt idx="19">
                  <c:v>3766</c:v>
                </c:pt>
                <c:pt idx="20">
                  <c:v>3369</c:v>
                </c:pt>
                <c:pt idx="21">
                  <c:v>3032</c:v>
                </c:pt>
                <c:pt idx="22">
                  <c:v>3346</c:v>
                </c:pt>
                <c:pt idx="23">
                  <c:v>3233</c:v>
                </c:pt>
                <c:pt idx="24">
                  <c:v>3264</c:v>
                </c:pt>
                <c:pt idx="25">
                  <c:v>2916</c:v>
                </c:pt>
                <c:pt idx="26">
                  <c:v>3000</c:v>
                </c:pt>
                <c:pt idx="27">
                  <c:v>2758</c:v>
                </c:pt>
                <c:pt idx="28">
                  <c:v>2766</c:v>
                </c:pt>
                <c:pt idx="29">
                  <c:v>2893</c:v>
                </c:pt>
                <c:pt idx="30">
                  <c:v>3282</c:v>
                </c:pt>
                <c:pt idx="31">
                  <c:v>3171</c:v>
                </c:pt>
                <c:pt idx="32">
                  <c:v>3118</c:v>
                </c:pt>
                <c:pt idx="33">
                  <c:v>3237</c:v>
                </c:pt>
                <c:pt idx="34">
                  <c:v>2877</c:v>
                </c:pt>
                <c:pt idx="35">
                  <c:v>2696</c:v>
                </c:pt>
                <c:pt idx="36">
                  <c:v>2877</c:v>
                </c:pt>
                <c:pt idx="37">
                  <c:v>2738</c:v>
                </c:pt>
                <c:pt idx="38">
                  <c:v>2573</c:v>
                </c:pt>
                <c:pt idx="39">
                  <c:v>2366</c:v>
                </c:pt>
                <c:pt idx="40">
                  <c:v>2371</c:v>
                </c:pt>
                <c:pt idx="41">
                  <c:v>2079</c:v>
                </c:pt>
                <c:pt idx="42">
                  <c:v>2234</c:v>
                </c:pt>
                <c:pt idx="43">
                  <c:v>2304</c:v>
                </c:pt>
                <c:pt idx="44">
                  <c:v>2213</c:v>
                </c:pt>
                <c:pt idx="45">
                  <c:v>2074</c:v>
                </c:pt>
                <c:pt idx="46">
                  <c:v>1968</c:v>
                </c:pt>
                <c:pt idx="47">
                  <c:v>2049</c:v>
                </c:pt>
                <c:pt idx="48">
                  <c:v>1683</c:v>
                </c:pt>
                <c:pt idx="49">
                  <c:v>1684</c:v>
                </c:pt>
                <c:pt idx="50">
                  <c:v>1908</c:v>
                </c:pt>
                <c:pt idx="51">
                  <c:v>1703</c:v>
                </c:pt>
                <c:pt idx="52">
                  <c:v>1625</c:v>
                </c:pt>
                <c:pt idx="53">
                  <c:v>1611</c:v>
                </c:pt>
                <c:pt idx="54">
                  <c:v>1385</c:v>
                </c:pt>
                <c:pt idx="55">
                  <c:v>1546</c:v>
                </c:pt>
                <c:pt idx="56">
                  <c:v>1380</c:v>
                </c:pt>
                <c:pt idx="57">
                  <c:v>1487</c:v>
                </c:pt>
                <c:pt idx="58">
                  <c:v>1564</c:v>
                </c:pt>
                <c:pt idx="59">
                  <c:v>1446</c:v>
                </c:pt>
                <c:pt idx="60">
                  <c:v>1479</c:v>
                </c:pt>
                <c:pt idx="61">
                  <c:v>1240</c:v>
                </c:pt>
                <c:pt idx="62">
                  <c:v>1276</c:v>
                </c:pt>
                <c:pt idx="63">
                  <c:v>1245</c:v>
                </c:pt>
                <c:pt idx="64">
                  <c:v>1163</c:v>
                </c:pt>
                <c:pt idx="65">
                  <c:v>1437</c:v>
                </c:pt>
                <c:pt idx="66">
                  <c:v>1261</c:v>
                </c:pt>
                <c:pt idx="67">
                  <c:v>1059</c:v>
                </c:pt>
                <c:pt idx="68">
                  <c:v>1141</c:v>
                </c:pt>
                <c:pt idx="69">
                  <c:v>1131</c:v>
                </c:pt>
                <c:pt idx="70">
                  <c:v>1208</c:v>
                </c:pt>
                <c:pt idx="71">
                  <c:v>1161</c:v>
                </c:pt>
                <c:pt idx="72">
                  <c:v>1022</c:v>
                </c:pt>
                <c:pt idx="73">
                  <c:v>1080</c:v>
                </c:pt>
                <c:pt idx="74">
                  <c:v>988</c:v>
                </c:pt>
                <c:pt idx="75">
                  <c:v>959</c:v>
                </c:pt>
                <c:pt idx="76">
                  <c:v>906</c:v>
                </c:pt>
                <c:pt idx="77">
                  <c:v>929</c:v>
                </c:pt>
                <c:pt idx="78">
                  <c:v>896</c:v>
                </c:pt>
                <c:pt idx="79">
                  <c:v>954</c:v>
                </c:pt>
                <c:pt idx="80">
                  <c:v>871</c:v>
                </c:pt>
                <c:pt idx="81">
                  <c:v>936</c:v>
                </c:pt>
                <c:pt idx="82">
                  <c:v>831</c:v>
                </c:pt>
                <c:pt idx="83">
                  <c:v>765</c:v>
                </c:pt>
                <c:pt idx="84">
                  <c:v>723</c:v>
                </c:pt>
                <c:pt idx="85">
                  <c:v>882</c:v>
                </c:pt>
                <c:pt idx="86">
                  <c:v>750</c:v>
                </c:pt>
                <c:pt idx="87">
                  <c:v>736</c:v>
                </c:pt>
                <c:pt idx="88">
                  <c:v>705</c:v>
                </c:pt>
                <c:pt idx="89">
                  <c:v>747</c:v>
                </c:pt>
                <c:pt idx="90">
                  <c:v>615</c:v>
                </c:pt>
                <c:pt idx="91">
                  <c:v>811</c:v>
                </c:pt>
                <c:pt idx="92">
                  <c:v>780</c:v>
                </c:pt>
                <c:pt idx="93">
                  <c:v>695</c:v>
                </c:pt>
                <c:pt idx="94">
                  <c:v>672</c:v>
                </c:pt>
                <c:pt idx="95">
                  <c:v>624</c:v>
                </c:pt>
                <c:pt idx="96">
                  <c:v>562</c:v>
                </c:pt>
                <c:pt idx="97">
                  <c:v>484</c:v>
                </c:pt>
                <c:pt idx="98">
                  <c:v>520</c:v>
                </c:pt>
                <c:pt idx="99">
                  <c:v>620</c:v>
                </c:pt>
                <c:pt idx="100">
                  <c:v>615</c:v>
                </c:pt>
                <c:pt idx="101">
                  <c:v>556</c:v>
                </c:pt>
                <c:pt idx="102">
                  <c:v>537</c:v>
                </c:pt>
                <c:pt idx="103">
                  <c:v>502</c:v>
                </c:pt>
                <c:pt idx="104">
                  <c:v>525</c:v>
                </c:pt>
                <c:pt idx="105">
                  <c:v>518</c:v>
                </c:pt>
                <c:pt idx="106">
                  <c:v>514</c:v>
                </c:pt>
                <c:pt idx="107">
                  <c:v>544</c:v>
                </c:pt>
                <c:pt idx="108">
                  <c:v>439</c:v>
                </c:pt>
                <c:pt idx="109">
                  <c:v>405</c:v>
                </c:pt>
                <c:pt idx="110">
                  <c:v>530</c:v>
                </c:pt>
                <c:pt idx="111">
                  <c:v>387</c:v>
                </c:pt>
                <c:pt idx="112">
                  <c:v>431</c:v>
                </c:pt>
                <c:pt idx="113">
                  <c:v>489</c:v>
                </c:pt>
                <c:pt idx="114">
                  <c:v>519</c:v>
                </c:pt>
                <c:pt idx="115">
                  <c:v>518</c:v>
                </c:pt>
                <c:pt idx="116">
                  <c:v>429</c:v>
                </c:pt>
                <c:pt idx="117">
                  <c:v>398</c:v>
                </c:pt>
                <c:pt idx="118">
                  <c:v>437</c:v>
                </c:pt>
                <c:pt idx="119">
                  <c:v>382</c:v>
                </c:pt>
                <c:pt idx="120">
                  <c:v>432</c:v>
                </c:pt>
                <c:pt idx="121">
                  <c:v>378</c:v>
                </c:pt>
                <c:pt idx="122">
                  <c:v>435</c:v>
                </c:pt>
                <c:pt idx="123">
                  <c:v>335</c:v>
                </c:pt>
                <c:pt idx="124">
                  <c:v>300</c:v>
                </c:pt>
                <c:pt idx="125">
                  <c:v>358</c:v>
                </c:pt>
                <c:pt idx="126">
                  <c:v>375</c:v>
                </c:pt>
                <c:pt idx="127">
                  <c:v>448</c:v>
                </c:pt>
                <c:pt idx="128">
                  <c:v>354</c:v>
                </c:pt>
                <c:pt idx="129">
                  <c:v>291</c:v>
                </c:pt>
                <c:pt idx="130">
                  <c:v>315</c:v>
                </c:pt>
                <c:pt idx="131">
                  <c:v>313</c:v>
                </c:pt>
                <c:pt idx="132">
                  <c:v>259</c:v>
                </c:pt>
                <c:pt idx="133">
                  <c:v>250</c:v>
                </c:pt>
                <c:pt idx="134">
                  <c:v>316</c:v>
                </c:pt>
                <c:pt idx="135">
                  <c:v>261</c:v>
                </c:pt>
                <c:pt idx="136">
                  <c:v>282</c:v>
                </c:pt>
                <c:pt idx="137">
                  <c:v>398</c:v>
                </c:pt>
                <c:pt idx="138">
                  <c:v>286</c:v>
                </c:pt>
                <c:pt idx="139">
                  <c:v>273</c:v>
                </c:pt>
                <c:pt idx="140">
                  <c:v>246</c:v>
                </c:pt>
                <c:pt idx="141">
                  <c:v>419</c:v>
                </c:pt>
                <c:pt idx="142">
                  <c:v>270</c:v>
                </c:pt>
                <c:pt idx="143">
                  <c:v>273</c:v>
                </c:pt>
                <c:pt idx="144">
                  <c:v>258</c:v>
                </c:pt>
                <c:pt idx="145">
                  <c:v>264</c:v>
                </c:pt>
                <c:pt idx="146">
                  <c:v>191</c:v>
                </c:pt>
                <c:pt idx="147">
                  <c:v>230</c:v>
                </c:pt>
                <c:pt idx="148">
                  <c:v>240</c:v>
                </c:pt>
                <c:pt idx="149">
                  <c:v>216</c:v>
                </c:pt>
                <c:pt idx="150">
                  <c:v>166</c:v>
                </c:pt>
                <c:pt idx="151">
                  <c:v>214</c:v>
                </c:pt>
                <c:pt idx="152">
                  <c:v>220</c:v>
                </c:pt>
                <c:pt idx="153">
                  <c:v>128</c:v>
                </c:pt>
                <c:pt idx="154">
                  <c:v>176</c:v>
                </c:pt>
                <c:pt idx="155">
                  <c:v>183</c:v>
                </c:pt>
                <c:pt idx="156">
                  <c:v>161</c:v>
                </c:pt>
                <c:pt idx="157">
                  <c:v>149</c:v>
                </c:pt>
                <c:pt idx="158">
                  <c:v>158</c:v>
                </c:pt>
                <c:pt idx="159">
                  <c:v>131</c:v>
                </c:pt>
                <c:pt idx="160">
                  <c:v>190</c:v>
                </c:pt>
                <c:pt idx="161">
                  <c:v>144</c:v>
                </c:pt>
                <c:pt idx="162">
                  <c:v>178</c:v>
                </c:pt>
                <c:pt idx="163">
                  <c:v>150</c:v>
                </c:pt>
                <c:pt idx="164">
                  <c:v>142</c:v>
                </c:pt>
                <c:pt idx="165">
                  <c:v>150</c:v>
                </c:pt>
                <c:pt idx="166">
                  <c:v>106</c:v>
                </c:pt>
                <c:pt idx="167">
                  <c:v>141</c:v>
                </c:pt>
                <c:pt idx="168">
                  <c:v>130</c:v>
                </c:pt>
                <c:pt idx="169">
                  <c:v>179</c:v>
                </c:pt>
                <c:pt idx="170">
                  <c:v>100</c:v>
                </c:pt>
                <c:pt idx="171">
                  <c:v>146</c:v>
                </c:pt>
                <c:pt idx="172">
                  <c:v>148</c:v>
                </c:pt>
                <c:pt idx="173">
                  <c:v>132</c:v>
                </c:pt>
                <c:pt idx="174">
                  <c:v>105</c:v>
                </c:pt>
                <c:pt idx="175">
                  <c:v>76</c:v>
                </c:pt>
                <c:pt idx="176">
                  <c:v>73</c:v>
                </c:pt>
                <c:pt idx="177">
                  <c:v>115</c:v>
                </c:pt>
                <c:pt idx="178">
                  <c:v>123</c:v>
                </c:pt>
                <c:pt idx="179">
                  <c:v>117</c:v>
                </c:pt>
                <c:pt idx="180">
                  <c:v>110</c:v>
                </c:pt>
                <c:pt idx="181">
                  <c:v>126</c:v>
                </c:pt>
                <c:pt idx="182">
                  <c:v>86</c:v>
                </c:pt>
                <c:pt idx="183">
                  <c:v>89</c:v>
                </c:pt>
                <c:pt idx="184">
                  <c:v>93</c:v>
                </c:pt>
                <c:pt idx="185">
                  <c:v>81</c:v>
                </c:pt>
                <c:pt idx="186">
                  <c:v>128</c:v>
                </c:pt>
                <c:pt idx="187">
                  <c:v>115</c:v>
                </c:pt>
                <c:pt idx="188">
                  <c:v>64</c:v>
                </c:pt>
                <c:pt idx="189">
                  <c:v>123</c:v>
                </c:pt>
                <c:pt idx="190">
                  <c:v>71</c:v>
                </c:pt>
                <c:pt idx="191">
                  <c:v>80</c:v>
                </c:pt>
                <c:pt idx="192">
                  <c:v>41</c:v>
                </c:pt>
                <c:pt idx="193">
                  <c:v>65</c:v>
                </c:pt>
                <c:pt idx="194">
                  <c:v>94</c:v>
                </c:pt>
                <c:pt idx="195">
                  <c:v>88</c:v>
                </c:pt>
                <c:pt idx="196">
                  <c:v>96</c:v>
                </c:pt>
                <c:pt idx="197">
                  <c:v>61</c:v>
                </c:pt>
                <c:pt idx="198">
                  <c:v>62</c:v>
                </c:pt>
                <c:pt idx="199">
                  <c:v>58</c:v>
                </c:pt>
                <c:pt idx="200">
                  <c:v>41</c:v>
                </c:pt>
                <c:pt idx="201">
                  <c:v>39</c:v>
                </c:pt>
                <c:pt idx="202">
                  <c:v>30</c:v>
                </c:pt>
                <c:pt idx="203">
                  <c:v>81</c:v>
                </c:pt>
                <c:pt idx="204">
                  <c:v>48</c:v>
                </c:pt>
                <c:pt idx="205">
                  <c:v>40</c:v>
                </c:pt>
                <c:pt idx="206">
                  <c:v>30</c:v>
                </c:pt>
                <c:pt idx="207">
                  <c:v>65</c:v>
                </c:pt>
                <c:pt idx="208">
                  <c:v>73</c:v>
                </c:pt>
                <c:pt idx="209">
                  <c:v>40</c:v>
                </c:pt>
                <c:pt idx="210">
                  <c:v>77</c:v>
                </c:pt>
                <c:pt idx="211">
                  <c:v>32</c:v>
                </c:pt>
                <c:pt idx="212">
                  <c:v>22</c:v>
                </c:pt>
                <c:pt idx="213">
                  <c:v>31</c:v>
                </c:pt>
                <c:pt idx="214">
                  <c:v>46</c:v>
                </c:pt>
                <c:pt idx="215">
                  <c:v>35</c:v>
                </c:pt>
                <c:pt idx="216">
                  <c:v>19</c:v>
                </c:pt>
                <c:pt idx="217">
                  <c:v>20</c:v>
                </c:pt>
                <c:pt idx="218">
                  <c:v>30</c:v>
                </c:pt>
                <c:pt idx="219">
                  <c:v>84</c:v>
                </c:pt>
                <c:pt idx="220">
                  <c:v>28</c:v>
                </c:pt>
                <c:pt idx="221">
                  <c:v>58</c:v>
                </c:pt>
                <c:pt idx="222">
                  <c:v>25</c:v>
                </c:pt>
                <c:pt idx="223">
                  <c:v>13</c:v>
                </c:pt>
                <c:pt idx="224">
                  <c:v>38</c:v>
                </c:pt>
                <c:pt idx="225">
                  <c:v>11</c:v>
                </c:pt>
                <c:pt idx="226">
                  <c:v>29</c:v>
                </c:pt>
                <c:pt idx="227">
                  <c:v>30</c:v>
                </c:pt>
                <c:pt idx="228">
                  <c:v>24</c:v>
                </c:pt>
                <c:pt idx="229">
                  <c:v>24</c:v>
                </c:pt>
                <c:pt idx="230">
                  <c:v>22</c:v>
                </c:pt>
                <c:pt idx="231">
                  <c:v>24</c:v>
                </c:pt>
                <c:pt idx="232">
                  <c:v>24</c:v>
                </c:pt>
                <c:pt idx="233">
                  <c:v>23</c:v>
                </c:pt>
                <c:pt idx="234">
                  <c:v>26</c:v>
                </c:pt>
                <c:pt idx="235">
                  <c:v>8</c:v>
                </c:pt>
                <c:pt idx="236">
                  <c:v>11</c:v>
                </c:pt>
                <c:pt idx="237">
                  <c:v>12</c:v>
                </c:pt>
                <c:pt idx="238">
                  <c:v>31</c:v>
                </c:pt>
                <c:pt idx="239">
                  <c:v>8</c:v>
                </c:pt>
                <c:pt idx="240">
                  <c:v>5</c:v>
                </c:pt>
                <c:pt idx="241">
                  <c:v>22</c:v>
                </c:pt>
                <c:pt idx="242">
                  <c:v>8</c:v>
                </c:pt>
                <c:pt idx="243">
                  <c:v>12</c:v>
                </c:pt>
                <c:pt idx="244">
                  <c:v>7</c:v>
                </c:pt>
                <c:pt idx="245">
                  <c:v>17</c:v>
                </c:pt>
                <c:pt idx="246">
                  <c:v>18</c:v>
                </c:pt>
                <c:pt idx="247">
                  <c:v>16</c:v>
                </c:pt>
                <c:pt idx="248">
                  <c:v>17</c:v>
                </c:pt>
                <c:pt idx="249">
                  <c:v>19</c:v>
                </c:pt>
                <c:pt idx="250">
                  <c:v>12</c:v>
                </c:pt>
                <c:pt idx="251">
                  <c:v>6</c:v>
                </c:pt>
                <c:pt idx="252">
                  <c:v>15</c:v>
                </c:pt>
                <c:pt idx="253">
                  <c:v>10</c:v>
                </c:pt>
                <c:pt idx="254">
                  <c:v>20</c:v>
                </c:pt>
                <c:pt idx="255">
                  <c:v>9</c:v>
                </c:pt>
                <c:pt idx="256">
                  <c:v>12</c:v>
                </c:pt>
                <c:pt idx="257">
                  <c:v>17</c:v>
                </c:pt>
                <c:pt idx="258">
                  <c:v>21</c:v>
                </c:pt>
                <c:pt idx="259">
                  <c:v>15</c:v>
                </c:pt>
                <c:pt idx="260">
                  <c:v>14</c:v>
                </c:pt>
                <c:pt idx="261">
                  <c:v>12</c:v>
                </c:pt>
                <c:pt idx="262">
                  <c:v>9</c:v>
                </c:pt>
                <c:pt idx="263">
                  <c:v>20</c:v>
                </c:pt>
                <c:pt idx="264">
                  <c:v>19</c:v>
                </c:pt>
                <c:pt idx="265">
                  <c:v>9</c:v>
                </c:pt>
                <c:pt idx="266">
                  <c:v>3</c:v>
                </c:pt>
                <c:pt idx="267">
                  <c:v>11</c:v>
                </c:pt>
                <c:pt idx="268">
                  <c:v>5</c:v>
                </c:pt>
                <c:pt idx="269">
                  <c:v>2</c:v>
                </c:pt>
                <c:pt idx="270">
                  <c:v>18</c:v>
                </c:pt>
                <c:pt idx="271">
                  <c:v>2</c:v>
                </c:pt>
                <c:pt idx="272">
                  <c:v>11</c:v>
                </c:pt>
                <c:pt idx="273">
                  <c:v>6</c:v>
                </c:pt>
                <c:pt idx="274">
                  <c:v>16</c:v>
                </c:pt>
                <c:pt idx="275">
                  <c:v>2</c:v>
                </c:pt>
                <c:pt idx="276">
                  <c:v>8</c:v>
                </c:pt>
                <c:pt idx="277">
                  <c:v>4</c:v>
                </c:pt>
                <c:pt idx="278">
                  <c:v>11</c:v>
                </c:pt>
                <c:pt idx="279">
                  <c:v>13</c:v>
                </c:pt>
                <c:pt idx="280">
                  <c:v>7</c:v>
                </c:pt>
                <c:pt idx="281">
                  <c:v>8</c:v>
                </c:pt>
                <c:pt idx="282">
                  <c:v>8</c:v>
                </c:pt>
                <c:pt idx="283">
                  <c:v>2</c:v>
                </c:pt>
                <c:pt idx="284">
                  <c:v>5</c:v>
                </c:pt>
                <c:pt idx="285">
                  <c:v>15</c:v>
                </c:pt>
                <c:pt idx="286">
                  <c:v>11</c:v>
                </c:pt>
                <c:pt idx="287">
                  <c:v>2</c:v>
                </c:pt>
                <c:pt idx="288">
                  <c:v>3</c:v>
                </c:pt>
                <c:pt idx="289">
                  <c:v>6</c:v>
                </c:pt>
                <c:pt idx="290">
                  <c:v>12</c:v>
                </c:pt>
                <c:pt idx="291">
                  <c:v>3</c:v>
                </c:pt>
                <c:pt idx="292">
                  <c:v>2</c:v>
                </c:pt>
                <c:pt idx="293">
                  <c:v>8</c:v>
                </c:pt>
                <c:pt idx="294">
                  <c:v>3</c:v>
                </c:pt>
                <c:pt idx="295">
                  <c:v>2</c:v>
                </c:pt>
                <c:pt idx="296">
                  <c:v>9</c:v>
                </c:pt>
                <c:pt idx="297">
                  <c:v>8</c:v>
                </c:pt>
                <c:pt idx="298">
                  <c:v>2</c:v>
                </c:pt>
                <c:pt idx="299">
                  <c:v>2</c:v>
                </c:pt>
                <c:pt idx="300">
                  <c:v>2</c:v>
                </c:pt>
                <c:pt idx="301">
                  <c:v>4</c:v>
                </c:pt>
                <c:pt idx="302">
                  <c:v>1</c:v>
                </c:pt>
                <c:pt idx="303">
                  <c:v>1</c:v>
                </c:pt>
                <c:pt idx="304">
                  <c:v>2</c:v>
                </c:pt>
                <c:pt idx="305">
                  <c:v>1</c:v>
                </c:pt>
                <c:pt idx="306">
                  <c:v>1</c:v>
                </c:pt>
                <c:pt idx="307">
                  <c:v>2</c:v>
                </c:pt>
                <c:pt idx="308">
                  <c:v>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5550016"/>
        <c:axId val="645550576"/>
      </c:lineChart>
      <c:catAx>
        <c:axId val="645550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5550576"/>
        <c:crosses val="autoZero"/>
        <c:auto val="1"/>
        <c:lblAlgn val="ctr"/>
        <c:lblOffset val="100"/>
        <c:tickLblSkip val="15"/>
        <c:noMultiLvlLbl val="0"/>
      </c:catAx>
      <c:valAx>
        <c:axId val="645550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5550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지역별취소시점!$L$7</c:f>
              <c:strCache>
                <c:ptCount val="1"/>
                <c:pt idx="0">
                  <c:v>중국</c:v>
                </c:pt>
              </c:strCache>
            </c:strRef>
          </c:tx>
          <c:spPr>
            <a:ln w="28575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지역별취소시점!$K$8:$K$201</c:f>
              <c:numCache>
                <c:formatCode>General</c:formatCode>
                <c:ptCount val="19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151</c:v>
                </c:pt>
                <c:pt idx="151">
                  <c:v>153</c:v>
                </c:pt>
                <c:pt idx="152">
                  <c:v>154</c:v>
                </c:pt>
                <c:pt idx="153">
                  <c:v>156</c:v>
                </c:pt>
                <c:pt idx="154">
                  <c:v>157</c:v>
                </c:pt>
                <c:pt idx="155">
                  <c:v>159</c:v>
                </c:pt>
                <c:pt idx="156">
                  <c:v>160</c:v>
                </c:pt>
                <c:pt idx="157">
                  <c:v>162</c:v>
                </c:pt>
                <c:pt idx="158">
                  <c:v>163</c:v>
                </c:pt>
                <c:pt idx="159">
                  <c:v>164</c:v>
                </c:pt>
                <c:pt idx="160">
                  <c:v>165</c:v>
                </c:pt>
                <c:pt idx="161">
                  <c:v>166</c:v>
                </c:pt>
                <c:pt idx="162">
                  <c:v>169</c:v>
                </c:pt>
                <c:pt idx="163">
                  <c:v>170</c:v>
                </c:pt>
                <c:pt idx="164">
                  <c:v>171</c:v>
                </c:pt>
                <c:pt idx="165">
                  <c:v>172</c:v>
                </c:pt>
                <c:pt idx="166">
                  <c:v>176</c:v>
                </c:pt>
                <c:pt idx="167">
                  <c:v>177</c:v>
                </c:pt>
                <c:pt idx="168">
                  <c:v>178</c:v>
                </c:pt>
                <c:pt idx="169">
                  <c:v>179</c:v>
                </c:pt>
                <c:pt idx="170">
                  <c:v>181</c:v>
                </c:pt>
                <c:pt idx="171">
                  <c:v>183</c:v>
                </c:pt>
                <c:pt idx="172">
                  <c:v>184</c:v>
                </c:pt>
                <c:pt idx="173">
                  <c:v>187</c:v>
                </c:pt>
                <c:pt idx="174">
                  <c:v>188</c:v>
                </c:pt>
                <c:pt idx="175">
                  <c:v>189</c:v>
                </c:pt>
                <c:pt idx="176">
                  <c:v>190</c:v>
                </c:pt>
                <c:pt idx="177">
                  <c:v>191</c:v>
                </c:pt>
                <c:pt idx="178">
                  <c:v>192</c:v>
                </c:pt>
                <c:pt idx="179">
                  <c:v>194</c:v>
                </c:pt>
                <c:pt idx="180">
                  <c:v>200</c:v>
                </c:pt>
                <c:pt idx="181">
                  <c:v>202</c:v>
                </c:pt>
                <c:pt idx="182">
                  <c:v>204</c:v>
                </c:pt>
                <c:pt idx="183">
                  <c:v>205</c:v>
                </c:pt>
                <c:pt idx="184">
                  <c:v>206</c:v>
                </c:pt>
                <c:pt idx="185">
                  <c:v>213</c:v>
                </c:pt>
                <c:pt idx="186">
                  <c:v>217</c:v>
                </c:pt>
                <c:pt idx="187">
                  <c:v>218</c:v>
                </c:pt>
                <c:pt idx="188">
                  <c:v>222</c:v>
                </c:pt>
                <c:pt idx="189">
                  <c:v>224</c:v>
                </c:pt>
                <c:pt idx="190">
                  <c:v>227</c:v>
                </c:pt>
                <c:pt idx="191">
                  <c:v>231</c:v>
                </c:pt>
                <c:pt idx="192">
                  <c:v>240</c:v>
                </c:pt>
                <c:pt idx="193">
                  <c:v>242</c:v>
                </c:pt>
              </c:numCache>
            </c:numRef>
          </c:cat>
          <c:val>
            <c:numRef>
              <c:f>지역별취소시점!$L$8:$L$201</c:f>
              <c:numCache>
                <c:formatCode>General</c:formatCode>
                <c:ptCount val="194"/>
                <c:pt idx="0">
                  <c:v>8</c:v>
                </c:pt>
                <c:pt idx="1">
                  <c:v>28</c:v>
                </c:pt>
                <c:pt idx="2">
                  <c:v>29</c:v>
                </c:pt>
                <c:pt idx="3">
                  <c:v>46</c:v>
                </c:pt>
                <c:pt idx="4">
                  <c:v>82</c:v>
                </c:pt>
                <c:pt idx="5">
                  <c:v>67</c:v>
                </c:pt>
                <c:pt idx="6">
                  <c:v>151</c:v>
                </c:pt>
                <c:pt idx="7">
                  <c:v>238</c:v>
                </c:pt>
                <c:pt idx="8">
                  <c:v>345</c:v>
                </c:pt>
                <c:pt idx="9">
                  <c:v>429</c:v>
                </c:pt>
                <c:pt idx="10">
                  <c:v>512</c:v>
                </c:pt>
                <c:pt idx="11">
                  <c:v>464</c:v>
                </c:pt>
                <c:pt idx="12">
                  <c:v>540</c:v>
                </c:pt>
                <c:pt idx="13">
                  <c:v>542</c:v>
                </c:pt>
                <c:pt idx="14">
                  <c:v>463</c:v>
                </c:pt>
                <c:pt idx="15">
                  <c:v>440</c:v>
                </c:pt>
                <c:pt idx="16">
                  <c:v>426</c:v>
                </c:pt>
                <c:pt idx="17">
                  <c:v>421</c:v>
                </c:pt>
                <c:pt idx="18">
                  <c:v>390</c:v>
                </c:pt>
                <c:pt idx="19">
                  <c:v>349</c:v>
                </c:pt>
                <c:pt idx="20">
                  <c:v>367</c:v>
                </c:pt>
                <c:pt idx="21">
                  <c:v>257</c:v>
                </c:pt>
                <c:pt idx="22">
                  <c:v>331</c:v>
                </c:pt>
                <c:pt idx="23">
                  <c:v>387</c:v>
                </c:pt>
                <c:pt idx="24">
                  <c:v>359</c:v>
                </c:pt>
                <c:pt idx="25">
                  <c:v>292</c:v>
                </c:pt>
                <c:pt idx="26">
                  <c:v>269</c:v>
                </c:pt>
                <c:pt idx="27">
                  <c:v>289</c:v>
                </c:pt>
                <c:pt idx="28">
                  <c:v>203</c:v>
                </c:pt>
                <c:pt idx="29">
                  <c:v>247</c:v>
                </c:pt>
                <c:pt idx="30">
                  <c:v>252</c:v>
                </c:pt>
                <c:pt idx="31">
                  <c:v>260</c:v>
                </c:pt>
                <c:pt idx="32">
                  <c:v>256</c:v>
                </c:pt>
                <c:pt idx="33">
                  <c:v>187</c:v>
                </c:pt>
                <c:pt idx="34">
                  <c:v>178</c:v>
                </c:pt>
                <c:pt idx="35">
                  <c:v>212</c:v>
                </c:pt>
                <c:pt idx="36">
                  <c:v>200</c:v>
                </c:pt>
                <c:pt idx="37">
                  <c:v>204</c:v>
                </c:pt>
                <c:pt idx="38">
                  <c:v>210</c:v>
                </c:pt>
                <c:pt idx="39">
                  <c:v>230</c:v>
                </c:pt>
                <c:pt idx="40">
                  <c:v>190</c:v>
                </c:pt>
                <c:pt idx="41">
                  <c:v>111</c:v>
                </c:pt>
                <c:pt idx="42">
                  <c:v>147</c:v>
                </c:pt>
                <c:pt idx="43">
                  <c:v>148</c:v>
                </c:pt>
                <c:pt idx="44">
                  <c:v>176</c:v>
                </c:pt>
                <c:pt idx="45">
                  <c:v>157</c:v>
                </c:pt>
                <c:pt idx="46">
                  <c:v>177</c:v>
                </c:pt>
                <c:pt idx="47">
                  <c:v>162</c:v>
                </c:pt>
                <c:pt idx="48">
                  <c:v>94</c:v>
                </c:pt>
                <c:pt idx="49">
                  <c:v>143</c:v>
                </c:pt>
                <c:pt idx="50">
                  <c:v>145</c:v>
                </c:pt>
                <c:pt idx="51">
                  <c:v>133</c:v>
                </c:pt>
                <c:pt idx="52">
                  <c:v>103</c:v>
                </c:pt>
                <c:pt idx="53">
                  <c:v>78</c:v>
                </c:pt>
                <c:pt idx="54">
                  <c:v>93</c:v>
                </c:pt>
                <c:pt idx="55">
                  <c:v>97</c:v>
                </c:pt>
                <c:pt idx="56">
                  <c:v>111</c:v>
                </c:pt>
                <c:pt idx="57">
                  <c:v>80</c:v>
                </c:pt>
                <c:pt idx="58">
                  <c:v>113</c:v>
                </c:pt>
                <c:pt idx="59">
                  <c:v>100</c:v>
                </c:pt>
                <c:pt idx="60">
                  <c:v>90</c:v>
                </c:pt>
                <c:pt idx="61">
                  <c:v>78</c:v>
                </c:pt>
                <c:pt idx="62">
                  <c:v>71</c:v>
                </c:pt>
                <c:pt idx="63">
                  <c:v>67</c:v>
                </c:pt>
                <c:pt idx="64">
                  <c:v>96</c:v>
                </c:pt>
                <c:pt idx="65">
                  <c:v>83</c:v>
                </c:pt>
                <c:pt idx="66">
                  <c:v>96</c:v>
                </c:pt>
                <c:pt idx="67">
                  <c:v>63</c:v>
                </c:pt>
                <c:pt idx="68">
                  <c:v>86</c:v>
                </c:pt>
                <c:pt idx="69">
                  <c:v>42</c:v>
                </c:pt>
                <c:pt idx="70">
                  <c:v>97</c:v>
                </c:pt>
                <c:pt idx="71">
                  <c:v>57</c:v>
                </c:pt>
                <c:pt idx="72">
                  <c:v>67</c:v>
                </c:pt>
                <c:pt idx="73">
                  <c:v>75</c:v>
                </c:pt>
                <c:pt idx="74">
                  <c:v>113</c:v>
                </c:pt>
                <c:pt idx="75">
                  <c:v>82</c:v>
                </c:pt>
                <c:pt idx="76">
                  <c:v>83</c:v>
                </c:pt>
                <c:pt idx="77">
                  <c:v>64</c:v>
                </c:pt>
                <c:pt idx="78">
                  <c:v>88</c:v>
                </c:pt>
                <c:pt idx="79">
                  <c:v>71</c:v>
                </c:pt>
                <c:pt idx="80">
                  <c:v>50</c:v>
                </c:pt>
                <c:pt idx="81">
                  <c:v>70</c:v>
                </c:pt>
                <c:pt idx="82">
                  <c:v>46</c:v>
                </c:pt>
                <c:pt idx="83">
                  <c:v>52</c:v>
                </c:pt>
                <c:pt idx="84">
                  <c:v>33</c:v>
                </c:pt>
                <c:pt idx="85">
                  <c:v>41</c:v>
                </c:pt>
                <c:pt idx="86">
                  <c:v>71</c:v>
                </c:pt>
                <c:pt idx="87">
                  <c:v>48</c:v>
                </c:pt>
                <c:pt idx="88">
                  <c:v>59</c:v>
                </c:pt>
                <c:pt idx="89">
                  <c:v>45</c:v>
                </c:pt>
                <c:pt idx="90">
                  <c:v>49</c:v>
                </c:pt>
                <c:pt idx="91">
                  <c:v>70</c:v>
                </c:pt>
                <c:pt idx="92">
                  <c:v>26</c:v>
                </c:pt>
                <c:pt idx="93">
                  <c:v>39</c:v>
                </c:pt>
                <c:pt idx="94">
                  <c:v>42</c:v>
                </c:pt>
                <c:pt idx="95">
                  <c:v>26</c:v>
                </c:pt>
                <c:pt idx="96">
                  <c:v>41</c:v>
                </c:pt>
                <c:pt idx="97">
                  <c:v>25</c:v>
                </c:pt>
                <c:pt idx="98">
                  <c:v>36</c:v>
                </c:pt>
                <c:pt idx="99">
                  <c:v>27</c:v>
                </c:pt>
                <c:pt idx="100">
                  <c:v>23</c:v>
                </c:pt>
                <c:pt idx="101">
                  <c:v>55</c:v>
                </c:pt>
                <c:pt idx="102">
                  <c:v>31</c:v>
                </c:pt>
                <c:pt idx="103">
                  <c:v>35</c:v>
                </c:pt>
                <c:pt idx="104">
                  <c:v>32</c:v>
                </c:pt>
                <c:pt idx="105">
                  <c:v>20</c:v>
                </c:pt>
                <c:pt idx="106">
                  <c:v>18</c:v>
                </c:pt>
                <c:pt idx="107">
                  <c:v>6</c:v>
                </c:pt>
                <c:pt idx="108">
                  <c:v>22</c:v>
                </c:pt>
                <c:pt idx="109">
                  <c:v>9</c:v>
                </c:pt>
                <c:pt idx="110">
                  <c:v>25</c:v>
                </c:pt>
                <c:pt idx="111">
                  <c:v>14</c:v>
                </c:pt>
                <c:pt idx="112">
                  <c:v>14</c:v>
                </c:pt>
                <c:pt idx="113">
                  <c:v>42</c:v>
                </c:pt>
                <c:pt idx="114">
                  <c:v>19</c:v>
                </c:pt>
                <c:pt idx="115">
                  <c:v>28</c:v>
                </c:pt>
                <c:pt idx="116">
                  <c:v>25</c:v>
                </c:pt>
                <c:pt idx="117">
                  <c:v>11</c:v>
                </c:pt>
                <c:pt idx="118">
                  <c:v>17</c:v>
                </c:pt>
                <c:pt idx="119">
                  <c:v>8</c:v>
                </c:pt>
                <c:pt idx="120">
                  <c:v>8</c:v>
                </c:pt>
                <c:pt idx="121">
                  <c:v>9</c:v>
                </c:pt>
                <c:pt idx="122">
                  <c:v>20</c:v>
                </c:pt>
                <c:pt idx="123">
                  <c:v>5</c:v>
                </c:pt>
                <c:pt idx="124">
                  <c:v>13</c:v>
                </c:pt>
                <c:pt idx="125">
                  <c:v>40</c:v>
                </c:pt>
                <c:pt idx="126">
                  <c:v>10</c:v>
                </c:pt>
                <c:pt idx="127">
                  <c:v>7</c:v>
                </c:pt>
                <c:pt idx="128">
                  <c:v>2</c:v>
                </c:pt>
                <c:pt idx="129">
                  <c:v>8</c:v>
                </c:pt>
                <c:pt idx="130">
                  <c:v>17</c:v>
                </c:pt>
                <c:pt idx="131">
                  <c:v>5</c:v>
                </c:pt>
                <c:pt idx="132">
                  <c:v>2</c:v>
                </c:pt>
                <c:pt idx="133">
                  <c:v>18</c:v>
                </c:pt>
                <c:pt idx="134">
                  <c:v>7</c:v>
                </c:pt>
                <c:pt idx="135">
                  <c:v>2</c:v>
                </c:pt>
                <c:pt idx="136">
                  <c:v>26</c:v>
                </c:pt>
                <c:pt idx="137">
                  <c:v>6</c:v>
                </c:pt>
                <c:pt idx="138">
                  <c:v>4</c:v>
                </c:pt>
                <c:pt idx="139">
                  <c:v>17</c:v>
                </c:pt>
                <c:pt idx="140">
                  <c:v>11</c:v>
                </c:pt>
                <c:pt idx="141">
                  <c:v>19</c:v>
                </c:pt>
                <c:pt idx="142">
                  <c:v>11</c:v>
                </c:pt>
                <c:pt idx="143">
                  <c:v>20</c:v>
                </c:pt>
                <c:pt idx="144">
                  <c:v>9</c:v>
                </c:pt>
                <c:pt idx="145">
                  <c:v>10</c:v>
                </c:pt>
                <c:pt idx="146">
                  <c:v>4</c:v>
                </c:pt>
                <c:pt idx="147">
                  <c:v>27</c:v>
                </c:pt>
                <c:pt idx="148">
                  <c:v>7</c:v>
                </c:pt>
                <c:pt idx="149">
                  <c:v>17</c:v>
                </c:pt>
                <c:pt idx="150">
                  <c:v>6</c:v>
                </c:pt>
                <c:pt idx="151">
                  <c:v>5</c:v>
                </c:pt>
                <c:pt idx="152">
                  <c:v>10</c:v>
                </c:pt>
                <c:pt idx="153">
                  <c:v>7</c:v>
                </c:pt>
                <c:pt idx="154">
                  <c:v>11</c:v>
                </c:pt>
                <c:pt idx="155">
                  <c:v>3</c:v>
                </c:pt>
                <c:pt idx="156">
                  <c:v>28</c:v>
                </c:pt>
                <c:pt idx="157">
                  <c:v>3</c:v>
                </c:pt>
                <c:pt idx="158">
                  <c:v>1</c:v>
                </c:pt>
                <c:pt idx="159">
                  <c:v>11</c:v>
                </c:pt>
                <c:pt idx="160">
                  <c:v>17</c:v>
                </c:pt>
                <c:pt idx="161">
                  <c:v>2</c:v>
                </c:pt>
                <c:pt idx="162">
                  <c:v>12</c:v>
                </c:pt>
                <c:pt idx="163">
                  <c:v>4</c:v>
                </c:pt>
                <c:pt idx="164">
                  <c:v>5</c:v>
                </c:pt>
                <c:pt idx="165">
                  <c:v>6</c:v>
                </c:pt>
                <c:pt idx="166">
                  <c:v>4</c:v>
                </c:pt>
                <c:pt idx="167">
                  <c:v>4</c:v>
                </c:pt>
                <c:pt idx="168">
                  <c:v>9</c:v>
                </c:pt>
                <c:pt idx="169">
                  <c:v>4</c:v>
                </c:pt>
                <c:pt idx="170">
                  <c:v>6</c:v>
                </c:pt>
                <c:pt idx="171">
                  <c:v>18</c:v>
                </c:pt>
                <c:pt idx="172">
                  <c:v>8</c:v>
                </c:pt>
                <c:pt idx="173">
                  <c:v>9</c:v>
                </c:pt>
                <c:pt idx="174">
                  <c:v>4</c:v>
                </c:pt>
                <c:pt idx="175">
                  <c:v>8</c:v>
                </c:pt>
                <c:pt idx="176">
                  <c:v>4</c:v>
                </c:pt>
                <c:pt idx="177">
                  <c:v>2</c:v>
                </c:pt>
                <c:pt idx="178">
                  <c:v>3</c:v>
                </c:pt>
                <c:pt idx="179">
                  <c:v>9</c:v>
                </c:pt>
                <c:pt idx="180">
                  <c:v>5</c:v>
                </c:pt>
                <c:pt idx="181">
                  <c:v>5</c:v>
                </c:pt>
                <c:pt idx="182">
                  <c:v>6</c:v>
                </c:pt>
                <c:pt idx="183">
                  <c:v>1</c:v>
                </c:pt>
                <c:pt idx="184">
                  <c:v>1</c:v>
                </c:pt>
                <c:pt idx="185">
                  <c:v>2</c:v>
                </c:pt>
                <c:pt idx="186">
                  <c:v>2</c:v>
                </c:pt>
                <c:pt idx="187">
                  <c:v>3</c:v>
                </c:pt>
                <c:pt idx="188">
                  <c:v>4</c:v>
                </c:pt>
                <c:pt idx="189">
                  <c:v>2</c:v>
                </c:pt>
                <c:pt idx="190">
                  <c:v>2</c:v>
                </c:pt>
                <c:pt idx="191">
                  <c:v>3</c:v>
                </c:pt>
                <c:pt idx="192">
                  <c:v>1</c:v>
                </c:pt>
                <c:pt idx="193">
                  <c:v>2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지역별취소시점!$H$7</c:f>
              <c:strCache>
                <c:ptCount val="1"/>
                <c:pt idx="0">
                  <c:v>일본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지역별취소시점!$G$8:$G$196</c:f>
              <c:numCache>
                <c:formatCode>General</c:formatCode>
                <c:ptCount val="18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155</c:v>
                </c:pt>
                <c:pt idx="154">
                  <c:v>156</c:v>
                </c:pt>
                <c:pt idx="155">
                  <c:v>157</c:v>
                </c:pt>
                <c:pt idx="156">
                  <c:v>158</c:v>
                </c:pt>
                <c:pt idx="157">
                  <c:v>159</c:v>
                </c:pt>
                <c:pt idx="158">
                  <c:v>161</c:v>
                </c:pt>
                <c:pt idx="159">
                  <c:v>162</c:v>
                </c:pt>
                <c:pt idx="160">
                  <c:v>163</c:v>
                </c:pt>
                <c:pt idx="161">
                  <c:v>165</c:v>
                </c:pt>
                <c:pt idx="162">
                  <c:v>166</c:v>
                </c:pt>
                <c:pt idx="163">
                  <c:v>167</c:v>
                </c:pt>
                <c:pt idx="164">
                  <c:v>168</c:v>
                </c:pt>
                <c:pt idx="165">
                  <c:v>169</c:v>
                </c:pt>
                <c:pt idx="166">
                  <c:v>170</c:v>
                </c:pt>
                <c:pt idx="167">
                  <c:v>171</c:v>
                </c:pt>
                <c:pt idx="168">
                  <c:v>172</c:v>
                </c:pt>
                <c:pt idx="169">
                  <c:v>173</c:v>
                </c:pt>
                <c:pt idx="170">
                  <c:v>174</c:v>
                </c:pt>
                <c:pt idx="171">
                  <c:v>175</c:v>
                </c:pt>
                <c:pt idx="172">
                  <c:v>176</c:v>
                </c:pt>
                <c:pt idx="173">
                  <c:v>177</c:v>
                </c:pt>
                <c:pt idx="174">
                  <c:v>179</c:v>
                </c:pt>
                <c:pt idx="175">
                  <c:v>183</c:v>
                </c:pt>
                <c:pt idx="176">
                  <c:v>184</c:v>
                </c:pt>
                <c:pt idx="177">
                  <c:v>186</c:v>
                </c:pt>
                <c:pt idx="178">
                  <c:v>191</c:v>
                </c:pt>
                <c:pt idx="179">
                  <c:v>192</c:v>
                </c:pt>
                <c:pt idx="180">
                  <c:v>195</c:v>
                </c:pt>
                <c:pt idx="181">
                  <c:v>198</c:v>
                </c:pt>
                <c:pt idx="182">
                  <c:v>199</c:v>
                </c:pt>
                <c:pt idx="183">
                  <c:v>205</c:v>
                </c:pt>
                <c:pt idx="184">
                  <c:v>206</c:v>
                </c:pt>
                <c:pt idx="185">
                  <c:v>208</c:v>
                </c:pt>
                <c:pt idx="186">
                  <c:v>212</c:v>
                </c:pt>
                <c:pt idx="187">
                  <c:v>221</c:v>
                </c:pt>
                <c:pt idx="188">
                  <c:v>222</c:v>
                </c:pt>
              </c:numCache>
            </c:numRef>
          </c:cat>
          <c:val>
            <c:numRef>
              <c:f>지역별취소시점!$H$8:$H$196</c:f>
              <c:numCache>
                <c:formatCode>General</c:formatCode>
                <c:ptCount val="189"/>
                <c:pt idx="0">
                  <c:v>54</c:v>
                </c:pt>
                <c:pt idx="1">
                  <c:v>172</c:v>
                </c:pt>
                <c:pt idx="2">
                  <c:v>177</c:v>
                </c:pt>
                <c:pt idx="3">
                  <c:v>273</c:v>
                </c:pt>
                <c:pt idx="4">
                  <c:v>373</c:v>
                </c:pt>
                <c:pt idx="5">
                  <c:v>457</c:v>
                </c:pt>
                <c:pt idx="6">
                  <c:v>491</c:v>
                </c:pt>
                <c:pt idx="7">
                  <c:v>592</c:v>
                </c:pt>
                <c:pt idx="8">
                  <c:v>834</c:v>
                </c:pt>
                <c:pt idx="9">
                  <c:v>705</c:v>
                </c:pt>
                <c:pt idx="10">
                  <c:v>702</c:v>
                </c:pt>
                <c:pt idx="11">
                  <c:v>767</c:v>
                </c:pt>
                <c:pt idx="12">
                  <c:v>801</c:v>
                </c:pt>
                <c:pt idx="13">
                  <c:v>859</c:v>
                </c:pt>
                <c:pt idx="14">
                  <c:v>923</c:v>
                </c:pt>
                <c:pt idx="15">
                  <c:v>900</c:v>
                </c:pt>
                <c:pt idx="16">
                  <c:v>857</c:v>
                </c:pt>
                <c:pt idx="17">
                  <c:v>769</c:v>
                </c:pt>
                <c:pt idx="18">
                  <c:v>831</c:v>
                </c:pt>
                <c:pt idx="19">
                  <c:v>923</c:v>
                </c:pt>
                <c:pt idx="20">
                  <c:v>633</c:v>
                </c:pt>
                <c:pt idx="21">
                  <c:v>555</c:v>
                </c:pt>
                <c:pt idx="22">
                  <c:v>641</c:v>
                </c:pt>
                <c:pt idx="23">
                  <c:v>552</c:v>
                </c:pt>
                <c:pt idx="24">
                  <c:v>614</c:v>
                </c:pt>
                <c:pt idx="25">
                  <c:v>564</c:v>
                </c:pt>
                <c:pt idx="26">
                  <c:v>530</c:v>
                </c:pt>
                <c:pt idx="27">
                  <c:v>609</c:v>
                </c:pt>
                <c:pt idx="28">
                  <c:v>519</c:v>
                </c:pt>
                <c:pt idx="29">
                  <c:v>460</c:v>
                </c:pt>
                <c:pt idx="30">
                  <c:v>578</c:v>
                </c:pt>
                <c:pt idx="31">
                  <c:v>497</c:v>
                </c:pt>
                <c:pt idx="32">
                  <c:v>469</c:v>
                </c:pt>
                <c:pt idx="33">
                  <c:v>626</c:v>
                </c:pt>
                <c:pt idx="34">
                  <c:v>640</c:v>
                </c:pt>
                <c:pt idx="35">
                  <c:v>378</c:v>
                </c:pt>
                <c:pt idx="36">
                  <c:v>481</c:v>
                </c:pt>
                <c:pt idx="37">
                  <c:v>436</c:v>
                </c:pt>
                <c:pt idx="38">
                  <c:v>453</c:v>
                </c:pt>
                <c:pt idx="39">
                  <c:v>374</c:v>
                </c:pt>
                <c:pt idx="40">
                  <c:v>399</c:v>
                </c:pt>
                <c:pt idx="41">
                  <c:v>394</c:v>
                </c:pt>
                <c:pt idx="42">
                  <c:v>356</c:v>
                </c:pt>
                <c:pt idx="43">
                  <c:v>331</c:v>
                </c:pt>
                <c:pt idx="44">
                  <c:v>420</c:v>
                </c:pt>
                <c:pt idx="45">
                  <c:v>291</c:v>
                </c:pt>
                <c:pt idx="46">
                  <c:v>366</c:v>
                </c:pt>
                <c:pt idx="47">
                  <c:v>338</c:v>
                </c:pt>
                <c:pt idx="48">
                  <c:v>323</c:v>
                </c:pt>
                <c:pt idx="49">
                  <c:v>257</c:v>
                </c:pt>
                <c:pt idx="50">
                  <c:v>232</c:v>
                </c:pt>
                <c:pt idx="51">
                  <c:v>212</c:v>
                </c:pt>
                <c:pt idx="52">
                  <c:v>230</c:v>
                </c:pt>
                <c:pt idx="53">
                  <c:v>266</c:v>
                </c:pt>
                <c:pt idx="54">
                  <c:v>240</c:v>
                </c:pt>
                <c:pt idx="55">
                  <c:v>324</c:v>
                </c:pt>
                <c:pt idx="56">
                  <c:v>220</c:v>
                </c:pt>
                <c:pt idx="57">
                  <c:v>201</c:v>
                </c:pt>
                <c:pt idx="58">
                  <c:v>179</c:v>
                </c:pt>
                <c:pt idx="59">
                  <c:v>168</c:v>
                </c:pt>
                <c:pt idx="60">
                  <c:v>165</c:v>
                </c:pt>
                <c:pt idx="61">
                  <c:v>158</c:v>
                </c:pt>
                <c:pt idx="62">
                  <c:v>173</c:v>
                </c:pt>
                <c:pt idx="63">
                  <c:v>147</c:v>
                </c:pt>
                <c:pt idx="64">
                  <c:v>117</c:v>
                </c:pt>
                <c:pt idx="65">
                  <c:v>189</c:v>
                </c:pt>
                <c:pt idx="66">
                  <c:v>189</c:v>
                </c:pt>
                <c:pt idx="67">
                  <c:v>116</c:v>
                </c:pt>
                <c:pt idx="68">
                  <c:v>147</c:v>
                </c:pt>
                <c:pt idx="69">
                  <c:v>136</c:v>
                </c:pt>
                <c:pt idx="70">
                  <c:v>170</c:v>
                </c:pt>
                <c:pt idx="71">
                  <c:v>121</c:v>
                </c:pt>
                <c:pt idx="72">
                  <c:v>96</c:v>
                </c:pt>
                <c:pt idx="73">
                  <c:v>104</c:v>
                </c:pt>
                <c:pt idx="74">
                  <c:v>68</c:v>
                </c:pt>
                <c:pt idx="75">
                  <c:v>132</c:v>
                </c:pt>
                <c:pt idx="76">
                  <c:v>119</c:v>
                </c:pt>
                <c:pt idx="77">
                  <c:v>82</c:v>
                </c:pt>
                <c:pt idx="78">
                  <c:v>96</c:v>
                </c:pt>
                <c:pt idx="79">
                  <c:v>73</c:v>
                </c:pt>
                <c:pt idx="80">
                  <c:v>100</c:v>
                </c:pt>
                <c:pt idx="81">
                  <c:v>110</c:v>
                </c:pt>
                <c:pt idx="82">
                  <c:v>75</c:v>
                </c:pt>
                <c:pt idx="83">
                  <c:v>90</c:v>
                </c:pt>
                <c:pt idx="84">
                  <c:v>45</c:v>
                </c:pt>
                <c:pt idx="85">
                  <c:v>62</c:v>
                </c:pt>
                <c:pt idx="86">
                  <c:v>83</c:v>
                </c:pt>
                <c:pt idx="87">
                  <c:v>83</c:v>
                </c:pt>
                <c:pt idx="88">
                  <c:v>63</c:v>
                </c:pt>
                <c:pt idx="89">
                  <c:v>96</c:v>
                </c:pt>
                <c:pt idx="90">
                  <c:v>77</c:v>
                </c:pt>
                <c:pt idx="91">
                  <c:v>49</c:v>
                </c:pt>
                <c:pt idx="92">
                  <c:v>69</c:v>
                </c:pt>
                <c:pt idx="93">
                  <c:v>56</c:v>
                </c:pt>
                <c:pt idx="94">
                  <c:v>72</c:v>
                </c:pt>
                <c:pt idx="95">
                  <c:v>44</c:v>
                </c:pt>
                <c:pt idx="96">
                  <c:v>45</c:v>
                </c:pt>
                <c:pt idx="97">
                  <c:v>66</c:v>
                </c:pt>
                <c:pt idx="98">
                  <c:v>24</c:v>
                </c:pt>
                <c:pt idx="99">
                  <c:v>40</c:v>
                </c:pt>
                <c:pt idx="100">
                  <c:v>45</c:v>
                </c:pt>
                <c:pt idx="101">
                  <c:v>32</c:v>
                </c:pt>
                <c:pt idx="102">
                  <c:v>41</c:v>
                </c:pt>
                <c:pt idx="103">
                  <c:v>66</c:v>
                </c:pt>
                <c:pt idx="104">
                  <c:v>29</c:v>
                </c:pt>
                <c:pt idx="105">
                  <c:v>19</c:v>
                </c:pt>
                <c:pt idx="106">
                  <c:v>58</c:v>
                </c:pt>
                <c:pt idx="107">
                  <c:v>53</c:v>
                </c:pt>
                <c:pt idx="108">
                  <c:v>44</c:v>
                </c:pt>
                <c:pt idx="109">
                  <c:v>22</c:v>
                </c:pt>
                <c:pt idx="110">
                  <c:v>25</c:v>
                </c:pt>
                <c:pt idx="111">
                  <c:v>8</c:v>
                </c:pt>
                <c:pt idx="112">
                  <c:v>15</c:v>
                </c:pt>
                <c:pt idx="113">
                  <c:v>23</c:v>
                </c:pt>
                <c:pt idx="114">
                  <c:v>5</c:v>
                </c:pt>
                <c:pt idx="115">
                  <c:v>28</c:v>
                </c:pt>
                <c:pt idx="116">
                  <c:v>14</c:v>
                </c:pt>
                <c:pt idx="117">
                  <c:v>34</c:v>
                </c:pt>
                <c:pt idx="118">
                  <c:v>20</c:v>
                </c:pt>
                <c:pt idx="119">
                  <c:v>10</c:v>
                </c:pt>
                <c:pt idx="120">
                  <c:v>12</c:v>
                </c:pt>
                <c:pt idx="121">
                  <c:v>23</c:v>
                </c:pt>
                <c:pt idx="122">
                  <c:v>33</c:v>
                </c:pt>
                <c:pt idx="123">
                  <c:v>37</c:v>
                </c:pt>
                <c:pt idx="124">
                  <c:v>2</c:v>
                </c:pt>
                <c:pt idx="125">
                  <c:v>19</c:v>
                </c:pt>
                <c:pt idx="126">
                  <c:v>5</c:v>
                </c:pt>
                <c:pt idx="127">
                  <c:v>5</c:v>
                </c:pt>
                <c:pt idx="128">
                  <c:v>12</c:v>
                </c:pt>
                <c:pt idx="129">
                  <c:v>23</c:v>
                </c:pt>
                <c:pt idx="130">
                  <c:v>13</c:v>
                </c:pt>
                <c:pt idx="131">
                  <c:v>13</c:v>
                </c:pt>
                <c:pt idx="132">
                  <c:v>7</c:v>
                </c:pt>
                <c:pt idx="133">
                  <c:v>8</c:v>
                </c:pt>
                <c:pt idx="134">
                  <c:v>15</c:v>
                </c:pt>
                <c:pt idx="135">
                  <c:v>8</c:v>
                </c:pt>
                <c:pt idx="136">
                  <c:v>20</c:v>
                </c:pt>
                <c:pt idx="137">
                  <c:v>7</c:v>
                </c:pt>
                <c:pt idx="138">
                  <c:v>6</c:v>
                </c:pt>
                <c:pt idx="139">
                  <c:v>12</c:v>
                </c:pt>
                <c:pt idx="140">
                  <c:v>9</c:v>
                </c:pt>
                <c:pt idx="141">
                  <c:v>11</c:v>
                </c:pt>
                <c:pt idx="142">
                  <c:v>19</c:v>
                </c:pt>
                <c:pt idx="143">
                  <c:v>4</c:v>
                </c:pt>
                <c:pt idx="144">
                  <c:v>22</c:v>
                </c:pt>
                <c:pt idx="145">
                  <c:v>5</c:v>
                </c:pt>
                <c:pt idx="146">
                  <c:v>12</c:v>
                </c:pt>
                <c:pt idx="147">
                  <c:v>11</c:v>
                </c:pt>
                <c:pt idx="148">
                  <c:v>20</c:v>
                </c:pt>
                <c:pt idx="149">
                  <c:v>5</c:v>
                </c:pt>
                <c:pt idx="150">
                  <c:v>35</c:v>
                </c:pt>
                <c:pt idx="151">
                  <c:v>4</c:v>
                </c:pt>
                <c:pt idx="152">
                  <c:v>6</c:v>
                </c:pt>
                <c:pt idx="153">
                  <c:v>6</c:v>
                </c:pt>
                <c:pt idx="154">
                  <c:v>9</c:v>
                </c:pt>
                <c:pt idx="155">
                  <c:v>3</c:v>
                </c:pt>
                <c:pt idx="156">
                  <c:v>4</c:v>
                </c:pt>
                <c:pt idx="157">
                  <c:v>4</c:v>
                </c:pt>
                <c:pt idx="158">
                  <c:v>4</c:v>
                </c:pt>
                <c:pt idx="159">
                  <c:v>3</c:v>
                </c:pt>
                <c:pt idx="160">
                  <c:v>7</c:v>
                </c:pt>
                <c:pt idx="161">
                  <c:v>2</c:v>
                </c:pt>
                <c:pt idx="162">
                  <c:v>6</c:v>
                </c:pt>
                <c:pt idx="163">
                  <c:v>2</c:v>
                </c:pt>
                <c:pt idx="164">
                  <c:v>6</c:v>
                </c:pt>
                <c:pt idx="165">
                  <c:v>8</c:v>
                </c:pt>
                <c:pt idx="166">
                  <c:v>15</c:v>
                </c:pt>
                <c:pt idx="167">
                  <c:v>5</c:v>
                </c:pt>
                <c:pt idx="168">
                  <c:v>9</c:v>
                </c:pt>
                <c:pt idx="169">
                  <c:v>16</c:v>
                </c:pt>
                <c:pt idx="170">
                  <c:v>4</c:v>
                </c:pt>
                <c:pt idx="171">
                  <c:v>3</c:v>
                </c:pt>
                <c:pt idx="172">
                  <c:v>1</c:v>
                </c:pt>
                <c:pt idx="173">
                  <c:v>11</c:v>
                </c:pt>
                <c:pt idx="174">
                  <c:v>6</c:v>
                </c:pt>
                <c:pt idx="175">
                  <c:v>5</c:v>
                </c:pt>
                <c:pt idx="176">
                  <c:v>5</c:v>
                </c:pt>
                <c:pt idx="177">
                  <c:v>6</c:v>
                </c:pt>
                <c:pt idx="178">
                  <c:v>3</c:v>
                </c:pt>
                <c:pt idx="179">
                  <c:v>4</c:v>
                </c:pt>
                <c:pt idx="180">
                  <c:v>2</c:v>
                </c:pt>
                <c:pt idx="181">
                  <c:v>2</c:v>
                </c:pt>
                <c:pt idx="182">
                  <c:v>3</c:v>
                </c:pt>
                <c:pt idx="183">
                  <c:v>1</c:v>
                </c:pt>
                <c:pt idx="184">
                  <c:v>2</c:v>
                </c:pt>
                <c:pt idx="185">
                  <c:v>4</c:v>
                </c:pt>
                <c:pt idx="186">
                  <c:v>2</c:v>
                </c:pt>
                <c:pt idx="187">
                  <c:v>5</c:v>
                </c:pt>
                <c:pt idx="188">
                  <c:v>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지역별취소시점!$P$7</c:f>
              <c:strCache>
                <c:ptCount val="1"/>
                <c:pt idx="0">
                  <c:v>동남아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지역별취소시점!$O$8:$O$238</c:f>
              <c:numCache>
                <c:formatCode>General</c:formatCode>
                <c:ptCount val="2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207</c:v>
                </c:pt>
                <c:pt idx="206">
                  <c:v>208</c:v>
                </c:pt>
                <c:pt idx="207">
                  <c:v>210</c:v>
                </c:pt>
                <c:pt idx="208">
                  <c:v>211</c:v>
                </c:pt>
                <c:pt idx="209">
                  <c:v>212</c:v>
                </c:pt>
                <c:pt idx="210">
                  <c:v>213</c:v>
                </c:pt>
                <c:pt idx="211">
                  <c:v>214</c:v>
                </c:pt>
                <c:pt idx="212">
                  <c:v>217</c:v>
                </c:pt>
                <c:pt idx="213">
                  <c:v>219</c:v>
                </c:pt>
                <c:pt idx="214">
                  <c:v>221</c:v>
                </c:pt>
                <c:pt idx="215">
                  <c:v>222</c:v>
                </c:pt>
                <c:pt idx="216">
                  <c:v>223</c:v>
                </c:pt>
                <c:pt idx="217">
                  <c:v>224</c:v>
                </c:pt>
                <c:pt idx="218">
                  <c:v>226</c:v>
                </c:pt>
                <c:pt idx="219">
                  <c:v>227</c:v>
                </c:pt>
                <c:pt idx="220">
                  <c:v>228</c:v>
                </c:pt>
                <c:pt idx="221">
                  <c:v>231</c:v>
                </c:pt>
                <c:pt idx="222">
                  <c:v>234</c:v>
                </c:pt>
                <c:pt idx="223">
                  <c:v>235</c:v>
                </c:pt>
                <c:pt idx="224">
                  <c:v>246</c:v>
                </c:pt>
                <c:pt idx="225">
                  <c:v>250</c:v>
                </c:pt>
                <c:pt idx="226">
                  <c:v>254</c:v>
                </c:pt>
                <c:pt idx="227">
                  <c:v>259</c:v>
                </c:pt>
                <c:pt idx="228">
                  <c:v>260</c:v>
                </c:pt>
                <c:pt idx="229">
                  <c:v>300</c:v>
                </c:pt>
                <c:pt idx="230">
                  <c:v>320</c:v>
                </c:pt>
              </c:numCache>
            </c:numRef>
          </c:cat>
          <c:val>
            <c:numRef>
              <c:f>지역별취소시점!$P$8:$P$238</c:f>
              <c:numCache>
                <c:formatCode>General</c:formatCode>
                <c:ptCount val="231"/>
                <c:pt idx="0">
                  <c:v>96</c:v>
                </c:pt>
                <c:pt idx="1">
                  <c:v>494</c:v>
                </c:pt>
                <c:pt idx="2">
                  <c:v>588</c:v>
                </c:pt>
                <c:pt idx="3">
                  <c:v>855</c:v>
                </c:pt>
                <c:pt idx="4">
                  <c:v>958</c:v>
                </c:pt>
                <c:pt idx="5">
                  <c:v>1132</c:v>
                </c:pt>
                <c:pt idx="6">
                  <c:v>1205</c:v>
                </c:pt>
                <c:pt idx="7">
                  <c:v>1456</c:v>
                </c:pt>
                <c:pt idx="8">
                  <c:v>1642</c:v>
                </c:pt>
                <c:pt idx="9">
                  <c:v>1562</c:v>
                </c:pt>
                <c:pt idx="10">
                  <c:v>1563</c:v>
                </c:pt>
                <c:pt idx="11">
                  <c:v>1531</c:v>
                </c:pt>
                <c:pt idx="12">
                  <c:v>1333</c:v>
                </c:pt>
                <c:pt idx="13">
                  <c:v>1325</c:v>
                </c:pt>
                <c:pt idx="14">
                  <c:v>1539</c:v>
                </c:pt>
                <c:pt idx="15">
                  <c:v>1686</c:v>
                </c:pt>
                <c:pt idx="16">
                  <c:v>1691</c:v>
                </c:pt>
                <c:pt idx="17">
                  <c:v>1546</c:v>
                </c:pt>
                <c:pt idx="18">
                  <c:v>1417</c:v>
                </c:pt>
                <c:pt idx="19">
                  <c:v>1232</c:v>
                </c:pt>
                <c:pt idx="20">
                  <c:v>1267</c:v>
                </c:pt>
                <c:pt idx="21">
                  <c:v>1155</c:v>
                </c:pt>
                <c:pt idx="22">
                  <c:v>1177</c:v>
                </c:pt>
                <c:pt idx="23">
                  <c:v>1198</c:v>
                </c:pt>
                <c:pt idx="24">
                  <c:v>1225</c:v>
                </c:pt>
                <c:pt idx="25">
                  <c:v>1073</c:v>
                </c:pt>
                <c:pt idx="26">
                  <c:v>1063</c:v>
                </c:pt>
                <c:pt idx="27">
                  <c:v>1015</c:v>
                </c:pt>
                <c:pt idx="28">
                  <c:v>939</c:v>
                </c:pt>
                <c:pt idx="29">
                  <c:v>1040</c:v>
                </c:pt>
                <c:pt idx="30">
                  <c:v>1195</c:v>
                </c:pt>
                <c:pt idx="31">
                  <c:v>1059</c:v>
                </c:pt>
                <c:pt idx="32">
                  <c:v>1116</c:v>
                </c:pt>
                <c:pt idx="33">
                  <c:v>1120</c:v>
                </c:pt>
                <c:pt idx="34">
                  <c:v>940</c:v>
                </c:pt>
                <c:pt idx="35">
                  <c:v>921</c:v>
                </c:pt>
                <c:pt idx="36">
                  <c:v>1016</c:v>
                </c:pt>
                <c:pt idx="37">
                  <c:v>949</c:v>
                </c:pt>
                <c:pt idx="38">
                  <c:v>970</c:v>
                </c:pt>
                <c:pt idx="39">
                  <c:v>822</c:v>
                </c:pt>
                <c:pt idx="40">
                  <c:v>795</c:v>
                </c:pt>
                <c:pt idx="41">
                  <c:v>698</c:v>
                </c:pt>
                <c:pt idx="42">
                  <c:v>748</c:v>
                </c:pt>
                <c:pt idx="43">
                  <c:v>839</c:v>
                </c:pt>
                <c:pt idx="44">
                  <c:v>764</c:v>
                </c:pt>
                <c:pt idx="45">
                  <c:v>710</c:v>
                </c:pt>
                <c:pt idx="46">
                  <c:v>596</c:v>
                </c:pt>
                <c:pt idx="47">
                  <c:v>732</c:v>
                </c:pt>
                <c:pt idx="48">
                  <c:v>562</c:v>
                </c:pt>
                <c:pt idx="49">
                  <c:v>565</c:v>
                </c:pt>
                <c:pt idx="50">
                  <c:v>742</c:v>
                </c:pt>
                <c:pt idx="51">
                  <c:v>519</c:v>
                </c:pt>
                <c:pt idx="52">
                  <c:v>555</c:v>
                </c:pt>
                <c:pt idx="53">
                  <c:v>628</c:v>
                </c:pt>
                <c:pt idx="54">
                  <c:v>430</c:v>
                </c:pt>
                <c:pt idx="55">
                  <c:v>456</c:v>
                </c:pt>
                <c:pt idx="56">
                  <c:v>444</c:v>
                </c:pt>
                <c:pt idx="57">
                  <c:v>540</c:v>
                </c:pt>
                <c:pt idx="58">
                  <c:v>625</c:v>
                </c:pt>
                <c:pt idx="59">
                  <c:v>488</c:v>
                </c:pt>
                <c:pt idx="60">
                  <c:v>539</c:v>
                </c:pt>
                <c:pt idx="61">
                  <c:v>358</c:v>
                </c:pt>
                <c:pt idx="62">
                  <c:v>385</c:v>
                </c:pt>
                <c:pt idx="63">
                  <c:v>349</c:v>
                </c:pt>
                <c:pt idx="64">
                  <c:v>400</c:v>
                </c:pt>
                <c:pt idx="65">
                  <c:v>539</c:v>
                </c:pt>
                <c:pt idx="66">
                  <c:v>389</c:v>
                </c:pt>
                <c:pt idx="67">
                  <c:v>337</c:v>
                </c:pt>
                <c:pt idx="68">
                  <c:v>392</c:v>
                </c:pt>
                <c:pt idx="69">
                  <c:v>411</c:v>
                </c:pt>
                <c:pt idx="70">
                  <c:v>387</c:v>
                </c:pt>
                <c:pt idx="71">
                  <c:v>362</c:v>
                </c:pt>
                <c:pt idx="72">
                  <c:v>316</c:v>
                </c:pt>
                <c:pt idx="73">
                  <c:v>411</c:v>
                </c:pt>
                <c:pt idx="74">
                  <c:v>320</c:v>
                </c:pt>
                <c:pt idx="75">
                  <c:v>321</c:v>
                </c:pt>
                <c:pt idx="76">
                  <c:v>276</c:v>
                </c:pt>
                <c:pt idx="77">
                  <c:v>269</c:v>
                </c:pt>
                <c:pt idx="78">
                  <c:v>268</c:v>
                </c:pt>
                <c:pt idx="79">
                  <c:v>344</c:v>
                </c:pt>
                <c:pt idx="80">
                  <c:v>254</c:v>
                </c:pt>
                <c:pt idx="81">
                  <c:v>298</c:v>
                </c:pt>
                <c:pt idx="82">
                  <c:v>297</c:v>
                </c:pt>
                <c:pt idx="83">
                  <c:v>237</c:v>
                </c:pt>
                <c:pt idx="84">
                  <c:v>249</c:v>
                </c:pt>
                <c:pt idx="85">
                  <c:v>288</c:v>
                </c:pt>
                <c:pt idx="86">
                  <c:v>244</c:v>
                </c:pt>
                <c:pt idx="87">
                  <c:v>237</c:v>
                </c:pt>
                <c:pt idx="88">
                  <c:v>203</c:v>
                </c:pt>
                <c:pt idx="89">
                  <c:v>194</c:v>
                </c:pt>
                <c:pt idx="90">
                  <c:v>174</c:v>
                </c:pt>
                <c:pt idx="91">
                  <c:v>235</c:v>
                </c:pt>
                <c:pt idx="92">
                  <c:v>261</c:v>
                </c:pt>
                <c:pt idx="93">
                  <c:v>216</c:v>
                </c:pt>
                <c:pt idx="94">
                  <c:v>186</c:v>
                </c:pt>
                <c:pt idx="95">
                  <c:v>200</c:v>
                </c:pt>
                <c:pt idx="96">
                  <c:v>152</c:v>
                </c:pt>
                <c:pt idx="97">
                  <c:v>108</c:v>
                </c:pt>
                <c:pt idx="98">
                  <c:v>146</c:v>
                </c:pt>
                <c:pt idx="99">
                  <c:v>176</c:v>
                </c:pt>
                <c:pt idx="100">
                  <c:v>195</c:v>
                </c:pt>
                <c:pt idx="101">
                  <c:v>176</c:v>
                </c:pt>
                <c:pt idx="102">
                  <c:v>173</c:v>
                </c:pt>
                <c:pt idx="103">
                  <c:v>151</c:v>
                </c:pt>
                <c:pt idx="104">
                  <c:v>126</c:v>
                </c:pt>
                <c:pt idx="105">
                  <c:v>151</c:v>
                </c:pt>
                <c:pt idx="106">
                  <c:v>182</c:v>
                </c:pt>
                <c:pt idx="107">
                  <c:v>169</c:v>
                </c:pt>
                <c:pt idx="108">
                  <c:v>149</c:v>
                </c:pt>
                <c:pt idx="109">
                  <c:v>152</c:v>
                </c:pt>
                <c:pt idx="110">
                  <c:v>123</c:v>
                </c:pt>
                <c:pt idx="111">
                  <c:v>82</c:v>
                </c:pt>
                <c:pt idx="112">
                  <c:v>139</c:v>
                </c:pt>
                <c:pt idx="113">
                  <c:v>146</c:v>
                </c:pt>
                <c:pt idx="114">
                  <c:v>257</c:v>
                </c:pt>
                <c:pt idx="115">
                  <c:v>183</c:v>
                </c:pt>
                <c:pt idx="116">
                  <c:v>97</c:v>
                </c:pt>
                <c:pt idx="117">
                  <c:v>117</c:v>
                </c:pt>
                <c:pt idx="118">
                  <c:v>161</c:v>
                </c:pt>
                <c:pt idx="119">
                  <c:v>88</c:v>
                </c:pt>
                <c:pt idx="120">
                  <c:v>125</c:v>
                </c:pt>
                <c:pt idx="121">
                  <c:v>120</c:v>
                </c:pt>
                <c:pt idx="122">
                  <c:v>142</c:v>
                </c:pt>
                <c:pt idx="123">
                  <c:v>63</c:v>
                </c:pt>
                <c:pt idx="124">
                  <c:v>111</c:v>
                </c:pt>
                <c:pt idx="125">
                  <c:v>66</c:v>
                </c:pt>
                <c:pt idx="126">
                  <c:v>85</c:v>
                </c:pt>
                <c:pt idx="127">
                  <c:v>172</c:v>
                </c:pt>
                <c:pt idx="128">
                  <c:v>123</c:v>
                </c:pt>
                <c:pt idx="129">
                  <c:v>75</c:v>
                </c:pt>
                <c:pt idx="130">
                  <c:v>113</c:v>
                </c:pt>
                <c:pt idx="131">
                  <c:v>103</c:v>
                </c:pt>
                <c:pt idx="132">
                  <c:v>66</c:v>
                </c:pt>
                <c:pt idx="133">
                  <c:v>50</c:v>
                </c:pt>
                <c:pt idx="134">
                  <c:v>68</c:v>
                </c:pt>
                <c:pt idx="135">
                  <c:v>67</c:v>
                </c:pt>
                <c:pt idx="136">
                  <c:v>63</c:v>
                </c:pt>
                <c:pt idx="137">
                  <c:v>101</c:v>
                </c:pt>
                <c:pt idx="138">
                  <c:v>102</c:v>
                </c:pt>
                <c:pt idx="139">
                  <c:v>58</c:v>
                </c:pt>
                <c:pt idx="140">
                  <c:v>46</c:v>
                </c:pt>
                <c:pt idx="141">
                  <c:v>59</c:v>
                </c:pt>
                <c:pt idx="142">
                  <c:v>65</c:v>
                </c:pt>
                <c:pt idx="143">
                  <c:v>110</c:v>
                </c:pt>
                <c:pt idx="144">
                  <c:v>83</c:v>
                </c:pt>
                <c:pt idx="145">
                  <c:v>43</c:v>
                </c:pt>
                <c:pt idx="146">
                  <c:v>54</c:v>
                </c:pt>
                <c:pt idx="147">
                  <c:v>41</c:v>
                </c:pt>
                <c:pt idx="148">
                  <c:v>46</c:v>
                </c:pt>
                <c:pt idx="149">
                  <c:v>59</c:v>
                </c:pt>
                <c:pt idx="150">
                  <c:v>40</c:v>
                </c:pt>
                <c:pt idx="151">
                  <c:v>24</c:v>
                </c:pt>
                <c:pt idx="152">
                  <c:v>72</c:v>
                </c:pt>
                <c:pt idx="153">
                  <c:v>23</c:v>
                </c:pt>
                <c:pt idx="154">
                  <c:v>43</c:v>
                </c:pt>
                <c:pt idx="155">
                  <c:v>49</c:v>
                </c:pt>
                <c:pt idx="156">
                  <c:v>42</c:v>
                </c:pt>
                <c:pt idx="157">
                  <c:v>14</c:v>
                </c:pt>
                <c:pt idx="158">
                  <c:v>48</c:v>
                </c:pt>
                <c:pt idx="159">
                  <c:v>39</c:v>
                </c:pt>
                <c:pt idx="160">
                  <c:v>22</c:v>
                </c:pt>
                <c:pt idx="161">
                  <c:v>37</c:v>
                </c:pt>
                <c:pt idx="162">
                  <c:v>36</c:v>
                </c:pt>
                <c:pt idx="163">
                  <c:v>28</c:v>
                </c:pt>
                <c:pt idx="164">
                  <c:v>28</c:v>
                </c:pt>
                <c:pt idx="165">
                  <c:v>16</c:v>
                </c:pt>
                <c:pt idx="166">
                  <c:v>24</c:v>
                </c:pt>
                <c:pt idx="167">
                  <c:v>42</c:v>
                </c:pt>
                <c:pt idx="168">
                  <c:v>11</c:v>
                </c:pt>
                <c:pt idx="169">
                  <c:v>47</c:v>
                </c:pt>
                <c:pt idx="170">
                  <c:v>18</c:v>
                </c:pt>
                <c:pt idx="171">
                  <c:v>25</c:v>
                </c:pt>
                <c:pt idx="172">
                  <c:v>25</c:v>
                </c:pt>
                <c:pt idx="173">
                  <c:v>15</c:v>
                </c:pt>
                <c:pt idx="174">
                  <c:v>11</c:v>
                </c:pt>
                <c:pt idx="175">
                  <c:v>7</c:v>
                </c:pt>
                <c:pt idx="176">
                  <c:v>11</c:v>
                </c:pt>
                <c:pt idx="177">
                  <c:v>2</c:v>
                </c:pt>
                <c:pt idx="178">
                  <c:v>24</c:v>
                </c:pt>
                <c:pt idx="179">
                  <c:v>11</c:v>
                </c:pt>
                <c:pt idx="180">
                  <c:v>17</c:v>
                </c:pt>
                <c:pt idx="181">
                  <c:v>32</c:v>
                </c:pt>
                <c:pt idx="182">
                  <c:v>10</c:v>
                </c:pt>
                <c:pt idx="183">
                  <c:v>10</c:v>
                </c:pt>
                <c:pt idx="184">
                  <c:v>11</c:v>
                </c:pt>
                <c:pt idx="185">
                  <c:v>15</c:v>
                </c:pt>
                <c:pt idx="186">
                  <c:v>28</c:v>
                </c:pt>
                <c:pt idx="187">
                  <c:v>22</c:v>
                </c:pt>
                <c:pt idx="188">
                  <c:v>16</c:v>
                </c:pt>
                <c:pt idx="189">
                  <c:v>15</c:v>
                </c:pt>
                <c:pt idx="190">
                  <c:v>12</c:v>
                </c:pt>
                <c:pt idx="191">
                  <c:v>6</c:v>
                </c:pt>
                <c:pt idx="192">
                  <c:v>10</c:v>
                </c:pt>
                <c:pt idx="193">
                  <c:v>10</c:v>
                </c:pt>
                <c:pt idx="194">
                  <c:v>6</c:v>
                </c:pt>
                <c:pt idx="195">
                  <c:v>12</c:v>
                </c:pt>
                <c:pt idx="196">
                  <c:v>9</c:v>
                </c:pt>
                <c:pt idx="197">
                  <c:v>20</c:v>
                </c:pt>
                <c:pt idx="198">
                  <c:v>10</c:v>
                </c:pt>
                <c:pt idx="199">
                  <c:v>5</c:v>
                </c:pt>
                <c:pt idx="200">
                  <c:v>15</c:v>
                </c:pt>
                <c:pt idx="201">
                  <c:v>1</c:v>
                </c:pt>
                <c:pt idx="202">
                  <c:v>4</c:v>
                </c:pt>
                <c:pt idx="203">
                  <c:v>11</c:v>
                </c:pt>
                <c:pt idx="204">
                  <c:v>3</c:v>
                </c:pt>
                <c:pt idx="205">
                  <c:v>10</c:v>
                </c:pt>
                <c:pt idx="206">
                  <c:v>26</c:v>
                </c:pt>
                <c:pt idx="207">
                  <c:v>10</c:v>
                </c:pt>
                <c:pt idx="208">
                  <c:v>12</c:v>
                </c:pt>
                <c:pt idx="209">
                  <c:v>2</c:v>
                </c:pt>
                <c:pt idx="210">
                  <c:v>7</c:v>
                </c:pt>
                <c:pt idx="211">
                  <c:v>6</c:v>
                </c:pt>
                <c:pt idx="212">
                  <c:v>6</c:v>
                </c:pt>
                <c:pt idx="213">
                  <c:v>9</c:v>
                </c:pt>
                <c:pt idx="214">
                  <c:v>10</c:v>
                </c:pt>
                <c:pt idx="215">
                  <c:v>2</c:v>
                </c:pt>
                <c:pt idx="216">
                  <c:v>2</c:v>
                </c:pt>
                <c:pt idx="217">
                  <c:v>2</c:v>
                </c:pt>
                <c:pt idx="218">
                  <c:v>8</c:v>
                </c:pt>
                <c:pt idx="219">
                  <c:v>9</c:v>
                </c:pt>
                <c:pt idx="220">
                  <c:v>1</c:v>
                </c:pt>
                <c:pt idx="221">
                  <c:v>1</c:v>
                </c:pt>
                <c:pt idx="222">
                  <c:v>6</c:v>
                </c:pt>
                <c:pt idx="223">
                  <c:v>2</c:v>
                </c:pt>
                <c:pt idx="224">
                  <c:v>5</c:v>
                </c:pt>
                <c:pt idx="225">
                  <c:v>4</c:v>
                </c:pt>
                <c:pt idx="226">
                  <c:v>5</c:v>
                </c:pt>
                <c:pt idx="227">
                  <c:v>15</c:v>
                </c:pt>
                <c:pt idx="228">
                  <c:v>3</c:v>
                </c:pt>
                <c:pt idx="229">
                  <c:v>2</c:v>
                </c:pt>
                <c:pt idx="230">
                  <c:v>1</c:v>
                </c:pt>
              </c:numCache>
            </c:numRef>
          </c:val>
          <c:smooth val="0"/>
        </c:ser>
        <c:ser>
          <c:idx val="0"/>
          <c:order val="3"/>
          <c:tx>
            <c:strRef>
              <c:f>지역별취소시점!$D$7</c:f>
              <c:strCache>
                <c:ptCount val="1"/>
                <c:pt idx="0">
                  <c:v>유럽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지역별취소시점!$C$8:$C$285</c:f>
              <c:numCache>
                <c:formatCode>General</c:formatCode>
                <c:ptCount val="27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246</c:v>
                </c:pt>
                <c:pt idx="245">
                  <c:v>247</c:v>
                </c:pt>
                <c:pt idx="246">
                  <c:v>249</c:v>
                </c:pt>
                <c:pt idx="247">
                  <c:v>250</c:v>
                </c:pt>
                <c:pt idx="248">
                  <c:v>251</c:v>
                </c:pt>
                <c:pt idx="249">
                  <c:v>252</c:v>
                </c:pt>
                <c:pt idx="250">
                  <c:v>253</c:v>
                </c:pt>
                <c:pt idx="251">
                  <c:v>254</c:v>
                </c:pt>
                <c:pt idx="252">
                  <c:v>255</c:v>
                </c:pt>
                <c:pt idx="253">
                  <c:v>256</c:v>
                </c:pt>
                <c:pt idx="254">
                  <c:v>257</c:v>
                </c:pt>
                <c:pt idx="255">
                  <c:v>258</c:v>
                </c:pt>
                <c:pt idx="256">
                  <c:v>259</c:v>
                </c:pt>
                <c:pt idx="257">
                  <c:v>260</c:v>
                </c:pt>
                <c:pt idx="258">
                  <c:v>261</c:v>
                </c:pt>
                <c:pt idx="259">
                  <c:v>262</c:v>
                </c:pt>
                <c:pt idx="260">
                  <c:v>264</c:v>
                </c:pt>
                <c:pt idx="261">
                  <c:v>265</c:v>
                </c:pt>
                <c:pt idx="262">
                  <c:v>267</c:v>
                </c:pt>
                <c:pt idx="263">
                  <c:v>269</c:v>
                </c:pt>
                <c:pt idx="264">
                  <c:v>271</c:v>
                </c:pt>
                <c:pt idx="265">
                  <c:v>272</c:v>
                </c:pt>
                <c:pt idx="266">
                  <c:v>274</c:v>
                </c:pt>
                <c:pt idx="267">
                  <c:v>275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281</c:v>
                </c:pt>
                <c:pt idx="272">
                  <c:v>282</c:v>
                </c:pt>
                <c:pt idx="273">
                  <c:v>284</c:v>
                </c:pt>
                <c:pt idx="274">
                  <c:v>287</c:v>
                </c:pt>
                <c:pt idx="275">
                  <c:v>288</c:v>
                </c:pt>
                <c:pt idx="276">
                  <c:v>294</c:v>
                </c:pt>
                <c:pt idx="277">
                  <c:v>304</c:v>
                </c:pt>
              </c:numCache>
            </c:numRef>
          </c:cat>
          <c:val>
            <c:numRef>
              <c:f>지역별취소시점!$D$8:$D$285</c:f>
              <c:numCache>
                <c:formatCode>General</c:formatCode>
                <c:ptCount val="278"/>
                <c:pt idx="0">
                  <c:v>63</c:v>
                </c:pt>
                <c:pt idx="1">
                  <c:v>167</c:v>
                </c:pt>
                <c:pt idx="2">
                  <c:v>298</c:v>
                </c:pt>
                <c:pt idx="3">
                  <c:v>471</c:v>
                </c:pt>
                <c:pt idx="4">
                  <c:v>489</c:v>
                </c:pt>
                <c:pt idx="5">
                  <c:v>598</c:v>
                </c:pt>
                <c:pt idx="6">
                  <c:v>791</c:v>
                </c:pt>
                <c:pt idx="7">
                  <c:v>1224</c:v>
                </c:pt>
                <c:pt idx="8">
                  <c:v>1820</c:v>
                </c:pt>
                <c:pt idx="9">
                  <c:v>1856</c:v>
                </c:pt>
                <c:pt idx="10">
                  <c:v>1942</c:v>
                </c:pt>
                <c:pt idx="11">
                  <c:v>1707</c:v>
                </c:pt>
                <c:pt idx="12">
                  <c:v>1589</c:v>
                </c:pt>
                <c:pt idx="13">
                  <c:v>1285</c:v>
                </c:pt>
                <c:pt idx="14">
                  <c:v>1249</c:v>
                </c:pt>
                <c:pt idx="15">
                  <c:v>1293</c:v>
                </c:pt>
                <c:pt idx="16">
                  <c:v>978</c:v>
                </c:pt>
                <c:pt idx="17">
                  <c:v>749</c:v>
                </c:pt>
                <c:pt idx="18">
                  <c:v>783</c:v>
                </c:pt>
                <c:pt idx="19">
                  <c:v>695</c:v>
                </c:pt>
                <c:pt idx="20">
                  <c:v>604</c:v>
                </c:pt>
                <c:pt idx="21">
                  <c:v>545</c:v>
                </c:pt>
                <c:pt idx="22">
                  <c:v>649</c:v>
                </c:pt>
                <c:pt idx="23">
                  <c:v>547</c:v>
                </c:pt>
                <c:pt idx="24">
                  <c:v>563</c:v>
                </c:pt>
                <c:pt idx="25">
                  <c:v>543</c:v>
                </c:pt>
                <c:pt idx="26">
                  <c:v>626</c:v>
                </c:pt>
                <c:pt idx="27">
                  <c:v>444</c:v>
                </c:pt>
                <c:pt idx="28">
                  <c:v>596</c:v>
                </c:pt>
                <c:pt idx="29">
                  <c:v>691</c:v>
                </c:pt>
                <c:pt idx="30">
                  <c:v>782</c:v>
                </c:pt>
                <c:pt idx="31">
                  <c:v>839</c:v>
                </c:pt>
                <c:pt idx="32">
                  <c:v>781</c:v>
                </c:pt>
                <c:pt idx="33">
                  <c:v>756</c:v>
                </c:pt>
                <c:pt idx="34">
                  <c:v>637</c:v>
                </c:pt>
                <c:pt idx="35">
                  <c:v>669</c:v>
                </c:pt>
                <c:pt idx="36">
                  <c:v>584</c:v>
                </c:pt>
                <c:pt idx="37">
                  <c:v>681</c:v>
                </c:pt>
                <c:pt idx="38">
                  <c:v>547</c:v>
                </c:pt>
                <c:pt idx="39">
                  <c:v>554</c:v>
                </c:pt>
                <c:pt idx="40">
                  <c:v>542</c:v>
                </c:pt>
                <c:pt idx="41">
                  <c:v>472</c:v>
                </c:pt>
                <c:pt idx="42">
                  <c:v>492</c:v>
                </c:pt>
                <c:pt idx="43">
                  <c:v>570</c:v>
                </c:pt>
                <c:pt idx="44">
                  <c:v>425</c:v>
                </c:pt>
                <c:pt idx="45">
                  <c:v>496</c:v>
                </c:pt>
                <c:pt idx="46">
                  <c:v>484</c:v>
                </c:pt>
                <c:pt idx="47">
                  <c:v>519</c:v>
                </c:pt>
                <c:pt idx="48">
                  <c:v>388</c:v>
                </c:pt>
                <c:pt idx="49">
                  <c:v>339</c:v>
                </c:pt>
                <c:pt idx="50">
                  <c:v>395</c:v>
                </c:pt>
                <c:pt idx="51">
                  <c:v>470</c:v>
                </c:pt>
                <c:pt idx="52">
                  <c:v>421</c:v>
                </c:pt>
                <c:pt idx="53">
                  <c:v>384</c:v>
                </c:pt>
                <c:pt idx="54">
                  <c:v>327</c:v>
                </c:pt>
                <c:pt idx="55">
                  <c:v>324</c:v>
                </c:pt>
                <c:pt idx="56">
                  <c:v>332</c:v>
                </c:pt>
                <c:pt idx="57">
                  <c:v>348</c:v>
                </c:pt>
                <c:pt idx="58">
                  <c:v>367</c:v>
                </c:pt>
                <c:pt idx="59">
                  <c:v>365</c:v>
                </c:pt>
                <c:pt idx="60">
                  <c:v>436</c:v>
                </c:pt>
                <c:pt idx="61">
                  <c:v>382</c:v>
                </c:pt>
                <c:pt idx="62">
                  <c:v>368</c:v>
                </c:pt>
                <c:pt idx="63">
                  <c:v>396</c:v>
                </c:pt>
                <c:pt idx="64">
                  <c:v>352</c:v>
                </c:pt>
                <c:pt idx="65">
                  <c:v>323</c:v>
                </c:pt>
                <c:pt idx="66">
                  <c:v>379</c:v>
                </c:pt>
                <c:pt idx="67">
                  <c:v>282</c:v>
                </c:pt>
                <c:pt idx="68">
                  <c:v>316</c:v>
                </c:pt>
                <c:pt idx="69">
                  <c:v>354</c:v>
                </c:pt>
                <c:pt idx="70">
                  <c:v>335</c:v>
                </c:pt>
                <c:pt idx="71">
                  <c:v>359</c:v>
                </c:pt>
                <c:pt idx="72">
                  <c:v>297</c:v>
                </c:pt>
                <c:pt idx="73">
                  <c:v>296</c:v>
                </c:pt>
                <c:pt idx="74">
                  <c:v>293</c:v>
                </c:pt>
                <c:pt idx="75">
                  <c:v>272</c:v>
                </c:pt>
                <c:pt idx="76">
                  <c:v>248</c:v>
                </c:pt>
                <c:pt idx="77">
                  <c:v>330</c:v>
                </c:pt>
                <c:pt idx="78">
                  <c:v>280</c:v>
                </c:pt>
                <c:pt idx="79">
                  <c:v>234</c:v>
                </c:pt>
                <c:pt idx="80">
                  <c:v>238</c:v>
                </c:pt>
                <c:pt idx="81">
                  <c:v>264</c:v>
                </c:pt>
                <c:pt idx="82">
                  <c:v>253</c:v>
                </c:pt>
                <c:pt idx="83">
                  <c:v>239</c:v>
                </c:pt>
                <c:pt idx="84">
                  <c:v>261</c:v>
                </c:pt>
                <c:pt idx="85">
                  <c:v>322</c:v>
                </c:pt>
                <c:pt idx="86">
                  <c:v>230</c:v>
                </c:pt>
                <c:pt idx="87">
                  <c:v>257</c:v>
                </c:pt>
                <c:pt idx="88">
                  <c:v>240</c:v>
                </c:pt>
                <c:pt idx="89">
                  <c:v>221</c:v>
                </c:pt>
                <c:pt idx="90">
                  <c:v>196</c:v>
                </c:pt>
                <c:pt idx="91">
                  <c:v>224</c:v>
                </c:pt>
                <c:pt idx="92">
                  <c:v>241</c:v>
                </c:pt>
                <c:pt idx="93">
                  <c:v>237</c:v>
                </c:pt>
                <c:pt idx="94">
                  <c:v>233</c:v>
                </c:pt>
                <c:pt idx="95">
                  <c:v>220</c:v>
                </c:pt>
                <c:pt idx="96">
                  <c:v>214</c:v>
                </c:pt>
                <c:pt idx="97">
                  <c:v>198</c:v>
                </c:pt>
                <c:pt idx="98">
                  <c:v>185</c:v>
                </c:pt>
                <c:pt idx="99">
                  <c:v>238</c:v>
                </c:pt>
                <c:pt idx="100">
                  <c:v>219</c:v>
                </c:pt>
                <c:pt idx="101">
                  <c:v>164</c:v>
                </c:pt>
                <c:pt idx="102">
                  <c:v>185</c:v>
                </c:pt>
                <c:pt idx="103">
                  <c:v>177</c:v>
                </c:pt>
                <c:pt idx="104">
                  <c:v>248</c:v>
                </c:pt>
                <c:pt idx="105">
                  <c:v>194</c:v>
                </c:pt>
                <c:pt idx="106">
                  <c:v>159</c:v>
                </c:pt>
                <c:pt idx="107">
                  <c:v>197</c:v>
                </c:pt>
                <c:pt idx="108">
                  <c:v>167</c:v>
                </c:pt>
                <c:pt idx="109">
                  <c:v>140</c:v>
                </c:pt>
                <c:pt idx="110">
                  <c:v>224</c:v>
                </c:pt>
                <c:pt idx="111">
                  <c:v>214</c:v>
                </c:pt>
                <c:pt idx="112">
                  <c:v>173</c:v>
                </c:pt>
                <c:pt idx="113">
                  <c:v>200</c:v>
                </c:pt>
                <c:pt idx="114">
                  <c:v>161</c:v>
                </c:pt>
                <c:pt idx="115">
                  <c:v>195</c:v>
                </c:pt>
                <c:pt idx="116">
                  <c:v>189</c:v>
                </c:pt>
                <c:pt idx="117">
                  <c:v>147</c:v>
                </c:pt>
                <c:pt idx="118">
                  <c:v>156</c:v>
                </c:pt>
                <c:pt idx="119">
                  <c:v>155</c:v>
                </c:pt>
                <c:pt idx="120">
                  <c:v>204</c:v>
                </c:pt>
                <c:pt idx="121">
                  <c:v>131</c:v>
                </c:pt>
                <c:pt idx="122">
                  <c:v>143</c:v>
                </c:pt>
                <c:pt idx="123">
                  <c:v>128</c:v>
                </c:pt>
                <c:pt idx="124">
                  <c:v>127</c:v>
                </c:pt>
                <c:pt idx="125">
                  <c:v>134</c:v>
                </c:pt>
                <c:pt idx="126">
                  <c:v>147</c:v>
                </c:pt>
                <c:pt idx="127">
                  <c:v>142</c:v>
                </c:pt>
                <c:pt idx="128">
                  <c:v>159</c:v>
                </c:pt>
                <c:pt idx="129">
                  <c:v>137</c:v>
                </c:pt>
                <c:pt idx="130">
                  <c:v>120</c:v>
                </c:pt>
                <c:pt idx="131">
                  <c:v>138</c:v>
                </c:pt>
                <c:pt idx="132">
                  <c:v>140</c:v>
                </c:pt>
                <c:pt idx="133">
                  <c:v>113</c:v>
                </c:pt>
                <c:pt idx="134">
                  <c:v>92</c:v>
                </c:pt>
                <c:pt idx="135">
                  <c:v>99</c:v>
                </c:pt>
                <c:pt idx="136">
                  <c:v>109</c:v>
                </c:pt>
                <c:pt idx="137">
                  <c:v>192</c:v>
                </c:pt>
                <c:pt idx="138">
                  <c:v>117</c:v>
                </c:pt>
                <c:pt idx="139">
                  <c:v>141</c:v>
                </c:pt>
                <c:pt idx="140">
                  <c:v>96</c:v>
                </c:pt>
                <c:pt idx="141">
                  <c:v>297</c:v>
                </c:pt>
                <c:pt idx="142">
                  <c:v>87</c:v>
                </c:pt>
                <c:pt idx="143">
                  <c:v>101</c:v>
                </c:pt>
                <c:pt idx="144">
                  <c:v>66</c:v>
                </c:pt>
                <c:pt idx="145">
                  <c:v>133</c:v>
                </c:pt>
                <c:pt idx="146">
                  <c:v>63</c:v>
                </c:pt>
                <c:pt idx="147">
                  <c:v>114</c:v>
                </c:pt>
                <c:pt idx="148">
                  <c:v>137</c:v>
                </c:pt>
                <c:pt idx="149">
                  <c:v>96</c:v>
                </c:pt>
                <c:pt idx="150">
                  <c:v>81</c:v>
                </c:pt>
                <c:pt idx="151">
                  <c:v>106</c:v>
                </c:pt>
                <c:pt idx="152">
                  <c:v>88</c:v>
                </c:pt>
                <c:pt idx="153">
                  <c:v>62</c:v>
                </c:pt>
                <c:pt idx="154">
                  <c:v>64</c:v>
                </c:pt>
                <c:pt idx="155">
                  <c:v>70</c:v>
                </c:pt>
                <c:pt idx="156">
                  <c:v>73</c:v>
                </c:pt>
                <c:pt idx="157">
                  <c:v>86</c:v>
                </c:pt>
                <c:pt idx="158">
                  <c:v>68</c:v>
                </c:pt>
                <c:pt idx="159">
                  <c:v>60</c:v>
                </c:pt>
                <c:pt idx="160">
                  <c:v>104</c:v>
                </c:pt>
                <c:pt idx="161">
                  <c:v>65</c:v>
                </c:pt>
                <c:pt idx="162">
                  <c:v>77</c:v>
                </c:pt>
                <c:pt idx="163">
                  <c:v>74</c:v>
                </c:pt>
                <c:pt idx="164">
                  <c:v>65</c:v>
                </c:pt>
                <c:pt idx="165">
                  <c:v>68</c:v>
                </c:pt>
                <c:pt idx="166">
                  <c:v>53</c:v>
                </c:pt>
                <c:pt idx="167">
                  <c:v>69</c:v>
                </c:pt>
                <c:pt idx="168">
                  <c:v>71</c:v>
                </c:pt>
                <c:pt idx="169">
                  <c:v>86</c:v>
                </c:pt>
                <c:pt idx="170">
                  <c:v>36</c:v>
                </c:pt>
                <c:pt idx="171">
                  <c:v>78</c:v>
                </c:pt>
                <c:pt idx="172">
                  <c:v>68</c:v>
                </c:pt>
                <c:pt idx="173">
                  <c:v>77</c:v>
                </c:pt>
                <c:pt idx="174">
                  <c:v>61</c:v>
                </c:pt>
                <c:pt idx="175">
                  <c:v>52</c:v>
                </c:pt>
                <c:pt idx="176">
                  <c:v>25</c:v>
                </c:pt>
                <c:pt idx="177">
                  <c:v>66</c:v>
                </c:pt>
                <c:pt idx="178">
                  <c:v>42</c:v>
                </c:pt>
                <c:pt idx="179">
                  <c:v>42</c:v>
                </c:pt>
                <c:pt idx="180">
                  <c:v>53</c:v>
                </c:pt>
                <c:pt idx="181">
                  <c:v>63</c:v>
                </c:pt>
                <c:pt idx="182">
                  <c:v>53</c:v>
                </c:pt>
                <c:pt idx="183">
                  <c:v>25</c:v>
                </c:pt>
                <c:pt idx="184">
                  <c:v>43</c:v>
                </c:pt>
                <c:pt idx="185">
                  <c:v>42</c:v>
                </c:pt>
                <c:pt idx="186">
                  <c:v>70</c:v>
                </c:pt>
                <c:pt idx="187">
                  <c:v>48</c:v>
                </c:pt>
                <c:pt idx="188">
                  <c:v>31</c:v>
                </c:pt>
                <c:pt idx="189">
                  <c:v>49</c:v>
                </c:pt>
                <c:pt idx="190">
                  <c:v>35</c:v>
                </c:pt>
                <c:pt idx="191">
                  <c:v>30</c:v>
                </c:pt>
                <c:pt idx="192">
                  <c:v>20</c:v>
                </c:pt>
                <c:pt idx="193">
                  <c:v>31</c:v>
                </c:pt>
                <c:pt idx="194">
                  <c:v>30</c:v>
                </c:pt>
                <c:pt idx="195">
                  <c:v>53</c:v>
                </c:pt>
                <c:pt idx="196">
                  <c:v>45</c:v>
                </c:pt>
                <c:pt idx="197">
                  <c:v>28</c:v>
                </c:pt>
                <c:pt idx="198">
                  <c:v>27</c:v>
                </c:pt>
                <c:pt idx="199">
                  <c:v>23</c:v>
                </c:pt>
                <c:pt idx="200">
                  <c:v>17</c:v>
                </c:pt>
                <c:pt idx="201">
                  <c:v>10</c:v>
                </c:pt>
                <c:pt idx="202">
                  <c:v>13</c:v>
                </c:pt>
                <c:pt idx="203">
                  <c:v>23</c:v>
                </c:pt>
                <c:pt idx="204">
                  <c:v>10</c:v>
                </c:pt>
                <c:pt idx="205">
                  <c:v>16</c:v>
                </c:pt>
                <c:pt idx="206">
                  <c:v>19</c:v>
                </c:pt>
                <c:pt idx="207">
                  <c:v>35</c:v>
                </c:pt>
                <c:pt idx="208">
                  <c:v>18</c:v>
                </c:pt>
                <c:pt idx="209">
                  <c:v>34</c:v>
                </c:pt>
                <c:pt idx="210">
                  <c:v>32</c:v>
                </c:pt>
                <c:pt idx="211">
                  <c:v>12</c:v>
                </c:pt>
                <c:pt idx="212">
                  <c:v>11</c:v>
                </c:pt>
                <c:pt idx="213">
                  <c:v>20</c:v>
                </c:pt>
                <c:pt idx="214">
                  <c:v>30</c:v>
                </c:pt>
                <c:pt idx="215">
                  <c:v>27</c:v>
                </c:pt>
                <c:pt idx="216">
                  <c:v>13</c:v>
                </c:pt>
                <c:pt idx="217">
                  <c:v>6</c:v>
                </c:pt>
                <c:pt idx="218">
                  <c:v>19</c:v>
                </c:pt>
                <c:pt idx="219">
                  <c:v>34</c:v>
                </c:pt>
                <c:pt idx="220">
                  <c:v>18</c:v>
                </c:pt>
                <c:pt idx="221">
                  <c:v>15</c:v>
                </c:pt>
                <c:pt idx="222">
                  <c:v>13</c:v>
                </c:pt>
                <c:pt idx="223">
                  <c:v>9</c:v>
                </c:pt>
                <c:pt idx="224">
                  <c:v>7</c:v>
                </c:pt>
                <c:pt idx="225">
                  <c:v>7</c:v>
                </c:pt>
                <c:pt idx="226">
                  <c:v>6</c:v>
                </c:pt>
                <c:pt idx="227">
                  <c:v>3</c:v>
                </c:pt>
                <c:pt idx="228">
                  <c:v>17</c:v>
                </c:pt>
                <c:pt idx="229">
                  <c:v>13</c:v>
                </c:pt>
                <c:pt idx="230">
                  <c:v>11</c:v>
                </c:pt>
                <c:pt idx="231">
                  <c:v>14</c:v>
                </c:pt>
                <c:pt idx="232">
                  <c:v>17</c:v>
                </c:pt>
                <c:pt idx="233">
                  <c:v>3</c:v>
                </c:pt>
                <c:pt idx="234">
                  <c:v>5</c:v>
                </c:pt>
                <c:pt idx="235">
                  <c:v>2</c:v>
                </c:pt>
                <c:pt idx="236">
                  <c:v>8</c:v>
                </c:pt>
                <c:pt idx="237">
                  <c:v>5</c:v>
                </c:pt>
                <c:pt idx="238">
                  <c:v>5</c:v>
                </c:pt>
                <c:pt idx="239">
                  <c:v>1</c:v>
                </c:pt>
                <c:pt idx="240">
                  <c:v>2</c:v>
                </c:pt>
                <c:pt idx="241">
                  <c:v>3</c:v>
                </c:pt>
                <c:pt idx="242">
                  <c:v>8</c:v>
                </c:pt>
                <c:pt idx="243">
                  <c:v>2</c:v>
                </c:pt>
                <c:pt idx="244">
                  <c:v>2</c:v>
                </c:pt>
                <c:pt idx="245">
                  <c:v>12</c:v>
                </c:pt>
                <c:pt idx="246">
                  <c:v>8</c:v>
                </c:pt>
                <c:pt idx="247">
                  <c:v>8</c:v>
                </c:pt>
                <c:pt idx="248">
                  <c:v>5</c:v>
                </c:pt>
                <c:pt idx="249">
                  <c:v>3</c:v>
                </c:pt>
                <c:pt idx="250">
                  <c:v>8</c:v>
                </c:pt>
                <c:pt idx="251">
                  <c:v>2</c:v>
                </c:pt>
                <c:pt idx="252">
                  <c:v>6</c:v>
                </c:pt>
                <c:pt idx="253">
                  <c:v>4</c:v>
                </c:pt>
                <c:pt idx="254">
                  <c:v>3</c:v>
                </c:pt>
                <c:pt idx="255">
                  <c:v>7</c:v>
                </c:pt>
                <c:pt idx="256">
                  <c:v>5</c:v>
                </c:pt>
                <c:pt idx="257">
                  <c:v>11</c:v>
                </c:pt>
                <c:pt idx="258">
                  <c:v>4</c:v>
                </c:pt>
                <c:pt idx="259">
                  <c:v>2</c:v>
                </c:pt>
                <c:pt idx="260">
                  <c:v>4</c:v>
                </c:pt>
                <c:pt idx="261">
                  <c:v>3</c:v>
                </c:pt>
                <c:pt idx="262">
                  <c:v>2</c:v>
                </c:pt>
                <c:pt idx="263">
                  <c:v>1</c:v>
                </c:pt>
                <c:pt idx="264">
                  <c:v>5</c:v>
                </c:pt>
                <c:pt idx="265">
                  <c:v>2</c:v>
                </c:pt>
                <c:pt idx="266">
                  <c:v>6</c:v>
                </c:pt>
                <c:pt idx="267">
                  <c:v>8</c:v>
                </c:pt>
                <c:pt idx="268">
                  <c:v>6</c:v>
                </c:pt>
                <c:pt idx="269">
                  <c:v>4</c:v>
                </c:pt>
                <c:pt idx="270">
                  <c:v>3</c:v>
                </c:pt>
                <c:pt idx="271">
                  <c:v>2</c:v>
                </c:pt>
                <c:pt idx="272">
                  <c:v>2</c:v>
                </c:pt>
                <c:pt idx="273">
                  <c:v>2</c:v>
                </c:pt>
                <c:pt idx="274">
                  <c:v>9</c:v>
                </c:pt>
                <c:pt idx="275">
                  <c:v>1</c:v>
                </c:pt>
                <c:pt idx="276">
                  <c:v>2</c:v>
                </c:pt>
                <c:pt idx="277">
                  <c:v>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5554496"/>
        <c:axId val="645555056"/>
      </c:lineChart>
      <c:catAx>
        <c:axId val="645554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5555056"/>
        <c:crosses val="autoZero"/>
        <c:auto val="1"/>
        <c:lblAlgn val="ctr"/>
        <c:lblOffset val="100"/>
        <c:tickLblSkip val="15"/>
        <c:noMultiLvlLbl val="0"/>
      </c:catAx>
      <c:valAx>
        <c:axId val="645555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5554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지역별취소율!$C$19:$C$23</c:f>
              <c:strCache>
                <c:ptCount val="5"/>
                <c:pt idx="0">
                  <c:v>20~39만원대</c:v>
                </c:pt>
                <c:pt idx="1">
                  <c:v>40~59만원대</c:v>
                </c:pt>
                <c:pt idx="2">
                  <c:v>60~79만원대</c:v>
                </c:pt>
                <c:pt idx="3">
                  <c:v>80~99만원대</c:v>
                </c:pt>
                <c:pt idx="4">
                  <c:v>100만원이상</c:v>
                </c:pt>
              </c:strCache>
            </c:strRef>
          </c:cat>
          <c:val>
            <c:numRef>
              <c:f>지역별취소율!$F$19:$F$23</c:f>
              <c:numCache>
                <c:formatCode>General</c:formatCode>
                <c:ptCount val="5"/>
                <c:pt idx="0">
                  <c:v>37.420252870890003</c:v>
                </c:pt>
                <c:pt idx="1">
                  <c:v>36.701073531749998</c:v>
                </c:pt>
                <c:pt idx="2">
                  <c:v>35.043225747400001</c:v>
                </c:pt>
                <c:pt idx="3">
                  <c:v>34.076350415509999</c:v>
                </c:pt>
                <c:pt idx="4">
                  <c:v>40.272212359450002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5557296"/>
        <c:axId val="645557856"/>
      </c:radarChart>
      <c:catAx>
        <c:axId val="645557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5557856"/>
        <c:crosses val="autoZero"/>
        <c:auto val="1"/>
        <c:lblAlgn val="ctr"/>
        <c:lblOffset val="100"/>
        <c:noMultiLvlLbl val="0"/>
      </c:catAx>
      <c:valAx>
        <c:axId val="645557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5557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지역별취소율!$F$41</c:f>
              <c:strCache>
                <c:ptCount val="1"/>
                <c:pt idx="0">
                  <c:v>취소율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지역별취소율!$C$42:$C$49</c:f>
              <c:strCache>
                <c:ptCount val="8"/>
                <c:pt idx="0">
                  <c:v>150만원~199만원대</c:v>
                </c:pt>
                <c:pt idx="1">
                  <c:v>200만원~249만원대</c:v>
                </c:pt>
                <c:pt idx="2">
                  <c:v>250만원~299만원대</c:v>
                </c:pt>
                <c:pt idx="3">
                  <c:v>300만원~349만원대</c:v>
                </c:pt>
                <c:pt idx="4">
                  <c:v>350만원~399만원대</c:v>
                </c:pt>
                <c:pt idx="5">
                  <c:v>400만원~449만원대</c:v>
                </c:pt>
                <c:pt idx="6">
                  <c:v>450만원~499만원대</c:v>
                </c:pt>
                <c:pt idx="7">
                  <c:v>500만원대 이상 </c:v>
                </c:pt>
              </c:strCache>
            </c:strRef>
          </c:cat>
          <c:val>
            <c:numRef>
              <c:f>지역별취소율!$F$42:$F$49</c:f>
              <c:numCache>
                <c:formatCode>General</c:formatCode>
                <c:ptCount val="8"/>
                <c:pt idx="0">
                  <c:v>30.563189162680001</c:v>
                </c:pt>
                <c:pt idx="1">
                  <c:v>29.89877134688</c:v>
                </c:pt>
                <c:pt idx="2">
                  <c:v>32.116530206999997</c:v>
                </c:pt>
                <c:pt idx="3">
                  <c:v>31.536762061339999</c:v>
                </c:pt>
                <c:pt idx="4">
                  <c:v>26.943509165729999</c:v>
                </c:pt>
                <c:pt idx="5">
                  <c:v>28.777670837340001</c:v>
                </c:pt>
                <c:pt idx="6">
                  <c:v>36.038394415349998</c:v>
                </c:pt>
                <c:pt idx="7">
                  <c:v>36.284801460520001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5560096"/>
        <c:axId val="645560656"/>
      </c:radarChart>
      <c:catAx>
        <c:axId val="645560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5560656"/>
        <c:crosses val="autoZero"/>
        <c:auto val="1"/>
        <c:lblAlgn val="ctr"/>
        <c:lblOffset val="100"/>
        <c:noMultiLvlLbl val="0"/>
      </c:catAx>
      <c:valAx>
        <c:axId val="645560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5560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지역별취소율!$C$7:$C$14</c:f>
              <c:strCache>
                <c:ptCount val="8"/>
                <c:pt idx="0">
                  <c:v>30만원대</c:v>
                </c:pt>
                <c:pt idx="1">
                  <c:v>40만원대</c:v>
                </c:pt>
                <c:pt idx="2">
                  <c:v>50만원대</c:v>
                </c:pt>
                <c:pt idx="3">
                  <c:v>60만원대</c:v>
                </c:pt>
                <c:pt idx="4">
                  <c:v>70만원대</c:v>
                </c:pt>
                <c:pt idx="5">
                  <c:v>80만원대</c:v>
                </c:pt>
                <c:pt idx="6">
                  <c:v>90만원대</c:v>
                </c:pt>
                <c:pt idx="7">
                  <c:v>100만원이상</c:v>
                </c:pt>
              </c:strCache>
            </c:strRef>
          </c:cat>
          <c:val>
            <c:numRef>
              <c:f>지역별취소율!$F$7:$F$14</c:f>
              <c:numCache>
                <c:formatCode>General</c:formatCode>
                <c:ptCount val="8"/>
                <c:pt idx="0">
                  <c:v>34.040799505460001</c:v>
                </c:pt>
                <c:pt idx="1">
                  <c:v>37.601010101009997</c:v>
                </c:pt>
                <c:pt idx="2">
                  <c:v>37.15895750176</c:v>
                </c:pt>
                <c:pt idx="3">
                  <c:v>38.85032170673</c:v>
                </c:pt>
                <c:pt idx="4">
                  <c:v>36.527331189709997</c:v>
                </c:pt>
                <c:pt idx="5">
                  <c:v>35.211129616919997</c:v>
                </c:pt>
                <c:pt idx="6">
                  <c:v>37.69028871391</c:v>
                </c:pt>
                <c:pt idx="7">
                  <c:v>36.637449514469999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0512656"/>
        <c:axId val="640513216"/>
      </c:radarChart>
      <c:catAx>
        <c:axId val="640512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513216"/>
        <c:crosses val="autoZero"/>
        <c:auto val="1"/>
        <c:lblAlgn val="ctr"/>
        <c:lblOffset val="100"/>
        <c:noMultiLvlLbl val="0"/>
      </c:catAx>
      <c:valAx>
        <c:axId val="640513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512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spPr>
            <a:ln w="28575" cap="rnd">
              <a:solidFill>
                <a:srgbClr val="21538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지역별취소율!$C$29:$C$36</c:f>
              <c:strCache>
                <c:ptCount val="8"/>
                <c:pt idx="0">
                  <c:v>30만원대</c:v>
                </c:pt>
                <c:pt idx="1">
                  <c:v>40만원대</c:v>
                </c:pt>
                <c:pt idx="2">
                  <c:v>50만원대</c:v>
                </c:pt>
                <c:pt idx="3">
                  <c:v>60만원대</c:v>
                </c:pt>
                <c:pt idx="4">
                  <c:v>70만원대</c:v>
                </c:pt>
                <c:pt idx="5">
                  <c:v>80만원대</c:v>
                </c:pt>
                <c:pt idx="6">
                  <c:v>90만원대</c:v>
                </c:pt>
                <c:pt idx="7">
                  <c:v>100만원이상</c:v>
                </c:pt>
              </c:strCache>
            </c:strRef>
          </c:cat>
          <c:val>
            <c:numRef>
              <c:f>지역별취소율!$F$29:$F$36</c:f>
              <c:numCache>
                <c:formatCode>General</c:formatCode>
                <c:ptCount val="8"/>
                <c:pt idx="0">
                  <c:v>35.515459942939998</c:v>
                </c:pt>
                <c:pt idx="1">
                  <c:v>32.887738967940003</c:v>
                </c:pt>
                <c:pt idx="2">
                  <c:v>31.643876337689999</c:v>
                </c:pt>
                <c:pt idx="3">
                  <c:v>30.786634180290001</c:v>
                </c:pt>
                <c:pt idx="4">
                  <c:v>30.081804660380001</c:v>
                </c:pt>
                <c:pt idx="5">
                  <c:v>26.4132165605</c:v>
                </c:pt>
                <c:pt idx="6">
                  <c:v>29.80492484809</c:v>
                </c:pt>
                <c:pt idx="7">
                  <c:v>29.82204362801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0515456"/>
        <c:axId val="640516016"/>
      </c:radarChart>
      <c:catAx>
        <c:axId val="640515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516016"/>
        <c:crosses val="autoZero"/>
        <c:auto val="1"/>
        <c:lblAlgn val="ctr"/>
        <c:lblOffset val="100"/>
        <c:noMultiLvlLbl val="0"/>
      </c:catAx>
      <c:valAx>
        <c:axId val="640516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515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도시별취소율!$E$2</c:f>
              <c:strCache>
                <c:ptCount val="1"/>
                <c:pt idx="0">
                  <c:v>취소자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도시별취소율!$C$3:$C$19</c:f>
              <c:strCache>
                <c:ptCount val="17"/>
                <c:pt idx="0">
                  <c:v>센다이</c:v>
                </c:pt>
                <c:pt idx="1">
                  <c:v>삿포로</c:v>
                </c:pt>
                <c:pt idx="2">
                  <c:v>도쿄</c:v>
                </c:pt>
                <c:pt idx="3">
                  <c:v>나고야</c:v>
                </c:pt>
                <c:pt idx="4">
                  <c:v>오사카</c:v>
                </c:pt>
                <c:pt idx="5">
                  <c:v>후쿠오카</c:v>
                </c:pt>
                <c:pt idx="6">
                  <c:v>기타 큐슈</c:v>
                </c:pt>
                <c:pt idx="7">
                  <c:v>요나고</c:v>
                </c:pt>
                <c:pt idx="8">
                  <c:v>시즈오카</c:v>
                </c:pt>
                <c:pt idx="9">
                  <c:v>오키나와</c:v>
                </c:pt>
                <c:pt idx="10">
                  <c:v>마쓰야마</c:v>
                </c:pt>
                <c:pt idx="11">
                  <c:v>다카마쓰</c:v>
                </c:pt>
                <c:pt idx="12">
                  <c:v>미야자키</c:v>
                </c:pt>
                <c:pt idx="13">
                  <c:v>가고시마</c:v>
                </c:pt>
                <c:pt idx="14">
                  <c:v>구마모토</c:v>
                </c:pt>
                <c:pt idx="15">
                  <c:v>사가</c:v>
                </c:pt>
                <c:pt idx="16">
                  <c:v>오이타</c:v>
                </c:pt>
              </c:strCache>
            </c:strRef>
          </c:cat>
          <c:val>
            <c:numRef>
              <c:f>도시별취소율!$E$3:$E$19</c:f>
              <c:numCache>
                <c:formatCode>_(* #,##0_);_(* \(#,##0\);_(* "-"_);_(@_)</c:formatCode>
                <c:ptCount val="17"/>
                <c:pt idx="0">
                  <c:v>33</c:v>
                </c:pt>
                <c:pt idx="1">
                  <c:v>846</c:v>
                </c:pt>
                <c:pt idx="2">
                  <c:v>106</c:v>
                </c:pt>
                <c:pt idx="3">
                  <c:v>60</c:v>
                </c:pt>
                <c:pt idx="4">
                  <c:v>3362</c:v>
                </c:pt>
                <c:pt idx="5">
                  <c:v>2494</c:v>
                </c:pt>
                <c:pt idx="6">
                  <c:v>201</c:v>
                </c:pt>
                <c:pt idx="7">
                  <c:v>67</c:v>
                </c:pt>
                <c:pt idx="8">
                  <c:v>540</c:v>
                </c:pt>
                <c:pt idx="9">
                  <c:v>1087</c:v>
                </c:pt>
                <c:pt idx="10">
                  <c:v>18</c:v>
                </c:pt>
                <c:pt idx="11">
                  <c:v>315</c:v>
                </c:pt>
                <c:pt idx="12">
                  <c:v>6</c:v>
                </c:pt>
                <c:pt idx="13">
                  <c:v>11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40518256"/>
        <c:axId val="640518816"/>
      </c:barChart>
      <c:catAx>
        <c:axId val="640518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518816"/>
        <c:crosses val="autoZero"/>
        <c:auto val="1"/>
        <c:lblAlgn val="ctr"/>
        <c:lblOffset val="100"/>
        <c:noMultiLvlLbl val="0"/>
      </c:catAx>
      <c:valAx>
        <c:axId val="64051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51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도시별취소율!$G$2</c:f>
              <c:strCache>
                <c:ptCount val="1"/>
                <c:pt idx="0">
                  <c:v>취소율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2530064898329565E-3"/>
                  <c:y val="-0.388721882450502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3.1265032449164783E-3"/>
                  <c:y val="-0.300611589095055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3.1265032449165069E-3"/>
                  <c:y val="-0.238416087902975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0.2850627137970353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9.3795097347494916E-3"/>
                  <c:y val="-0.207318337306934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9126986745103328E-2"/>
                      <c:h val="6.9814450088110297E-2"/>
                    </c:manualLayout>
                  </c15:layout>
                </c:ext>
              </c:extLst>
            </c:dLbl>
            <c:dLbl>
              <c:idx val="5"/>
              <c:layout>
                <c:manualLayout>
                  <c:x val="9.3795097347493771E-3"/>
                  <c:y val="-0.160671711412874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3.1265032449165355E-3"/>
                  <c:y val="-0.2435990463356483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-6.2530064898330137E-3"/>
                  <c:y val="-0.3317093396910957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2.5012025959331826E-2"/>
                  <c:y val="-0.2798797553643620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layout>
                <c:manualLayout>
                  <c:x val="1.563251622458239E-2"/>
                  <c:y val="-0.1917694620089146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layout>
                <c:manualLayout>
                  <c:x val="6.2530064898328411E-3"/>
                  <c:y val="-0.1399398776821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layout>
                <c:manualLayout>
                  <c:x val="3.4391535694081259E-2"/>
                  <c:y val="-0.134756919249507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2"/>
              <c:layout>
                <c:manualLayout>
                  <c:x val="2.5012025959331826E-2"/>
                  <c:y val="-9.84762102207940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3"/>
              <c:layout>
                <c:manualLayout>
                  <c:x val="3.4391535694081259E-2"/>
                  <c:y val="-6.737845962475390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도시별취소율!$C$3:$C$19</c:f>
              <c:strCache>
                <c:ptCount val="17"/>
                <c:pt idx="0">
                  <c:v>센다이</c:v>
                </c:pt>
                <c:pt idx="1">
                  <c:v>삿포로</c:v>
                </c:pt>
                <c:pt idx="2">
                  <c:v>도쿄</c:v>
                </c:pt>
                <c:pt idx="3">
                  <c:v>나고야</c:v>
                </c:pt>
                <c:pt idx="4">
                  <c:v>오사카</c:v>
                </c:pt>
                <c:pt idx="5">
                  <c:v>후쿠오카</c:v>
                </c:pt>
                <c:pt idx="6">
                  <c:v>기타 큐슈</c:v>
                </c:pt>
                <c:pt idx="7">
                  <c:v>요나고</c:v>
                </c:pt>
                <c:pt idx="8">
                  <c:v>시즈오카</c:v>
                </c:pt>
                <c:pt idx="9">
                  <c:v>오키나와</c:v>
                </c:pt>
                <c:pt idx="10">
                  <c:v>마쓰야마</c:v>
                </c:pt>
                <c:pt idx="11">
                  <c:v>다카마쓰</c:v>
                </c:pt>
                <c:pt idx="12">
                  <c:v>미야자키</c:v>
                </c:pt>
                <c:pt idx="13">
                  <c:v>가고시마</c:v>
                </c:pt>
                <c:pt idx="14">
                  <c:v>구마모토</c:v>
                </c:pt>
                <c:pt idx="15">
                  <c:v>사가</c:v>
                </c:pt>
                <c:pt idx="16">
                  <c:v>오이타</c:v>
                </c:pt>
              </c:strCache>
            </c:strRef>
          </c:cat>
          <c:val>
            <c:numRef>
              <c:f>도시별취소율!$G$3:$G$19</c:f>
              <c:numCache>
                <c:formatCode>0%</c:formatCode>
                <c:ptCount val="17"/>
                <c:pt idx="0">
                  <c:v>0.532258064516129</c:v>
                </c:pt>
                <c:pt idx="1">
                  <c:v>0.51901840490797546</c:v>
                </c:pt>
                <c:pt idx="2">
                  <c:v>0.44351464435146443</c:v>
                </c:pt>
                <c:pt idx="3">
                  <c:v>0.42553191489361702</c:v>
                </c:pt>
                <c:pt idx="4">
                  <c:v>0.40628398791540787</c:v>
                </c:pt>
                <c:pt idx="5">
                  <c:v>0.39072536424878584</c:v>
                </c:pt>
                <c:pt idx="6">
                  <c:v>0.38579654510556621</c:v>
                </c:pt>
                <c:pt idx="7">
                  <c:v>0.37853107344632769</c:v>
                </c:pt>
                <c:pt idx="8">
                  <c:v>0.3543307086614173</c:v>
                </c:pt>
                <c:pt idx="9">
                  <c:v>0.32331945270672219</c:v>
                </c:pt>
                <c:pt idx="10">
                  <c:v>0.32142857142857145</c:v>
                </c:pt>
                <c:pt idx="11">
                  <c:v>0.29829545454545453</c:v>
                </c:pt>
                <c:pt idx="12">
                  <c:v>0.15384615384615385</c:v>
                </c:pt>
                <c:pt idx="13">
                  <c:v>0.11827956989247312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40521056"/>
        <c:axId val="640521616"/>
      </c:barChart>
      <c:catAx>
        <c:axId val="640521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521616"/>
        <c:crosses val="autoZero"/>
        <c:auto val="1"/>
        <c:lblAlgn val="ctr"/>
        <c:lblOffset val="100"/>
        <c:noMultiLvlLbl val="0"/>
      </c:catAx>
      <c:valAx>
        <c:axId val="64052161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052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지역별연령별판매금액!$D$18</c:f>
              <c:strCache>
                <c:ptCount val="1"/>
                <c:pt idx="0">
                  <c:v>유럽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5.6263876695440009E-2"/>
                  <c:y val="-0.16306915742905928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지역별연령별판매금액!$D$19:$D$26</c:f>
              <c:numCache>
                <c:formatCode>0%</c:formatCode>
                <c:ptCount val="8"/>
                <c:pt idx="0">
                  <c:v>4.0073953212241345E-3</c:v>
                </c:pt>
                <c:pt idx="1">
                  <c:v>4.6126295085955046E-2</c:v>
                </c:pt>
                <c:pt idx="2">
                  <c:v>5.8974857714447236E-2</c:v>
                </c:pt>
                <c:pt idx="3">
                  <c:v>5.1336933242955914E-2</c:v>
                </c:pt>
                <c:pt idx="4">
                  <c:v>0.11252102412188776</c:v>
                </c:pt>
                <c:pt idx="5">
                  <c:v>0.33740417352526014</c:v>
                </c:pt>
                <c:pt idx="6">
                  <c:v>0.3296536223037983</c:v>
                </c:pt>
                <c:pt idx="7">
                  <c:v>5.9975698684471487E-2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지역별연령별판매금액!$E$18</c:f>
              <c:strCache>
                <c:ptCount val="1"/>
                <c:pt idx="0">
                  <c:v>일본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7.277948983850477E-3"/>
                  <c:y val="1.750811253256439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5.6491252578856857E-2"/>
                  <c:y val="-0.16739364376321791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지역별연령별판매금액!$E$19:$E$26</c:f>
              <c:numCache>
                <c:formatCode>0%</c:formatCode>
                <c:ptCount val="8"/>
                <c:pt idx="0">
                  <c:v>2.172798261122923E-2</c:v>
                </c:pt>
                <c:pt idx="1">
                  <c:v>8.9621163549083005E-2</c:v>
                </c:pt>
                <c:pt idx="2">
                  <c:v>5.6442487738807216E-2</c:v>
                </c:pt>
                <c:pt idx="3">
                  <c:v>5.5554059698677521E-2</c:v>
                </c:pt>
                <c:pt idx="4">
                  <c:v>0.17806976597636151</c:v>
                </c:pt>
                <c:pt idx="5">
                  <c:v>0.29932936519696302</c:v>
                </c:pt>
                <c:pt idx="6">
                  <c:v>0.2128817151357954</c:v>
                </c:pt>
                <c:pt idx="7">
                  <c:v>8.6373460093083082E-2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지역별연령별판매금액!$F$18</c:f>
              <c:strCache>
                <c:ptCount val="1"/>
                <c:pt idx="0">
                  <c:v>중국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1.0834972142486274E-3"/>
                  <c:y val="1.725844816272965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1.6719888731359947E-2"/>
                  <c:y val="0.10515994094488189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3.7329875468439362E-2"/>
                  <c:y val="0.1108017552493438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4.7043911117806841E-2"/>
                  <c:y val="0.1101029363517060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지역별연령별판매금액!$F$19:$F$26</c:f>
              <c:numCache>
                <c:formatCode>0%</c:formatCode>
                <c:ptCount val="8"/>
                <c:pt idx="0">
                  <c:v>1.331393870048809E-2</c:v>
                </c:pt>
                <c:pt idx="1">
                  <c:v>4.0646039503243685E-2</c:v>
                </c:pt>
                <c:pt idx="2">
                  <c:v>3.5781751175384728E-2</c:v>
                </c:pt>
                <c:pt idx="3">
                  <c:v>4.5840976620340326E-2</c:v>
                </c:pt>
                <c:pt idx="4">
                  <c:v>0.11762911397420862</c:v>
                </c:pt>
                <c:pt idx="5">
                  <c:v>0.34339952788568101</c:v>
                </c:pt>
                <c:pt idx="6">
                  <c:v>0.32287559374257613</c:v>
                </c:pt>
                <c:pt idx="7">
                  <c:v>8.0513058398077417E-2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지역별연령별판매금액!$G$18</c:f>
              <c:strCache>
                <c:ptCount val="1"/>
                <c:pt idx="0">
                  <c:v>동남아</c:v>
                </c:pt>
              </c:strCache>
            </c:strRef>
          </c:tx>
          <c:dPt>
            <c:idx val="0"/>
            <c:bubble3D val="0"/>
            <c:spPr>
              <a:solidFill>
                <a:srgbClr val="90267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4464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A5002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1.2385200059063408E-2"/>
                  <c:y val="0.1042420548128292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지역별연령별판매금액!$C$19:$C$26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지역별연령별판매금액!$G$19:$G$26</c:f>
              <c:numCache>
                <c:formatCode>0%</c:formatCode>
                <c:ptCount val="8"/>
                <c:pt idx="0">
                  <c:v>3.8548621081456652E-2</c:v>
                </c:pt>
                <c:pt idx="1">
                  <c:v>9.4262465183659161E-2</c:v>
                </c:pt>
                <c:pt idx="2">
                  <c:v>6.8934615244815173E-2</c:v>
                </c:pt>
                <c:pt idx="3">
                  <c:v>9.5342709243053977E-2</c:v>
                </c:pt>
                <c:pt idx="4">
                  <c:v>0.2119239421472924</c:v>
                </c:pt>
                <c:pt idx="5">
                  <c:v>0.26591144530523442</c:v>
                </c:pt>
                <c:pt idx="6">
                  <c:v>0.17175029513743495</c:v>
                </c:pt>
                <c:pt idx="7">
                  <c:v>5.3325906657053279E-2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지역별연령별판매금액!$D$31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cat>
            <c:strRef>
              <c:f>지역별연령별판매금액!$C$32:$C$39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지역별연령별판매금액!$D$32:$D$39</c:f>
              <c:numCache>
                <c:formatCode>_(* #,##0_);_(* \(#,##0\);_(* "-"_);_(@_)</c:formatCode>
                <c:ptCount val="8"/>
                <c:pt idx="0">
                  <c:v>2002945</c:v>
                </c:pt>
                <c:pt idx="1">
                  <c:v>2083295</c:v>
                </c:pt>
                <c:pt idx="2">
                  <c:v>2026220</c:v>
                </c:pt>
                <c:pt idx="3">
                  <c:v>2093300</c:v>
                </c:pt>
                <c:pt idx="4">
                  <c:v>2111236</c:v>
                </c:pt>
                <c:pt idx="5">
                  <c:v>2190140</c:v>
                </c:pt>
                <c:pt idx="6">
                  <c:v>2281113</c:v>
                </c:pt>
                <c:pt idx="7">
                  <c:v>2265902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41111600"/>
        <c:axId val="741112160"/>
      </c:barChart>
      <c:catAx>
        <c:axId val="741111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1112160"/>
        <c:crosses val="autoZero"/>
        <c:auto val="1"/>
        <c:lblAlgn val="ctr"/>
        <c:lblOffset val="100"/>
        <c:noMultiLvlLbl val="0"/>
      </c:catAx>
      <c:valAx>
        <c:axId val="741112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1111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지역별연령별판매금액!$E$31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cat>
            <c:strRef>
              <c:f>지역별연령별판매금액!$C$32:$C$39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지역별연령별판매금액!$E$32:$E$39</c:f>
              <c:numCache>
                <c:formatCode>_(* #,##0_);_(* \(#,##0\);_(* "-"_);_(@_)</c:formatCode>
                <c:ptCount val="8"/>
                <c:pt idx="0">
                  <c:v>587325</c:v>
                </c:pt>
                <c:pt idx="1">
                  <c:v>667852</c:v>
                </c:pt>
                <c:pt idx="2">
                  <c:v>666849</c:v>
                </c:pt>
                <c:pt idx="3">
                  <c:v>656470</c:v>
                </c:pt>
                <c:pt idx="4">
                  <c:v>671452</c:v>
                </c:pt>
                <c:pt idx="5">
                  <c:v>692131</c:v>
                </c:pt>
                <c:pt idx="6">
                  <c:v>676848</c:v>
                </c:pt>
                <c:pt idx="7">
                  <c:v>678006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41114400"/>
        <c:axId val="741114960"/>
      </c:barChart>
      <c:catAx>
        <c:axId val="74111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1114960"/>
        <c:crosses val="autoZero"/>
        <c:auto val="1"/>
        <c:lblAlgn val="ctr"/>
        <c:lblOffset val="100"/>
        <c:noMultiLvlLbl val="0"/>
      </c:catAx>
      <c:valAx>
        <c:axId val="741114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1114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지역별연령별판매금액!$F$31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cat>
            <c:strRef>
              <c:f>지역별연령별판매금액!$C$32:$C$39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지역별연령별판매금액!$F$32:$F$39</c:f>
              <c:numCache>
                <c:formatCode>_(* #,##0_);_(* \(#,##0\);_(* "-"_);_(@_)</c:formatCode>
                <c:ptCount val="8"/>
                <c:pt idx="0">
                  <c:v>396586</c:v>
                </c:pt>
                <c:pt idx="1">
                  <c:v>490707</c:v>
                </c:pt>
                <c:pt idx="2">
                  <c:v>529418</c:v>
                </c:pt>
                <c:pt idx="3">
                  <c:v>542345</c:v>
                </c:pt>
                <c:pt idx="4">
                  <c:v>540379</c:v>
                </c:pt>
                <c:pt idx="5">
                  <c:v>592393</c:v>
                </c:pt>
                <c:pt idx="6">
                  <c:v>595799</c:v>
                </c:pt>
                <c:pt idx="7">
                  <c:v>583152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41117200"/>
        <c:axId val="741117760"/>
      </c:barChart>
      <c:catAx>
        <c:axId val="741117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1117760"/>
        <c:crosses val="autoZero"/>
        <c:auto val="1"/>
        <c:lblAlgn val="ctr"/>
        <c:lblOffset val="100"/>
        <c:noMultiLvlLbl val="0"/>
      </c:catAx>
      <c:valAx>
        <c:axId val="741117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1117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지역별연령별판매금액!$G$31</c:f>
              <c:strCache>
                <c:ptCount val="1"/>
                <c:pt idx="0">
                  <c:v>동남아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cat>
            <c:strRef>
              <c:f>지역별연령별판매금액!$C$32:$C$39</c:f>
              <c:strCache>
                <c:ptCount val="8"/>
                <c:pt idx="0">
                  <c:v>10대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 이상</c:v>
                </c:pt>
              </c:strCache>
            </c:strRef>
          </c:cat>
          <c:val>
            <c:numRef>
              <c:f>지역별연령별판매금액!$G$32:$G$39</c:f>
              <c:numCache>
                <c:formatCode>_(* #,##0_);_(* \(#,##0\);_(* "-"_);_(@_)</c:formatCode>
                <c:ptCount val="8"/>
                <c:pt idx="0">
                  <c:v>519247</c:v>
                </c:pt>
                <c:pt idx="1">
                  <c:v>640214</c:v>
                </c:pt>
                <c:pt idx="2">
                  <c:v>659386</c:v>
                </c:pt>
                <c:pt idx="3">
                  <c:v>680462</c:v>
                </c:pt>
                <c:pt idx="4">
                  <c:v>679180</c:v>
                </c:pt>
                <c:pt idx="5">
                  <c:v>678057</c:v>
                </c:pt>
                <c:pt idx="6">
                  <c:v>660600</c:v>
                </c:pt>
                <c:pt idx="7">
                  <c:v>666053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41120000"/>
        <c:axId val="741120560"/>
      </c:barChart>
      <c:catAx>
        <c:axId val="741120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1120560"/>
        <c:crosses val="autoZero"/>
        <c:auto val="1"/>
        <c:lblAlgn val="ctr"/>
        <c:lblOffset val="100"/>
        <c:noMultiLvlLbl val="0"/>
      </c:catAx>
      <c:valAx>
        <c:axId val="741120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1120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7829536837114842E-17"/>
                  <c:y val="2.093631486239318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9.1079536340616038E-3"/>
                  <c:y val="-9.595700128250161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6.0719690893743647E-3"/>
                  <c:y val="-1.57022361467948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"/>
                  <c:y val="-9.421341688076934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3.0359845446871823E-3"/>
                  <c:y val="-1.046815743119659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0"/>
                  <c:y val="-5.234078715598296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-3.0359845446871823E-3"/>
                  <c:y val="-4.7106708440384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-1.8215907268123208E-2"/>
                  <c:y val="-6.804302330277785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layout>
                <c:manualLayout>
                  <c:x val="9.1079536340615466E-3"/>
                  <c:y val="-2.617039357799148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구매횟수!$C$6:$C$15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10회
이상</c:v>
                </c:pt>
              </c:strCache>
            </c:strRef>
          </c:cat>
          <c:val>
            <c:numRef>
              <c:f>구매횟수!$D$6:$D$15</c:f>
              <c:numCache>
                <c:formatCode>_(* #,##0_);_(* \(#,##0\);_(* "-"_);_(@_)</c:formatCode>
                <c:ptCount val="10"/>
                <c:pt idx="0">
                  <c:v>334018</c:v>
                </c:pt>
                <c:pt idx="1">
                  <c:v>72400</c:v>
                </c:pt>
                <c:pt idx="2">
                  <c:v>24374</c:v>
                </c:pt>
                <c:pt idx="3">
                  <c:v>9501</c:v>
                </c:pt>
                <c:pt idx="4">
                  <c:v>4200</c:v>
                </c:pt>
                <c:pt idx="5">
                  <c:v>2053</c:v>
                </c:pt>
                <c:pt idx="6">
                  <c:v>1013</c:v>
                </c:pt>
                <c:pt idx="7">
                  <c:v>533</c:v>
                </c:pt>
                <c:pt idx="8">
                  <c:v>296</c:v>
                </c:pt>
                <c:pt idx="9">
                  <c:v>519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41122800"/>
        <c:axId val="741123360"/>
      </c:barChart>
      <c:catAx>
        <c:axId val="741122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800" dirty="0" smtClean="0"/>
                  <a:t>구매횟수</a:t>
                </a:r>
                <a:endParaRPr lang="ko-KR" altLang="en-US" sz="800" dirty="0"/>
              </a:p>
            </c:rich>
          </c:tx>
          <c:layout>
            <c:manualLayout>
              <c:xMode val="edge"/>
              <c:yMode val="edge"/>
              <c:x val="0.4666596792373493"/>
              <c:y val="0.807462194837766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1123360"/>
        <c:crosses val="autoZero"/>
        <c:auto val="1"/>
        <c:lblAlgn val="ctr"/>
        <c:lblOffset val="100"/>
        <c:noMultiLvlLbl val="0"/>
      </c:catAx>
      <c:valAx>
        <c:axId val="741123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800" dirty="0" err="1" smtClean="0"/>
                  <a:t>고객수</a:t>
                </a:r>
                <a:endParaRPr lang="ko-KR" altLang="en-US" sz="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1122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43488576014003E-3"/>
                  <c:y val="3.66385661091202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-8.89793748364349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043488576014003E-3"/>
                  <c:y val="-6.80430513455091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1.521744288007007E-2"/>
                  <c:y val="-1.57022426181944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"/>
                  <c:y val="-3.14044852363889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1.115932919852818E-16"/>
                  <c:y val="-0.1308520218182867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3.043488576014003E-3"/>
                  <c:y val="-7.32771322182406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구매횟수!$H$6:$H$15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10회
이상</c:v>
                </c:pt>
              </c:strCache>
            </c:strRef>
          </c:cat>
          <c:val>
            <c:numRef>
              <c:f>구매횟수!$I$6:$I$15</c:f>
              <c:numCache>
                <c:formatCode>_(* #,##0_);_(* \(#,##0\);_(* "-"_);_(@_)</c:formatCode>
                <c:ptCount val="10"/>
                <c:pt idx="0">
                  <c:v>341912</c:v>
                </c:pt>
                <c:pt idx="1">
                  <c:v>78813</c:v>
                </c:pt>
                <c:pt idx="2">
                  <c:v>27588</c:v>
                </c:pt>
                <c:pt idx="3">
                  <c:v>11352</c:v>
                </c:pt>
                <c:pt idx="4">
                  <c:v>4854</c:v>
                </c:pt>
                <c:pt idx="5">
                  <c:v>2399</c:v>
                </c:pt>
                <c:pt idx="6">
                  <c:v>1222</c:v>
                </c:pt>
                <c:pt idx="7">
                  <c:v>668</c:v>
                </c:pt>
                <c:pt idx="8">
                  <c:v>357</c:v>
                </c:pt>
                <c:pt idx="9">
                  <c:v>747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741125600"/>
        <c:axId val="518226752"/>
      </c:barChart>
      <c:catAx>
        <c:axId val="7411256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800" dirty="0" smtClean="0"/>
                  <a:t>구매횟수</a:t>
                </a:r>
                <a:endParaRPr lang="ko-KR" altLang="en-US" sz="800" dirty="0"/>
              </a:p>
            </c:rich>
          </c:tx>
          <c:layout>
            <c:manualLayout>
              <c:xMode val="edge"/>
              <c:yMode val="edge"/>
              <c:x val="0.48250526651677161"/>
              <c:y val="0.798472303925975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8226752"/>
        <c:crosses val="autoZero"/>
        <c:auto val="1"/>
        <c:lblAlgn val="ctr"/>
        <c:lblOffset val="100"/>
        <c:noMultiLvlLbl val="0"/>
      </c:catAx>
      <c:valAx>
        <c:axId val="518226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800" dirty="0" err="1" smtClean="0"/>
                  <a:t>고객수</a:t>
                </a:r>
                <a:endParaRPr lang="ko-KR" altLang="en-US" sz="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1125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유럽!$D$4:$D$5</c:f>
              <c:strCache>
                <c:ptCount val="2"/>
                <c:pt idx="0">
                  <c:v>2015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유럽!$D$6:$D$17</c:f>
            </c:numRef>
          </c:val>
        </c:ser>
        <c:ser>
          <c:idx val="1"/>
          <c:order val="1"/>
          <c:tx>
            <c:strRef>
              <c:f>유럽!$E$4:$E$5</c:f>
              <c:strCache>
                <c:ptCount val="2"/>
                <c:pt idx="0">
                  <c:v>2015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유럽!$E$6:$E$17</c:f>
              <c:numCache>
                <c:formatCode>0%</c:formatCode>
                <c:ptCount val="9"/>
                <c:pt idx="0">
                  <c:v>0.46675744953540532</c:v>
                </c:pt>
                <c:pt idx="1">
                  <c:v>0.19264658763216919</c:v>
                </c:pt>
                <c:pt idx="2">
                  <c:v>0.10020826658122396</c:v>
                </c:pt>
                <c:pt idx="3">
                  <c:v>0.10966036526754246</c:v>
                </c:pt>
                <c:pt idx="4">
                  <c:v>5.0144184556231979E-2</c:v>
                </c:pt>
                <c:pt idx="5">
                  <c:v>2.4271066965716116E-2</c:v>
                </c:pt>
                <c:pt idx="6">
                  <c:v>1.3617430310797821E-2</c:v>
                </c:pt>
                <c:pt idx="7">
                  <c:v>3.3963473245754564E-2</c:v>
                </c:pt>
                <c:pt idx="8">
                  <c:v>8.7311759051586033E-3</c:v>
                </c:pt>
              </c:numCache>
            </c:numRef>
          </c:val>
        </c:ser>
        <c:ser>
          <c:idx val="2"/>
          <c:order val="2"/>
          <c:tx>
            <c:strRef>
              <c:f>유럽!$F$4:$F$5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유럽!$F$6:$F$17</c:f>
            </c:numRef>
          </c:val>
        </c:ser>
        <c:ser>
          <c:idx val="3"/>
          <c:order val="3"/>
          <c:tx>
            <c:strRef>
              <c:f>유럽!$G$4:$G$5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유럽!$G$6:$G$17</c:f>
              <c:numCache>
                <c:formatCode>0%</c:formatCode>
                <c:ptCount val="9"/>
                <c:pt idx="0">
                  <c:v>0.43600314095013742</c:v>
                </c:pt>
                <c:pt idx="1">
                  <c:v>0.19591676482135847</c:v>
                </c:pt>
                <c:pt idx="2">
                  <c:v>0.12288967412642324</c:v>
                </c:pt>
                <c:pt idx="3">
                  <c:v>9.7762073027090696E-2</c:v>
                </c:pt>
                <c:pt idx="4">
                  <c:v>6.5959952885747936E-2</c:v>
                </c:pt>
                <c:pt idx="5">
                  <c:v>3.2521921214500718E-2</c:v>
                </c:pt>
                <c:pt idx="6">
                  <c:v>1.2432927627273917E-2</c:v>
                </c:pt>
                <c:pt idx="7">
                  <c:v>2.1005104043973301E-2</c:v>
                </c:pt>
                <c:pt idx="8">
                  <c:v>1.5508441303494307E-2</c:v>
                </c:pt>
              </c:numCache>
            </c:numRef>
          </c:val>
        </c:ser>
        <c:ser>
          <c:idx val="4"/>
          <c:order val="4"/>
          <c:tx>
            <c:strRef>
              <c:f>유럽!$H$4:$H$5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유럽!$H$6:$H$17</c:f>
            </c:numRef>
          </c:val>
        </c:ser>
        <c:ser>
          <c:idx val="5"/>
          <c:order val="5"/>
          <c:tx>
            <c:strRef>
              <c:f>유럽!$I$4:$I$5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유럽!$I$6:$I$17</c:f>
              <c:numCache>
                <c:formatCode>0%</c:formatCode>
                <c:ptCount val="9"/>
                <c:pt idx="0">
                  <c:v>0.41879027966652871</c:v>
                </c:pt>
                <c:pt idx="1">
                  <c:v>0.23656359013776385</c:v>
                </c:pt>
                <c:pt idx="2">
                  <c:v>6.0072133861526635E-2</c:v>
                </c:pt>
                <c:pt idx="3">
                  <c:v>0.11612369183468338</c:v>
                </c:pt>
                <c:pt idx="4">
                  <c:v>7.7987347011174837E-2</c:v>
                </c:pt>
                <c:pt idx="5">
                  <c:v>3.5593921835274642E-2</c:v>
                </c:pt>
                <c:pt idx="6">
                  <c:v>1.6969195293561164E-2</c:v>
                </c:pt>
                <c:pt idx="7">
                  <c:v>1.7323951989593803E-2</c:v>
                </c:pt>
                <c:pt idx="8">
                  <c:v>2.0575888369892981E-2</c:v>
                </c:pt>
              </c:numCache>
            </c:numRef>
          </c:val>
        </c:ser>
        <c:ser>
          <c:idx val="6"/>
          <c:order val="6"/>
          <c:tx>
            <c:strRef>
              <c:f>유럽!$J$4:$J$5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유럽!$J$6:$J$17</c:f>
            </c:numRef>
          </c:val>
        </c:ser>
        <c:ser>
          <c:idx val="7"/>
          <c:order val="7"/>
          <c:tx>
            <c:strRef>
              <c:f>유럽!$K$4:$K$5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유럽!$C$6:$C$17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유럽!$K$6:$K$17</c:f>
              <c:numCache>
                <c:formatCode>0%</c:formatCode>
                <c:ptCount val="9"/>
                <c:pt idx="0">
                  <c:v>0.42765392781316347</c:v>
                </c:pt>
                <c:pt idx="1">
                  <c:v>0.22277070063694268</c:v>
                </c:pt>
                <c:pt idx="2">
                  <c:v>8.3704883227176216E-2</c:v>
                </c:pt>
                <c:pt idx="3">
                  <c:v>0.11082802547770701</c:v>
                </c:pt>
                <c:pt idx="4">
                  <c:v>7.1231422505307854E-2</c:v>
                </c:pt>
                <c:pt idx="5">
                  <c:v>4.087048832271762E-2</c:v>
                </c:pt>
                <c:pt idx="6">
                  <c:v>1.0881104033970275E-2</c:v>
                </c:pt>
                <c:pt idx="7">
                  <c:v>1.5127388535031847E-2</c:v>
                </c:pt>
                <c:pt idx="8">
                  <c:v>1.6932059447983015E-2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8232912"/>
        <c:axId val="518233472"/>
      </c:barChart>
      <c:catAx>
        <c:axId val="518232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8233472"/>
        <c:crosses val="autoZero"/>
        <c:auto val="1"/>
        <c:lblAlgn val="ctr"/>
        <c:lblOffset val="100"/>
        <c:noMultiLvlLbl val="0"/>
      </c:catAx>
      <c:valAx>
        <c:axId val="51823347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8232912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동남아!$D$4:$D$5</c:f>
              <c:strCache>
                <c:ptCount val="2"/>
                <c:pt idx="0">
                  <c:v>2015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동남아!$D$6:$D$17</c:f>
            </c:numRef>
          </c:val>
        </c:ser>
        <c:ser>
          <c:idx val="1"/>
          <c:order val="1"/>
          <c:tx>
            <c:strRef>
              <c:f>동남아!$E$4:$E$5</c:f>
              <c:strCache>
                <c:ptCount val="2"/>
                <c:pt idx="0">
                  <c:v>2015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동남아!$E$6:$E$17</c:f>
              <c:numCache>
                <c:formatCode>0%</c:formatCode>
                <c:ptCount val="9"/>
                <c:pt idx="0">
                  <c:v>0.20350387203249967</c:v>
                </c:pt>
                <c:pt idx="1">
                  <c:v>0.40421480258981846</c:v>
                </c:pt>
                <c:pt idx="2">
                  <c:v>0.11870001269518853</c:v>
                </c:pt>
                <c:pt idx="3">
                  <c:v>0.12860225974355718</c:v>
                </c:pt>
                <c:pt idx="4">
                  <c:v>2.9706741145106005E-2</c:v>
                </c:pt>
                <c:pt idx="5">
                  <c:v>1.637679319537895E-2</c:v>
                </c:pt>
                <c:pt idx="6">
                  <c:v>5.1034657864669292E-2</c:v>
                </c:pt>
                <c:pt idx="7">
                  <c:v>4.3544496635775039E-2</c:v>
                </c:pt>
                <c:pt idx="8">
                  <c:v>4.3163640980068557E-3</c:v>
                </c:pt>
              </c:numCache>
            </c:numRef>
          </c:val>
        </c:ser>
        <c:ser>
          <c:idx val="2"/>
          <c:order val="2"/>
          <c:tx>
            <c:strRef>
              <c:f>동남아!$F$4:$F$5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동남아!$F$6:$F$17</c:f>
            </c:numRef>
          </c:val>
        </c:ser>
        <c:ser>
          <c:idx val="3"/>
          <c:order val="3"/>
          <c:tx>
            <c:strRef>
              <c:f>동남아!$G$4:$G$5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동남아!$G$6:$G$17</c:f>
              <c:numCache>
                <c:formatCode>0%</c:formatCode>
                <c:ptCount val="9"/>
                <c:pt idx="0">
                  <c:v>0.20381894126672917</c:v>
                </c:pt>
                <c:pt idx="1">
                  <c:v>0.40175603102889779</c:v>
                </c:pt>
                <c:pt idx="2">
                  <c:v>0.14823970675986703</c:v>
                </c:pt>
                <c:pt idx="3">
                  <c:v>0.11405677265365272</c:v>
                </c:pt>
                <c:pt idx="4">
                  <c:v>3.0176455545136815E-2</c:v>
                </c:pt>
                <c:pt idx="5">
                  <c:v>1.8071775637200579E-2</c:v>
                </c:pt>
                <c:pt idx="6">
                  <c:v>5.4044838462194184E-2</c:v>
                </c:pt>
                <c:pt idx="7">
                  <c:v>2.293069644531583E-2</c:v>
                </c:pt>
                <c:pt idx="8">
                  <c:v>6.904782201005882E-3</c:v>
                </c:pt>
              </c:numCache>
            </c:numRef>
          </c:val>
        </c:ser>
        <c:ser>
          <c:idx val="4"/>
          <c:order val="4"/>
          <c:tx>
            <c:strRef>
              <c:f>동남아!$H$4:$H$5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동남아!$H$6:$H$17</c:f>
            </c:numRef>
          </c:val>
        </c:ser>
        <c:ser>
          <c:idx val="5"/>
          <c:order val="5"/>
          <c:tx>
            <c:strRef>
              <c:f>동남아!$I$4:$I$5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동남아!$I$6:$I$17</c:f>
              <c:numCache>
                <c:formatCode>0%</c:formatCode>
                <c:ptCount val="9"/>
                <c:pt idx="0">
                  <c:v>0.21122522404657551</c:v>
                </c:pt>
                <c:pt idx="1">
                  <c:v>0.43572970497808594</c:v>
                </c:pt>
                <c:pt idx="2">
                  <c:v>8.7329103159547325E-2</c:v>
                </c:pt>
                <c:pt idx="3">
                  <c:v>0.16942500163537647</c:v>
                </c:pt>
                <c:pt idx="4">
                  <c:v>3.9118205010793487E-2</c:v>
                </c:pt>
                <c:pt idx="5">
                  <c:v>2.5838948125858574E-2</c:v>
                </c:pt>
                <c:pt idx="6">
                  <c:v>7.2610714986589917E-3</c:v>
                </c:pt>
                <c:pt idx="7">
                  <c:v>1.5568783934061621E-2</c:v>
                </c:pt>
                <c:pt idx="8">
                  <c:v>8.5039576110420619E-3</c:v>
                </c:pt>
              </c:numCache>
            </c:numRef>
          </c:val>
        </c:ser>
        <c:ser>
          <c:idx val="6"/>
          <c:order val="6"/>
          <c:tx>
            <c:strRef>
              <c:f>동남아!$J$4:$J$5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동남아!$J$6:$J$17</c:f>
            </c:numRef>
          </c:val>
        </c:ser>
        <c:ser>
          <c:idx val="7"/>
          <c:order val="7"/>
          <c:tx>
            <c:strRef>
              <c:f>동남아!$K$4:$K$5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동남아!$C$6:$C$17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동남아!$K$6:$K$17</c:f>
              <c:numCache>
                <c:formatCode>0%</c:formatCode>
                <c:ptCount val="9"/>
                <c:pt idx="0">
                  <c:v>0.18872082540318541</c:v>
                </c:pt>
                <c:pt idx="1">
                  <c:v>0.42998096764499649</c:v>
                </c:pt>
                <c:pt idx="2">
                  <c:v>0.11294200140238406</c:v>
                </c:pt>
                <c:pt idx="3">
                  <c:v>0.14169087448662726</c:v>
                </c:pt>
                <c:pt idx="4">
                  <c:v>3.5560452769708505E-2</c:v>
                </c:pt>
                <c:pt idx="5">
                  <c:v>2.5443253531002706E-2</c:v>
                </c:pt>
                <c:pt idx="6">
                  <c:v>4.2522287889412001E-2</c:v>
                </c:pt>
                <c:pt idx="7">
                  <c:v>1.4374436542121607E-2</c:v>
                </c:pt>
                <c:pt idx="8">
                  <c:v>8.7649003305619554E-3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8239632"/>
        <c:axId val="518240192"/>
      </c:barChart>
      <c:catAx>
        <c:axId val="518239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8240192"/>
        <c:crosses val="autoZero"/>
        <c:auto val="1"/>
        <c:lblAlgn val="ctr"/>
        <c:lblOffset val="100"/>
        <c:noMultiLvlLbl val="0"/>
      </c:catAx>
      <c:valAx>
        <c:axId val="5182401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18239632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중국!$D$4:$D$5</c:f>
              <c:strCache>
                <c:ptCount val="2"/>
                <c:pt idx="0">
                  <c:v>2015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중국!$D$6:$D$17</c:f>
            </c:numRef>
          </c:val>
        </c:ser>
        <c:ser>
          <c:idx val="1"/>
          <c:order val="1"/>
          <c:tx>
            <c:strRef>
              <c:f>중국!$E$4:$E$5</c:f>
              <c:strCache>
                <c:ptCount val="2"/>
                <c:pt idx="0">
                  <c:v>2015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중국!$E$6:$E$17</c:f>
              <c:numCache>
                <c:formatCode>0%</c:formatCode>
                <c:ptCount val="9"/>
                <c:pt idx="0">
                  <c:v>0.2543015456401283</c:v>
                </c:pt>
                <c:pt idx="1">
                  <c:v>0.33858267716535434</c:v>
                </c:pt>
                <c:pt idx="2">
                  <c:v>0.17147856517935259</c:v>
                </c:pt>
                <c:pt idx="3">
                  <c:v>0.13152522601341499</c:v>
                </c:pt>
                <c:pt idx="4">
                  <c:v>3.2079323417906098E-2</c:v>
                </c:pt>
                <c:pt idx="5">
                  <c:v>1.5456401283172936E-2</c:v>
                </c:pt>
                <c:pt idx="6">
                  <c:v>9.0405365995917183E-3</c:v>
                </c:pt>
                <c:pt idx="7">
                  <c:v>4.1411490230387871E-2</c:v>
                </c:pt>
                <c:pt idx="8">
                  <c:v>6.1242344706911632E-3</c:v>
                </c:pt>
              </c:numCache>
            </c:numRef>
          </c:val>
        </c:ser>
        <c:ser>
          <c:idx val="2"/>
          <c:order val="2"/>
          <c:tx>
            <c:strRef>
              <c:f>중국!$F$4:$F$5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중국!$F$6:$F$17</c:f>
            </c:numRef>
          </c:val>
        </c:ser>
        <c:ser>
          <c:idx val="3"/>
          <c:order val="3"/>
          <c:tx>
            <c:strRef>
              <c:f>중국!$G$4:$G$5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중국!$G$6:$G$17</c:f>
              <c:numCache>
                <c:formatCode>0%</c:formatCode>
                <c:ptCount val="9"/>
                <c:pt idx="0">
                  <c:v>0.23980120107682751</c:v>
                </c:pt>
                <c:pt idx="1">
                  <c:v>0.31000207082211639</c:v>
                </c:pt>
                <c:pt idx="2">
                  <c:v>0.22302754193414787</c:v>
                </c:pt>
                <c:pt idx="3">
                  <c:v>0.13129012217850486</c:v>
                </c:pt>
                <c:pt idx="4">
                  <c:v>3.1062331745703043E-2</c:v>
                </c:pt>
                <c:pt idx="5">
                  <c:v>1.8016152412507765E-2</c:v>
                </c:pt>
                <c:pt idx="6">
                  <c:v>1.0147028370262995E-2</c:v>
                </c:pt>
                <c:pt idx="7">
                  <c:v>2.4435700973286394E-2</c:v>
                </c:pt>
                <c:pt idx="8">
                  <c:v>1.2217850486643197E-2</c:v>
                </c:pt>
              </c:numCache>
            </c:numRef>
          </c:val>
        </c:ser>
        <c:ser>
          <c:idx val="4"/>
          <c:order val="4"/>
          <c:tx>
            <c:strRef>
              <c:f>중국!$H$4:$H$5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중국!$H$6:$H$17</c:f>
            </c:numRef>
          </c:val>
        </c:ser>
        <c:ser>
          <c:idx val="5"/>
          <c:order val="5"/>
          <c:tx>
            <c:strRef>
              <c:f>중국!$I$4:$I$5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중국!$I$6:$I$17</c:f>
              <c:numCache>
                <c:formatCode>0%</c:formatCode>
                <c:ptCount val="9"/>
                <c:pt idx="0">
                  <c:v>0.24484623183507942</c:v>
                </c:pt>
                <c:pt idx="1">
                  <c:v>0.35974991551199731</c:v>
                </c:pt>
                <c:pt idx="2">
                  <c:v>0.1118621155795877</c:v>
                </c:pt>
                <c:pt idx="3">
                  <c:v>0.16137208516390672</c:v>
                </c:pt>
                <c:pt idx="4">
                  <c:v>5.1199729638391346E-2</c:v>
                </c:pt>
                <c:pt idx="5">
                  <c:v>3.1598513011152414E-2</c:v>
                </c:pt>
                <c:pt idx="6">
                  <c:v>7.9418722541399114E-3</c:v>
                </c:pt>
                <c:pt idx="7">
                  <c:v>2.1966880702940183E-2</c:v>
                </c:pt>
                <c:pt idx="8">
                  <c:v>9.4626563028050014E-3</c:v>
                </c:pt>
              </c:numCache>
            </c:numRef>
          </c:val>
        </c:ser>
        <c:ser>
          <c:idx val="6"/>
          <c:order val="6"/>
          <c:tx>
            <c:strRef>
              <c:f>중국!$J$4:$J$5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중국!$J$6:$J$17</c:f>
            </c:numRef>
          </c:val>
        </c:ser>
        <c:ser>
          <c:idx val="7"/>
          <c:order val="7"/>
          <c:tx>
            <c:strRef>
              <c:f>중국!$K$4:$K$5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중국!$C$6:$C$17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중국!$K$6:$K$17</c:f>
              <c:numCache>
                <c:formatCode>0%</c:formatCode>
                <c:ptCount val="9"/>
                <c:pt idx="0">
                  <c:v>0.22591943957968477</c:v>
                </c:pt>
                <c:pt idx="1">
                  <c:v>0.37096003821047602</c:v>
                </c:pt>
                <c:pt idx="2">
                  <c:v>0.16892214615507084</c:v>
                </c:pt>
                <c:pt idx="3">
                  <c:v>0.12704983282916732</c:v>
                </c:pt>
                <c:pt idx="4">
                  <c:v>4.1235472058589399E-2</c:v>
                </c:pt>
                <c:pt idx="5">
                  <c:v>2.3085495940136921E-2</c:v>
                </c:pt>
                <c:pt idx="6">
                  <c:v>1.6557872950167172E-2</c:v>
                </c:pt>
                <c:pt idx="7">
                  <c:v>1.4169718197739213E-2</c:v>
                </c:pt>
                <c:pt idx="8">
                  <c:v>1.2099984078968317E-2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5776544"/>
        <c:axId val="885777104"/>
      </c:barChart>
      <c:catAx>
        <c:axId val="88577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777104"/>
        <c:crosses val="autoZero"/>
        <c:auto val="1"/>
        <c:lblAlgn val="ctr"/>
        <c:lblOffset val="100"/>
        <c:noMultiLvlLbl val="0"/>
      </c:catAx>
      <c:valAx>
        <c:axId val="88577710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77654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일본!$D$4:$D$5</c:f>
              <c:strCache>
                <c:ptCount val="2"/>
                <c:pt idx="0">
                  <c:v>2015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일본!$D$6:$D$17</c:f>
            </c:numRef>
          </c:val>
        </c:ser>
        <c:ser>
          <c:idx val="1"/>
          <c:order val="1"/>
          <c:tx>
            <c:strRef>
              <c:f>일본!$E$4:$E$5</c:f>
              <c:strCache>
                <c:ptCount val="2"/>
                <c:pt idx="0">
                  <c:v>2015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일본!$E$6:$E$17</c:f>
              <c:numCache>
                <c:formatCode>0%</c:formatCode>
                <c:ptCount val="9"/>
                <c:pt idx="0">
                  <c:v>0.21462912087912087</c:v>
                </c:pt>
                <c:pt idx="1">
                  <c:v>0.26614010989010989</c:v>
                </c:pt>
                <c:pt idx="2">
                  <c:v>0.13186813186813187</c:v>
                </c:pt>
                <c:pt idx="3">
                  <c:v>0.26785714285714285</c:v>
                </c:pt>
                <c:pt idx="4">
                  <c:v>2.0260989010989012E-2</c:v>
                </c:pt>
                <c:pt idx="5">
                  <c:v>1.7857142857142856E-2</c:v>
                </c:pt>
                <c:pt idx="6">
                  <c:v>2.4725274725274724E-2</c:v>
                </c:pt>
                <c:pt idx="7">
                  <c:v>5.5631868131868129E-2</c:v>
                </c:pt>
                <c:pt idx="8">
                  <c:v>1.0302197802197802E-3</c:v>
                </c:pt>
              </c:numCache>
            </c:numRef>
          </c:val>
        </c:ser>
        <c:ser>
          <c:idx val="2"/>
          <c:order val="2"/>
          <c:tx>
            <c:strRef>
              <c:f>일본!$F$4:$F$5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일본!$F$6:$F$17</c:f>
            </c:numRef>
          </c:val>
        </c:ser>
        <c:ser>
          <c:idx val="3"/>
          <c:order val="3"/>
          <c:tx>
            <c:strRef>
              <c:f>일본!$G$4:$G$5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일본!$G$6:$G$17</c:f>
              <c:numCache>
                <c:formatCode>0%</c:formatCode>
                <c:ptCount val="9"/>
                <c:pt idx="0">
                  <c:v>0.20272468483123221</c:v>
                </c:pt>
                <c:pt idx="1">
                  <c:v>0.32391215941439611</c:v>
                </c:pt>
                <c:pt idx="2">
                  <c:v>0.1642944286295242</c:v>
                </c:pt>
                <c:pt idx="3">
                  <c:v>0.20638470923139488</c:v>
                </c:pt>
                <c:pt idx="4">
                  <c:v>2.1960146400976006E-2</c:v>
                </c:pt>
                <c:pt idx="5">
                  <c:v>1.1996746644977633E-2</c:v>
                </c:pt>
                <c:pt idx="6">
                  <c:v>2.4400162667751118E-2</c:v>
                </c:pt>
                <c:pt idx="7">
                  <c:v>3.9650264335095567E-2</c:v>
                </c:pt>
                <c:pt idx="8">
                  <c:v>4.6766978446522974E-3</c:v>
                </c:pt>
              </c:numCache>
            </c:numRef>
          </c:val>
        </c:ser>
        <c:ser>
          <c:idx val="4"/>
          <c:order val="4"/>
          <c:tx>
            <c:strRef>
              <c:f>일본!$H$4:$H$5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일본!$H$6:$H$17</c:f>
            </c:numRef>
          </c:val>
        </c:ser>
        <c:ser>
          <c:idx val="5"/>
          <c:order val="5"/>
          <c:tx>
            <c:strRef>
              <c:f>일본!$I$4:$I$5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일본!$I$6:$I$17</c:f>
              <c:numCache>
                <c:formatCode>0%</c:formatCode>
                <c:ptCount val="9"/>
                <c:pt idx="0">
                  <c:v>0.22611899563318777</c:v>
                </c:pt>
                <c:pt idx="1">
                  <c:v>0.36503820960698691</c:v>
                </c:pt>
                <c:pt idx="2">
                  <c:v>9.0474890829694329E-2</c:v>
                </c:pt>
                <c:pt idx="3">
                  <c:v>0.20537663755458516</c:v>
                </c:pt>
                <c:pt idx="4">
                  <c:v>4.2439956331877728E-2</c:v>
                </c:pt>
                <c:pt idx="5">
                  <c:v>2.6200873362445413E-2</c:v>
                </c:pt>
                <c:pt idx="6">
                  <c:v>6.1408296943231437E-3</c:v>
                </c:pt>
                <c:pt idx="7">
                  <c:v>3.0431222707423582E-2</c:v>
                </c:pt>
                <c:pt idx="8">
                  <c:v>7.7783842794759825E-3</c:v>
                </c:pt>
              </c:numCache>
            </c:numRef>
          </c:val>
        </c:ser>
        <c:ser>
          <c:idx val="6"/>
          <c:order val="6"/>
          <c:tx>
            <c:strRef>
              <c:f>일본!$J$4:$J$5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일본!$J$6:$J$17</c:f>
            </c:numRef>
          </c:val>
        </c:ser>
        <c:ser>
          <c:idx val="7"/>
          <c:order val="7"/>
          <c:tx>
            <c:strRef>
              <c:f>일본!$K$4:$K$5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일본!$C$6:$C$17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일본!$K$6:$K$17</c:f>
              <c:numCache>
                <c:formatCode>0%</c:formatCode>
                <c:ptCount val="9"/>
                <c:pt idx="0">
                  <c:v>0.21795548053592151</c:v>
                </c:pt>
                <c:pt idx="1">
                  <c:v>0.3601645743221859</c:v>
                </c:pt>
                <c:pt idx="2">
                  <c:v>9.642367338326828E-2</c:v>
                </c:pt>
                <c:pt idx="3">
                  <c:v>0.21173119527376305</c:v>
                </c:pt>
                <c:pt idx="4">
                  <c:v>3.7662200654077431E-2</c:v>
                </c:pt>
                <c:pt idx="5">
                  <c:v>2.9538980905158774E-2</c:v>
                </c:pt>
                <c:pt idx="6">
                  <c:v>1.9411330309104337E-2</c:v>
                </c:pt>
                <c:pt idx="7">
                  <c:v>2.0044308471357738E-2</c:v>
                </c:pt>
                <c:pt idx="8">
                  <c:v>7.0682561451629921E-3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5783264"/>
        <c:axId val="885783824"/>
      </c:barChart>
      <c:catAx>
        <c:axId val="885783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783824"/>
        <c:crosses val="autoZero"/>
        <c:auto val="1"/>
        <c:lblAlgn val="ctr"/>
        <c:lblOffset val="100"/>
        <c:noMultiLvlLbl val="0"/>
      </c:catAx>
      <c:valAx>
        <c:axId val="88578382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78326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대양주!$D$4:$D$5</c:f>
              <c:strCache>
                <c:ptCount val="2"/>
                <c:pt idx="0">
                  <c:v>2015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대양주!$D$6:$D$17</c:f>
            </c:numRef>
          </c:val>
        </c:ser>
        <c:ser>
          <c:idx val="1"/>
          <c:order val="1"/>
          <c:tx>
            <c:strRef>
              <c:f>대양주!$E$4:$E$5</c:f>
              <c:strCache>
                <c:ptCount val="2"/>
                <c:pt idx="0">
                  <c:v>2015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대양주!$E$6:$E$17</c:f>
              <c:numCache>
                <c:formatCode>0%</c:formatCode>
                <c:ptCount val="9"/>
                <c:pt idx="0">
                  <c:v>0.39636363636363636</c:v>
                </c:pt>
                <c:pt idx="1">
                  <c:v>0.24363636363636362</c:v>
                </c:pt>
                <c:pt idx="2">
                  <c:v>8.1818181818181818E-2</c:v>
                </c:pt>
                <c:pt idx="3">
                  <c:v>0.10181818181818182</c:v>
                </c:pt>
                <c:pt idx="4">
                  <c:v>6.7272727272727276E-2</c:v>
                </c:pt>
                <c:pt idx="5">
                  <c:v>7.2727272727272727E-3</c:v>
                </c:pt>
                <c:pt idx="6">
                  <c:v>1.8181818181818181E-2</c:v>
                </c:pt>
                <c:pt idx="7">
                  <c:v>7.2727272727272724E-2</c:v>
                </c:pt>
                <c:pt idx="8">
                  <c:v>1.090909090909091E-2</c:v>
                </c:pt>
              </c:numCache>
            </c:numRef>
          </c:val>
        </c:ser>
        <c:ser>
          <c:idx val="2"/>
          <c:order val="2"/>
          <c:tx>
            <c:strRef>
              <c:f>대양주!$F$4:$F$5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대양주!$F$6:$F$17</c:f>
            </c:numRef>
          </c:val>
        </c:ser>
        <c:ser>
          <c:idx val="3"/>
          <c:order val="3"/>
          <c:tx>
            <c:strRef>
              <c:f>대양주!$G$4:$G$5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대양주!$G$6:$G$17</c:f>
              <c:numCache>
                <c:formatCode>0%</c:formatCode>
                <c:ptCount val="9"/>
                <c:pt idx="0">
                  <c:v>0.35968379446640314</c:v>
                </c:pt>
                <c:pt idx="1">
                  <c:v>0.23978919631093545</c:v>
                </c:pt>
                <c:pt idx="2">
                  <c:v>0.13833992094861661</c:v>
                </c:pt>
                <c:pt idx="3">
                  <c:v>0.11067193675889328</c:v>
                </c:pt>
                <c:pt idx="4">
                  <c:v>5.2700922266139656E-2</c:v>
                </c:pt>
                <c:pt idx="5">
                  <c:v>2.2397891963109356E-2</c:v>
                </c:pt>
                <c:pt idx="6">
                  <c:v>2.8985507246376812E-2</c:v>
                </c:pt>
                <c:pt idx="7">
                  <c:v>3.0303030303030304E-2</c:v>
                </c:pt>
                <c:pt idx="8">
                  <c:v>1.7127799736495388E-2</c:v>
                </c:pt>
              </c:numCache>
            </c:numRef>
          </c:val>
        </c:ser>
        <c:ser>
          <c:idx val="4"/>
          <c:order val="4"/>
          <c:tx>
            <c:strRef>
              <c:f>대양주!$H$4:$H$5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대양주!$H$6:$H$17</c:f>
            </c:numRef>
          </c:val>
        </c:ser>
        <c:ser>
          <c:idx val="5"/>
          <c:order val="5"/>
          <c:tx>
            <c:strRef>
              <c:f>대양주!$I$4:$I$5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대양주!$I$6:$I$17</c:f>
              <c:numCache>
                <c:formatCode>0%</c:formatCode>
                <c:ptCount val="9"/>
                <c:pt idx="0">
                  <c:v>0.375909458367017</c:v>
                </c:pt>
                <c:pt idx="1">
                  <c:v>0.27405012126111561</c:v>
                </c:pt>
                <c:pt idx="2">
                  <c:v>5.9822150363783348E-2</c:v>
                </c:pt>
                <c:pt idx="3">
                  <c:v>0.12045270816491511</c:v>
                </c:pt>
                <c:pt idx="4">
                  <c:v>9.3775262732417139E-2</c:v>
                </c:pt>
                <c:pt idx="5">
                  <c:v>1.2934518997574777E-2</c:v>
                </c:pt>
                <c:pt idx="6">
                  <c:v>2.2635408245755859E-2</c:v>
                </c:pt>
                <c:pt idx="7">
                  <c:v>2.3443815683104285E-2</c:v>
                </c:pt>
                <c:pt idx="8">
                  <c:v>1.6976556184316895E-2</c:v>
                </c:pt>
              </c:numCache>
            </c:numRef>
          </c:val>
        </c:ser>
        <c:ser>
          <c:idx val="6"/>
          <c:order val="6"/>
          <c:tx>
            <c:strRef>
              <c:f>대양주!$J$4:$J$5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대양주!$J$6:$J$17</c:f>
            </c:numRef>
          </c:val>
        </c:ser>
        <c:ser>
          <c:idx val="7"/>
          <c:order val="7"/>
          <c:tx>
            <c:strRef>
              <c:f>대양주!$K$4:$K$5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대양주!$C$6:$C$17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대양주!$K$6:$K$17</c:f>
              <c:numCache>
                <c:formatCode>0%</c:formatCode>
                <c:ptCount val="9"/>
                <c:pt idx="0">
                  <c:v>0.34239482200647248</c:v>
                </c:pt>
                <c:pt idx="1">
                  <c:v>0.29255663430420714</c:v>
                </c:pt>
                <c:pt idx="2">
                  <c:v>8.6084142394822011E-2</c:v>
                </c:pt>
                <c:pt idx="3">
                  <c:v>0.14110032362459546</c:v>
                </c:pt>
                <c:pt idx="4">
                  <c:v>8.2847896440129451E-2</c:v>
                </c:pt>
                <c:pt idx="5">
                  <c:v>5.1779935275080907E-3</c:v>
                </c:pt>
                <c:pt idx="6">
                  <c:v>2.1359223300970873E-2</c:v>
                </c:pt>
                <c:pt idx="7">
                  <c:v>1.1003236245954692E-2</c:v>
                </c:pt>
                <c:pt idx="8">
                  <c:v>1.7475728155339806E-2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5789984"/>
        <c:axId val="885790544"/>
      </c:barChart>
      <c:catAx>
        <c:axId val="88578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790544"/>
        <c:crosses val="autoZero"/>
        <c:auto val="1"/>
        <c:lblAlgn val="ctr"/>
        <c:lblOffset val="100"/>
        <c:noMultiLvlLbl val="0"/>
      </c:catAx>
      <c:valAx>
        <c:axId val="88579054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789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미주!$D$4:$D$5</c:f>
              <c:strCache>
                <c:ptCount val="2"/>
                <c:pt idx="0">
                  <c:v>2015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미주!$D$6:$D$17</c:f>
            </c:numRef>
          </c:val>
        </c:ser>
        <c:ser>
          <c:idx val="1"/>
          <c:order val="1"/>
          <c:tx>
            <c:strRef>
              <c:f>미주!$E$4:$E$5</c:f>
              <c:strCache>
                <c:ptCount val="2"/>
                <c:pt idx="0">
                  <c:v>2015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미주!$E$6:$E$17</c:f>
              <c:numCache>
                <c:formatCode>0%</c:formatCode>
                <c:ptCount val="9"/>
                <c:pt idx="0">
                  <c:v>0.30738916256157633</c:v>
                </c:pt>
                <c:pt idx="1">
                  <c:v>0.20886699507389161</c:v>
                </c:pt>
                <c:pt idx="2">
                  <c:v>0.11921182266009853</c:v>
                </c:pt>
                <c:pt idx="3">
                  <c:v>0.10246305418719212</c:v>
                </c:pt>
                <c:pt idx="4">
                  <c:v>0.16354679802955666</c:v>
                </c:pt>
                <c:pt idx="5">
                  <c:v>2.561576354679803E-2</c:v>
                </c:pt>
                <c:pt idx="6">
                  <c:v>2.8571428571428571E-2</c:v>
                </c:pt>
                <c:pt idx="7">
                  <c:v>3.2512315270935961E-2</c:v>
                </c:pt>
                <c:pt idx="8">
                  <c:v>1.1822660098522168E-2</c:v>
                </c:pt>
              </c:numCache>
            </c:numRef>
          </c:val>
        </c:ser>
        <c:ser>
          <c:idx val="2"/>
          <c:order val="2"/>
          <c:tx>
            <c:strRef>
              <c:f>미주!$F$4:$F$5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미주!$F$6:$F$17</c:f>
            </c:numRef>
          </c:val>
        </c:ser>
        <c:ser>
          <c:idx val="3"/>
          <c:order val="3"/>
          <c:tx>
            <c:strRef>
              <c:f>미주!$G$4:$G$5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미주!$G$6:$G$17</c:f>
              <c:numCache>
                <c:formatCode>0%</c:formatCode>
                <c:ptCount val="9"/>
                <c:pt idx="0">
                  <c:v>0.35064059339177345</c:v>
                </c:pt>
                <c:pt idx="1">
                  <c:v>0.19892110586648684</c:v>
                </c:pt>
                <c:pt idx="2">
                  <c:v>0.11395819285232636</c:v>
                </c:pt>
                <c:pt idx="3">
                  <c:v>0.11598111935266352</c:v>
                </c:pt>
                <c:pt idx="4">
                  <c:v>0.12744436952124072</c:v>
                </c:pt>
                <c:pt idx="5">
                  <c:v>3.1692515171948751E-2</c:v>
                </c:pt>
                <c:pt idx="6">
                  <c:v>3.1018206338503034E-2</c:v>
                </c:pt>
                <c:pt idx="7">
                  <c:v>1.3486176668914362E-2</c:v>
                </c:pt>
                <c:pt idx="8">
                  <c:v>1.6857720836142953E-2</c:v>
                </c:pt>
              </c:numCache>
            </c:numRef>
          </c:val>
        </c:ser>
        <c:ser>
          <c:idx val="4"/>
          <c:order val="4"/>
          <c:tx>
            <c:strRef>
              <c:f>미주!$H$4:$H$5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미주!$H$6:$H$17</c:f>
            </c:numRef>
          </c:val>
        </c:ser>
        <c:ser>
          <c:idx val="5"/>
          <c:order val="5"/>
          <c:tx>
            <c:strRef>
              <c:f>미주!$I$4:$I$5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미주!$I$6:$I$17</c:f>
              <c:numCache>
                <c:formatCode>0%</c:formatCode>
                <c:ptCount val="9"/>
                <c:pt idx="0">
                  <c:v>0.37007874015748032</c:v>
                </c:pt>
                <c:pt idx="1">
                  <c:v>0.23326771653543307</c:v>
                </c:pt>
                <c:pt idx="2">
                  <c:v>7.3818897637795269E-2</c:v>
                </c:pt>
                <c:pt idx="3">
                  <c:v>0.11368110236220473</c:v>
                </c:pt>
                <c:pt idx="4">
                  <c:v>9.694881889763779E-2</c:v>
                </c:pt>
                <c:pt idx="5">
                  <c:v>5.1181102362204724E-2</c:v>
                </c:pt>
                <c:pt idx="6">
                  <c:v>2.8051181102362203E-2</c:v>
                </c:pt>
                <c:pt idx="7">
                  <c:v>1.3779527559055118E-2</c:v>
                </c:pt>
                <c:pt idx="8">
                  <c:v>1.9192913385826772E-2</c:v>
                </c:pt>
              </c:numCache>
            </c:numRef>
          </c:val>
        </c:ser>
        <c:ser>
          <c:idx val="6"/>
          <c:order val="6"/>
          <c:tx>
            <c:strRef>
              <c:f>미주!$J$4:$J$5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미주!$J$6:$J$17</c:f>
            </c:numRef>
          </c:val>
        </c:ser>
        <c:ser>
          <c:idx val="7"/>
          <c:order val="7"/>
          <c:tx>
            <c:strRef>
              <c:f>미주!$K$4:$K$5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미주!$C$6:$C$17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미주!$K$6:$K$17</c:f>
              <c:numCache>
                <c:formatCode>0%</c:formatCode>
                <c:ptCount val="9"/>
                <c:pt idx="0">
                  <c:v>0.35742397137745974</c:v>
                </c:pt>
                <c:pt idx="1">
                  <c:v>0.251520572450805</c:v>
                </c:pt>
                <c:pt idx="2">
                  <c:v>8.7656529516994638E-2</c:v>
                </c:pt>
                <c:pt idx="3">
                  <c:v>0.10948121645796065</c:v>
                </c:pt>
                <c:pt idx="4">
                  <c:v>9.6601073345259386E-2</c:v>
                </c:pt>
                <c:pt idx="5">
                  <c:v>4.257602862254025E-2</c:v>
                </c:pt>
                <c:pt idx="6">
                  <c:v>2.6475849731663684E-2</c:v>
                </c:pt>
                <c:pt idx="7">
                  <c:v>8.5867620751341675E-3</c:v>
                </c:pt>
                <c:pt idx="8">
                  <c:v>1.9677996422182469E-2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5796704"/>
        <c:axId val="885797264"/>
      </c:barChart>
      <c:catAx>
        <c:axId val="8857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797264"/>
        <c:crosses val="autoZero"/>
        <c:auto val="1"/>
        <c:lblAlgn val="ctr"/>
        <c:lblOffset val="100"/>
        <c:noMultiLvlLbl val="0"/>
      </c:catAx>
      <c:valAx>
        <c:axId val="88579726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7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괌사이판!$D$4:$D$5</c:f>
              <c:strCache>
                <c:ptCount val="2"/>
                <c:pt idx="0">
                  <c:v>2015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괌사이판!$D$6:$D$17</c:f>
            </c:numRef>
          </c:val>
        </c:ser>
        <c:ser>
          <c:idx val="1"/>
          <c:order val="1"/>
          <c:tx>
            <c:strRef>
              <c:f>괌사이판!$E$4:$E$5</c:f>
              <c:strCache>
                <c:ptCount val="2"/>
                <c:pt idx="0">
                  <c:v>2015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괌사이판!$E$6:$E$17</c:f>
              <c:numCache>
                <c:formatCode>0%</c:formatCode>
                <c:ptCount val="9"/>
                <c:pt idx="0">
                  <c:v>8.2845188284518825E-2</c:v>
                </c:pt>
                <c:pt idx="1">
                  <c:v>0.42426778242677826</c:v>
                </c:pt>
                <c:pt idx="2">
                  <c:v>4.8535564853556486E-2</c:v>
                </c:pt>
                <c:pt idx="3">
                  <c:v>8.7029288702928864E-2</c:v>
                </c:pt>
                <c:pt idx="4">
                  <c:v>2.0083682008368201E-2</c:v>
                </c:pt>
                <c:pt idx="5">
                  <c:v>1.5899581589958158E-2</c:v>
                </c:pt>
                <c:pt idx="6">
                  <c:v>0.27112970711297069</c:v>
                </c:pt>
                <c:pt idx="7">
                  <c:v>4.7698744769874478E-2</c:v>
                </c:pt>
                <c:pt idx="8">
                  <c:v>2.5104602510460251E-3</c:v>
                </c:pt>
              </c:numCache>
            </c:numRef>
          </c:val>
        </c:ser>
        <c:ser>
          <c:idx val="2"/>
          <c:order val="2"/>
          <c:tx>
            <c:strRef>
              <c:f>괌사이판!$F$4:$F$5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괌사이판!$F$6:$F$17</c:f>
            </c:numRef>
          </c:val>
        </c:ser>
        <c:ser>
          <c:idx val="3"/>
          <c:order val="3"/>
          <c:tx>
            <c:strRef>
              <c:f>괌사이판!$G$4:$G$5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괌사이판!$G$6:$G$17</c:f>
              <c:numCache>
                <c:formatCode>0%</c:formatCode>
                <c:ptCount val="9"/>
                <c:pt idx="0">
                  <c:v>7.7227722772277227E-2</c:v>
                </c:pt>
                <c:pt idx="1">
                  <c:v>0.4382838283828383</c:v>
                </c:pt>
                <c:pt idx="2">
                  <c:v>5.7425742574257428E-2</c:v>
                </c:pt>
                <c:pt idx="3">
                  <c:v>9.4389438943894385E-2</c:v>
                </c:pt>
                <c:pt idx="4">
                  <c:v>3.6303630363036306E-2</c:v>
                </c:pt>
                <c:pt idx="5">
                  <c:v>1.782178217821782E-2</c:v>
                </c:pt>
                <c:pt idx="6">
                  <c:v>0.25676567656765675</c:v>
                </c:pt>
                <c:pt idx="7">
                  <c:v>2.1782178217821781E-2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괌사이판!$H$4:$H$5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괌사이판!$H$6:$H$17</c:f>
            </c:numRef>
          </c:val>
        </c:ser>
        <c:ser>
          <c:idx val="5"/>
          <c:order val="5"/>
          <c:tx>
            <c:strRef>
              <c:f>괌사이판!$I$4:$I$5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괌사이판!$I$6:$I$17</c:f>
              <c:numCache>
                <c:formatCode>0%</c:formatCode>
                <c:ptCount val="9"/>
                <c:pt idx="0">
                  <c:v>9.4219653179190746E-2</c:v>
                </c:pt>
                <c:pt idx="1">
                  <c:v>0.40462427745664742</c:v>
                </c:pt>
                <c:pt idx="2">
                  <c:v>3.5838150289017344E-2</c:v>
                </c:pt>
                <c:pt idx="3">
                  <c:v>0.11560693641618497</c:v>
                </c:pt>
                <c:pt idx="4">
                  <c:v>4.3352601156069363E-2</c:v>
                </c:pt>
                <c:pt idx="5">
                  <c:v>2.023121387283237E-2</c:v>
                </c:pt>
                <c:pt idx="6">
                  <c:v>0.26242774566473986</c:v>
                </c:pt>
                <c:pt idx="7">
                  <c:v>2.1387283236994219E-2</c:v>
                </c:pt>
                <c:pt idx="8">
                  <c:v>2.3121387283236996E-3</c:v>
                </c:pt>
              </c:numCache>
            </c:numRef>
          </c:val>
        </c:ser>
        <c:ser>
          <c:idx val="6"/>
          <c:order val="6"/>
          <c:tx>
            <c:strRef>
              <c:f>괌사이판!$J$4:$J$5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괌사이판!$J$6:$J$17</c:f>
            </c:numRef>
          </c:val>
        </c:ser>
        <c:ser>
          <c:idx val="7"/>
          <c:order val="7"/>
          <c:tx>
            <c:strRef>
              <c:f>괌사이판!$K$4:$K$5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괌사이판!$C$6:$C$17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괌사이판!$K$6:$K$17</c:f>
              <c:numCache>
                <c:formatCode>0%</c:formatCode>
                <c:ptCount val="9"/>
                <c:pt idx="0">
                  <c:v>9.0295358649789034E-2</c:v>
                </c:pt>
                <c:pt idx="1">
                  <c:v>0.48818565400843883</c:v>
                </c:pt>
                <c:pt idx="2">
                  <c:v>5.1476793248945149E-2</c:v>
                </c:pt>
                <c:pt idx="3">
                  <c:v>9.0717299578059074E-2</c:v>
                </c:pt>
                <c:pt idx="4">
                  <c:v>2.4472573839662448E-2</c:v>
                </c:pt>
                <c:pt idx="5">
                  <c:v>2.3206751054852322E-2</c:v>
                </c:pt>
                <c:pt idx="6">
                  <c:v>0.21983122362869198</c:v>
                </c:pt>
                <c:pt idx="7">
                  <c:v>6.7510548523206752E-3</c:v>
                </c:pt>
                <c:pt idx="8">
                  <c:v>5.0632911392405064E-3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5803424"/>
        <c:axId val="885803984"/>
      </c:barChart>
      <c:catAx>
        <c:axId val="885803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803984"/>
        <c:crosses val="autoZero"/>
        <c:auto val="1"/>
        <c:lblAlgn val="ctr"/>
        <c:lblOffset val="100"/>
        <c:noMultiLvlLbl val="0"/>
      </c:catAx>
      <c:valAx>
        <c:axId val="88580398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803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기타지역!$D$4:$D$5</c:f>
              <c:strCache>
                <c:ptCount val="2"/>
                <c:pt idx="0">
                  <c:v>2015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기타지역!$D$6:$D$17</c:f>
            </c:numRef>
          </c:val>
        </c:ser>
        <c:ser>
          <c:idx val="1"/>
          <c:order val="1"/>
          <c:tx>
            <c:strRef>
              <c:f>기타지역!$E$4:$E$5</c:f>
              <c:strCache>
                <c:ptCount val="2"/>
                <c:pt idx="0">
                  <c:v>2015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기타지역!$E$6:$E$17</c:f>
              <c:numCache>
                <c:formatCode>0%</c:formatCode>
                <c:ptCount val="9"/>
                <c:pt idx="0">
                  <c:v>0.34482758620689657</c:v>
                </c:pt>
                <c:pt idx="1">
                  <c:v>0.28275862068965518</c:v>
                </c:pt>
                <c:pt idx="2">
                  <c:v>0.1206896551724138</c:v>
                </c:pt>
                <c:pt idx="3">
                  <c:v>0.12413793103448276</c:v>
                </c:pt>
                <c:pt idx="4">
                  <c:v>3.4482758620689655E-2</c:v>
                </c:pt>
                <c:pt idx="5">
                  <c:v>1.7241379310344827E-2</c:v>
                </c:pt>
                <c:pt idx="6">
                  <c:v>2.7586206896551724E-2</c:v>
                </c:pt>
                <c:pt idx="7">
                  <c:v>3.4482758620689655E-2</c:v>
                </c:pt>
                <c:pt idx="8">
                  <c:v>1.3793103448275862E-2</c:v>
                </c:pt>
              </c:numCache>
            </c:numRef>
          </c:val>
        </c:ser>
        <c:ser>
          <c:idx val="2"/>
          <c:order val="2"/>
          <c:tx>
            <c:strRef>
              <c:f>기타지역!$F$4:$F$5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기타지역!$F$6:$F$17</c:f>
            </c:numRef>
          </c:val>
        </c:ser>
        <c:ser>
          <c:idx val="3"/>
          <c:order val="3"/>
          <c:tx>
            <c:strRef>
              <c:f>기타지역!$G$4:$G$5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기타지역!$G$6:$G$17</c:f>
              <c:numCache>
                <c:formatCode>0%</c:formatCode>
                <c:ptCount val="9"/>
                <c:pt idx="0">
                  <c:v>0.42372881355932202</c:v>
                </c:pt>
                <c:pt idx="1">
                  <c:v>0.19661016949152543</c:v>
                </c:pt>
                <c:pt idx="2">
                  <c:v>0.14915254237288136</c:v>
                </c:pt>
                <c:pt idx="3">
                  <c:v>6.4406779661016947E-2</c:v>
                </c:pt>
                <c:pt idx="4">
                  <c:v>5.7627118644067797E-2</c:v>
                </c:pt>
                <c:pt idx="5">
                  <c:v>1.6949152542372881E-2</c:v>
                </c:pt>
                <c:pt idx="6">
                  <c:v>2.3728813559322035E-2</c:v>
                </c:pt>
                <c:pt idx="7">
                  <c:v>1.3559322033898305E-2</c:v>
                </c:pt>
                <c:pt idx="8">
                  <c:v>5.4237288135593219E-2</c:v>
                </c:pt>
              </c:numCache>
            </c:numRef>
          </c:val>
        </c:ser>
        <c:ser>
          <c:idx val="4"/>
          <c:order val="4"/>
          <c:tx>
            <c:strRef>
              <c:f>기타지역!$H$4:$H$5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기타지역!$H$6:$H$17</c:f>
            </c:numRef>
          </c:val>
        </c:ser>
        <c:ser>
          <c:idx val="5"/>
          <c:order val="5"/>
          <c:tx>
            <c:strRef>
              <c:f>기타지역!$I$4:$I$5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기타지역!$I$6:$I$17</c:f>
              <c:numCache>
                <c:formatCode>0%</c:formatCode>
                <c:ptCount val="9"/>
                <c:pt idx="0">
                  <c:v>0.48155737704918034</c:v>
                </c:pt>
                <c:pt idx="1">
                  <c:v>0.1598360655737705</c:v>
                </c:pt>
                <c:pt idx="2">
                  <c:v>6.7622950819672137E-2</c:v>
                </c:pt>
                <c:pt idx="3">
                  <c:v>0.10040983606557377</c:v>
                </c:pt>
                <c:pt idx="4">
                  <c:v>9.0163934426229511E-2</c:v>
                </c:pt>
                <c:pt idx="5">
                  <c:v>3.8934426229508198E-2</c:v>
                </c:pt>
                <c:pt idx="6">
                  <c:v>8.1967213114754103E-3</c:v>
                </c:pt>
                <c:pt idx="7">
                  <c:v>1.4344262295081968E-2</c:v>
                </c:pt>
                <c:pt idx="8">
                  <c:v>3.8934426229508198E-2</c:v>
                </c:pt>
              </c:numCache>
            </c:numRef>
          </c:val>
        </c:ser>
        <c:ser>
          <c:idx val="6"/>
          <c:order val="6"/>
          <c:tx>
            <c:strRef>
              <c:f>기타지역!$J$4:$J$5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기타지역!$J$6:$J$17</c:f>
            </c:numRef>
          </c:val>
        </c:ser>
        <c:ser>
          <c:idx val="7"/>
          <c:order val="7"/>
          <c:tx>
            <c:strRef>
              <c:f>기타지역!$K$4:$K$5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기타지역!$C$6:$C$17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기타지역!$K$6:$K$17</c:f>
              <c:numCache>
                <c:formatCode>0%</c:formatCode>
                <c:ptCount val="9"/>
                <c:pt idx="0">
                  <c:v>0.39358974358974358</c:v>
                </c:pt>
                <c:pt idx="1">
                  <c:v>0.21666666666666667</c:v>
                </c:pt>
                <c:pt idx="2">
                  <c:v>0.12051282051282051</c:v>
                </c:pt>
                <c:pt idx="3">
                  <c:v>6.7948717948717943E-2</c:v>
                </c:pt>
                <c:pt idx="4">
                  <c:v>0.11923076923076924</c:v>
                </c:pt>
                <c:pt idx="5">
                  <c:v>2.1794871794871794E-2</c:v>
                </c:pt>
                <c:pt idx="6">
                  <c:v>1.0256410256410256E-2</c:v>
                </c:pt>
                <c:pt idx="7">
                  <c:v>8.9743589743589737E-3</c:v>
                </c:pt>
                <c:pt idx="8">
                  <c:v>4.1025641025641026E-2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5368032"/>
        <c:axId val="885368592"/>
      </c:barChart>
      <c:catAx>
        <c:axId val="885368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368592"/>
        <c:crosses val="autoZero"/>
        <c:auto val="1"/>
        <c:lblAlgn val="ctr"/>
        <c:lblOffset val="100"/>
        <c:noMultiLvlLbl val="0"/>
      </c:catAx>
      <c:valAx>
        <c:axId val="8853685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368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국내!$D$4:$D$5</c:f>
              <c:strCache>
                <c:ptCount val="2"/>
                <c:pt idx="0">
                  <c:v>2015</c:v>
                </c:pt>
                <c:pt idx="1">
                  <c:v>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국내!$D$6:$D$17</c:f>
            </c:numRef>
          </c:val>
        </c:ser>
        <c:ser>
          <c:idx val="1"/>
          <c:order val="1"/>
          <c:tx>
            <c:strRef>
              <c:f>국내!$E$4:$E$5</c:f>
              <c:strCache>
                <c:ptCount val="2"/>
                <c:pt idx="0">
                  <c:v>2015</c:v>
                </c:pt>
                <c:pt idx="1">
                  <c:v>비중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국내!$E$6:$E$17</c:f>
              <c:numCache>
                <c:formatCode>0%</c:formatCode>
                <c:ptCount val="9"/>
                <c:pt idx="0">
                  <c:v>0.18564102564102564</c:v>
                </c:pt>
                <c:pt idx="1">
                  <c:v>0.20717948717948717</c:v>
                </c:pt>
                <c:pt idx="2">
                  <c:v>9.7435897435897437E-2</c:v>
                </c:pt>
                <c:pt idx="3">
                  <c:v>0.13230769230769232</c:v>
                </c:pt>
                <c:pt idx="4">
                  <c:v>1.2307692307692308E-2</c:v>
                </c:pt>
                <c:pt idx="5">
                  <c:v>5.1282051282051282E-3</c:v>
                </c:pt>
                <c:pt idx="6">
                  <c:v>3.6923076923076927E-2</c:v>
                </c:pt>
                <c:pt idx="7">
                  <c:v>0.32102564102564102</c:v>
                </c:pt>
                <c:pt idx="8">
                  <c:v>2.0512820512820513E-3</c:v>
                </c:pt>
              </c:numCache>
            </c:numRef>
          </c:val>
        </c:ser>
        <c:ser>
          <c:idx val="2"/>
          <c:order val="2"/>
          <c:tx>
            <c:strRef>
              <c:f>국내!$F$4:$F$5</c:f>
              <c:strCache>
                <c:ptCount val="2"/>
                <c:pt idx="0">
                  <c:v>2016</c:v>
                </c:pt>
                <c:pt idx="1">
                  <c:v>인원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국내!$F$6:$F$17</c:f>
            </c:numRef>
          </c:val>
        </c:ser>
        <c:ser>
          <c:idx val="3"/>
          <c:order val="3"/>
          <c:tx>
            <c:strRef>
              <c:f>국내!$G$4:$G$5</c:f>
              <c:strCache>
                <c:ptCount val="2"/>
                <c:pt idx="0">
                  <c:v>2016</c:v>
                </c:pt>
                <c:pt idx="1">
                  <c:v>비중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국내!$G$6:$G$17</c:f>
              <c:numCache>
                <c:formatCode>0%</c:formatCode>
                <c:ptCount val="9"/>
                <c:pt idx="0">
                  <c:v>0.18375241779497098</c:v>
                </c:pt>
                <c:pt idx="1">
                  <c:v>0.25338491295938104</c:v>
                </c:pt>
                <c:pt idx="2">
                  <c:v>0.12959381044487428</c:v>
                </c:pt>
                <c:pt idx="3">
                  <c:v>0.11411992263056092</c:v>
                </c:pt>
                <c:pt idx="4">
                  <c:v>3.0947775628626693E-2</c:v>
                </c:pt>
                <c:pt idx="5">
                  <c:v>1.2572533849129593E-2</c:v>
                </c:pt>
                <c:pt idx="6">
                  <c:v>3.5783365570599614E-2</c:v>
                </c:pt>
                <c:pt idx="7">
                  <c:v>0.23887814313346228</c:v>
                </c:pt>
                <c:pt idx="8">
                  <c:v>9.6711798839458415E-4</c:v>
                </c:pt>
              </c:numCache>
            </c:numRef>
          </c:val>
        </c:ser>
        <c:ser>
          <c:idx val="4"/>
          <c:order val="4"/>
          <c:tx>
            <c:strRef>
              <c:f>국내!$H$4:$H$5</c:f>
              <c:strCache>
                <c:ptCount val="2"/>
                <c:pt idx="0">
                  <c:v>2017</c:v>
                </c:pt>
                <c:pt idx="1">
                  <c:v>인원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국내!$H$6:$H$17</c:f>
            </c:numRef>
          </c:val>
        </c:ser>
        <c:ser>
          <c:idx val="5"/>
          <c:order val="5"/>
          <c:tx>
            <c:strRef>
              <c:f>국내!$I$4:$I$5</c:f>
              <c:strCache>
                <c:ptCount val="2"/>
                <c:pt idx="0">
                  <c:v>2017</c:v>
                </c:pt>
                <c:pt idx="1">
                  <c:v>비중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국내!$I$6:$I$17</c:f>
              <c:numCache>
                <c:formatCode>0%</c:formatCode>
                <c:ptCount val="9"/>
                <c:pt idx="0">
                  <c:v>0.20996441281138789</c:v>
                </c:pt>
                <c:pt idx="1">
                  <c:v>0.27876631079478054</c:v>
                </c:pt>
                <c:pt idx="2">
                  <c:v>5.1008303677342826E-2</c:v>
                </c:pt>
                <c:pt idx="3">
                  <c:v>0.15776986951364175</c:v>
                </c:pt>
                <c:pt idx="4">
                  <c:v>3.9145907473309607E-2</c:v>
                </c:pt>
                <c:pt idx="5">
                  <c:v>2.2538552787663108E-2</c:v>
                </c:pt>
                <c:pt idx="6">
                  <c:v>4.2704626334519574E-2</c:v>
                </c:pt>
                <c:pt idx="7">
                  <c:v>0.18979833926453143</c:v>
                </c:pt>
                <c:pt idx="8">
                  <c:v>8.3036773428232496E-3</c:v>
                </c:pt>
              </c:numCache>
            </c:numRef>
          </c:val>
        </c:ser>
        <c:ser>
          <c:idx val="6"/>
          <c:order val="6"/>
          <c:tx>
            <c:strRef>
              <c:f>국내!$J$4:$J$5</c:f>
              <c:strCache>
                <c:ptCount val="2"/>
                <c:pt idx="0">
                  <c:v>2018</c:v>
                </c:pt>
                <c:pt idx="1">
                  <c:v>인원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국내!$J$6:$J$17</c:f>
            </c:numRef>
          </c:val>
        </c:ser>
        <c:ser>
          <c:idx val="7"/>
          <c:order val="7"/>
          <c:tx>
            <c:strRef>
              <c:f>국내!$K$4:$K$5</c:f>
              <c:strCache>
                <c:ptCount val="2"/>
                <c:pt idx="0">
                  <c:v>2018</c:v>
                </c:pt>
                <c:pt idx="1">
                  <c:v>비중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국내!$C$6:$C$17</c:f>
              <c:strCache>
                <c:ptCount val="9"/>
                <c:pt idx="0">
                  <c:v>유럽</c:v>
                </c:pt>
                <c:pt idx="1">
                  <c:v>동남아</c:v>
                </c:pt>
                <c:pt idx="2">
                  <c:v>중국</c:v>
                </c:pt>
                <c:pt idx="3">
                  <c:v>일본</c:v>
                </c:pt>
                <c:pt idx="4">
                  <c:v>미주</c:v>
                </c:pt>
                <c:pt idx="5">
                  <c:v>대양주</c:v>
                </c:pt>
                <c:pt idx="6">
                  <c:v>괌사이판</c:v>
                </c:pt>
                <c:pt idx="7">
                  <c:v>국내</c:v>
                </c:pt>
                <c:pt idx="8">
                  <c:v>기타</c:v>
                </c:pt>
              </c:strCache>
            </c:strRef>
          </c:cat>
          <c:val>
            <c:numRef>
              <c:f>국내!$K$6:$K$17</c:f>
              <c:numCache>
                <c:formatCode>0%</c:formatCode>
                <c:ptCount val="9"/>
                <c:pt idx="0">
                  <c:v>0.17833553500660501</c:v>
                </c:pt>
                <c:pt idx="1">
                  <c:v>0.28137384412153238</c:v>
                </c:pt>
                <c:pt idx="2">
                  <c:v>7.3976221928665792E-2</c:v>
                </c:pt>
                <c:pt idx="3">
                  <c:v>0.14002642007926025</c:v>
                </c:pt>
                <c:pt idx="4">
                  <c:v>4.491413474240423E-2</c:v>
                </c:pt>
                <c:pt idx="5">
                  <c:v>2.7741083223249668E-2</c:v>
                </c:pt>
                <c:pt idx="6">
                  <c:v>2.2457067371202115E-2</c:v>
                </c:pt>
                <c:pt idx="7">
                  <c:v>0.22721268163804492</c:v>
                </c:pt>
                <c:pt idx="8">
                  <c:v>3.9630118890356669E-3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5374752"/>
        <c:axId val="885375312"/>
      </c:barChart>
      <c:catAx>
        <c:axId val="885374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375312"/>
        <c:crosses val="autoZero"/>
        <c:auto val="1"/>
        <c:lblAlgn val="ctr"/>
        <c:lblOffset val="100"/>
        <c:noMultiLvlLbl val="0"/>
      </c:catAx>
      <c:valAx>
        <c:axId val="8853753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374752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ko-KR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'지역별마스터,행사개수'!$K$24</c:f>
              <c:strCache>
                <c:ptCount val="1"/>
                <c:pt idx="0">
                  <c:v>17년 사용 마스터개수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'지역별마스터,행사개수'!$J$25:$J$38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일본</c:v>
                </c:pt>
                <c:pt idx="3">
                  <c:v>국내</c:v>
                </c:pt>
                <c:pt idx="4">
                  <c:v>중국</c:v>
                </c:pt>
                <c:pt idx="5">
                  <c:v>대양주</c:v>
                </c:pt>
                <c:pt idx="6">
                  <c:v>미주지역</c:v>
                </c:pt>
                <c:pt idx="7">
                  <c:v>사이판/괌</c:v>
                </c:pt>
                <c:pt idx="8">
                  <c:v>서인도</c:v>
                </c:pt>
                <c:pt idx="9">
                  <c:v>기타지역</c:v>
                </c:pt>
                <c:pt idx="10">
                  <c:v>중동지역</c:v>
                </c:pt>
                <c:pt idx="11">
                  <c:v>아프리카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'지역별마스터,행사개수'!$K$25:$K$38</c:f>
              <c:numCache>
                <c:formatCode>General</c:formatCode>
                <c:ptCount val="14"/>
                <c:pt idx="0">
                  <c:v>1231</c:v>
                </c:pt>
                <c:pt idx="1">
                  <c:v>1306</c:v>
                </c:pt>
                <c:pt idx="2">
                  <c:v>351</c:v>
                </c:pt>
                <c:pt idx="3">
                  <c:v>322</c:v>
                </c:pt>
                <c:pt idx="4">
                  <c:v>378</c:v>
                </c:pt>
                <c:pt idx="5">
                  <c:v>327</c:v>
                </c:pt>
                <c:pt idx="6">
                  <c:v>290</c:v>
                </c:pt>
                <c:pt idx="7">
                  <c:v>218</c:v>
                </c:pt>
                <c:pt idx="8">
                  <c:v>60</c:v>
                </c:pt>
                <c:pt idx="9">
                  <c:v>20</c:v>
                </c:pt>
                <c:pt idx="10">
                  <c:v>34</c:v>
                </c:pt>
                <c:pt idx="11">
                  <c:v>30</c:v>
                </c:pt>
                <c:pt idx="12">
                  <c:v>5</c:v>
                </c:pt>
                <c:pt idx="13">
                  <c:v>1</c:v>
                </c:pt>
              </c:numCache>
            </c:numRef>
          </c:val>
        </c:ser>
        <c:ser>
          <c:idx val="1"/>
          <c:order val="1"/>
          <c:tx>
            <c:strRef>
              <c:f>'지역별마스터,행사개수'!$L$24</c:f>
              <c:strCache>
                <c:ptCount val="1"/>
                <c:pt idx="0">
                  <c:v>17년 실제 판매된 마스터개수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/>
          </c:spPr>
          <c:invertIfNegative val="0"/>
          <c:cat>
            <c:strRef>
              <c:f>'지역별마스터,행사개수'!$J$25:$J$38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일본</c:v>
                </c:pt>
                <c:pt idx="3">
                  <c:v>국내</c:v>
                </c:pt>
                <c:pt idx="4">
                  <c:v>중국</c:v>
                </c:pt>
                <c:pt idx="5">
                  <c:v>대양주</c:v>
                </c:pt>
                <c:pt idx="6">
                  <c:v>미주지역</c:v>
                </c:pt>
                <c:pt idx="7">
                  <c:v>사이판/괌</c:v>
                </c:pt>
                <c:pt idx="8">
                  <c:v>서인도</c:v>
                </c:pt>
                <c:pt idx="9">
                  <c:v>기타지역</c:v>
                </c:pt>
                <c:pt idx="10">
                  <c:v>중동지역</c:v>
                </c:pt>
                <c:pt idx="11">
                  <c:v>아프리카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'지역별마스터,행사개수'!$L$25:$L$38</c:f>
              <c:numCache>
                <c:formatCode>General</c:formatCode>
                <c:ptCount val="14"/>
                <c:pt idx="0">
                  <c:v>891</c:v>
                </c:pt>
                <c:pt idx="1">
                  <c:v>549</c:v>
                </c:pt>
                <c:pt idx="2">
                  <c:v>225</c:v>
                </c:pt>
                <c:pt idx="3">
                  <c:v>208</c:v>
                </c:pt>
                <c:pt idx="4">
                  <c:v>215</c:v>
                </c:pt>
                <c:pt idx="5">
                  <c:v>184</c:v>
                </c:pt>
                <c:pt idx="6">
                  <c:v>161</c:v>
                </c:pt>
                <c:pt idx="7">
                  <c:v>129</c:v>
                </c:pt>
                <c:pt idx="8">
                  <c:v>25</c:v>
                </c:pt>
                <c:pt idx="9">
                  <c:v>8</c:v>
                </c:pt>
                <c:pt idx="10">
                  <c:v>15</c:v>
                </c:pt>
                <c:pt idx="11">
                  <c:v>6</c:v>
                </c:pt>
                <c:pt idx="12">
                  <c:v>4</c:v>
                </c:pt>
                <c:pt idx="13">
                  <c:v>0</c:v>
                </c:pt>
              </c:numCache>
            </c:numRef>
          </c:val>
        </c:ser>
        <c:ser>
          <c:idx val="2"/>
          <c:order val="2"/>
          <c:tx>
            <c:strRef>
              <c:f>'지역별마스터,행사개수'!$M$24</c:f>
              <c:strCache>
                <c:ptCount val="1"/>
                <c:pt idx="0">
                  <c:v>18년 사용 마스터개수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'지역별마스터,행사개수'!$J$25:$J$38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일본</c:v>
                </c:pt>
                <c:pt idx="3">
                  <c:v>국내</c:v>
                </c:pt>
                <c:pt idx="4">
                  <c:v>중국</c:v>
                </c:pt>
                <c:pt idx="5">
                  <c:v>대양주</c:v>
                </c:pt>
                <c:pt idx="6">
                  <c:v>미주지역</c:v>
                </c:pt>
                <c:pt idx="7">
                  <c:v>사이판/괌</c:v>
                </c:pt>
                <c:pt idx="8">
                  <c:v>서인도</c:v>
                </c:pt>
                <c:pt idx="9">
                  <c:v>기타지역</c:v>
                </c:pt>
                <c:pt idx="10">
                  <c:v>중동지역</c:v>
                </c:pt>
                <c:pt idx="11">
                  <c:v>아프리카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'지역별마스터,행사개수'!$M$25:$M$38</c:f>
              <c:numCache>
                <c:formatCode>_(* #,##0_);_(* \(#,##0\);_(* "-"_);_(@_)</c:formatCode>
                <c:ptCount val="14"/>
                <c:pt idx="0">
                  <c:v>1272</c:v>
                </c:pt>
                <c:pt idx="1">
                  <c:v>1211</c:v>
                </c:pt>
                <c:pt idx="2">
                  <c:v>365</c:v>
                </c:pt>
                <c:pt idx="3">
                  <c:v>327</c:v>
                </c:pt>
                <c:pt idx="4">
                  <c:v>320</c:v>
                </c:pt>
                <c:pt idx="5">
                  <c:v>289</c:v>
                </c:pt>
                <c:pt idx="6">
                  <c:v>256</c:v>
                </c:pt>
                <c:pt idx="7">
                  <c:v>197</c:v>
                </c:pt>
                <c:pt idx="8">
                  <c:v>54</c:v>
                </c:pt>
                <c:pt idx="9">
                  <c:v>46</c:v>
                </c:pt>
                <c:pt idx="10">
                  <c:v>27</c:v>
                </c:pt>
                <c:pt idx="11">
                  <c:v>18</c:v>
                </c:pt>
                <c:pt idx="12">
                  <c:v>3</c:v>
                </c:pt>
                <c:pt idx="13">
                  <c:v>2</c:v>
                </c:pt>
              </c:numCache>
            </c:numRef>
          </c:val>
        </c:ser>
        <c:ser>
          <c:idx val="3"/>
          <c:order val="3"/>
          <c:tx>
            <c:strRef>
              <c:f>'지역별마스터,행사개수'!$N$24</c:f>
              <c:strCache>
                <c:ptCount val="1"/>
                <c:pt idx="0">
                  <c:v>18년 실제 판매된 마스터개수</c:v>
                </c:pt>
              </c:strCache>
            </c:strRef>
          </c:tx>
          <c:spPr>
            <a:pattFill prst="wdUpDiag">
              <a:fgClr>
                <a:schemeClr val="accent2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'지역별마스터,행사개수'!$J$25:$J$38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일본</c:v>
                </c:pt>
                <c:pt idx="3">
                  <c:v>국내</c:v>
                </c:pt>
                <c:pt idx="4">
                  <c:v>중국</c:v>
                </c:pt>
                <c:pt idx="5">
                  <c:v>대양주</c:v>
                </c:pt>
                <c:pt idx="6">
                  <c:v>미주지역</c:v>
                </c:pt>
                <c:pt idx="7">
                  <c:v>사이판/괌</c:v>
                </c:pt>
                <c:pt idx="8">
                  <c:v>서인도</c:v>
                </c:pt>
                <c:pt idx="9">
                  <c:v>기타지역</c:v>
                </c:pt>
                <c:pt idx="10">
                  <c:v>중동지역</c:v>
                </c:pt>
                <c:pt idx="11">
                  <c:v>아프리카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'지역별마스터,행사개수'!$N$25:$N$38</c:f>
              <c:numCache>
                <c:formatCode>_(* #,##0_);_(* \(#,##0\);_(* "-"_);_(@_)</c:formatCode>
                <c:ptCount val="14"/>
                <c:pt idx="0">
                  <c:v>930</c:v>
                </c:pt>
                <c:pt idx="1">
                  <c:v>460</c:v>
                </c:pt>
                <c:pt idx="2">
                  <c:v>223</c:v>
                </c:pt>
                <c:pt idx="3">
                  <c:v>205</c:v>
                </c:pt>
                <c:pt idx="4">
                  <c:v>201</c:v>
                </c:pt>
                <c:pt idx="5">
                  <c:v>72</c:v>
                </c:pt>
                <c:pt idx="6" formatCode="General">
                  <c:v>235</c:v>
                </c:pt>
                <c:pt idx="7">
                  <c:v>126</c:v>
                </c:pt>
                <c:pt idx="8">
                  <c:v>24</c:v>
                </c:pt>
                <c:pt idx="9">
                  <c:v>18</c:v>
                </c:pt>
                <c:pt idx="10">
                  <c:v>10</c:v>
                </c:pt>
                <c:pt idx="11">
                  <c:v>5</c:v>
                </c:pt>
                <c:pt idx="12">
                  <c:v>3</c:v>
                </c:pt>
                <c:pt idx="1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5379232"/>
        <c:axId val="889328560"/>
      </c:barChart>
      <c:catAx>
        <c:axId val="885379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28560"/>
        <c:crosses val="autoZero"/>
        <c:auto val="1"/>
        <c:lblAlgn val="ctr"/>
        <c:lblOffset val="100"/>
        <c:noMultiLvlLbl val="0"/>
      </c:catAx>
      <c:valAx>
        <c:axId val="889328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5379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555403506698656E-2"/>
          <c:y val="6.2215940752788391E-2"/>
          <c:w val="0.81892750302369222"/>
          <c:h val="0.771151888951894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'지역별마스터,행사개수'!$C$52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4.665016891401713E-3"/>
                  <c:y val="-6.562629185613898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4.6650168914016557E-3"/>
                  <c:y val="9.375184550876899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"/>
                  <c:y val="-8.593819895096469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'지역별마스터,행사개수'!$B$53:$B$66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사이판/괌</c:v>
                </c:pt>
                <c:pt idx="3">
                  <c:v>대양주</c:v>
                </c:pt>
                <c:pt idx="4">
                  <c:v>미주지역</c:v>
                </c:pt>
                <c:pt idx="5">
                  <c:v>일본</c:v>
                </c:pt>
                <c:pt idx="6">
                  <c:v>중국</c:v>
                </c:pt>
                <c:pt idx="7">
                  <c:v>국내</c:v>
                </c:pt>
                <c:pt idx="8">
                  <c:v>서인도</c:v>
                </c:pt>
                <c:pt idx="9">
                  <c:v>아프리카</c:v>
                </c:pt>
                <c:pt idx="10">
                  <c:v>기타지역</c:v>
                </c:pt>
                <c:pt idx="11">
                  <c:v>중동지역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'지역별마스터,행사개수'!$C$53:$C$66</c:f>
              <c:numCache>
                <c:formatCode>_(* #,##0_);_(* \(#,##0\);_(* "-"_);_(@_)</c:formatCode>
                <c:ptCount val="14"/>
                <c:pt idx="0">
                  <c:v>435908</c:v>
                </c:pt>
                <c:pt idx="1">
                  <c:v>327148</c:v>
                </c:pt>
                <c:pt idx="2">
                  <c:v>76626</c:v>
                </c:pt>
                <c:pt idx="3">
                  <c:v>71948</c:v>
                </c:pt>
                <c:pt idx="4">
                  <c:v>48338</c:v>
                </c:pt>
                <c:pt idx="5">
                  <c:v>43955</c:v>
                </c:pt>
                <c:pt idx="6">
                  <c:v>43156</c:v>
                </c:pt>
                <c:pt idx="7">
                  <c:v>39012</c:v>
                </c:pt>
                <c:pt idx="8">
                  <c:v>4437</c:v>
                </c:pt>
                <c:pt idx="9">
                  <c:v>3919</c:v>
                </c:pt>
                <c:pt idx="10">
                  <c:v>1625</c:v>
                </c:pt>
                <c:pt idx="11">
                  <c:v>954</c:v>
                </c:pt>
                <c:pt idx="12">
                  <c:v>144</c:v>
                </c:pt>
                <c:pt idx="13">
                  <c:v>23</c:v>
                </c:pt>
              </c:numCache>
            </c:numRef>
          </c:val>
        </c:ser>
        <c:ser>
          <c:idx val="1"/>
          <c:order val="1"/>
          <c:tx>
            <c:strRef>
              <c:f>'지역별마스터,행사개수'!$D$52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1.8660067565606852E-2"/>
                  <c:y val="-7.96890686824544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0885039413270663E-2"/>
                  <c:y val="-1.875036910175397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6.2200225218688931E-3"/>
                  <c:y val="-0.107814622335085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6.2200225218689504E-3"/>
                  <c:y val="-5.62511073052619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6.2200225218689504E-3"/>
                  <c:y val="-5.156351502982350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1.5550056304672318E-2"/>
                  <c:y val="-4.218833047894652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1.7105061935139613E-2"/>
                  <c:y val="-4.68759227543849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layout>
                <c:manualLayout>
                  <c:x val="1.3995050674205024E-2"/>
                  <c:y val="-7.031388413157739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layout>
                <c:manualLayout>
                  <c:x val="2.3325084457008562E-2"/>
                  <c:y val="-6.56262918561388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layout>
                <c:manualLayout>
                  <c:x val="1.8660067565606852E-2"/>
                  <c:y val="-6.093869958070049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2"/>
              <c:layout>
                <c:manualLayout>
                  <c:x val="2.0215073196073973E-2"/>
                  <c:y val="-6.562629185613898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3"/>
              <c:layout>
                <c:manualLayout>
                  <c:x val="1.7105061935139613E-2"/>
                  <c:y val="-3.281314592806953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'지역별마스터,행사개수'!$B$53:$B$66</c:f>
              <c:strCache>
                <c:ptCount val="14"/>
                <c:pt idx="0">
                  <c:v>동남아</c:v>
                </c:pt>
                <c:pt idx="1">
                  <c:v>유럽</c:v>
                </c:pt>
                <c:pt idx="2">
                  <c:v>사이판/괌</c:v>
                </c:pt>
                <c:pt idx="3">
                  <c:v>대양주</c:v>
                </c:pt>
                <c:pt idx="4">
                  <c:v>미주지역</c:v>
                </c:pt>
                <c:pt idx="5">
                  <c:v>일본</c:v>
                </c:pt>
                <c:pt idx="6">
                  <c:v>중국</c:v>
                </c:pt>
                <c:pt idx="7">
                  <c:v>국내</c:v>
                </c:pt>
                <c:pt idx="8">
                  <c:v>서인도</c:v>
                </c:pt>
                <c:pt idx="9">
                  <c:v>아프리카</c:v>
                </c:pt>
                <c:pt idx="10">
                  <c:v>기타지역</c:v>
                </c:pt>
                <c:pt idx="11">
                  <c:v>중동지역</c:v>
                </c:pt>
                <c:pt idx="12">
                  <c:v>극동지역</c:v>
                </c:pt>
                <c:pt idx="13">
                  <c:v>캐리비안</c:v>
                </c:pt>
              </c:strCache>
            </c:strRef>
          </c:cat>
          <c:val>
            <c:numRef>
              <c:f>'지역별마스터,행사개수'!$D$53:$D$66</c:f>
              <c:numCache>
                <c:formatCode>_(* #,##0_);_(* \(#,##0\);_(* "-"_);_(@_)</c:formatCode>
                <c:ptCount val="14"/>
                <c:pt idx="0">
                  <c:v>471214</c:v>
                </c:pt>
                <c:pt idx="1">
                  <c:v>288810</c:v>
                </c:pt>
                <c:pt idx="2">
                  <c:v>75840</c:v>
                </c:pt>
                <c:pt idx="3">
                  <c:v>78942</c:v>
                </c:pt>
                <c:pt idx="4">
                  <c:v>44589</c:v>
                </c:pt>
                <c:pt idx="5">
                  <c:v>50710</c:v>
                </c:pt>
                <c:pt idx="6">
                  <c:v>41219</c:v>
                </c:pt>
                <c:pt idx="7">
                  <c:v>43810</c:v>
                </c:pt>
                <c:pt idx="8">
                  <c:v>5891</c:v>
                </c:pt>
                <c:pt idx="9">
                  <c:v>3142</c:v>
                </c:pt>
                <c:pt idx="10">
                  <c:v>6568</c:v>
                </c:pt>
                <c:pt idx="11">
                  <c:v>1055</c:v>
                </c:pt>
                <c:pt idx="12">
                  <c:v>75</c:v>
                </c:pt>
                <c:pt idx="13">
                  <c:v>46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89331360"/>
        <c:axId val="889331920"/>
      </c:barChart>
      <c:catAx>
        <c:axId val="889331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31920"/>
        <c:crosses val="autoZero"/>
        <c:auto val="1"/>
        <c:lblAlgn val="ctr"/>
        <c:lblOffset val="100"/>
        <c:noMultiLvlLbl val="0"/>
      </c:catAx>
      <c:valAx>
        <c:axId val="889331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31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기획전!$C$4</c:f>
              <c:strCache>
                <c:ptCount val="1"/>
                <c:pt idx="0">
                  <c:v>조회수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기획전!$B$5:$B$14</c:f>
              <c:strCache>
                <c:ptCount val="10"/>
                <c:pt idx="0">
                  <c:v>유럽</c:v>
                </c:pt>
                <c:pt idx="1">
                  <c:v>일본</c:v>
                </c:pt>
                <c:pt idx="2">
                  <c:v>동남아</c:v>
                </c:pt>
                <c:pt idx="3">
                  <c:v>북미지역</c:v>
                </c:pt>
                <c:pt idx="4">
                  <c:v>중국</c:v>
                </c:pt>
                <c:pt idx="5">
                  <c:v>대양주</c:v>
                </c:pt>
                <c:pt idx="6">
                  <c:v>사이판/괌</c:v>
                </c:pt>
                <c:pt idx="7">
                  <c:v>기타지역</c:v>
                </c:pt>
                <c:pt idx="8">
                  <c:v>중미지역</c:v>
                </c:pt>
                <c:pt idx="9">
                  <c:v>캐리비안</c:v>
                </c:pt>
              </c:strCache>
            </c:strRef>
          </c:cat>
          <c:val>
            <c:numRef>
              <c:f>기획전!$C$5:$C$14</c:f>
              <c:numCache>
                <c:formatCode>_(* #,##0_);_(* \(#,##0\);_(* "-"_);_(@_)</c:formatCode>
                <c:ptCount val="10"/>
                <c:pt idx="0">
                  <c:v>196979</c:v>
                </c:pt>
                <c:pt idx="1">
                  <c:v>146083</c:v>
                </c:pt>
                <c:pt idx="2">
                  <c:v>106062</c:v>
                </c:pt>
                <c:pt idx="3">
                  <c:v>55212</c:v>
                </c:pt>
                <c:pt idx="4">
                  <c:v>32955</c:v>
                </c:pt>
                <c:pt idx="5">
                  <c:v>16708</c:v>
                </c:pt>
                <c:pt idx="6">
                  <c:v>9346</c:v>
                </c:pt>
                <c:pt idx="7">
                  <c:v>10260</c:v>
                </c:pt>
                <c:pt idx="8">
                  <c:v>6814</c:v>
                </c:pt>
                <c:pt idx="9">
                  <c:v>2440</c:v>
                </c:pt>
              </c:numCache>
            </c:numRef>
          </c:val>
        </c:ser>
        <c:ser>
          <c:idx val="1"/>
          <c:order val="1"/>
          <c:tx>
            <c:strRef>
              <c:f>기획전!$D$4</c:f>
              <c:strCache>
                <c:ptCount val="1"/>
                <c:pt idx="0">
                  <c:v>유입자수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기획전!$B$5:$B$14</c:f>
              <c:strCache>
                <c:ptCount val="10"/>
                <c:pt idx="0">
                  <c:v>유럽</c:v>
                </c:pt>
                <c:pt idx="1">
                  <c:v>일본</c:v>
                </c:pt>
                <c:pt idx="2">
                  <c:v>동남아</c:v>
                </c:pt>
                <c:pt idx="3">
                  <c:v>북미지역</c:v>
                </c:pt>
                <c:pt idx="4">
                  <c:v>중국</c:v>
                </c:pt>
                <c:pt idx="5">
                  <c:v>대양주</c:v>
                </c:pt>
                <c:pt idx="6">
                  <c:v>사이판/괌</c:v>
                </c:pt>
                <c:pt idx="7">
                  <c:v>기타지역</c:v>
                </c:pt>
                <c:pt idx="8">
                  <c:v>중미지역</c:v>
                </c:pt>
                <c:pt idx="9">
                  <c:v>캐리비안</c:v>
                </c:pt>
              </c:strCache>
            </c:strRef>
          </c:cat>
          <c:val>
            <c:numRef>
              <c:f>기획전!$D$5:$D$14</c:f>
              <c:numCache>
                <c:formatCode>_(* #,##0_);_(* \(#,##0\);_(* "-"_);_(@_)</c:formatCode>
                <c:ptCount val="10"/>
                <c:pt idx="0">
                  <c:v>46819</c:v>
                </c:pt>
                <c:pt idx="1">
                  <c:v>40946</c:v>
                </c:pt>
                <c:pt idx="2">
                  <c:v>25819</c:v>
                </c:pt>
                <c:pt idx="3">
                  <c:v>12282</c:v>
                </c:pt>
                <c:pt idx="4">
                  <c:v>7818</c:v>
                </c:pt>
                <c:pt idx="5">
                  <c:v>4156</c:v>
                </c:pt>
                <c:pt idx="6">
                  <c:v>3671</c:v>
                </c:pt>
                <c:pt idx="7">
                  <c:v>2520</c:v>
                </c:pt>
                <c:pt idx="8">
                  <c:v>1599</c:v>
                </c:pt>
                <c:pt idx="9">
                  <c:v>706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9334720"/>
        <c:axId val="889335280"/>
      </c:barChart>
      <c:catAx>
        <c:axId val="889334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35280"/>
        <c:crosses val="autoZero"/>
        <c:auto val="1"/>
        <c:lblAlgn val="ctr"/>
        <c:lblOffset val="100"/>
        <c:noMultiLvlLbl val="0"/>
      </c:catAx>
      <c:valAx>
        <c:axId val="889335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34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기획전!$M$4</c:f>
              <c:strCache>
                <c:ptCount val="1"/>
                <c:pt idx="0">
                  <c:v>조회수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기획전!$B$5:$B$14</c:f>
              <c:strCache>
                <c:ptCount val="10"/>
                <c:pt idx="0">
                  <c:v>유럽</c:v>
                </c:pt>
                <c:pt idx="1">
                  <c:v>일본</c:v>
                </c:pt>
                <c:pt idx="2">
                  <c:v>동남아</c:v>
                </c:pt>
                <c:pt idx="3">
                  <c:v>북미지역</c:v>
                </c:pt>
                <c:pt idx="4">
                  <c:v>중국</c:v>
                </c:pt>
                <c:pt idx="5">
                  <c:v>대양주</c:v>
                </c:pt>
                <c:pt idx="6">
                  <c:v>사이판/괌</c:v>
                </c:pt>
                <c:pt idx="7">
                  <c:v>기타지역</c:v>
                </c:pt>
                <c:pt idx="8">
                  <c:v>중미지역</c:v>
                </c:pt>
                <c:pt idx="9">
                  <c:v>캐리비안</c:v>
                </c:pt>
              </c:strCache>
            </c:strRef>
          </c:cat>
          <c:val>
            <c:numRef>
              <c:f>기획전!$M$5:$M$14</c:f>
              <c:numCache>
                <c:formatCode>_(* #,##0_);_(* \(#,##0\);_(* "-"_);_(@_)</c:formatCode>
                <c:ptCount val="10"/>
                <c:pt idx="0">
                  <c:v>106228</c:v>
                </c:pt>
                <c:pt idx="1">
                  <c:v>51856</c:v>
                </c:pt>
                <c:pt idx="2">
                  <c:v>195879</c:v>
                </c:pt>
                <c:pt idx="3">
                  <c:v>17442</c:v>
                </c:pt>
                <c:pt idx="4">
                  <c:v>19571</c:v>
                </c:pt>
                <c:pt idx="5">
                  <c:v>11099</c:v>
                </c:pt>
                <c:pt idx="6">
                  <c:v>4068</c:v>
                </c:pt>
                <c:pt idx="7">
                  <c:v>6594</c:v>
                </c:pt>
                <c:pt idx="8">
                  <c:v>13769</c:v>
                </c:pt>
                <c:pt idx="9">
                  <c:v>15256</c:v>
                </c:pt>
              </c:numCache>
            </c:numRef>
          </c:val>
        </c:ser>
        <c:ser>
          <c:idx val="1"/>
          <c:order val="1"/>
          <c:tx>
            <c:strRef>
              <c:f>기획전!$N$4</c:f>
              <c:strCache>
                <c:ptCount val="1"/>
                <c:pt idx="0">
                  <c:v>유입자수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기획전!$B$5:$B$14</c:f>
              <c:strCache>
                <c:ptCount val="10"/>
                <c:pt idx="0">
                  <c:v>유럽</c:v>
                </c:pt>
                <c:pt idx="1">
                  <c:v>일본</c:v>
                </c:pt>
                <c:pt idx="2">
                  <c:v>동남아</c:v>
                </c:pt>
                <c:pt idx="3">
                  <c:v>북미지역</c:v>
                </c:pt>
                <c:pt idx="4">
                  <c:v>중국</c:v>
                </c:pt>
                <c:pt idx="5">
                  <c:v>대양주</c:v>
                </c:pt>
                <c:pt idx="6">
                  <c:v>사이판/괌</c:v>
                </c:pt>
                <c:pt idx="7">
                  <c:v>기타지역</c:v>
                </c:pt>
                <c:pt idx="8">
                  <c:v>중미지역</c:v>
                </c:pt>
                <c:pt idx="9">
                  <c:v>캐리비안</c:v>
                </c:pt>
              </c:strCache>
            </c:strRef>
          </c:cat>
          <c:val>
            <c:numRef>
              <c:f>기획전!$N$5:$N$14</c:f>
              <c:numCache>
                <c:formatCode>_(* #,##0_);_(* \(#,##0\);_(* "-"_);_(@_)</c:formatCode>
                <c:ptCount val="10"/>
                <c:pt idx="0">
                  <c:v>34879</c:v>
                </c:pt>
                <c:pt idx="1">
                  <c:v>17342</c:v>
                </c:pt>
                <c:pt idx="2">
                  <c:v>19888</c:v>
                </c:pt>
                <c:pt idx="3">
                  <c:v>14853</c:v>
                </c:pt>
                <c:pt idx="4">
                  <c:v>4269</c:v>
                </c:pt>
                <c:pt idx="5">
                  <c:v>3383</c:v>
                </c:pt>
                <c:pt idx="6">
                  <c:v>2037</c:v>
                </c:pt>
                <c:pt idx="7">
                  <c:v>1751</c:v>
                </c:pt>
                <c:pt idx="8">
                  <c:v>4158</c:v>
                </c:pt>
                <c:pt idx="9">
                  <c:v>5799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9338080"/>
        <c:axId val="889338640"/>
      </c:barChart>
      <c:catAx>
        <c:axId val="88933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38640"/>
        <c:crosses val="autoZero"/>
        <c:auto val="1"/>
        <c:lblAlgn val="ctr"/>
        <c:lblOffset val="100"/>
        <c:noMultiLvlLbl val="0"/>
      </c:catAx>
      <c:valAx>
        <c:axId val="889338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3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월별데이터!$D$3</c:f>
              <c:strCache>
                <c:ptCount val="1"/>
                <c:pt idx="0">
                  <c:v>17년 상품개수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월별데이터!$C$4:$C$15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월별데이터!$D$4:$D$15</c:f>
              <c:numCache>
                <c:formatCode>General</c:formatCode>
                <c:ptCount val="12"/>
                <c:pt idx="0">
                  <c:v>787</c:v>
                </c:pt>
                <c:pt idx="1">
                  <c:v>776</c:v>
                </c:pt>
                <c:pt idx="2">
                  <c:v>774</c:v>
                </c:pt>
                <c:pt idx="3">
                  <c:v>759</c:v>
                </c:pt>
                <c:pt idx="4">
                  <c:v>768</c:v>
                </c:pt>
                <c:pt idx="5">
                  <c:v>759</c:v>
                </c:pt>
                <c:pt idx="6">
                  <c:v>772</c:v>
                </c:pt>
                <c:pt idx="7">
                  <c:v>795</c:v>
                </c:pt>
                <c:pt idx="8">
                  <c:v>811</c:v>
                </c:pt>
                <c:pt idx="9">
                  <c:v>822</c:v>
                </c:pt>
                <c:pt idx="10">
                  <c:v>805</c:v>
                </c:pt>
                <c:pt idx="11">
                  <c:v>815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월별데이터!$L$3</c:f>
              <c:strCache>
                <c:ptCount val="1"/>
                <c:pt idx="0">
                  <c:v>18년 상품개수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월별데이터!$K$4:$K$15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월별데이터!$L$4:$L$15</c:f>
              <c:numCache>
                <c:formatCode>General</c:formatCode>
                <c:ptCount val="12"/>
                <c:pt idx="0">
                  <c:v>837</c:v>
                </c:pt>
                <c:pt idx="1">
                  <c:v>864</c:v>
                </c:pt>
                <c:pt idx="2">
                  <c:v>849</c:v>
                </c:pt>
                <c:pt idx="3">
                  <c:v>861</c:v>
                </c:pt>
                <c:pt idx="4">
                  <c:v>882</c:v>
                </c:pt>
                <c:pt idx="5">
                  <c:v>887</c:v>
                </c:pt>
                <c:pt idx="6">
                  <c:v>868</c:v>
                </c:pt>
                <c:pt idx="7">
                  <c:v>890</c:v>
                </c:pt>
                <c:pt idx="8">
                  <c:v>842</c:v>
                </c:pt>
                <c:pt idx="9">
                  <c:v>874</c:v>
                </c:pt>
                <c:pt idx="10">
                  <c:v>778</c:v>
                </c:pt>
                <c:pt idx="11">
                  <c:v>797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89341440"/>
        <c:axId val="889342000"/>
      </c:lineChart>
      <c:catAx>
        <c:axId val="889341440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42000"/>
        <c:crosses val="autoZero"/>
        <c:auto val="1"/>
        <c:lblAlgn val="ctr"/>
        <c:lblOffset val="100"/>
        <c:noMultiLvlLbl val="0"/>
      </c:catAx>
      <c:valAx>
        <c:axId val="889342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41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월별데이터!$E$3</c:f>
              <c:strCache>
                <c:ptCount val="1"/>
                <c:pt idx="0">
                  <c:v>17년 평균상품가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월별데이터!$C$4:$C$15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월별데이터!$E$4:$E$15</c:f>
              <c:numCache>
                <c:formatCode>_(* #,##0_);_(* \(#,##0\);_(* "-"_);_(@_)</c:formatCode>
                <c:ptCount val="12"/>
                <c:pt idx="0">
                  <c:v>960257</c:v>
                </c:pt>
                <c:pt idx="1">
                  <c:v>900340</c:v>
                </c:pt>
                <c:pt idx="2">
                  <c:v>778349</c:v>
                </c:pt>
                <c:pt idx="3">
                  <c:v>804313</c:v>
                </c:pt>
                <c:pt idx="4">
                  <c:v>803472</c:v>
                </c:pt>
                <c:pt idx="5">
                  <c:v>736426</c:v>
                </c:pt>
                <c:pt idx="6">
                  <c:v>830718</c:v>
                </c:pt>
                <c:pt idx="7">
                  <c:v>857843</c:v>
                </c:pt>
                <c:pt idx="8">
                  <c:v>756406</c:v>
                </c:pt>
                <c:pt idx="9">
                  <c:v>846106</c:v>
                </c:pt>
                <c:pt idx="10">
                  <c:v>773573</c:v>
                </c:pt>
                <c:pt idx="11">
                  <c:v>865068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월별데이터!$M$3</c:f>
              <c:strCache>
                <c:ptCount val="1"/>
                <c:pt idx="0">
                  <c:v>18년 평균상품가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월별데이터!$K$4:$K$15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월별데이터!$M$4:$M$15</c:f>
              <c:numCache>
                <c:formatCode>_(* #,##0_);_(* \(#,##0\);_(* "-"_);_(@_)</c:formatCode>
                <c:ptCount val="12"/>
                <c:pt idx="0">
                  <c:v>905461</c:v>
                </c:pt>
                <c:pt idx="1">
                  <c:v>931980</c:v>
                </c:pt>
                <c:pt idx="2">
                  <c:v>783780</c:v>
                </c:pt>
                <c:pt idx="3">
                  <c:v>777076</c:v>
                </c:pt>
                <c:pt idx="4">
                  <c:v>782569</c:v>
                </c:pt>
                <c:pt idx="5">
                  <c:v>749193</c:v>
                </c:pt>
                <c:pt idx="6">
                  <c:v>838166</c:v>
                </c:pt>
                <c:pt idx="7">
                  <c:v>856811</c:v>
                </c:pt>
                <c:pt idx="8">
                  <c:v>787900</c:v>
                </c:pt>
                <c:pt idx="9">
                  <c:v>737798</c:v>
                </c:pt>
                <c:pt idx="10">
                  <c:v>718735</c:v>
                </c:pt>
                <c:pt idx="11">
                  <c:v>842261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89344800"/>
        <c:axId val="889345360"/>
      </c:lineChart>
      <c:catAx>
        <c:axId val="889344800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45360"/>
        <c:crosses val="autoZero"/>
        <c:auto val="1"/>
        <c:lblAlgn val="ctr"/>
        <c:lblOffset val="100"/>
        <c:noMultiLvlLbl val="0"/>
      </c:catAx>
      <c:valAx>
        <c:axId val="889345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44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월별데이터!$F$3</c:f>
              <c:strCache>
                <c:ptCount val="1"/>
                <c:pt idx="0">
                  <c:v>17년 출발자수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월별데이터!$C$4:$C$15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월별데이터!$F$4:$F$15</c:f>
              <c:numCache>
                <c:formatCode>_(* #,##0_);_(* \(#,##0\);_(* "-"_);_(@_)</c:formatCode>
                <c:ptCount val="12"/>
                <c:pt idx="0">
                  <c:v>18126</c:v>
                </c:pt>
                <c:pt idx="1">
                  <c:v>17417</c:v>
                </c:pt>
                <c:pt idx="2">
                  <c:v>15697</c:v>
                </c:pt>
                <c:pt idx="3">
                  <c:v>14404</c:v>
                </c:pt>
                <c:pt idx="4">
                  <c:v>12280</c:v>
                </c:pt>
                <c:pt idx="5">
                  <c:v>13418</c:v>
                </c:pt>
                <c:pt idx="6">
                  <c:v>14714</c:v>
                </c:pt>
                <c:pt idx="7">
                  <c:v>15360</c:v>
                </c:pt>
                <c:pt idx="8">
                  <c:v>13165</c:v>
                </c:pt>
                <c:pt idx="9">
                  <c:v>16144</c:v>
                </c:pt>
                <c:pt idx="10">
                  <c:v>16111</c:v>
                </c:pt>
                <c:pt idx="11">
                  <c:v>16755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월별데이터!$N$3</c:f>
              <c:strCache>
                <c:ptCount val="1"/>
                <c:pt idx="0">
                  <c:v>18년 출발자수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월별데이터!$K$4:$K$15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월별데이터!$N$4:$N$15</c:f>
              <c:numCache>
                <c:formatCode>_(* #,##0_);_(* \(#,##0\);_(* "-"_);_(@_)</c:formatCode>
                <c:ptCount val="12"/>
                <c:pt idx="0">
                  <c:v>22227</c:v>
                </c:pt>
                <c:pt idx="1">
                  <c:v>16496</c:v>
                </c:pt>
                <c:pt idx="2">
                  <c:v>17447</c:v>
                </c:pt>
                <c:pt idx="3">
                  <c:v>13627</c:v>
                </c:pt>
                <c:pt idx="4">
                  <c:v>13957</c:v>
                </c:pt>
                <c:pt idx="5">
                  <c:v>13348</c:v>
                </c:pt>
                <c:pt idx="6">
                  <c:v>12749</c:v>
                </c:pt>
                <c:pt idx="7">
                  <c:v>14386</c:v>
                </c:pt>
                <c:pt idx="8">
                  <c:v>13487</c:v>
                </c:pt>
                <c:pt idx="9">
                  <c:v>16219</c:v>
                </c:pt>
                <c:pt idx="10">
                  <c:v>16289</c:v>
                </c:pt>
                <c:pt idx="11">
                  <c:v>17302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89348160"/>
        <c:axId val="889348720"/>
      </c:lineChart>
      <c:catAx>
        <c:axId val="889348160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48720"/>
        <c:crosses val="autoZero"/>
        <c:auto val="1"/>
        <c:lblAlgn val="ctr"/>
        <c:lblOffset val="100"/>
        <c:noMultiLvlLbl val="0"/>
      </c:catAx>
      <c:valAx>
        <c:axId val="889348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48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월별데이터!$D$17</c:f>
              <c:strCache>
                <c:ptCount val="1"/>
                <c:pt idx="0">
                  <c:v>17년 상품개수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월별데이터!$C$18:$C$29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월별데이터!$D$18:$D$29</c:f>
              <c:numCache>
                <c:formatCode>General</c:formatCode>
                <c:ptCount val="12"/>
                <c:pt idx="0">
                  <c:v>194</c:v>
                </c:pt>
                <c:pt idx="1">
                  <c:v>199</c:v>
                </c:pt>
                <c:pt idx="2">
                  <c:v>176</c:v>
                </c:pt>
                <c:pt idx="3">
                  <c:v>195</c:v>
                </c:pt>
                <c:pt idx="4">
                  <c:v>187</c:v>
                </c:pt>
                <c:pt idx="5">
                  <c:v>185</c:v>
                </c:pt>
                <c:pt idx="6">
                  <c:v>178</c:v>
                </c:pt>
                <c:pt idx="7">
                  <c:v>189</c:v>
                </c:pt>
                <c:pt idx="8">
                  <c:v>228</c:v>
                </c:pt>
                <c:pt idx="9">
                  <c:v>228</c:v>
                </c:pt>
                <c:pt idx="10">
                  <c:v>182</c:v>
                </c:pt>
                <c:pt idx="11">
                  <c:v>188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월별데이터!$L$17</c:f>
              <c:strCache>
                <c:ptCount val="1"/>
                <c:pt idx="0">
                  <c:v>18년 상품개수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월별데이터!$K$18:$K$29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월별데이터!$L$18:$L$29</c:f>
              <c:numCache>
                <c:formatCode>General</c:formatCode>
                <c:ptCount val="12"/>
                <c:pt idx="0">
                  <c:v>194</c:v>
                </c:pt>
                <c:pt idx="1">
                  <c:v>202</c:v>
                </c:pt>
                <c:pt idx="2">
                  <c:v>195</c:v>
                </c:pt>
                <c:pt idx="3">
                  <c:v>190</c:v>
                </c:pt>
                <c:pt idx="4">
                  <c:v>199</c:v>
                </c:pt>
                <c:pt idx="5">
                  <c:v>190</c:v>
                </c:pt>
                <c:pt idx="6">
                  <c:v>178</c:v>
                </c:pt>
                <c:pt idx="7">
                  <c:v>171</c:v>
                </c:pt>
                <c:pt idx="8">
                  <c:v>186</c:v>
                </c:pt>
                <c:pt idx="9">
                  <c:v>174</c:v>
                </c:pt>
                <c:pt idx="10">
                  <c:v>147</c:v>
                </c:pt>
                <c:pt idx="11">
                  <c:v>138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89351520"/>
        <c:axId val="889352080"/>
      </c:lineChart>
      <c:catAx>
        <c:axId val="889351520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52080"/>
        <c:crosses val="autoZero"/>
        <c:auto val="1"/>
        <c:lblAlgn val="ctr"/>
        <c:lblOffset val="100"/>
        <c:noMultiLvlLbl val="0"/>
      </c:catAx>
      <c:valAx>
        <c:axId val="889352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51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월별데이터!$E$17</c:f>
              <c:strCache>
                <c:ptCount val="1"/>
                <c:pt idx="0">
                  <c:v>17년 평균상품가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월별데이터!$C$18:$C$29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월별데이터!$E$18:$E$29</c:f>
              <c:numCache>
                <c:formatCode>_(* #,##0_);_(* \(#,##0\);_(* "-"_);_(@_)</c:formatCode>
                <c:ptCount val="12"/>
                <c:pt idx="0">
                  <c:v>707755</c:v>
                </c:pt>
                <c:pt idx="1">
                  <c:v>670486</c:v>
                </c:pt>
                <c:pt idx="2">
                  <c:v>610672</c:v>
                </c:pt>
                <c:pt idx="3">
                  <c:v>714020</c:v>
                </c:pt>
                <c:pt idx="4">
                  <c:v>702466</c:v>
                </c:pt>
                <c:pt idx="5">
                  <c:v>639351</c:v>
                </c:pt>
                <c:pt idx="6">
                  <c:v>723627</c:v>
                </c:pt>
                <c:pt idx="7">
                  <c:v>772212</c:v>
                </c:pt>
                <c:pt idx="8">
                  <c:v>772521</c:v>
                </c:pt>
                <c:pt idx="9">
                  <c:v>834203</c:v>
                </c:pt>
                <c:pt idx="10">
                  <c:v>710009</c:v>
                </c:pt>
                <c:pt idx="11">
                  <c:v>681593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월별데이터!$M$17</c:f>
              <c:strCache>
                <c:ptCount val="1"/>
                <c:pt idx="0">
                  <c:v>18년 평균상품가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월별데이터!$K$18:$K$29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월별데이터!$M$18:$M$29</c:f>
              <c:numCache>
                <c:formatCode>_(* #,##0_);_(* \(#,##0\);_(* "-"_);_(@_)</c:formatCode>
                <c:ptCount val="12"/>
                <c:pt idx="0">
                  <c:v>689041</c:v>
                </c:pt>
                <c:pt idx="1">
                  <c:v>752819</c:v>
                </c:pt>
                <c:pt idx="2">
                  <c:v>727488</c:v>
                </c:pt>
                <c:pt idx="3">
                  <c:v>690727</c:v>
                </c:pt>
                <c:pt idx="4">
                  <c:v>724897</c:v>
                </c:pt>
                <c:pt idx="5">
                  <c:v>674068</c:v>
                </c:pt>
                <c:pt idx="6">
                  <c:v>692220</c:v>
                </c:pt>
                <c:pt idx="7">
                  <c:v>682814</c:v>
                </c:pt>
                <c:pt idx="8">
                  <c:v>682169</c:v>
                </c:pt>
                <c:pt idx="9">
                  <c:v>660493</c:v>
                </c:pt>
                <c:pt idx="10">
                  <c:v>580064</c:v>
                </c:pt>
                <c:pt idx="11">
                  <c:v>543096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89354880"/>
        <c:axId val="889355440"/>
      </c:lineChart>
      <c:catAx>
        <c:axId val="889354880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55440"/>
        <c:crosses val="autoZero"/>
        <c:auto val="1"/>
        <c:lblAlgn val="ctr"/>
        <c:lblOffset val="100"/>
        <c:noMultiLvlLbl val="0"/>
      </c:catAx>
      <c:valAx>
        <c:axId val="889355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54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월별데이터!$F$17</c:f>
              <c:strCache>
                <c:ptCount val="1"/>
                <c:pt idx="0">
                  <c:v>17년 출발자수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월별데이터!$C$18:$C$29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월별데이터!$F$18:$F$29</c:f>
              <c:numCache>
                <c:formatCode>_(* #,##0_);_(* \(#,##0\);_(* "-"_);_(@_)</c:formatCode>
                <c:ptCount val="12"/>
                <c:pt idx="0">
                  <c:v>4443</c:v>
                </c:pt>
                <c:pt idx="1">
                  <c:v>4808</c:v>
                </c:pt>
                <c:pt idx="2">
                  <c:v>3905</c:v>
                </c:pt>
                <c:pt idx="3">
                  <c:v>1816</c:v>
                </c:pt>
                <c:pt idx="4">
                  <c:v>1898</c:v>
                </c:pt>
                <c:pt idx="5">
                  <c:v>2798</c:v>
                </c:pt>
                <c:pt idx="6">
                  <c:v>3081</c:v>
                </c:pt>
                <c:pt idx="7">
                  <c:v>3646</c:v>
                </c:pt>
                <c:pt idx="8">
                  <c:v>2753</c:v>
                </c:pt>
                <c:pt idx="9">
                  <c:v>3125</c:v>
                </c:pt>
                <c:pt idx="10">
                  <c:v>2179</c:v>
                </c:pt>
                <c:pt idx="11">
                  <c:v>3201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월별데이터!$N$17</c:f>
              <c:strCache>
                <c:ptCount val="1"/>
                <c:pt idx="0">
                  <c:v>18년 출발자수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월별데이터!$K$18:$K$29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월별데이터!$N$18:$N$29</c:f>
              <c:numCache>
                <c:formatCode>_(* #,##0_);_(* \(#,##0\);_(* "-"_);_(@_)</c:formatCode>
                <c:ptCount val="12"/>
                <c:pt idx="0">
                  <c:v>3992</c:v>
                </c:pt>
                <c:pt idx="1">
                  <c:v>2025</c:v>
                </c:pt>
                <c:pt idx="2">
                  <c:v>3748</c:v>
                </c:pt>
                <c:pt idx="3">
                  <c:v>4787</c:v>
                </c:pt>
                <c:pt idx="4">
                  <c:v>4625</c:v>
                </c:pt>
                <c:pt idx="5">
                  <c:v>4199</c:v>
                </c:pt>
                <c:pt idx="6">
                  <c:v>3520</c:v>
                </c:pt>
                <c:pt idx="7">
                  <c:v>4544</c:v>
                </c:pt>
                <c:pt idx="8">
                  <c:v>4771</c:v>
                </c:pt>
                <c:pt idx="9">
                  <c:v>4740</c:v>
                </c:pt>
                <c:pt idx="10">
                  <c:v>3869</c:v>
                </c:pt>
                <c:pt idx="11">
                  <c:v>3012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89358240"/>
        <c:axId val="889358800"/>
      </c:lineChart>
      <c:catAx>
        <c:axId val="889358240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58800"/>
        <c:crosses val="autoZero"/>
        <c:auto val="1"/>
        <c:lblAlgn val="ctr"/>
        <c:lblOffset val="100"/>
        <c:noMultiLvlLbl val="0"/>
      </c:catAx>
      <c:valAx>
        <c:axId val="889358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358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월별데이터!$D$31</c:f>
              <c:strCache>
                <c:ptCount val="1"/>
                <c:pt idx="0">
                  <c:v>17년 상품개수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월별데이터!$C$32:$C$43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월별데이터!$D$32:$D$43</c:f>
              <c:numCache>
                <c:formatCode>General</c:formatCode>
                <c:ptCount val="12"/>
                <c:pt idx="0">
                  <c:v>859</c:v>
                </c:pt>
                <c:pt idx="1">
                  <c:v>861</c:v>
                </c:pt>
                <c:pt idx="2">
                  <c:v>906</c:v>
                </c:pt>
                <c:pt idx="3">
                  <c:v>932</c:v>
                </c:pt>
                <c:pt idx="4">
                  <c:v>920</c:v>
                </c:pt>
                <c:pt idx="5">
                  <c:v>935</c:v>
                </c:pt>
                <c:pt idx="6">
                  <c:v>833</c:v>
                </c:pt>
                <c:pt idx="7">
                  <c:v>831</c:v>
                </c:pt>
                <c:pt idx="8">
                  <c:v>929</c:v>
                </c:pt>
                <c:pt idx="9">
                  <c:v>922</c:v>
                </c:pt>
                <c:pt idx="10">
                  <c:v>821</c:v>
                </c:pt>
                <c:pt idx="11">
                  <c:v>827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월별데이터!$L$31</c:f>
              <c:strCache>
                <c:ptCount val="1"/>
                <c:pt idx="0">
                  <c:v>18년 상품개수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월별데이터!$K$32:$K$43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월별데이터!$L$32:$L$43</c:f>
              <c:numCache>
                <c:formatCode>General</c:formatCode>
                <c:ptCount val="12"/>
                <c:pt idx="0">
                  <c:v>796</c:v>
                </c:pt>
                <c:pt idx="1">
                  <c:v>896</c:v>
                </c:pt>
                <c:pt idx="2">
                  <c:v>859</c:v>
                </c:pt>
                <c:pt idx="3">
                  <c:v>935</c:v>
                </c:pt>
                <c:pt idx="4">
                  <c:v>937</c:v>
                </c:pt>
                <c:pt idx="5">
                  <c:v>924</c:v>
                </c:pt>
                <c:pt idx="6">
                  <c:v>939</c:v>
                </c:pt>
                <c:pt idx="7">
                  <c:v>959</c:v>
                </c:pt>
                <c:pt idx="8">
                  <c:v>969</c:v>
                </c:pt>
                <c:pt idx="9">
                  <c:v>941</c:v>
                </c:pt>
                <c:pt idx="10">
                  <c:v>809</c:v>
                </c:pt>
                <c:pt idx="11">
                  <c:v>837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93059808"/>
        <c:axId val="893060368"/>
      </c:lineChart>
      <c:catAx>
        <c:axId val="893059808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60368"/>
        <c:crosses val="autoZero"/>
        <c:auto val="1"/>
        <c:lblAlgn val="ctr"/>
        <c:lblOffset val="100"/>
        <c:noMultiLvlLbl val="0"/>
      </c:catAx>
      <c:valAx>
        <c:axId val="893060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59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월별데이터!$E$31</c:f>
              <c:strCache>
                <c:ptCount val="1"/>
                <c:pt idx="0">
                  <c:v>17년 평균상품가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월별데이터!$C$32:$C$43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월별데이터!$E$32:$E$43</c:f>
              <c:numCache>
                <c:formatCode>_(* #,##0_);_(* \(#,##0\);_(* "-"_);_(@_)</c:formatCode>
                <c:ptCount val="12"/>
                <c:pt idx="0">
                  <c:v>1454307</c:v>
                </c:pt>
                <c:pt idx="1">
                  <c:v>1425441</c:v>
                </c:pt>
                <c:pt idx="2">
                  <c:v>1436645</c:v>
                </c:pt>
                <c:pt idx="3">
                  <c:v>1704584</c:v>
                </c:pt>
                <c:pt idx="4">
                  <c:v>1660423</c:v>
                </c:pt>
                <c:pt idx="5">
                  <c:v>1666485</c:v>
                </c:pt>
                <c:pt idx="6">
                  <c:v>1770517</c:v>
                </c:pt>
                <c:pt idx="7">
                  <c:v>1753251</c:v>
                </c:pt>
                <c:pt idx="8">
                  <c:v>1886742</c:v>
                </c:pt>
                <c:pt idx="9">
                  <c:v>1737225</c:v>
                </c:pt>
                <c:pt idx="10">
                  <c:v>1456654</c:v>
                </c:pt>
                <c:pt idx="11">
                  <c:v>1454874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월별데이터!$M$31</c:f>
              <c:strCache>
                <c:ptCount val="1"/>
                <c:pt idx="0">
                  <c:v>18년 평균상품가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월별데이터!$K$32:$K$43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월별데이터!$M$32:$M$43</c:f>
              <c:numCache>
                <c:formatCode>_(* #,##0_);_(* \(#,##0\);_(* "-"_);_(@_)</c:formatCode>
                <c:ptCount val="12"/>
                <c:pt idx="0">
                  <c:v>1452299</c:v>
                </c:pt>
                <c:pt idx="1">
                  <c:v>1484879</c:v>
                </c:pt>
                <c:pt idx="2">
                  <c:v>1470119</c:v>
                </c:pt>
                <c:pt idx="3">
                  <c:v>1740189</c:v>
                </c:pt>
                <c:pt idx="4">
                  <c:v>1758263</c:v>
                </c:pt>
                <c:pt idx="5">
                  <c:v>1788348</c:v>
                </c:pt>
                <c:pt idx="6">
                  <c:v>1904786</c:v>
                </c:pt>
                <c:pt idx="7">
                  <c:v>1869194</c:v>
                </c:pt>
                <c:pt idx="8">
                  <c:v>1898467</c:v>
                </c:pt>
                <c:pt idx="9">
                  <c:v>1724016</c:v>
                </c:pt>
                <c:pt idx="10">
                  <c:v>1471868</c:v>
                </c:pt>
                <c:pt idx="11">
                  <c:v>1493449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93063168"/>
        <c:axId val="893063728"/>
      </c:lineChart>
      <c:catAx>
        <c:axId val="893063168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63728"/>
        <c:crosses val="autoZero"/>
        <c:auto val="1"/>
        <c:lblAlgn val="ctr"/>
        <c:lblOffset val="100"/>
        <c:noMultiLvlLbl val="0"/>
      </c:catAx>
      <c:valAx>
        <c:axId val="893063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63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월별데이터!$F$31</c:f>
              <c:strCache>
                <c:ptCount val="1"/>
                <c:pt idx="0">
                  <c:v>17년 출발자수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월별데이터!$C$32:$C$43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월별데이터!$F$32:$F$43</c:f>
              <c:numCache>
                <c:formatCode>_(* #,##0_);_(* \(#,##0\);_(* "-"_);_(@_)</c:formatCode>
                <c:ptCount val="12"/>
                <c:pt idx="0">
                  <c:v>7133</c:v>
                </c:pt>
                <c:pt idx="1">
                  <c:v>6522</c:v>
                </c:pt>
                <c:pt idx="2">
                  <c:v>9821</c:v>
                </c:pt>
                <c:pt idx="3">
                  <c:v>11574</c:v>
                </c:pt>
                <c:pt idx="4">
                  <c:v>11197</c:v>
                </c:pt>
                <c:pt idx="5">
                  <c:v>10481</c:v>
                </c:pt>
                <c:pt idx="6">
                  <c:v>10218</c:v>
                </c:pt>
                <c:pt idx="7">
                  <c:v>9001</c:v>
                </c:pt>
                <c:pt idx="8">
                  <c:v>9893</c:v>
                </c:pt>
                <c:pt idx="9">
                  <c:v>9184</c:v>
                </c:pt>
                <c:pt idx="10">
                  <c:v>5727</c:v>
                </c:pt>
                <c:pt idx="11">
                  <c:v>5773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월별데이터!$N$31</c:f>
              <c:strCache>
                <c:ptCount val="1"/>
                <c:pt idx="0">
                  <c:v>18년 출발자수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월별데이터!$K$32:$K$43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월별데이터!$N$32:$N$43</c:f>
              <c:numCache>
                <c:formatCode>_(* #,##0_);_(* \(#,##0\);_(* "-"_);_(@_)</c:formatCode>
                <c:ptCount val="12"/>
                <c:pt idx="0">
                  <c:v>7445</c:v>
                </c:pt>
                <c:pt idx="1">
                  <c:v>6027</c:v>
                </c:pt>
                <c:pt idx="2">
                  <c:v>8910</c:v>
                </c:pt>
                <c:pt idx="3">
                  <c:v>11434</c:v>
                </c:pt>
                <c:pt idx="4">
                  <c:v>12697</c:v>
                </c:pt>
                <c:pt idx="5">
                  <c:v>10891</c:v>
                </c:pt>
                <c:pt idx="6">
                  <c:v>10780</c:v>
                </c:pt>
                <c:pt idx="7">
                  <c:v>10225</c:v>
                </c:pt>
                <c:pt idx="8">
                  <c:v>8584</c:v>
                </c:pt>
                <c:pt idx="9">
                  <c:v>9276</c:v>
                </c:pt>
                <c:pt idx="10">
                  <c:v>6439</c:v>
                </c:pt>
                <c:pt idx="11">
                  <c:v>6238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93066528"/>
        <c:axId val="893067088"/>
      </c:lineChart>
      <c:catAx>
        <c:axId val="893066528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67088"/>
        <c:crosses val="autoZero"/>
        <c:auto val="1"/>
        <c:lblAlgn val="ctr"/>
        <c:lblOffset val="100"/>
        <c:noMultiLvlLbl val="0"/>
      </c:catAx>
      <c:valAx>
        <c:axId val="893067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66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월별데이터!$D$87</c:f>
              <c:strCache>
                <c:ptCount val="1"/>
                <c:pt idx="0">
                  <c:v>17년 상품개수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월별데이터!$C$88:$C$99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월별데이터!$D$88:$D$99</c:f>
              <c:numCache>
                <c:formatCode>General</c:formatCode>
                <c:ptCount val="12"/>
                <c:pt idx="0">
                  <c:v>193</c:v>
                </c:pt>
                <c:pt idx="1">
                  <c:v>174</c:v>
                </c:pt>
                <c:pt idx="2">
                  <c:v>175</c:v>
                </c:pt>
                <c:pt idx="3">
                  <c:v>165</c:v>
                </c:pt>
                <c:pt idx="4">
                  <c:v>160</c:v>
                </c:pt>
                <c:pt idx="5">
                  <c:v>171</c:v>
                </c:pt>
                <c:pt idx="6">
                  <c:v>168</c:v>
                </c:pt>
                <c:pt idx="7">
                  <c:v>174</c:v>
                </c:pt>
                <c:pt idx="8">
                  <c:v>199</c:v>
                </c:pt>
                <c:pt idx="9">
                  <c:v>203</c:v>
                </c:pt>
                <c:pt idx="10">
                  <c:v>178</c:v>
                </c:pt>
                <c:pt idx="11">
                  <c:v>167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월별데이터!$L$87</c:f>
              <c:strCache>
                <c:ptCount val="1"/>
                <c:pt idx="0">
                  <c:v>18년 상품개수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월별데이터!$K$88:$K$99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월별데이터!$L$88:$L$99</c:f>
              <c:numCache>
                <c:formatCode>General</c:formatCode>
                <c:ptCount val="12"/>
                <c:pt idx="0">
                  <c:v>173</c:v>
                </c:pt>
                <c:pt idx="1">
                  <c:v>193</c:v>
                </c:pt>
                <c:pt idx="2">
                  <c:v>186</c:v>
                </c:pt>
                <c:pt idx="3">
                  <c:v>187</c:v>
                </c:pt>
                <c:pt idx="4">
                  <c:v>197</c:v>
                </c:pt>
                <c:pt idx="5">
                  <c:v>196</c:v>
                </c:pt>
                <c:pt idx="6">
                  <c:v>184</c:v>
                </c:pt>
                <c:pt idx="7">
                  <c:v>191</c:v>
                </c:pt>
                <c:pt idx="8">
                  <c:v>197</c:v>
                </c:pt>
                <c:pt idx="9">
                  <c:v>175</c:v>
                </c:pt>
                <c:pt idx="10">
                  <c:v>164</c:v>
                </c:pt>
                <c:pt idx="11">
                  <c:v>171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93069888"/>
        <c:axId val="893070448"/>
      </c:lineChart>
      <c:catAx>
        <c:axId val="893069888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70448"/>
        <c:crosses val="autoZero"/>
        <c:auto val="1"/>
        <c:lblAlgn val="ctr"/>
        <c:lblOffset val="100"/>
        <c:noMultiLvlLbl val="0"/>
      </c:catAx>
      <c:valAx>
        <c:axId val="893070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69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월별데이터!$E$87</c:f>
              <c:strCache>
                <c:ptCount val="1"/>
                <c:pt idx="0">
                  <c:v>17년 평균상품가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월별데이터!$C$88:$C$99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월별데이터!$E$88:$E$99</c:f>
              <c:numCache>
                <c:formatCode>_(* #,##0_);_(* \(#,##0\);_(* "-"_);_(@_)</c:formatCode>
                <c:ptCount val="12"/>
                <c:pt idx="0">
                  <c:v>859495</c:v>
                </c:pt>
                <c:pt idx="1">
                  <c:v>842902</c:v>
                </c:pt>
                <c:pt idx="2">
                  <c:v>793821</c:v>
                </c:pt>
                <c:pt idx="3">
                  <c:v>808202</c:v>
                </c:pt>
                <c:pt idx="4">
                  <c:v>770225</c:v>
                </c:pt>
                <c:pt idx="5">
                  <c:v>714063</c:v>
                </c:pt>
                <c:pt idx="6">
                  <c:v>820770</c:v>
                </c:pt>
                <c:pt idx="7">
                  <c:v>866891</c:v>
                </c:pt>
                <c:pt idx="8">
                  <c:v>777136</c:v>
                </c:pt>
                <c:pt idx="9">
                  <c:v>864769</c:v>
                </c:pt>
                <c:pt idx="10">
                  <c:v>777575</c:v>
                </c:pt>
                <c:pt idx="11">
                  <c:v>820069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월별데이터!$M$87</c:f>
              <c:strCache>
                <c:ptCount val="1"/>
                <c:pt idx="0">
                  <c:v>18년 평균상품가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월별데이터!$K$88:$K$99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월별데이터!$M$88:$M$99</c:f>
              <c:numCache>
                <c:formatCode>_(* #,##0_);_(* \(#,##0\);_(* "-"_);_(@_)</c:formatCode>
                <c:ptCount val="12"/>
                <c:pt idx="0">
                  <c:v>892740</c:v>
                </c:pt>
                <c:pt idx="1">
                  <c:v>911176</c:v>
                </c:pt>
                <c:pt idx="2">
                  <c:v>875558</c:v>
                </c:pt>
                <c:pt idx="3">
                  <c:v>882238</c:v>
                </c:pt>
                <c:pt idx="4">
                  <c:v>869345</c:v>
                </c:pt>
                <c:pt idx="5">
                  <c:v>836970</c:v>
                </c:pt>
                <c:pt idx="6">
                  <c:v>683186</c:v>
                </c:pt>
                <c:pt idx="7">
                  <c:v>691761</c:v>
                </c:pt>
                <c:pt idx="8">
                  <c:v>643440</c:v>
                </c:pt>
                <c:pt idx="9">
                  <c:v>659455</c:v>
                </c:pt>
                <c:pt idx="10">
                  <c:v>625828</c:v>
                </c:pt>
                <c:pt idx="11">
                  <c:v>674399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93073248"/>
        <c:axId val="893073808"/>
      </c:lineChart>
      <c:catAx>
        <c:axId val="893073248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73808"/>
        <c:crosses val="autoZero"/>
        <c:auto val="1"/>
        <c:lblAlgn val="ctr"/>
        <c:lblOffset val="100"/>
        <c:noMultiLvlLbl val="0"/>
      </c:catAx>
      <c:valAx>
        <c:axId val="893073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73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월별데이터!$F$87</c:f>
              <c:strCache>
                <c:ptCount val="1"/>
                <c:pt idx="0">
                  <c:v>17년 출발자수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월별데이터!$C$88:$C$99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월별데이터!$F$88:$F$99</c:f>
              <c:numCache>
                <c:formatCode>_(* #,##0_);_(* \(#,##0\);_(* "-"_);_(@_)</c:formatCode>
                <c:ptCount val="12"/>
                <c:pt idx="0">
                  <c:v>6839</c:v>
                </c:pt>
                <c:pt idx="1">
                  <c:v>7516</c:v>
                </c:pt>
                <c:pt idx="2">
                  <c:v>5543</c:v>
                </c:pt>
                <c:pt idx="3">
                  <c:v>5931</c:v>
                </c:pt>
                <c:pt idx="4">
                  <c:v>5887</c:v>
                </c:pt>
                <c:pt idx="5">
                  <c:v>5037</c:v>
                </c:pt>
                <c:pt idx="6">
                  <c:v>5389</c:v>
                </c:pt>
                <c:pt idx="7">
                  <c:v>7028</c:v>
                </c:pt>
                <c:pt idx="8">
                  <c:v>5266</c:v>
                </c:pt>
                <c:pt idx="9">
                  <c:v>6386</c:v>
                </c:pt>
                <c:pt idx="10">
                  <c:v>5830</c:v>
                </c:pt>
                <c:pt idx="11">
                  <c:v>6567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월별데이터!$N$87</c:f>
              <c:strCache>
                <c:ptCount val="1"/>
                <c:pt idx="0">
                  <c:v>18년 출발자수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월별데이터!$K$88:$K$99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월별데이터!$N$88:$N$99</c:f>
              <c:numCache>
                <c:formatCode>_(* #,##0_);_(* \(#,##0\);_(* "-"_);_(@_)</c:formatCode>
                <c:ptCount val="12"/>
                <c:pt idx="0">
                  <c:v>9992</c:v>
                </c:pt>
                <c:pt idx="1">
                  <c:v>7836</c:v>
                </c:pt>
                <c:pt idx="2">
                  <c:v>7694</c:v>
                </c:pt>
                <c:pt idx="3">
                  <c:v>8143</c:v>
                </c:pt>
                <c:pt idx="4">
                  <c:v>6768</c:v>
                </c:pt>
                <c:pt idx="5">
                  <c:v>6017</c:v>
                </c:pt>
                <c:pt idx="6">
                  <c:v>5082</c:v>
                </c:pt>
                <c:pt idx="7">
                  <c:v>4746</c:v>
                </c:pt>
                <c:pt idx="8">
                  <c:v>3483</c:v>
                </c:pt>
                <c:pt idx="9">
                  <c:v>4537</c:v>
                </c:pt>
                <c:pt idx="10">
                  <c:v>4654</c:v>
                </c:pt>
                <c:pt idx="11">
                  <c:v>5094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dropLines>
        <c:smooth val="0"/>
        <c:axId val="893076608"/>
        <c:axId val="893077168"/>
      </c:lineChart>
      <c:catAx>
        <c:axId val="893076608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77168"/>
        <c:crosses val="autoZero"/>
        <c:auto val="1"/>
        <c:lblAlgn val="ctr"/>
        <c:lblOffset val="100"/>
        <c:noMultiLvlLbl val="0"/>
      </c:catAx>
      <c:valAx>
        <c:axId val="893077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3076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0.07798</cdr:x>
      <cdr:y>0.18295</cdr:y>
    </cdr:from>
    <cdr:to>
      <cdr:x>0.62751</cdr:x>
      <cdr:y>0.49651</cdr:y>
    </cdr:to>
    <cdr:cxnSp macro="">
      <cdr:nvCxnSpPr>
        <cdr:cNvPr id="2" name="직선 화살표 연결선 1"/>
        <cdr:cNvCxnSpPr/>
      </cdr:nvCxnSpPr>
      <cdr:spPr>
        <a:xfrm xmlns:a="http://schemas.openxmlformats.org/drawingml/2006/main">
          <a:off x="625798" y="452978"/>
          <a:ext cx="4410255" cy="776377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002060"/>
          </a:solidFill>
          <a:prstDash val="sysDash"/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6" y="3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A0955C6A-6286-4949-9C38-5C6816709A16}" type="datetimeFigureOut">
              <a:rPr lang="ko-KR" altLang="en-US" smtClean="0"/>
              <a:pPr/>
              <a:t>2020-01-06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9430092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6" y="9430092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EA6DC73E-640F-427F-8594-F1EAD922FE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338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6" y="3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C3EB8B3F-9BB8-45CF-84EB-0981187662AA}" type="datetimeFigureOut">
              <a:rPr lang="ko-KR" altLang="en-US" smtClean="0"/>
              <a:pPr/>
              <a:t>2020-01-06</a:t>
            </a:fld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62"/>
            <a:ext cx="5438140" cy="3909239"/>
          </a:xfrm>
          <a:prstGeom prst="rect">
            <a:avLst/>
          </a:prstGeom>
        </p:spPr>
        <p:txBody>
          <a:bodyPr vert="horz" lIns="91411" tIns="45706" rIns="91411" bIns="45706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30092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6" y="9430092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AF0E615B-3410-43A0-B6DB-1161CA1060F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722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1" tIns="45706" rIns="91411" bIns="45706" rtlCol="0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38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39838"/>
            <a:ext cx="4467225" cy="3351212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4328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83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97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099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471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336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8F662C83-1826-4FDF-8202-A8AA69C17CC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3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9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1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820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3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7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1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445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36513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F3ED9-DC74-4C8C-8377-0099832BA421}" type="datetime1">
              <a:rPr lang="ko-KR" altLang="en-US" smtClean="0"/>
              <a:t>2020-01-06</a:t>
            </a:fld>
            <a:endParaRPr lang="ko-KR" alt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74B24-6935-4E71-8911-83EF8794972C}" type="slidenum">
              <a:rPr lang="ko-KR" altLang="en-US"/>
              <a:pPr>
                <a:defRPr/>
              </a:pPr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/32</a:t>
            </a:r>
            <a:endParaRPr lang="ko-KR" altLang="en-US" dirty="0"/>
          </a:p>
        </p:txBody>
      </p:sp>
      <p:sp>
        <p:nvSpPr>
          <p:cNvPr id="5" name="바닥글 개체 틀 1"/>
          <p:cNvSpPr>
            <a:spLocks noGrp="1"/>
          </p:cNvSpPr>
          <p:nvPr>
            <p:ph type="ftr" sz="quarter" idx="12"/>
          </p:nvPr>
        </p:nvSpPr>
        <p:spPr>
          <a:xfrm>
            <a:off x="7404103" y="6584961"/>
            <a:ext cx="1739900" cy="269875"/>
          </a:xfrm>
        </p:spPr>
        <p:txBody>
          <a:bodyPr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800" b="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776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3" descr="31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3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0671D377-CDAF-4134-A811-9042D82CE6EE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3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>
                <a:ea typeface="Tahoma" panose="020B0604030504040204" pitchFamily="34" charset="0"/>
              </a:rPr>
              <a:t>/ 10</a:t>
            </a:r>
            <a:endParaRPr lang="ko-KR" altLang="en-US" dirty="0"/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1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4" r:id="rId2"/>
    <p:sldLayoutId id="2147483685" r:id="rId3"/>
  </p:sldLayoutIdLst>
  <p:timing>
    <p:tnLst>
      <p:par>
        <p:cTn id="1" dur="indefinite" restart="never" nodeType="tmRoot"/>
      </p:par>
    </p:tnLst>
  </p:timing>
  <p:hf hdr="0"/>
  <p:txStyles>
    <p:titleStyle>
      <a:lvl1pPr algn="l" defTabSz="914332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2" indent="-228582" algn="l" defTabSz="914332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6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2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2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chart" Target="../charts/chart4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6.xml"/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1.xml"/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2" Type="http://schemas.openxmlformats.org/officeDocument/2006/relationships/chart" Target="../charts/chart5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6.xml"/><Relationship Id="rId2" Type="http://schemas.openxmlformats.org/officeDocument/2006/relationships/chart" Target="../charts/chart5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9.xml"/><Relationship Id="rId2" Type="http://schemas.openxmlformats.org/officeDocument/2006/relationships/chart" Target="../charts/chart5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2.xml"/><Relationship Id="rId2" Type="http://schemas.openxmlformats.org/officeDocument/2006/relationships/chart" Target="../charts/chart6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992387" y="4817939"/>
            <a:ext cx="3159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2019.03</a:t>
            </a: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IT</a:t>
            </a:r>
            <a:r>
              <a:rPr lang="ko-KR" altLang="en-US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미래전략부문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7753" y="2736641"/>
            <a:ext cx="6768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고객 및 상품 기초  통계</a:t>
            </a:r>
            <a:endParaRPr lang="en-US" altLang="ko-KR" sz="30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3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87539" y="208284"/>
            <a:ext cx="424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2017,2018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년 여행 동향 요약 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리포트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4145" y="818963"/>
            <a:ext cx="8426390" cy="2943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55" lvl="2">
              <a:lnSpc>
                <a:spcPct val="150000"/>
              </a:lnSpc>
            </a:pPr>
            <a:r>
              <a:rPr lang="ko-KR" altLang="en-US" sz="950" b="1" dirty="0">
                <a:latin typeface="+mn-ea"/>
              </a:rPr>
              <a:t>한국관광공사에서 발표한 자료에 따르면</a:t>
            </a:r>
            <a:r>
              <a:rPr lang="ko-KR" altLang="en-US" sz="950" dirty="0">
                <a:latin typeface="+mn-ea"/>
              </a:rPr>
              <a:t> </a:t>
            </a:r>
            <a:r>
              <a:rPr lang="ko-KR" altLang="en-US" sz="950" dirty="0" smtClean="0">
                <a:latin typeface="+mn-ea"/>
              </a:rPr>
              <a:t>내국인 총 출국자수는 </a:t>
            </a:r>
            <a:r>
              <a:rPr lang="en-US" altLang="ko-KR" sz="950" dirty="0" smtClean="0">
                <a:latin typeface="+mn-ea"/>
              </a:rPr>
              <a:t>2017</a:t>
            </a:r>
            <a:r>
              <a:rPr lang="ko-KR" altLang="en-US" sz="950" dirty="0" smtClean="0">
                <a:latin typeface="+mn-ea"/>
              </a:rPr>
              <a:t>년에 전년대비 </a:t>
            </a:r>
            <a:r>
              <a:rPr lang="en-US" altLang="ko-KR" sz="950" dirty="0" smtClean="0">
                <a:latin typeface="+mn-ea"/>
              </a:rPr>
              <a:t>18% </a:t>
            </a:r>
            <a:r>
              <a:rPr lang="ko-KR" altLang="en-US" sz="950" dirty="0" smtClean="0">
                <a:latin typeface="+mn-ea"/>
              </a:rPr>
              <a:t>증가하였으나</a:t>
            </a:r>
            <a:r>
              <a:rPr lang="en-US" altLang="ko-KR" sz="950" dirty="0" smtClean="0">
                <a:latin typeface="+mn-ea"/>
              </a:rPr>
              <a:t>,</a:t>
            </a:r>
          </a:p>
          <a:p>
            <a:pPr marL="457155" lvl="2">
              <a:lnSpc>
                <a:spcPct val="150000"/>
              </a:lnSpc>
            </a:pPr>
            <a:r>
              <a:rPr lang="en-US" altLang="ko-KR" sz="950" dirty="0" smtClean="0">
                <a:latin typeface="+mn-ea"/>
              </a:rPr>
              <a:t>2018</a:t>
            </a:r>
            <a:r>
              <a:rPr lang="ko-KR" altLang="en-US" sz="950" dirty="0" smtClean="0">
                <a:latin typeface="+mn-ea"/>
              </a:rPr>
              <a:t>년에는 전년대비 </a:t>
            </a:r>
            <a:r>
              <a:rPr lang="en-US" altLang="ko-KR" sz="950" dirty="0" smtClean="0">
                <a:latin typeface="+mn-ea"/>
              </a:rPr>
              <a:t>8% </a:t>
            </a:r>
            <a:r>
              <a:rPr lang="ko-KR" altLang="en-US" sz="950" dirty="0" smtClean="0">
                <a:latin typeface="+mn-ea"/>
              </a:rPr>
              <a:t>증가에 그치며 성장세가 한풀 </a:t>
            </a:r>
            <a:r>
              <a:rPr lang="ko-KR" altLang="en-US" sz="950" dirty="0" err="1" smtClean="0">
                <a:latin typeface="+mn-ea"/>
              </a:rPr>
              <a:t>꺽였다</a:t>
            </a:r>
            <a:r>
              <a:rPr lang="en-US" altLang="ko-KR" sz="950" dirty="0" smtClean="0">
                <a:latin typeface="+mn-ea"/>
              </a:rPr>
              <a:t>. 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자사를 통한 총 출국자 수의 경우 </a:t>
            </a:r>
            <a:r>
              <a:rPr lang="en-US" altLang="ko-KR" sz="950" dirty="0" smtClean="0">
                <a:latin typeface="+mn-ea"/>
              </a:rPr>
              <a:t>2017</a:t>
            </a:r>
            <a:r>
              <a:rPr lang="ko-KR" altLang="en-US" sz="950" dirty="0" smtClean="0">
                <a:latin typeface="+mn-ea"/>
              </a:rPr>
              <a:t>년 내국인 총 출국자수의 증가세에 힘입어 전년대비 </a:t>
            </a:r>
            <a:r>
              <a:rPr lang="en-US" altLang="ko-KR" sz="950" dirty="0" smtClean="0">
                <a:latin typeface="+mn-ea"/>
              </a:rPr>
              <a:t>18%</a:t>
            </a:r>
            <a:r>
              <a:rPr lang="ko-KR" altLang="en-US" sz="950" dirty="0" smtClean="0">
                <a:latin typeface="+mn-ea"/>
              </a:rPr>
              <a:t>로 동일하게 증가하였으나</a:t>
            </a:r>
            <a:r>
              <a:rPr lang="en-US" altLang="ko-KR" sz="950" dirty="0" smtClean="0">
                <a:latin typeface="+mn-ea"/>
              </a:rPr>
              <a:t>,</a:t>
            </a:r>
          </a:p>
          <a:p>
            <a:pPr marL="457155" lvl="2">
              <a:lnSpc>
                <a:spcPct val="150000"/>
              </a:lnSpc>
            </a:pPr>
            <a:r>
              <a:rPr lang="en-US" altLang="ko-KR" sz="950" dirty="0" smtClean="0">
                <a:latin typeface="+mn-ea"/>
              </a:rPr>
              <a:t>2018</a:t>
            </a:r>
            <a:r>
              <a:rPr lang="ko-KR" altLang="en-US" sz="950" dirty="0" smtClean="0">
                <a:latin typeface="+mn-ea"/>
              </a:rPr>
              <a:t>년에는 증가율이 </a:t>
            </a:r>
            <a:r>
              <a:rPr lang="en-US" altLang="ko-KR" sz="950" dirty="0" smtClean="0">
                <a:latin typeface="+mn-ea"/>
              </a:rPr>
              <a:t>3%</a:t>
            </a:r>
            <a:r>
              <a:rPr lang="ko-KR" altLang="en-US" sz="950" dirty="0" smtClean="0">
                <a:latin typeface="+mn-ea"/>
              </a:rPr>
              <a:t>로 </a:t>
            </a:r>
            <a:r>
              <a:rPr lang="ko-KR" altLang="en-US" sz="950" b="1" dirty="0" smtClean="0">
                <a:latin typeface="+mn-ea"/>
              </a:rPr>
              <a:t>내국인 출국자수의 성장세에 비해 눈에 띄게 둔화되고 있다</a:t>
            </a:r>
            <a:r>
              <a:rPr lang="en-US" altLang="ko-KR" sz="950" b="1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월별 </a:t>
            </a:r>
            <a:r>
              <a:rPr lang="ko-KR" altLang="en-US" sz="950" b="1" dirty="0">
                <a:latin typeface="+mn-ea"/>
              </a:rPr>
              <a:t>출국자수의 경우 </a:t>
            </a:r>
            <a:r>
              <a:rPr lang="en-US" altLang="ko-KR" sz="950" dirty="0">
                <a:latin typeface="+mn-ea"/>
              </a:rPr>
              <a:t>2017</a:t>
            </a:r>
            <a:r>
              <a:rPr lang="ko-KR" altLang="en-US" sz="950" dirty="0">
                <a:latin typeface="+mn-ea"/>
              </a:rPr>
              <a:t>년 </a:t>
            </a:r>
            <a:r>
              <a:rPr lang="en-US" altLang="ko-KR" sz="950" dirty="0">
                <a:latin typeface="+mn-ea"/>
              </a:rPr>
              <a:t>2~4</a:t>
            </a:r>
            <a:r>
              <a:rPr lang="ko-KR" altLang="en-US" sz="950" dirty="0">
                <a:latin typeface="+mn-ea"/>
              </a:rPr>
              <a:t>월은 전년대비 평균 </a:t>
            </a:r>
            <a:r>
              <a:rPr lang="en-US" altLang="ko-KR" sz="950" dirty="0">
                <a:latin typeface="+mn-ea"/>
              </a:rPr>
              <a:t>39% </a:t>
            </a:r>
            <a:r>
              <a:rPr lang="ko-KR" altLang="en-US" sz="950" dirty="0">
                <a:latin typeface="+mn-ea"/>
              </a:rPr>
              <a:t>증가를 보였으나</a:t>
            </a:r>
            <a:r>
              <a:rPr lang="en-US" altLang="ko-KR" sz="950" dirty="0">
                <a:latin typeface="+mn-ea"/>
              </a:rPr>
              <a:t>, 2018</a:t>
            </a:r>
            <a:r>
              <a:rPr lang="ko-KR" altLang="en-US" sz="950" dirty="0" smtClean="0">
                <a:latin typeface="+mn-ea"/>
              </a:rPr>
              <a:t>년 </a:t>
            </a:r>
            <a:r>
              <a:rPr lang="en-US" altLang="ko-KR" sz="950" dirty="0" smtClean="0">
                <a:latin typeface="+mn-ea"/>
              </a:rPr>
              <a:t>2~4</a:t>
            </a:r>
            <a:r>
              <a:rPr lang="ko-KR" altLang="en-US" sz="950" dirty="0" smtClean="0">
                <a:latin typeface="+mn-ea"/>
              </a:rPr>
              <a:t>월에는 전년대비 </a:t>
            </a:r>
            <a:r>
              <a:rPr lang="ko-KR" altLang="en-US" sz="950" dirty="0">
                <a:latin typeface="+mn-ea"/>
              </a:rPr>
              <a:t>평균 </a:t>
            </a:r>
            <a:r>
              <a:rPr lang="en-US" altLang="ko-KR" sz="950" dirty="0">
                <a:latin typeface="+mn-ea"/>
              </a:rPr>
              <a:t>-4%</a:t>
            </a:r>
            <a:r>
              <a:rPr lang="ko-KR" altLang="en-US" sz="950" dirty="0">
                <a:latin typeface="+mn-ea"/>
              </a:rPr>
              <a:t>로 </a:t>
            </a:r>
            <a:r>
              <a:rPr lang="ko-KR" altLang="en-US" sz="950" dirty="0" smtClean="0">
                <a:latin typeface="+mn-ea"/>
              </a:rPr>
              <a:t>감소하였고</a:t>
            </a:r>
            <a:r>
              <a:rPr lang="en-US" altLang="ko-KR" sz="950" dirty="0" smtClean="0">
                <a:latin typeface="+mn-ea"/>
              </a:rPr>
              <a:t>.</a:t>
            </a: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en-US" altLang="ko-KR" sz="950" dirty="0">
                <a:latin typeface="+mn-ea"/>
              </a:rPr>
              <a:t>2018</a:t>
            </a:r>
            <a:r>
              <a:rPr lang="ko-KR" altLang="en-US" sz="950" dirty="0">
                <a:latin typeface="+mn-ea"/>
              </a:rPr>
              <a:t>년 성수기</a:t>
            </a:r>
            <a:r>
              <a:rPr lang="en-US" altLang="ko-KR" sz="950" dirty="0">
                <a:latin typeface="+mn-ea"/>
              </a:rPr>
              <a:t>(7,8,12</a:t>
            </a:r>
            <a:r>
              <a:rPr lang="ko-KR" altLang="en-US" sz="950" dirty="0">
                <a:latin typeface="+mn-ea"/>
              </a:rPr>
              <a:t>월</a:t>
            </a:r>
            <a:r>
              <a:rPr lang="en-US" altLang="ko-KR" sz="950" dirty="0" smtClean="0">
                <a:latin typeface="+mn-ea"/>
              </a:rPr>
              <a:t>)</a:t>
            </a:r>
            <a:r>
              <a:rPr lang="ko-KR" altLang="en-US" sz="950" dirty="0" smtClean="0">
                <a:latin typeface="+mn-ea"/>
              </a:rPr>
              <a:t>에는 </a:t>
            </a:r>
            <a:r>
              <a:rPr lang="ko-KR" altLang="en-US" sz="950" dirty="0">
                <a:latin typeface="+mn-ea"/>
              </a:rPr>
              <a:t>자사 총 출국자 비중이 큰 폭으로 감소했다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내국인 </a:t>
            </a:r>
            <a:r>
              <a:rPr lang="ko-KR" altLang="en-US" sz="950" b="1" dirty="0">
                <a:latin typeface="+mn-ea"/>
              </a:rPr>
              <a:t>출입국 </a:t>
            </a:r>
            <a:r>
              <a:rPr lang="ko-KR" altLang="en-US" sz="950" b="1" dirty="0" smtClean="0">
                <a:latin typeface="+mn-ea"/>
              </a:rPr>
              <a:t>통계에 따르면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en-US" altLang="ko-KR" sz="950" dirty="0">
                <a:latin typeface="+mn-ea"/>
              </a:rPr>
              <a:t>2018</a:t>
            </a:r>
            <a:r>
              <a:rPr lang="ko-KR" altLang="en-US" sz="950" dirty="0">
                <a:latin typeface="+mn-ea"/>
              </a:rPr>
              <a:t>년 </a:t>
            </a:r>
            <a:r>
              <a:rPr lang="en-US" altLang="ko-KR" sz="950" dirty="0">
                <a:latin typeface="+mn-ea"/>
              </a:rPr>
              <a:t>1~12</a:t>
            </a:r>
            <a:r>
              <a:rPr lang="ko-KR" altLang="en-US" sz="950" dirty="0">
                <a:latin typeface="+mn-ea"/>
              </a:rPr>
              <a:t>월 월별 출국자 수 변동폭은 지난해와 비교해 줄었다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특히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en-US" altLang="ko-KR" sz="950" dirty="0" smtClean="0">
                <a:latin typeface="+mn-ea"/>
              </a:rPr>
              <a:t>2018</a:t>
            </a:r>
            <a:r>
              <a:rPr lang="ko-KR" altLang="en-US" sz="950" dirty="0" smtClean="0">
                <a:latin typeface="+mn-ea"/>
              </a:rPr>
              <a:t>년 성수기</a:t>
            </a:r>
            <a:r>
              <a:rPr lang="en-US" altLang="ko-KR" sz="950" dirty="0" smtClean="0">
                <a:latin typeface="+mn-ea"/>
              </a:rPr>
              <a:t>(7~8</a:t>
            </a:r>
            <a:r>
              <a:rPr lang="ko-KR" altLang="en-US" sz="950" dirty="0" smtClean="0">
                <a:latin typeface="+mn-ea"/>
              </a:rPr>
              <a:t>월</a:t>
            </a:r>
            <a:r>
              <a:rPr lang="en-US" altLang="ko-KR" sz="950" dirty="0" smtClean="0">
                <a:latin typeface="+mn-ea"/>
              </a:rPr>
              <a:t>)</a:t>
            </a:r>
            <a:r>
              <a:rPr lang="ko-KR" altLang="en-US" sz="950" dirty="0" smtClean="0">
                <a:latin typeface="+mn-ea"/>
              </a:rPr>
              <a:t> 평균 출국자 수와 비수기</a:t>
            </a:r>
            <a:r>
              <a:rPr lang="en-US" altLang="ko-KR" sz="950" dirty="0" smtClean="0">
                <a:latin typeface="+mn-ea"/>
              </a:rPr>
              <a:t>(3~6</a:t>
            </a:r>
            <a:r>
              <a:rPr lang="ko-KR" altLang="en-US" sz="950" dirty="0" smtClean="0">
                <a:latin typeface="+mn-ea"/>
              </a:rPr>
              <a:t>월</a:t>
            </a:r>
            <a:r>
              <a:rPr lang="en-US" altLang="ko-KR" sz="950" dirty="0" smtClean="0">
                <a:latin typeface="+mn-ea"/>
              </a:rPr>
              <a:t>)</a:t>
            </a:r>
            <a:r>
              <a:rPr lang="ko-KR" altLang="en-US" sz="950" dirty="0" smtClean="0">
                <a:latin typeface="+mn-ea"/>
              </a:rPr>
              <a:t> 평균 출국자 수의 차이는 전년 동기 큰 폭으로 감소했으며</a:t>
            </a:r>
            <a:r>
              <a:rPr lang="en-US" altLang="ko-KR" sz="950" dirty="0" smtClean="0">
                <a:latin typeface="+mn-ea"/>
              </a:rPr>
              <a:t>,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이외에도 </a:t>
            </a:r>
            <a:r>
              <a:rPr lang="en-US" altLang="ko-KR" sz="950" dirty="0">
                <a:latin typeface="+mn-ea"/>
              </a:rPr>
              <a:t>2018</a:t>
            </a:r>
            <a:r>
              <a:rPr lang="ko-KR" altLang="en-US" sz="950" dirty="0">
                <a:latin typeface="+mn-ea"/>
              </a:rPr>
              <a:t>년은 </a:t>
            </a:r>
            <a:r>
              <a:rPr lang="en-US" altLang="ko-KR" sz="950" dirty="0">
                <a:latin typeface="+mn-ea"/>
              </a:rPr>
              <a:t>1</a:t>
            </a:r>
            <a:r>
              <a:rPr lang="ko-KR" altLang="en-US" sz="950" dirty="0">
                <a:latin typeface="+mn-ea"/>
              </a:rPr>
              <a:t>월을 제외하고 예년과 달리 출국자 수가 매월 비슷한 수준을 보인 것도 특징이다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자사의 경우에도 </a:t>
            </a:r>
            <a:r>
              <a:rPr lang="en-US" altLang="ko-KR" sz="950" dirty="0">
                <a:latin typeface="+mn-ea"/>
              </a:rPr>
              <a:t>2017</a:t>
            </a:r>
            <a:r>
              <a:rPr lang="ko-KR" altLang="en-US" sz="950" dirty="0">
                <a:latin typeface="+mn-ea"/>
              </a:rPr>
              <a:t>년 </a:t>
            </a:r>
            <a:r>
              <a:rPr lang="en-US" altLang="ko-KR" sz="950" dirty="0">
                <a:latin typeface="+mn-ea"/>
              </a:rPr>
              <a:t>3</a:t>
            </a:r>
            <a:r>
              <a:rPr lang="ko-KR" altLang="en-US" sz="950" dirty="0">
                <a:latin typeface="+mn-ea"/>
              </a:rPr>
              <a:t>월</a:t>
            </a:r>
            <a:r>
              <a:rPr lang="en-US" altLang="ko-KR" sz="950" dirty="0">
                <a:latin typeface="+mn-ea"/>
              </a:rPr>
              <a:t>~4</a:t>
            </a:r>
            <a:r>
              <a:rPr lang="ko-KR" altLang="en-US" sz="950" dirty="0">
                <a:latin typeface="+mn-ea"/>
              </a:rPr>
              <a:t>월 </a:t>
            </a:r>
            <a:r>
              <a:rPr lang="ko-KR" altLang="en-US" sz="950" dirty="0" smtClean="0">
                <a:latin typeface="+mn-ea"/>
              </a:rPr>
              <a:t>출국자수가 </a:t>
            </a:r>
            <a:r>
              <a:rPr lang="ko-KR" altLang="en-US" sz="950" dirty="0">
                <a:latin typeface="+mn-ea"/>
              </a:rPr>
              <a:t>성수기에 비해 높은 비중을 </a:t>
            </a:r>
            <a:r>
              <a:rPr lang="ko-KR" altLang="en-US" sz="950" dirty="0" smtClean="0">
                <a:latin typeface="+mn-ea"/>
              </a:rPr>
              <a:t>차지했으나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en-US" altLang="ko-KR" sz="950" dirty="0">
                <a:latin typeface="+mn-ea"/>
              </a:rPr>
              <a:t>2018</a:t>
            </a:r>
            <a:r>
              <a:rPr lang="ko-KR" altLang="en-US" sz="950" dirty="0">
                <a:latin typeface="+mn-ea"/>
              </a:rPr>
              <a:t>년은 </a:t>
            </a:r>
            <a:r>
              <a:rPr lang="en-US" altLang="ko-KR" sz="950" dirty="0">
                <a:latin typeface="+mn-ea"/>
              </a:rPr>
              <a:t>1</a:t>
            </a:r>
            <a:r>
              <a:rPr lang="ko-KR" altLang="en-US" sz="950" dirty="0">
                <a:latin typeface="+mn-ea"/>
              </a:rPr>
              <a:t>월을 제외하고 비슷한 수준을 보이고 있다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따라서</a:t>
            </a:r>
            <a:r>
              <a:rPr lang="en-US" altLang="ko-KR" sz="950" dirty="0">
                <a:latin typeface="+mn-ea"/>
              </a:rPr>
              <a:t>,</a:t>
            </a:r>
            <a:r>
              <a:rPr lang="ko-KR" altLang="en-US" sz="950" dirty="0">
                <a:latin typeface="+mn-ea"/>
              </a:rPr>
              <a:t> </a:t>
            </a:r>
            <a:r>
              <a:rPr lang="ko-KR" altLang="en-US" sz="950" b="1" dirty="0">
                <a:latin typeface="+mn-ea"/>
              </a:rPr>
              <a:t>앞으로의 여행시장은 해를 거듭할 수록 여행이 점점 일상화되면서 성수기와 비수기의 경계가 없어지고 있다고 해석 할 수 있다</a:t>
            </a:r>
            <a:r>
              <a:rPr lang="en-US" altLang="ko-KR" sz="950" b="1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dirty="0" smtClean="0">
              <a:latin typeface="+mn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003069"/>
              </p:ext>
            </p:extLst>
          </p:nvPr>
        </p:nvGraphicFramePr>
        <p:xfrm>
          <a:off x="713840" y="3762076"/>
          <a:ext cx="7886695" cy="24932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8819"/>
                <a:gridCol w="614823"/>
                <a:gridCol w="614823"/>
                <a:gridCol w="614823"/>
                <a:gridCol w="614823"/>
                <a:gridCol w="614823"/>
                <a:gridCol w="614823"/>
                <a:gridCol w="614823"/>
                <a:gridCol w="614823"/>
                <a:gridCol w="614823"/>
                <a:gridCol w="614823"/>
                <a:gridCol w="614823"/>
                <a:gridCol w="614823"/>
              </a:tblGrid>
              <a:tr h="15603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구분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</a:rPr>
                        <a:t>2017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년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</a:rPr>
                        <a:t>2018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년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60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smtClean="0">
                          <a:effectLst/>
                        </a:rPr>
                        <a:t>내국인 </a:t>
                      </a:r>
                      <a:r>
                        <a:rPr lang="ko-KR" altLang="en-US" sz="800" b="1" u="none" strike="noStrike" dirty="0">
                          <a:effectLst/>
                        </a:rPr>
                        <a:t>총 출국자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smtClean="0">
                          <a:effectLst/>
                        </a:rPr>
                        <a:t>자사 </a:t>
                      </a:r>
                      <a:r>
                        <a:rPr lang="ko-KR" altLang="en-US" sz="800" b="1" u="none" strike="noStrike" dirty="0">
                          <a:effectLst/>
                        </a:rPr>
                        <a:t>총 출국자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smtClean="0">
                          <a:effectLst/>
                        </a:rPr>
                        <a:t>내국인 </a:t>
                      </a:r>
                      <a:r>
                        <a:rPr lang="ko-KR" altLang="en-US" sz="800" b="1" u="none" strike="noStrike" dirty="0">
                          <a:effectLst/>
                        </a:rPr>
                        <a:t>총 출국자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smtClean="0">
                          <a:effectLst/>
                        </a:rPr>
                        <a:t>자사 </a:t>
                      </a:r>
                      <a:r>
                        <a:rPr lang="ko-KR" altLang="en-US" sz="800" b="1" u="none" strike="noStrike" dirty="0">
                          <a:effectLst/>
                        </a:rPr>
                        <a:t>총 출국자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2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출국자수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</a:rPr>
                        <a:t>전년대비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</a:rPr>
                        <a:t>출국자수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전년대비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출국자수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</a:rPr>
                        <a:t>비중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</a:rPr>
                        <a:t>전년대비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</a:rPr>
                        <a:t>출국자수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전년대비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2,343,048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44,557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9%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2,866,780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22%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55,158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10%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24%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2,231,269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44,109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9%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2,311,009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43,295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-2%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1,940,542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48,355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56%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2,252,565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45,502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9%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-6%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2,003,943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49,579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39%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2,230,200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11%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47,244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9%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-5%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2,003,834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39,616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17%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2,331,565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47,490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20%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2,098,126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39,965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2,323,986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11%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44,178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7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2,389,447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41,631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-8%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2,495,297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40,385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-3%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2,385,301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42,900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2,519,860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6%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42,863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0%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9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2,236,500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40,263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11%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2,225,756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39,453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-2%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10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2,231,748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44,075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9%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31%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2,347,876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44,364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11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2,227,747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37,016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7%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10%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2,295,810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3%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38,100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12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2,404,942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9%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39,601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15%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2,495,279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9%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4%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      </a:t>
                      </a:r>
                      <a:r>
                        <a:rPr lang="en-US" altLang="ko-KR" sz="800" u="none" strike="noStrike">
                          <a:effectLst/>
                        </a:rPr>
                        <a:t>37,485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7%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-5%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총계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800" b="1" u="none" strike="noStrike" dirty="0">
                          <a:effectLst/>
                        </a:rPr>
                        <a:t>26,496,447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</a:rPr>
                        <a:t>100%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</a:rPr>
                        <a:t>18%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b="1" u="none" strike="noStrike" dirty="0">
                          <a:effectLst/>
                        </a:rPr>
                        <a:t>511,667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</a:rPr>
                        <a:t>100%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</a:rPr>
                        <a:t>18%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800" b="1" u="none" strike="noStrike" dirty="0">
                          <a:effectLst/>
                        </a:rPr>
                        <a:t>28,695,983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</a:rPr>
                        <a:t>100%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</a:rPr>
                        <a:t>8%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b="1" u="none" strike="noStrike" dirty="0">
                          <a:effectLst/>
                        </a:rPr>
                        <a:t>525,517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</a:rPr>
                        <a:t>100%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</a:rPr>
                        <a:t>3%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092" marR="7092" marT="70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49873" y="3546632"/>
            <a:ext cx="7777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,%)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22722" y="6239795"/>
            <a:ext cx="2077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내국인 총 출국자수 출처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한국관광공사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자사 총 출국자수 출처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사내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D.B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42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3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18999" y="249520"/>
            <a:ext cx="4506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2017,2018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년 여행 동향 요약 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리포트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92134" y="857003"/>
            <a:ext cx="828670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내국인 연령별 출국자 비중에서는 </a:t>
            </a:r>
            <a:r>
              <a:rPr lang="en-US" altLang="ko-KR" sz="950" b="1" dirty="0">
                <a:latin typeface="+mn-ea"/>
              </a:rPr>
              <a:t>30</a:t>
            </a:r>
            <a:r>
              <a:rPr lang="ko-KR" altLang="en-US" sz="950" b="1" dirty="0">
                <a:latin typeface="+mn-ea"/>
              </a:rPr>
              <a:t>대</a:t>
            </a:r>
            <a:r>
              <a:rPr lang="en-US" altLang="ko-KR" sz="950" b="1" dirty="0">
                <a:latin typeface="+mn-ea"/>
              </a:rPr>
              <a:t>, 40</a:t>
            </a:r>
            <a:r>
              <a:rPr lang="ko-KR" altLang="en-US" sz="950" b="1" dirty="0">
                <a:latin typeface="+mn-ea"/>
              </a:rPr>
              <a:t>대 </a:t>
            </a:r>
            <a:r>
              <a:rPr lang="en-US" altLang="ko-KR" sz="950" b="1" dirty="0">
                <a:latin typeface="+mn-ea"/>
              </a:rPr>
              <a:t>&gt; 20</a:t>
            </a:r>
            <a:r>
              <a:rPr lang="ko-KR" altLang="en-US" sz="950" b="1" dirty="0">
                <a:latin typeface="+mn-ea"/>
              </a:rPr>
              <a:t>대 </a:t>
            </a:r>
            <a:r>
              <a:rPr lang="en-US" altLang="ko-KR" sz="950" b="1" dirty="0">
                <a:latin typeface="+mn-ea"/>
              </a:rPr>
              <a:t>&gt; 50</a:t>
            </a:r>
            <a:r>
              <a:rPr lang="ko-KR" altLang="en-US" sz="950" b="1" dirty="0">
                <a:latin typeface="+mn-ea"/>
              </a:rPr>
              <a:t>대 </a:t>
            </a:r>
            <a:r>
              <a:rPr lang="en-US" altLang="ko-KR" sz="950" b="1" dirty="0">
                <a:latin typeface="+mn-ea"/>
              </a:rPr>
              <a:t>&gt; 60</a:t>
            </a:r>
            <a:r>
              <a:rPr lang="ko-KR" altLang="en-US" sz="950" b="1" dirty="0">
                <a:latin typeface="+mn-ea"/>
              </a:rPr>
              <a:t>대 이상 순</a:t>
            </a:r>
            <a:r>
              <a:rPr lang="ko-KR" altLang="en-US" sz="950" dirty="0">
                <a:latin typeface="+mn-ea"/>
              </a:rPr>
              <a:t>으로 </a:t>
            </a:r>
            <a:r>
              <a:rPr lang="en-US" altLang="ko-KR" sz="950" dirty="0" smtClean="0">
                <a:latin typeface="+mn-ea"/>
              </a:rPr>
              <a:t>2017</a:t>
            </a:r>
            <a:r>
              <a:rPr lang="ko-KR" altLang="en-US" sz="950" dirty="0">
                <a:latin typeface="+mn-ea"/>
              </a:rPr>
              <a:t>년에 비해 </a:t>
            </a:r>
            <a:r>
              <a:rPr lang="en-US" altLang="ko-KR" sz="950" dirty="0">
                <a:latin typeface="+mn-ea"/>
              </a:rPr>
              <a:t>30</a:t>
            </a:r>
            <a:r>
              <a:rPr lang="ko-KR" altLang="en-US" sz="950" dirty="0">
                <a:latin typeface="+mn-ea"/>
              </a:rPr>
              <a:t>대의 비중이 조금씩 감소하고 </a:t>
            </a:r>
            <a:r>
              <a:rPr lang="en-US" altLang="ko-KR" sz="950" dirty="0">
                <a:latin typeface="+mn-ea"/>
              </a:rPr>
              <a:t>60</a:t>
            </a:r>
            <a:r>
              <a:rPr lang="ko-KR" altLang="en-US" sz="950" dirty="0">
                <a:latin typeface="+mn-ea"/>
              </a:rPr>
              <a:t>대 이상의 비중이 증가하였다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자사 </a:t>
            </a:r>
            <a:r>
              <a:rPr lang="ko-KR" altLang="en-US" sz="950" dirty="0" err="1">
                <a:latin typeface="+mn-ea"/>
              </a:rPr>
              <a:t>출발자</a:t>
            </a:r>
            <a:r>
              <a:rPr lang="ko-KR" altLang="en-US" sz="950" dirty="0">
                <a:latin typeface="+mn-ea"/>
              </a:rPr>
              <a:t> 비중에서는 </a:t>
            </a:r>
            <a:r>
              <a:rPr lang="en-US" altLang="ko-KR" sz="950" b="1" dirty="0">
                <a:latin typeface="+mn-ea"/>
              </a:rPr>
              <a:t>50</a:t>
            </a:r>
            <a:r>
              <a:rPr lang="ko-KR" altLang="en-US" sz="950" b="1" dirty="0">
                <a:latin typeface="+mn-ea"/>
              </a:rPr>
              <a:t>대 </a:t>
            </a:r>
            <a:r>
              <a:rPr lang="en-US" altLang="ko-KR" sz="950" b="1" dirty="0">
                <a:latin typeface="+mn-ea"/>
              </a:rPr>
              <a:t>&gt; 60</a:t>
            </a:r>
            <a:r>
              <a:rPr lang="ko-KR" altLang="en-US" sz="950" b="1" dirty="0">
                <a:latin typeface="+mn-ea"/>
              </a:rPr>
              <a:t>대 이상 </a:t>
            </a:r>
            <a:r>
              <a:rPr lang="en-US" altLang="ko-KR" sz="950" b="1" dirty="0">
                <a:latin typeface="+mn-ea"/>
              </a:rPr>
              <a:t>&gt; 40</a:t>
            </a:r>
            <a:r>
              <a:rPr lang="ko-KR" altLang="en-US" sz="950" b="1" dirty="0">
                <a:latin typeface="+mn-ea"/>
              </a:rPr>
              <a:t>대 </a:t>
            </a:r>
            <a:r>
              <a:rPr lang="en-US" altLang="ko-KR" sz="950" b="1" dirty="0">
                <a:latin typeface="+mn-ea"/>
              </a:rPr>
              <a:t>&gt; 30</a:t>
            </a:r>
            <a:r>
              <a:rPr lang="ko-KR" altLang="en-US" sz="950" b="1" dirty="0">
                <a:latin typeface="+mn-ea"/>
              </a:rPr>
              <a:t>대 </a:t>
            </a:r>
            <a:r>
              <a:rPr lang="en-US" altLang="ko-KR" sz="950" b="1" dirty="0">
                <a:latin typeface="+mn-ea"/>
              </a:rPr>
              <a:t>&gt; 20</a:t>
            </a:r>
            <a:r>
              <a:rPr lang="ko-KR" altLang="en-US" sz="950" b="1" dirty="0">
                <a:latin typeface="+mn-ea"/>
              </a:rPr>
              <a:t>대 순</a:t>
            </a:r>
            <a:r>
              <a:rPr lang="ko-KR" altLang="en-US" sz="950" dirty="0">
                <a:latin typeface="+mn-ea"/>
              </a:rPr>
              <a:t>으로 </a:t>
            </a:r>
            <a:r>
              <a:rPr lang="en-US" altLang="ko-KR" sz="950" dirty="0">
                <a:latin typeface="+mn-ea"/>
              </a:rPr>
              <a:t>2017</a:t>
            </a:r>
            <a:r>
              <a:rPr lang="ko-KR" altLang="en-US" sz="950" dirty="0">
                <a:latin typeface="+mn-ea"/>
              </a:rPr>
              <a:t>년 </a:t>
            </a:r>
            <a:r>
              <a:rPr lang="en-US" altLang="ko-KR" sz="950" dirty="0">
                <a:latin typeface="+mn-ea"/>
              </a:rPr>
              <a:t>2018</a:t>
            </a:r>
            <a:r>
              <a:rPr lang="ko-KR" altLang="en-US" sz="950" dirty="0">
                <a:latin typeface="+mn-ea"/>
              </a:rPr>
              <a:t>년 동일하게 유지 되고 있다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또한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ko-KR" altLang="en-US" sz="950" dirty="0">
                <a:latin typeface="+mn-ea"/>
              </a:rPr>
              <a:t>내국인 성별 출국자 비중은 </a:t>
            </a:r>
            <a:r>
              <a:rPr lang="ko-KR" altLang="en-US" sz="950" b="1" dirty="0">
                <a:latin typeface="+mn-ea"/>
              </a:rPr>
              <a:t>남</a:t>
            </a:r>
            <a:r>
              <a:rPr lang="en-US" altLang="ko-KR" sz="950" b="1" dirty="0">
                <a:latin typeface="+mn-ea"/>
              </a:rPr>
              <a:t> ·</a:t>
            </a:r>
            <a:r>
              <a:rPr lang="ko-KR" altLang="en-US" sz="950" b="1" dirty="0">
                <a:latin typeface="+mn-ea"/>
              </a:rPr>
              <a:t>녀 약 </a:t>
            </a:r>
            <a:r>
              <a:rPr lang="en-US" altLang="ko-KR" sz="950" b="1" dirty="0">
                <a:latin typeface="+mn-ea"/>
              </a:rPr>
              <a:t>5:5</a:t>
            </a:r>
            <a:r>
              <a:rPr lang="ko-KR" altLang="en-US" sz="950" dirty="0">
                <a:latin typeface="+mn-ea"/>
              </a:rPr>
              <a:t>로 비슷한 비율을 보이고 있고 </a:t>
            </a:r>
            <a:r>
              <a:rPr lang="ko-KR" altLang="en-US" sz="950" b="1" dirty="0">
                <a:latin typeface="+mn-ea"/>
              </a:rPr>
              <a:t>자사 성별 </a:t>
            </a:r>
            <a:r>
              <a:rPr lang="ko-KR" altLang="en-US" sz="950" b="1" dirty="0" err="1">
                <a:latin typeface="+mn-ea"/>
              </a:rPr>
              <a:t>출발자</a:t>
            </a:r>
            <a:r>
              <a:rPr lang="ko-KR" altLang="en-US" sz="950" b="1" dirty="0">
                <a:latin typeface="+mn-ea"/>
              </a:rPr>
              <a:t> 비중은 약 </a:t>
            </a:r>
            <a:r>
              <a:rPr lang="en-US" altLang="ko-KR" sz="950" b="1" dirty="0">
                <a:latin typeface="+mn-ea"/>
              </a:rPr>
              <a:t>6(</a:t>
            </a:r>
            <a:r>
              <a:rPr lang="ko-KR" altLang="en-US" sz="950" b="1" dirty="0">
                <a:latin typeface="+mn-ea"/>
              </a:rPr>
              <a:t>녀</a:t>
            </a:r>
            <a:r>
              <a:rPr lang="en-US" altLang="ko-KR" sz="950" b="1" dirty="0">
                <a:latin typeface="+mn-ea"/>
              </a:rPr>
              <a:t>):4(</a:t>
            </a:r>
            <a:r>
              <a:rPr lang="ko-KR" altLang="en-US" sz="950" b="1" dirty="0">
                <a:latin typeface="+mn-ea"/>
              </a:rPr>
              <a:t>남</a:t>
            </a:r>
            <a:r>
              <a:rPr lang="en-US" altLang="ko-KR" sz="950" b="1" dirty="0">
                <a:latin typeface="+mn-ea"/>
              </a:rPr>
              <a:t>)</a:t>
            </a:r>
            <a:r>
              <a:rPr lang="ko-KR" altLang="en-US" sz="950" dirty="0">
                <a:latin typeface="+mn-ea"/>
              </a:rPr>
              <a:t>의 비율로 지속되는 경향을 보이고 </a:t>
            </a:r>
            <a:r>
              <a:rPr lang="ko-KR" altLang="en-US" sz="950" dirty="0" smtClean="0">
                <a:latin typeface="+mn-ea"/>
              </a:rPr>
              <a:t>있다</a:t>
            </a:r>
            <a:r>
              <a:rPr lang="en-US" altLang="ko-KR" sz="950" dirty="0" smtClean="0">
                <a:latin typeface="+mn-ea"/>
              </a:rPr>
              <a:t>.</a:t>
            </a: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자사의 경우 주 고객층으로 </a:t>
            </a:r>
            <a:r>
              <a:rPr lang="ko-KR" altLang="en-US" sz="950" dirty="0" err="1">
                <a:latin typeface="+mn-ea"/>
              </a:rPr>
              <a:t>중장년층에</a:t>
            </a:r>
            <a:r>
              <a:rPr lang="ko-KR" altLang="en-US" sz="950" dirty="0">
                <a:latin typeface="+mn-ea"/>
              </a:rPr>
              <a:t> 주목하고 있기 때문에 내국인 출국자 비중과는 다른 결과를 </a:t>
            </a:r>
            <a:r>
              <a:rPr lang="ko-KR" altLang="en-US" sz="950" dirty="0" smtClean="0">
                <a:latin typeface="+mn-ea"/>
              </a:rPr>
              <a:t>보여주고 </a:t>
            </a:r>
            <a:r>
              <a:rPr lang="ko-KR" altLang="en-US" sz="950" dirty="0">
                <a:latin typeface="+mn-ea"/>
              </a:rPr>
              <a:t>있다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>
                <a:latin typeface="+mn-ea"/>
              </a:rPr>
              <a:t>지역별 실적의 경우 </a:t>
            </a:r>
            <a:r>
              <a:rPr lang="ko-KR" altLang="en-US" sz="950" dirty="0">
                <a:latin typeface="+mn-ea"/>
              </a:rPr>
              <a:t>모두투어를 통한 </a:t>
            </a:r>
            <a:r>
              <a:rPr lang="ko-KR" altLang="en-US" sz="950" dirty="0" smtClean="0">
                <a:latin typeface="+mn-ea"/>
              </a:rPr>
              <a:t>출국자의 경우 동남아 </a:t>
            </a:r>
            <a:r>
              <a:rPr lang="ko-KR" altLang="en-US" sz="950" dirty="0">
                <a:latin typeface="+mn-ea"/>
              </a:rPr>
              <a:t>비중</a:t>
            </a:r>
            <a:r>
              <a:rPr lang="en-US" altLang="ko-KR" sz="950" dirty="0">
                <a:latin typeface="+mn-ea"/>
              </a:rPr>
              <a:t>(45.0%)</a:t>
            </a:r>
            <a:r>
              <a:rPr lang="ko-KR" altLang="en-US" sz="950" dirty="0">
                <a:latin typeface="+mn-ea"/>
              </a:rPr>
              <a:t>이 가장 큰 폭을 차지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하나투어의 경우에도 동남아 비중</a:t>
            </a:r>
            <a:r>
              <a:rPr lang="en-US" altLang="ko-KR" sz="950" dirty="0">
                <a:latin typeface="+mn-ea"/>
              </a:rPr>
              <a:t>(32.9%)</a:t>
            </a:r>
            <a:r>
              <a:rPr lang="ko-KR" altLang="en-US" sz="950" dirty="0">
                <a:latin typeface="+mn-ea"/>
              </a:rPr>
              <a:t>이 일본 다음으로 큰 폭을 차지하고 있다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자사의 경우에도 모두투어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하나투어와 마찬가지로 동남아의 비중이 </a:t>
            </a:r>
            <a:r>
              <a:rPr lang="en-US" altLang="ko-KR" sz="950" dirty="0">
                <a:latin typeface="+mn-ea"/>
              </a:rPr>
              <a:t>36.9%</a:t>
            </a:r>
            <a:r>
              <a:rPr lang="ko-KR" altLang="en-US" sz="950" dirty="0">
                <a:latin typeface="+mn-ea"/>
              </a:rPr>
              <a:t>로 가장 높았다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>
                <a:latin typeface="+mn-ea"/>
              </a:rPr>
              <a:t>항공업계에 따르면 국내 </a:t>
            </a:r>
            <a:r>
              <a:rPr lang="en-US" altLang="ko-KR" sz="950" b="1" dirty="0">
                <a:latin typeface="+mn-ea"/>
              </a:rPr>
              <a:t>LCC </a:t>
            </a:r>
            <a:r>
              <a:rPr lang="ko-KR" altLang="en-US" sz="950" b="1" dirty="0">
                <a:latin typeface="+mn-ea"/>
              </a:rPr>
              <a:t>증설</a:t>
            </a:r>
            <a:r>
              <a:rPr lang="en-US" altLang="ko-KR" sz="950" b="1" dirty="0">
                <a:latin typeface="+mn-ea"/>
              </a:rPr>
              <a:t>,</a:t>
            </a:r>
            <a:r>
              <a:rPr lang="ko-KR" altLang="en-US" sz="950" b="1" dirty="0">
                <a:latin typeface="+mn-ea"/>
              </a:rPr>
              <a:t> 해외 항공사와 연계노선 확대로 인하여 여행경비가 저렴하고 비행시간도 짧아 상대적인 만족도가 높은 지역이므로 동남아를 찾는 여행객이 증가하고 있는 원인으로 꼽았다</a:t>
            </a:r>
            <a:r>
              <a:rPr lang="en-US" altLang="ko-KR" sz="950" b="1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b="1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자사의 </a:t>
            </a:r>
            <a:r>
              <a:rPr lang="ko-KR" altLang="en-US" sz="950" b="1" dirty="0">
                <a:latin typeface="+mn-ea"/>
              </a:rPr>
              <a:t>경우 지역별 실적을 연령별로 </a:t>
            </a:r>
            <a:r>
              <a:rPr lang="ko-KR" altLang="en-US" sz="950" dirty="0">
                <a:latin typeface="+mn-ea"/>
              </a:rPr>
              <a:t>살펴보면 </a:t>
            </a:r>
            <a:r>
              <a:rPr lang="en-US" altLang="ko-KR" sz="950" dirty="0">
                <a:latin typeface="+mn-ea"/>
              </a:rPr>
              <a:t>60</a:t>
            </a:r>
            <a:r>
              <a:rPr lang="ko-KR" altLang="en-US" sz="950" dirty="0">
                <a:latin typeface="+mn-ea"/>
              </a:rPr>
              <a:t>대의 경우 유럽 비중이 가장 큰 폭을 차지하고 </a:t>
            </a:r>
            <a:r>
              <a:rPr lang="en-US" altLang="ko-KR" sz="950" dirty="0">
                <a:latin typeface="+mn-ea"/>
              </a:rPr>
              <a:t>20,30,40,50,70</a:t>
            </a:r>
            <a:r>
              <a:rPr lang="ko-KR" altLang="en-US" sz="950" dirty="0">
                <a:latin typeface="+mn-ea"/>
              </a:rPr>
              <a:t>대는 동남아 비중이 가장 높았다</a:t>
            </a:r>
            <a:r>
              <a:rPr lang="en-US" altLang="ko-KR" sz="950" dirty="0" smtClean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증가 </a:t>
            </a:r>
            <a:r>
              <a:rPr lang="ko-KR" altLang="en-US" sz="950" dirty="0">
                <a:latin typeface="+mn-ea"/>
              </a:rPr>
              <a:t>추세로 보게 된다면 </a:t>
            </a:r>
            <a:r>
              <a:rPr lang="en-US" altLang="ko-KR" sz="950" dirty="0">
                <a:latin typeface="+mn-ea"/>
              </a:rPr>
              <a:t>20,30</a:t>
            </a:r>
            <a:r>
              <a:rPr lang="ko-KR" altLang="en-US" sz="950" dirty="0">
                <a:latin typeface="+mn-ea"/>
              </a:rPr>
              <a:t>대는 일본 여행에 대한 관심도가 커지고 </a:t>
            </a:r>
            <a:r>
              <a:rPr lang="ko-KR" altLang="en-US" sz="950" dirty="0" smtClean="0">
                <a:latin typeface="+mn-ea"/>
              </a:rPr>
              <a:t>있으며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en-US" altLang="ko-KR" sz="950" dirty="0">
                <a:latin typeface="+mn-ea"/>
              </a:rPr>
              <a:t>40,50,60,70</a:t>
            </a:r>
            <a:r>
              <a:rPr lang="ko-KR" altLang="en-US" sz="950" dirty="0">
                <a:latin typeface="+mn-ea"/>
              </a:rPr>
              <a:t>대의 경우 </a:t>
            </a:r>
            <a:r>
              <a:rPr lang="en-US" altLang="ko-KR" sz="950" dirty="0">
                <a:latin typeface="+mn-ea"/>
              </a:rPr>
              <a:t>2015</a:t>
            </a:r>
            <a:r>
              <a:rPr lang="ko-KR" altLang="en-US" sz="950" dirty="0">
                <a:latin typeface="+mn-ea"/>
              </a:rPr>
              <a:t>년부터 </a:t>
            </a:r>
            <a:r>
              <a:rPr lang="en-US" altLang="ko-KR" sz="950" dirty="0">
                <a:latin typeface="+mn-ea"/>
              </a:rPr>
              <a:t>2018</a:t>
            </a:r>
            <a:r>
              <a:rPr lang="ko-KR" altLang="en-US" sz="950" dirty="0">
                <a:latin typeface="+mn-ea"/>
              </a:rPr>
              <a:t>년까지 꾸준히 동남아에 대한 관심도가 증가하고 있는 추세이다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또한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여행신문에 따르면 동남아 여행시장은 베트남을 필두로 싱가포르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태국 등이 높은 성장을 기록하면서 동남아 시장을 견인해가고 있다고 </a:t>
            </a:r>
            <a:r>
              <a:rPr lang="ko-KR" altLang="en-US" sz="950" dirty="0" smtClean="0">
                <a:latin typeface="+mn-ea"/>
              </a:rPr>
              <a:t>밝혔다</a:t>
            </a:r>
            <a:r>
              <a:rPr lang="en-US" altLang="ko-KR" sz="950" dirty="0" smtClean="0">
                <a:latin typeface="+mn-ea"/>
              </a:rPr>
              <a:t>.</a:t>
            </a: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err="1">
                <a:latin typeface="+mn-ea"/>
              </a:rPr>
              <a:t>스카이스캐너에서</a:t>
            </a:r>
            <a:r>
              <a:rPr lang="ko-KR" altLang="en-US" sz="950" dirty="0">
                <a:latin typeface="+mn-ea"/>
              </a:rPr>
              <a:t> 제공하는 </a:t>
            </a:r>
            <a:r>
              <a:rPr lang="en-US" altLang="ko-KR" sz="950" dirty="0">
                <a:latin typeface="+mn-ea"/>
              </a:rPr>
              <a:t>2017,2018</a:t>
            </a:r>
            <a:r>
              <a:rPr lang="ko-KR" altLang="en-US" sz="950" dirty="0">
                <a:latin typeface="+mn-ea"/>
              </a:rPr>
              <a:t>년 검색 순위 기준에 따르면 가장 많이 검색된 </a:t>
            </a:r>
            <a:r>
              <a:rPr lang="en-US" altLang="ko-KR" sz="950" dirty="0">
                <a:latin typeface="+mn-ea"/>
              </a:rPr>
              <a:t>TOP3</a:t>
            </a:r>
            <a:r>
              <a:rPr lang="ko-KR" altLang="en-US" sz="950" dirty="0">
                <a:latin typeface="+mn-ea"/>
              </a:rPr>
              <a:t> 지역이 </a:t>
            </a:r>
            <a:r>
              <a:rPr lang="en-US" altLang="ko-KR" sz="950" dirty="0">
                <a:latin typeface="+mn-ea"/>
              </a:rPr>
              <a:t>“</a:t>
            </a:r>
            <a:r>
              <a:rPr lang="ko-KR" altLang="en-US" sz="950" dirty="0">
                <a:latin typeface="+mn-ea"/>
              </a:rPr>
              <a:t>태국</a:t>
            </a:r>
            <a:r>
              <a:rPr lang="en-US" altLang="ko-KR" sz="950" dirty="0">
                <a:latin typeface="+mn-ea"/>
              </a:rPr>
              <a:t> · </a:t>
            </a:r>
            <a:r>
              <a:rPr lang="ko-KR" altLang="en-US" sz="950" dirty="0">
                <a:latin typeface="+mn-ea"/>
              </a:rPr>
              <a:t>방콕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베트남</a:t>
            </a:r>
            <a:r>
              <a:rPr lang="en-US" altLang="ko-KR" sz="950" dirty="0">
                <a:latin typeface="+mn-ea"/>
              </a:rPr>
              <a:t> · </a:t>
            </a:r>
            <a:r>
              <a:rPr lang="ko-KR" altLang="en-US" sz="950" dirty="0" err="1">
                <a:latin typeface="+mn-ea"/>
              </a:rPr>
              <a:t>다낭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일본</a:t>
            </a:r>
            <a:r>
              <a:rPr lang="en-US" altLang="ko-KR" sz="950" dirty="0">
                <a:latin typeface="+mn-ea"/>
              </a:rPr>
              <a:t> · </a:t>
            </a:r>
            <a:r>
              <a:rPr lang="ko-KR" altLang="en-US" sz="950" dirty="0">
                <a:latin typeface="+mn-ea"/>
              </a:rPr>
              <a:t>오사카 지역</a:t>
            </a:r>
            <a:r>
              <a:rPr lang="en-US" altLang="ko-KR" sz="950" dirty="0">
                <a:latin typeface="+mn-ea"/>
              </a:rPr>
              <a:t>”</a:t>
            </a:r>
            <a:r>
              <a:rPr lang="ko-KR" altLang="en-US" sz="950" dirty="0">
                <a:latin typeface="+mn-ea"/>
              </a:rPr>
              <a:t>으로 발표하였다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이와 마찬가지로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자사의 </a:t>
            </a:r>
            <a:r>
              <a:rPr lang="en-US" altLang="ko-KR" sz="950" dirty="0">
                <a:latin typeface="+mn-ea"/>
              </a:rPr>
              <a:t>2017</a:t>
            </a:r>
            <a:r>
              <a:rPr lang="ko-KR" altLang="en-US" sz="950" dirty="0">
                <a:latin typeface="+mn-ea"/>
              </a:rPr>
              <a:t>년 월별 </a:t>
            </a:r>
            <a:r>
              <a:rPr lang="en-US" altLang="ko-KR" sz="950" dirty="0">
                <a:latin typeface="+mn-ea"/>
              </a:rPr>
              <a:t>TOP5 </a:t>
            </a:r>
            <a:r>
              <a:rPr lang="ko-KR" altLang="en-US" sz="950" dirty="0">
                <a:latin typeface="+mn-ea"/>
              </a:rPr>
              <a:t>인기 상품에서도 동남아 비율이 가장 높게 </a:t>
            </a:r>
            <a:r>
              <a:rPr lang="ko-KR" altLang="en-US" sz="950" dirty="0" smtClean="0">
                <a:latin typeface="+mn-ea"/>
              </a:rPr>
              <a:t>나타났으며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en-US" altLang="ko-KR" sz="950" dirty="0">
                <a:latin typeface="+mn-ea"/>
              </a:rPr>
              <a:t>2018</a:t>
            </a:r>
            <a:r>
              <a:rPr lang="ko-KR" altLang="en-US" sz="950" dirty="0">
                <a:latin typeface="+mn-ea"/>
              </a:rPr>
              <a:t>년의 경우 </a:t>
            </a:r>
            <a:r>
              <a:rPr lang="en-US" altLang="ko-KR" sz="950" dirty="0">
                <a:latin typeface="+mn-ea"/>
              </a:rPr>
              <a:t>2017</a:t>
            </a:r>
            <a:r>
              <a:rPr lang="ko-KR" altLang="en-US" sz="950" dirty="0">
                <a:latin typeface="+mn-ea"/>
              </a:rPr>
              <a:t>년보다 비율이 </a:t>
            </a:r>
            <a:r>
              <a:rPr lang="ko-KR" altLang="en-US" sz="950" dirty="0" smtClean="0">
                <a:latin typeface="+mn-ea"/>
              </a:rPr>
              <a:t>낮지만 동남아 지역에 대한 관심이 지속적으로 유지되고 있는 것을 볼 수 있다</a:t>
            </a:r>
            <a:r>
              <a:rPr lang="en-US" altLang="ko-KR" sz="950" dirty="0" smtClean="0">
                <a:latin typeface="+mn-ea"/>
              </a:rPr>
              <a:t>.</a:t>
            </a: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즉</a:t>
            </a:r>
            <a:r>
              <a:rPr lang="en-US" altLang="ko-KR" sz="950" b="1" dirty="0" smtClean="0">
                <a:latin typeface="+mn-ea"/>
              </a:rPr>
              <a:t>, </a:t>
            </a:r>
            <a:r>
              <a:rPr lang="ko-KR" altLang="en-US" sz="950" b="1" dirty="0" err="1" smtClean="0">
                <a:latin typeface="+mn-ea"/>
              </a:rPr>
              <a:t>최근들어</a:t>
            </a:r>
            <a:r>
              <a:rPr lang="ko-KR" altLang="en-US" sz="950" b="1" dirty="0" smtClean="0">
                <a:latin typeface="+mn-ea"/>
              </a:rPr>
              <a:t> 여행이 일상화되면서 비행기로 </a:t>
            </a:r>
            <a:r>
              <a:rPr lang="en-US" altLang="ko-KR" sz="950" b="1" dirty="0" smtClean="0">
                <a:latin typeface="+mn-ea"/>
              </a:rPr>
              <a:t>4</a:t>
            </a:r>
            <a:r>
              <a:rPr lang="ko-KR" altLang="en-US" sz="950" b="1" dirty="0" smtClean="0">
                <a:latin typeface="+mn-ea"/>
              </a:rPr>
              <a:t>시간 정도면 도착 할 수 있는 일본 및 동남아와 같은 비교적 가까운 곳을 선호하는 근거리 여행의 경향이 증가했다</a:t>
            </a:r>
            <a:r>
              <a:rPr lang="en-US" altLang="ko-KR" sz="950" b="1" dirty="0" smtClean="0">
                <a:latin typeface="+mn-ea"/>
              </a:rPr>
              <a:t>.</a:t>
            </a:r>
            <a:endParaRPr lang="en-US" altLang="ko-KR" sz="950" b="1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endParaRPr lang="en-US" altLang="ko-KR" sz="95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24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4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18999" y="249520"/>
            <a:ext cx="4506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2017,2018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년 여행 동향 요약 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리포트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19177" y="882001"/>
            <a:ext cx="8505646" cy="5782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55" lvl="2">
              <a:lnSpc>
                <a:spcPct val="150000"/>
              </a:lnSpc>
            </a:pPr>
            <a:r>
              <a:rPr lang="en-US" altLang="ko-KR" sz="950" b="1" dirty="0">
                <a:latin typeface="+mn-ea"/>
              </a:rPr>
              <a:t>2018</a:t>
            </a:r>
            <a:r>
              <a:rPr lang="ko-KR" altLang="en-US" sz="950" b="1" dirty="0">
                <a:latin typeface="+mn-ea"/>
              </a:rPr>
              <a:t>년 자사 연령대별 총판매금액 비중의 경우 </a:t>
            </a:r>
            <a:r>
              <a:rPr lang="ko-KR" altLang="en-US" sz="950" dirty="0">
                <a:latin typeface="+mn-ea"/>
              </a:rPr>
              <a:t>대부분의 지역들은 </a:t>
            </a:r>
            <a:r>
              <a:rPr lang="en-US" altLang="ko-KR" sz="950" dirty="0">
                <a:latin typeface="+mn-ea"/>
              </a:rPr>
              <a:t>40,50,60</a:t>
            </a:r>
            <a:r>
              <a:rPr lang="ko-KR" altLang="en-US" sz="950" dirty="0">
                <a:latin typeface="+mn-ea"/>
              </a:rPr>
              <a:t>대의 비중의 폭이 컸다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동남아와</a:t>
            </a:r>
            <a:r>
              <a:rPr lang="en-US" altLang="ko-KR" sz="950" dirty="0">
                <a:latin typeface="+mn-ea"/>
              </a:rPr>
              <a:t> </a:t>
            </a:r>
            <a:r>
              <a:rPr lang="ko-KR" altLang="en-US" sz="950" dirty="0">
                <a:latin typeface="+mn-ea"/>
              </a:rPr>
              <a:t>일본의 경우 </a:t>
            </a:r>
            <a:r>
              <a:rPr lang="ko-KR" altLang="en-US" sz="950" dirty="0" err="1">
                <a:latin typeface="+mn-ea"/>
              </a:rPr>
              <a:t>중장년층</a:t>
            </a:r>
            <a:r>
              <a:rPr lang="ko-KR" altLang="en-US" sz="950" dirty="0">
                <a:latin typeface="+mn-ea"/>
              </a:rPr>
              <a:t> 매출 비중 폭이 </a:t>
            </a:r>
            <a:r>
              <a:rPr lang="ko-KR" altLang="en-US" sz="950" dirty="0" smtClean="0">
                <a:latin typeface="+mn-ea"/>
              </a:rPr>
              <a:t>컸지만</a:t>
            </a:r>
            <a:r>
              <a:rPr lang="en-US" altLang="ko-KR" sz="950" dirty="0" smtClean="0">
                <a:latin typeface="+mn-ea"/>
              </a:rPr>
              <a:t>,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ko-KR" altLang="en-US" sz="950" dirty="0">
                <a:latin typeface="+mn-ea"/>
              </a:rPr>
              <a:t>특이점으로 </a:t>
            </a:r>
            <a:r>
              <a:rPr lang="en-US" altLang="ko-KR" sz="950" dirty="0">
                <a:latin typeface="+mn-ea"/>
              </a:rPr>
              <a:t>10</a:t>
            </a:r>
            <a:r>
              <a:rPr lang="ko-KR" altLang="en-US" sz="950" dirty="0">
                <a:latin typeface="+mn-ea"/>
              </a:rPr>
              <a:t>대의 비중이 다른 지역들에 비해 높은 비중을 보여주고 있다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en-US" altLang="ko-KR" sz="950" dirty="0">
                <a:latin typeface="+mn-ea"/>
              </a:rPr>
              <a:t>10</a:t>
            </a:r>
            <a:r>
              <a:rPr lang="ko-KR" altLang="en-US" sz="950" dirty="0">
                <a:latin typeface="+mn-ea"/>
              </a:rPr>
              <a:t>대의 매출 비중이 </a:t>
            </a:r>
            <a:r>
              <a:rPr lang="ko-KR" altLang="en-US" sz="950" dirty="0" smtClean="0">
                <a:latin typeface="+mn-ea"/>
              </a:rPr>
              <a:t>타 지역보다 </a:t>
            </a:r>
            <a:r>
              <a:rPr lang="ko-KR" altLang="en-US" sz="950" dirty="0">
                <a:latin typeface="+mn-ea"/>
              </a:rPr>
              <a:t>높다는 </a:t>
            </a:r>
            <a:r>
              <a:rPr lang="ko-KR" altLang="en-US" sz="950" dirty="0" smtClean="0">
                <a:latin typeface="+mn-ea"/>
              </a:rPr>
              <a:t>점은 </a:t>
            </a:r>
            <a:r>
              <a:rPr lang="ko-KR" altLang="en-US" sz="950" dirty="0">
                <a:latin typeface="+mn-ea"/>
              </a:rPr>
              <a:t>가족여행의 경향이 강하다는 의미로 조심스럽게 해석할 수 있다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또한</a:t>
            </a:r>
            <a:r>
              <a:rPr lang="en-US" altLang="ko-KR" sz="950" dirty="0" smtClean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하나투어에서 </a:t>
            </a:r>
            <a:r>
              <a:rPr lang="ko-KR" altLang="en-US" sz="950" dirty="0">
                <a:latin typeface="+mn-ea"/>
              </a:rPr>
              <a:t>발표한 자료에 의하면 </a:t>
            </a:r>
            <a:r>
              <a:rPr lang="en-US" altLang="ko-KR" sz="950" dirty="0">
                <a:latin typeface="+mn-ea"/>
              </a:rPr>
              <a:t>2018</a:t>
            </a:r>
            <a:r>
              <a:rPr lang="ko-KR" altLang="en-US" sz="950" dirty="0">
                <a:latin typeface="+mn-ea"/>
              </a:rPr>
              <a:t>년 패키지 고객 중 </a:t>
            </a:r>
            <a:r>
              <a:rPr lang="en-US" altLang="ko-KR" sz="950" dirty="0">
                <a:latin typeface="+mn-ea"/>
              </a:rPr>
              <a:t>19%</a:t>
            </a:r>
            <a:r>
              <a:rPr lang="ko-KR" altLang="en-US" sz="950" dirty="0">
                <a:latin typeface="+mn-ea"/>
              </a:rPr>
              <a:t>는 자녀와 부모가 함께하는 형태의 가족 여행객이었다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>
                <a:latin typeface="+mn-ea"/>
              </a:rPr>
              <a:t>가족유형의 여행자들이 가장 많이 여행한 곳은 베트남 </a:t>
            </a:r>
            <a:r>
              <a:rPr lang="ko-KR" altLang="en-US" sz="950" b="1" dirty="0" err="1">
                <a:latin typeface="+mn-ea"/>
              </a:rPr>
              <a:t>다낭</a:t>
            </a:r>
            <a:r>
              <a:rPr lang="ko-KR" altLang="en-US" sz="950" b="1" dirty="0">
                <a:latin typeface="+mn-ea"/>
              </a:rPr>
              <a:t> </a:t>
            </a:r>
            <a:r>
              <a:rPr lang="en-US" altLang="ko-KR" sz="950" b="1" dirty="0">
                <a:latin typeface="+mn-ea"/>
              </a:rPr>
              <a:t>&gt; </a:t>
            </a:r>
            <a:r>
              <a:rPr lang="ko-KR" altLang="en-US" sz="950" b="1" dirty="0">
                <a:latin typeface="+mn-ea"/>
              </a:rPr>
              <a:t>태국 방콕</a:t>
            </a:r>
            <a:r>
              <a:rPr lang="en-US" altLang="ko-KR" sz="950" b="1" dirty="0">
                <a:latin typeface="+mn-ea"/>
              </a:rPr>
              <a:t>/</a:t>
            </a:r>
            <a:r>
              <a:rPr lang="ko-KR" altLang="en-US" sz="950" b="1" dirty="0" err="1">
                <a:latin typeface="+mn-ea"/>
              </a:rPr>
              <a:t>파타야</a:t>
            </a:r>
            <a:r>
              <a:rPr lang="ko-KR" altLang="en-US" sz="950" b="1" dirty="0">
                <a:latin typeface="+mn-ea"/>
              </a:rPr>
              <a:t> </a:t>
            </a:r>
            <a:r>
              <a:rPr lang="en-US" altLang="ko-KR" sz="950" b="1" dirty="0">
                <a:latin typeface="+mn-ea"/>
              </a:rPr>
              <a:t>&gt; </a:t>
            </a:r>
            <a:r>
              <a:rPr lang="ko-KR" altLang="en-US" sz="950" b="1" dirty="0">
                <a:latin typeface="+mn-ea"/>
              </a:rPr>
              <a:t>일본 </a:t>
            </a:r>
            <a:r>
              <a:rPr lang="ko-KR" altLang="en-US" sz="950" b="1" dirty="0" err="1">
                <a:latin typeface="+mn-ea"/>
              </a:rPr>
              <a:t>규슈</a:t>
            </a:r>
            <a:r>
              <a:rPr lang="ko-KR" altLang="en-US" sz="950" b="1" dirty="0">
                <a:latin typeface="+mn-ea"/>
              </a:rPr>
              <a:t> </a:t>
            </a:r>
            <a:r>
              <a:rPr lang="en-US" altLang="ko-KR" sz="950" b="1" dirty="0">
                <a:latin typeface="+mn-ea"/>
              </a:rPr>
              <a:t>&gt; </a:t>
            </a:r>
            <a:r>
              <a:rPr lang="ko-KR" altLang="en-US" sz="950" b="1" dirty="0">
                <a:latin typeface="+mn-ea"/>
              </a:rPr>
              <a:t>대만 타이페이 </a:t>
            </a:r>
            <a:r>
              <a:rPr lang="en-US" altLang="ko-KR" sz="950" b="1" dirty="0">
                <a:latin typeface="+mn-ea"/>
              </a:rPr>
              <a:t>&gt; </a:t>
            </a:r>
            <a:r>
              <a:rPr lang="ko-KR" altLang="en-US" sz="950" b="1" dirty="0">
                <a:latin typeface="+mn-ea"/>
              </a:rPr>
              <a:t>베트남 하노이</a:t>
            </a:r>
            <a:r>
              <a:rPr lang="en-US" altLang="ko-KR" sz="950" b="1" dirty="0">
                <a:latin typeface="+mn-ea"/>
              </a:rPr>
              <a:t>/</a:t>
            </a:r>
            <a:r>
              <a:rPr lang="ko-KR" altLang="en-US" sz="950" b="1" dirty="0" err="1">
                <a:latin typeface="+mn-ea"/>
              </a:rPr>
              <a:t>하롱베이</a:t>
            </a:r>
            <a:r>
              <a:rPr lang="ko-KR" altLang="en-US" sz="950" b="1" dirty="0">
                <a:latin typeface="+mn-ea"/>
              </a:rPr>
              <a:t> 순</a:t>
            </a:r>
            <a:r>
              <a:rPr lang="ko-KR" altLang="en-US" sz="950" dirty="0">
                <a:latin typeface="+mn-ea"/>
              </a:rPr>
              <a:t>이었다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>
                <a:latin typeface="+mn-ea"/>
              </a:rPr>
              <a:t>그렇다면</a:t>
            </a:r>
            <a:r>
              <a:rPr lang="en-US" altLang="ko-KR" sz="950" b="1" dirty="0">
                <a:latin typeface="+mn-ea"/>
              </a:rPr>
              <a:t>,</a:t>
            </a:r>
            <a:r>
              <a:rPr lang="ko-KR" altLang="en-US" sz="950" b="1" dirty="0">
                <a:latin typeface="+mn-ea"/>
              </a:rPr>
              <a:t> 동남아 지역 상품을 이용한 고객들이 선호하는 상품 가격대는 얼마일까</a:t>
            </a:r>
            <a:r>
              <a:rPr lang="en-US" altLang="ko-KR" sz="950" b="1" dirty="0">
                <a:latin typeface="+mn-ea"/>
              </a:rPr>
              <a:t>?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연령대별 평균 판매금액에 따르면 </a:t>
            </a:r>
            <a:r>
              <a:rPr lang="en-US" altLang="ko-KR" sz="950" dirty="0">
                <a:latin typeface="+mn-ea"/>
              </a:rPr>
              <a:t>10</a:t>
            </a:r>
            <a:r>
              <a:rPr lang="ko-KR" altLang="en-US" sz="950" dirty="0">
                <a:latin typeface="+mn-ea"/>
              </a:rPr>
              <a:t>대 미만을 제외하고 대략 평균 </a:t>
            </a:r>
            <a:r>
              <a:rPr lang="en-US" altLang="ko-KR" sz="950" dirty="0">
                <a:latin typeface="+mn-ea"/>
              </a:rPr>
              <a:t>65</a:t>
            </a:r>
            <a:r>
              <a:rPr lang="ko-KR" altLang="en-US" sz="950" dirty="0">
                <a:latin typeface="+mn-ea"/>
              </a:rPr>
              <a:t>만원 정도의 가격대를 선호하는 것을 알 수 있다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또한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 err="1">
                <a:latin typeface="+mn-ea"/>
              </a:rPr>
              <a:t>상품가별</a:t>
            </a:r>
            <a:r>
              <a:rPr lang="ko-KR" altLang="en-US" sz="950" dirty="0">
                <a:latin typeface="+mn-ea"/>
              </a:rPr>
              <a:t> </a:t>
            </a:r>
            <a:r>
              <a:rPr lang="ko-KR" altLang="en-US" sz="950" dirty="0" err="1">
                <a:latin typeface="+mn-ea"/>
              </a:rPr>
              <a:t>취소율을</a:t>
            </a:r>
            <a:r>
              <a:rPr lang="ko-KR" altLang="en-US" sz="950" dirty="0">
                <a:latin typeface="+mn-ea"/>
              </a:rPr>
              <a:t> 보았을 때 </a:t>
            </a:r>
            <a:r>
              <a:rPr lang="en-US" altLang="ko-KR" sz="950" dirty="0">
                <a:latin typeface="+mn-ea"/>
              </a:rPr>
              <a:t>40</a:t>
            </a:r>
            <a:r>
              <a:rPr lang="ko-KR" altLang="en-US" sz="950" dirty="0">
                <a:latin typeface="+mn-ea"/>
              </a:rPr>
              <a:t>만원 미만의 최저가 패키지</a:t>
            </a:r>
            <a:r>
              <a:rPr lang="en-US" altLang="ko-KR" sz="950" dirty="0">
                <a:latin typeface="+mn-ea"/>
              </a:rPr>
              <a:t>(37.4%), 100</a:t>
            </a:r>
            <a:r>
              <a:rPr lang="ko-KR" altLang="en-US" sz="950" dirty="0">
                <a:latin typeface="+mn-ea"/>
              </a:rPr>
              <a:t>만원 이상의 고가 패키지</a:t>
            </a:r>
            <a:r>
              <a:rPr lang="en-US" altLang="ko-KR" sz="950" dirty="0">
                <a:latin typeface="+mn-ea"/>
              </a:rPr>
              <a:t>(40.2%)</a:t>
            </a:r>
            <a:r>
              <a:rPr lang="ko-KR" altLang="en-US" sz="950" dirty="0">
                <a:latin typeface="+mn-ea"/>
              </a:rPr>
              <a:t>의 </a:t>
            </a:r>
            <a:r>
              <a:rPr lang="ko-KR" altLang="en-US" sz="950" dirty="0" err="1">
                <a:latin typeface="+mn-ea"/>
              </a:rPr>
              <a:t>취소율이</a:t>
            </a:r>
            <a:r>
              <a:rPr lang="ko-KR" altLang="en-US" sz="950" dirty="0">
                <a:latin typeface="+mn-ea"/>
              </a:rPr>
              <a:t> 높았다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동남아의 경우 저렴한 경비로 여행을 갈 수 있는 곳으로 대부분의 여행자들이 선호하기 때문에 고가 패키지에 대한 선호도가 </a:t>
            </a:r>
            <a:r>
              <a:rPr lang="ko-KR" altLang="en-US" sz="950" dirty="0" smtClean="0">
                <a:latin typeface="+mn-ea"/>
              </a:rPr>
              <a:t>낮다</a:t>
            </a:r>
            <a:r>
              <a:rPr lang="en-US" altLang="ko-KR" sz="950" dirty="0" smtClean="0">
                <a:latin typeface="+mn-ea"/>
              </a:rPr>
              <a:t>.</a:t>
            </a: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이와 반면에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최저가 </a:t>
            </a:r>
            <a:r>
              <a:rPr lang="ko-KR" altLang="en-US" sz="950" dirty="0">
                <a:latin typeface="+mn-ea"/>
              </a:rPr>
              <a:t>패키지의 경우에는 과도한 선택</a:t>
            </a:r>
            <a:r>
              <a:rPr lang="en-US" altLang="ko-KR" sz="950" dirty="0">
                <a:latin typeface="+mn-ea"/>
              </a:rPr>
              <a:t> ·</a:t>
            </a:r>
            <a:r>
              <a:rPr lang="ko-KR" altLang="en-US" sz="950" dirty="0">
                <a:latin typeface="+mn-ea"/>
              </a:rPr>
              <a:t> 옵션관광 및 쇼핑 또는 낙후한 숙박시설로 인하여 선호하지 않는 경향이 강한 것으로 보여진다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따라서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 smtClean="0">
                <a:latin typeface="+mn-ea"/>
              </a:rPr>
              <a:t>쇼핑 및 선택관광이 과도하지 않고 상품의 </a:t>
            </a:r>
            <a:r>
              <a:rPr lang="ko-KR" altLang="en-US" sz="950" dirty="0" err="1" smtClean="0">
                <a:latin typeface="+mn-ea"/>
              </a:rPr>
              <a:t>퀄리티가</a:t>
            </a:r>
            <a:r>
              <a:rPr lang="ko-KR" altLang="en-US" sz="950" dirty="0" smtClean="0">
                <a:latin typeface="+mn-ea"/>
              </a:rPr>
              <a:t> </a:t>
            </a:r>
            <a:r>
              <a:rPr lang="ko-KR" altLang="en-US" sz="950" dirty="0">
                <a:latin typeface="+mn-ea"/>
              </a:rPr>
              <a:t>많이 </a:t>
            </a:r>
            <a:r>
              <a:rPr lang="ko-KR" altLang="en-US" sz="950" dirty="0" smtClean="0">
                <a:latin typeface="+mn-ea"/>
              </a:rPr>
              <a:t>떨어지지 않는 평균 </a:t>
            </a:r>
            <a:r>
              <a:rPr lang="en-US" altLang="ko-KR" sz="950" dirty="0">
                <a:latin typeface="+mn-ea"/>
              </a:rPr>
              <a:t>65</a:t>
            </a:r>
            <a:r>
              <a:rPr lang="ko-KR" altLang="en-US" sz="950" dirty="0">
                <a:latin typeface="+mn-ea"/>
              </a:rPr>
              <a:t>만원에 근접하는 상품을 가장 선호하는 경향이 있는 것으로 예측된다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endParaRPr lang="en-US" altLang="ko-KR" sz="90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자사의 </a:t>
            </a:r>
            <a:r>
              <a:rPr lang="ko-KR" altLang="en-US" sz="950" b="1" dirty="0">
                <a:latin typeface="+mn-ea"/>
              </a:rPr>
              <a:t>지역별 고객 </a:t>
            </a:r>
            <a:r>
              <a:rPr lang="ko-KR" altLang="en-US" sz="950" b="1" dirty="0" err="1">
                <a:latin typeface="+mn-ea"/>
              </a:rPr>
              <a:t>재구매</a:t>
            </a:r>
            <a:r>
              <a:rPr lang="ko-KR" altLang="en-US" sz="950" b="1" dirty="0">
                <a:latin typeface="+mn-ea"/>
              </a:rPr>
              <a:t> 패턴의 경우 </a:t>
            </a:r>
            <a:r>
              <a:rPr lang="ko-KR" altLang="en-US" sz="950" dirty="0">
                <a:latin typeface="+mn-ea"/>
              </a:rPr>
              <a:t>해당년도 기준 과거 </a:t>
            </a:r>
            <a:r>
              <a:rPr lang="en-US" altLang="ko-KR" sz="950" dirty="0">
                <a:latin typeface="+mn-ea"/>
              </a:rPr>
              <a:t>3</a:t>
            </a:r>
            <a:r>
              <a:rPr lang="ko-KR" altLang="en-US" sz="950" dirty="0">
                <a:latin typeface="+mn-ea"/>
              </a:rPr>
              <a:t>년간의 구매기록에 근거하여 최초 여행지에서 </a:t>
            </a:r>
            <a:r>
              <a:rPr lang="en-US" altLang="ko-KR" sz="950" dirty="0">
                <a:latin typeface="+mn-ea"/>
              </a:rPr>
              <a:t>2</a:t>
            </a:r>
            <a:r>
              <a:rPr lang="ko-KR" altLang="en-US" sz="950" dirty="0" err="1">
                <a:latin typeface="+mn-ea"/>
              </a:rPr>
              <a:t>회차</a:t>
            </a:r>
            <a:r>
              <a:rPr lang="ko-KR" altLang="en-US" sz="950" dirty="0">
                <a:latin typeface="+mn-ea"/>
              </a:rPr>
              <a:t> </a:t>
            </a:r>
            <a:r>
              <a:rPr lang="ko-KR" altLang="en-US" sz="950" dirty="0" smtClean="0">
                <a:latin typeface="+mn-ea"/>
              </a:rPr>
              <a:t>여행지에 대해 분석을 진행하였고</a:t>
            </a:r>
            <a:r>
              <a:rPr lang="en-US" altLang="ko-KR" sz="950" dirty="0" smtClean="0">
                <a:latin typeface="+mn-ea"/>
              </a:rPr>
              <a:t>,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대상 </a:t>
            </a:r>
            <a:r>
              <a:rPr lang="ko-KR" altLang="en-US" sz="950" dirty="0">
                <a:latin typeface="+mn-ea"/>
              </a:rPr>
              <a:t>지역은 유럽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동남아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중국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일본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미주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 err="1">
                <a:latin typeface="+mn-ea"/>
              </a:rPr>
              <a:t>대양주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 err="1">
                <a:latin typeface="+mn-ea"/>
              </a:rPr>
              <a:t>괌</a:t>
            </a:r>
            <a:r>
              <a:rPr lang="en-US" altLang="ko-KR" sz="950" dirty="0">
                <a:latin typeface="+mn-ea"/>
              </a:rPr>
              <a:t>/</a:t>
            </a:r>
            <a:r>
              <a:rPr lang="ko-KR" altLang="en-US" sz="950" dirty="0">
                <a:latin typeface="+mn-ea"/>
              </a:rPr>
              <a:t>사이판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국내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 err="1" smtClean="0">
                <a:latin typeface="+mn-ea"/>
              </a:rPr>
              <a:t>기타순이다</a:t>
            </a:r>
            <a:r>
              <a:rPr lang="en-US" altLang="ko-KR" sz="950" dirty="0" smtClean="0">
                <a:latin typeface="+mn-ea"/>
              </a:rPr>
              <a:t>.</a:t>
            </a: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대부분의 고객들은 </a:t>
            </a:r>
            <a:r>
              <a:rPr lang="en-US" altLang="ko-KR" sz="950" dirty="0">
                <a:latin typeface="+mn-ea"/>
              </a:rPr>
              <a:t>2</a:t>
            </a:r>
            <a:r>
              <a:rPr lang="ko-KR" altLang="en-US" sz="950" dirty="0" err="1">
                <a:latin typeface="+mn-ea"/>
              </a:rPr>
              <a:t>회차</a:t>
            </a:r>
            <a:r>
              <a:rPr lang="ko-KR" altLang="en-US" sz="950" dirty="0">
                <a:latin typeface="+mn-ea"/>
              </a:rPr>
              <a:t> 여행지로 유럽과 동남아를 선택하는 경향이 강했다</a:t>
            </a:r>
            <a:r>
              <a:rPr lang="en-US" altLang="ko-KR" sz="950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또한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최초로 유럽</a:t>
            </a:r>
            <a:r>
              <a:rPr lang="en-US" altLang="ko-KR" sz="950" dirty="0">
                <a:latin typeface="+mn-ea"/>
              </a:rPr>
              <a:t>, </a:t>
            </a:r>
            <a:r>
              <a:rPr lang="ko-KR" altLang="en-US" sz="950" dirty="0">
                <a:latin typeface="+mn-ea"/>
              </a:rPr>
              <a:t>동남아를 방문한 고객의 경우 같은 지역을 </a:t>
            </a:r>
            <a:r>
              <a:rPr lang="ko-KR" altLang="en-US" sz="950" dirty="0" err="1">
                <a:latin typeface="+mn-ea"/>
              </a:rPr>
              <a:t>재방문하는</a:t>
            </a:r>
            <a:r>
              <a:rPr lang="ko-KR" altLang="en-US" sz="950" dirty="0">
                <a:latin typeface="+mn-ea"/>
              </a:rPr>
              <a:t> 비중이 큰 폭을 차지하고 </a:t>
            </a:r>
            <a:r>
              <a:rPr lang="ko-KR" altLang="en-US" sz="950" dirty="0" smtClean="0">
                <a:latin typeface="+mn-ea"/>
              </a:rPr>
              <a:t>다음으로</a:t>
            </a:r>
            <a:endParaRPr lang="en-US" altLang="ko-KR" sz="950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 smtClean="0">
                <a:latin typeface="+mn-ea"/>
              </a:rPr>
              <a:t>유럽</a:t>
            </a:r>
            <a:r>
              <a:rPr lang="en-US" altLang="ko-KR" sz="950" dirty="0">
                <a:latin typeface="+mn-ea"/>
              </a:rPr>
              <a:t>(</a:t>
            </a:r>
            <a:r>
              <a:rPr lang="ko-KR" altLang="en-US" sz="950" dirty="0">
                <a:latin typeface="+mn-ea"/>
              </a:rPr>
              <a:t>최초</a:t>
            </a:r>
            <a:r>
              <a:rPr lang="en-US" altLang="ko-KR" sz="950" dirty="0">
                <a:latin typeface="+mn-ea"/>
              </a:rPr>
              <a:t>)</a:t>
            </a:r>
            <a:r>
              <a:rPr lang="ko-KR" altLang="en-US" sz="950" dirty="0">
                <a:latin typeface="+mn-ea"/>
              </a:rPr>
              <a:t> </a:t>
            </a:r>
            <a:r>
              <a:rPr lang="en-US" altLang="ko-KR" sz="950" dirty="0">
                <a:latin typeface="+mn-ea"/>
              </a:rPr>
              <a:t>-&gt;</a:t>
            </a:r>
            <a:r>
              <a:rPr lang="ko-KR" altLang="en-US" sz="950" dirty="0">
                <a:latin typeface="+mn-ea"/>
              </a:rPr>
              <a:t>동남아</a:t>
            </a:r>
            <a:r>
              <a:rPr lang="en-US" altLang="ko-KR" sz="950" dirty="0">
                <a:latin typeface="+mn-ea"/>
              </a:rPr>
              <a:t>(2</a:t>
            </a:r>
            <a:r>
              <a:rPr lang="ko-KR" altLang="en-US" sz="950" dirty="0">
                <a:latin typeface="+mn-ea"/>
              </a:rPr>
              <a:t>차</a:t>
            </a:r>
            <a:r>
              <a:rPr lang="en-US" altLang="ko-KR" sz="950" dirty="0">
                <a:latin typeface="+mn-ea"/>
              </a:rPr>
              <a:t>), </a:t>
            </a:r>
            <a:r>
              <a:rPr lang="ko-KR" altLang="en-US" sz="950" dirty="0">
                <a:latin typeface="+mn-ea"/>
              </a:rPr>
              <a:t>동남아</a:t>
            </a:r>
            <a:r>
              <a:rPr lang="en-US" altLang="ko-KR" sz="950" dirty="0">
                <a:latin typeface="+mn-ea"/>
              </a:rPr>
              <a:t>(</a:t>
            </a:r>
            <a:r>
              <a:rPr lang="ko-KR" altLang="en-US" sz="950" dirty="0">
                <a:latin typeface="+mn-ea"/>
              </a:rPr>
              <a:t>최초</a:t>
            </a:r>
            <a:r>
              <a:rPr lang="en-US" altLang="ko-KR" sz="950" dirty="0">
                <a:latin typeface="+mn-ea"/>
              </a:rPr>
              <a:t>)-&gt; </a:t>
            </a:r>
            <a:r>
              <a:rPr lang="ko-KR" altLang="en-US" sz="950" dirty="0">
                <a:latin typeface="+mn-ea"/>
              </a:rPr>
              <a:t>유럽</a:t>
            </a:r>
            <a:r>
              <a:rPr lang="en-US" altLang="ko-KR" sz="950" dirty="0">
                <a:latin typeface="+mn-ea"/>
              </a:rPr>
              <a:t>(2</a:t>
            </a:r>
            <a:r>
              <a:rPr lang="ko-KR" altLang="en-US" sz="950" dirty="0">
                <a:latin typeface="+mn-ea"/>
              </a:rPr>
              <a:t>차</a:t>
            </a:r>
            <a:r>
              <a:rPr lang="en-US" altLang="ko-KR" sz="950" dirty="0">
                <a:latin typeface="+mn-ea"/>
              </a:rPr>
              <a:t>)</a:t>
            </a:r>
            <a:r>
              <a:rPr lang="ko-KR" altLang="en-US" sz="950" dirty="0">
                <a:latin typeface="+mn-ea"/>
              </a:rPr>
              <a:t>로 방문하는 패턴을 보여주고 있다</a:t>
            </a:r>
            <a:r>
              <a:rPr lang="en-US" altLang="ko-KR" sz="950" dirty="0">
                <a:latin typeface="+mn-ea"/>
              </a:rPr>
              <a:t>.</a:t>
            </a:r>
            <a:r>
              <a:rPr lang="ko-KR" altLang="en-US" sz="950" dirty="0">
                <a:latin typeface="+mn-ea"/>
              </a:rPr>
              <a:t> </a:t>
            </a: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dirty="0">
                <a:latin typeface="+mn-ea"/>
              </a:rPr>
              <a:t>예외적으로</a:t>
            </a:r>
            <a:r>
              <a:rPr lang="en-US" altLang="ko-KR" sz="950" dirty="0">
                <a:latin typeface="+mn-ea"/>
              </a:rPr>
              <a:t>, 2018</a:t>
            </a:r>
            <a:r>
              <a:rPr lang="ko-KR" altLang="en-US" sz="950" dirty="0">
                <a:latin typeface="+mn-ea"/>
              </a:rPr>
              <a:t>년 기준 최초 여행지를 </a:t>
            </a:r>
            <a:r>
              <a:rPr lang="ko-KR" altLang="en-US" sz="950" dirty="0" err="1">
                <a:latin typeface="+mn-ea"/>
              </a:rPr>
              <a:t>괌</a:t>
            </a:r>
            <a:r>
              <a:rPr lang="en-US" altLang="ko-KR" sz="950" dirty="0">
                <a:latin typeface="+mn-ea"/>
              </a:rPr>
              <a:t>/</a:t>
            </a:r>
            <a:r>
              <a:rPr lang="ko-KR" altLang="en-US" sz="950" dirty="0">
                <a:latin typeface="+mn-ea"/>
              </a:rPr>
              <a:t>사이판을 이용한 고객들은 가장 높은 비중으로 동남아</a:t>
            </a:r>
            <a:r>
              <a:rPr lang="en-US" altLang="ko-KR" sz="950" dirty="0">
                <a:latin typeface="+mn-ea"/>
              </a:rPr>
              <a:t>(49%)</a:t>
            </a:r>
            <a:r>
              <a:rPr lang="ko-KR" altLang="en-US" sz="950" dirty="0">
                <a:latin typeface="+mn-ea"/>
              </a:rPr>
              <a:t>를 </a:t>
            </a:r>
            <a:r>
              <a:rPr lang="en-US" altLang="ko-KR" sz="950" dirty="0">
                <a:latin typeface="+mn-ea"/>
              </a:rPr>
              <a:t>2</a:t>
            </a:r>
            <a:r>
              <a:rPr lang="ko-KR" altLang="en-US" sz="950" dirty="0" err="1">
                <a:latin typeface="+mn-ea"/>
              </a:rPr>
              <a:t>회차</a:t>
            </a:r>
            <a:r>
              <a:rPr lang="ko-KR" altLang="en-US" sz="950" dirty="0">
                <a:latin typeface="+mn-ea"/>
              </a:rPr>
              <a:t> 여행지로 </a:t>
            </a:r>
            <a:r>
              <a:rPr lang="ko-KR" altLang="en-US" sz="950" dirty="0" smtClean="0">
                <a:latin typeface="+mn-ea"/>
              </a:rPr>
              <a:t>방문하였고 </a:t>
            </a:r>
            <a:r>
              <a:rPr lang="ko-KR" altLang="en-US" sz="950" dirty="0" err="1" smtClean="0">
                <a:latin typeface="+mn-ea"/>
              </a:rPr>
              <a:t>괌</a:t>
            </a:r>
            <a:r>
              <a:rPr lang="en-US" altLang="ko-KR" sz="950" dirty="0">
                <a:latin typeface="+mn-ea"/>
              </a:rPr>
              <a:t>/</a:t>
            </a:r>
            <a:r>
              <a:rPr lang="ko-KR" altLang="en-US" sz="950" dirty="0">
                <a:latin typeface="+mn-ea"/>
              </a:rPr>
              <a:t>사이판</a:t>
            </a:r>
            <a:r>
              <a:rPr lang="en-US" altLang="ko-KR" sz="950" dirty="0">
                <a:latin typeface="+mn-ea"/>
              </a:rPr>
              <a:t>(22%)</a:t>
            </a:r>
            <a:r>
              <a:rPr lang="ko-KR" altLang="en-US" sz="950" dirty="0">
                <a:latin typeface="+mn-ea"/>
              </a:rPr>
              <a:t>을 재방문 하는 양상을 보여주고 있다</a:t>
            </a:r>
            <a:r>
              <a:rPr lang="en-US" altLang="ko-KR" sz="950" dirty="0">
                <a:latin typeface="+mn-ea"/>
              </a:rPr>
              <a:t>. </a:t>
            </a:r>
            <a:r>
              <a:rPr lang="ko-KR" altLang="en-US" sz="950" dirty="0" smtClean="0">
                <a:latin typeface="+mn-ea"/>
              </a:rPr>
              <a:t>원인으로는 동남아와 마찬가지로 </a:t>
            </a:r>
            <a:r>
              <a:rPr lang="ko-KR" altLang="en-US" sz="950" dirty="0" err="1" smtClean="0">
                <a:latin typeface="+mn-ea"/>
              </a:rPr>
              <a:t>괌</a:t>
            </a:r>
            <a:r>
              <a:rPr lang="en-US" altLang="ko-KR" sz="950" dirty="0" smtClean="0">
                <a:latin typeface="+mn-ea"/>
              </a:rPr>
              <a:t>/</a:t>
            </a:r>
            <a:r>
              <a:rPr lang="ko-KR" altLang="en-US" sz="950" dirty="0" smtClean="0">
                <a:latin typeface="+mn-ea"/>
              </a:rPr>
              <a:t>사이판 지역의 경우 가족단위 </a:t>
            </a:r>
            <a:r>
              <a:rPr lang="ko-KR" altLang="en-US" sz="950" dirty="0">
                <a:latin typeface="+mn-ea"/>
              </a:rPr>
              <a:t>여행이 많은 지역이므로 </a:t>
            </a:r>
            <a:r>
              <a:rPr lang="en-US" altLang="ko-KR" sz="950" dirty="0">
                <a:latin typeface="+mn-ea"/>
              </a:rPr>
              <a:t>2</a:t>
            </a:r>
            <a:r>
              <a:rPr lang="ko-KR" altLang="en-US" sz="950" dirty="0" err="1">
                <a:latin typeface="+mn-ea"/>
              </a:rPr>
              <a:t>회차</a:t>
            </a:r>
            <a:r>
              <a:rPr lang="ko-KR" altLang="en-US" sz="950" dirty="0">
                <a:latin typeface="+mn-ea"/>
              </a:rPr>
              <a:t> </a:t>
            </a:r>
            <a:r>
              <a:rPr lang="ko-KR" altLang="en-US" sz="950" dirty="0" smtClean="0">
                <a:latin typeface="+mn-ea"/>
              </a:rPr>
              <a:t>여행에서도 가족과 </a:t>
            </a:r>
            <a:r>
              <a:rPr lang="ko-KR" altLang="en-US" sz="950" dirty="0">
                <a:latin typeface="+mn-ea"/>
              </a:rPr>
              <a:t>함께 동남아 지역을 여행하는 경향이 있는 것으로 </a:t>
            </a:r>
            <a:r>
              <a:rPr lang="ko-KR" altLang="en-US" sz="950" dirty="0" smtClean="0">
                <a:latin typeface="+mn-ea"/>
              </a:rPr>
              <a:t>판단된다</a:t>
            </a:r>
            <a:r>
              <a:rPr lang="en-US" altLang="ko-KR" sz="950" dirty="0" smtClean="0">
                <a:latin typeface="+mn-ea"/>
              </a:rPr>
              <a:t>.</a:t>
            </a: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endParaRPr lang="en-US" altLang="ko-KR" sz="950" dirty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>
                <a:latin typeface="+mn-ea"/>
              </a:rPr>
              <a:t>종합적으로 보자면 </a:t>
            </a:r>
            <a:r>
              <a:rPr lang="en-US" altLang="ko-KR" sz="950" b="1" dirty="0">
                <a:latin typeface="+mn-ea"/>
              </a:rPr>
              <a:t>2018</a:t>
            </a:r>
            <a:r>
              <a:rPr lang="ko-KR" altLang="en-US" sz="950" b="1" dirty="0">
                <a:latin typeface="+mn-ea"/>
              </a:rPr>
              <a:t>년에는 여행의 일상화</a:t>
            </a:r>
            <a:r>
              <a:rPr lang="en-US" altLang="ko-KR" sz="950" b="1" dirty="0">
                <a:latin typeface="+mn-ea"/>
              </a:rPr>
              <a:t>,</a:t>
            </a:r>
            <a:r>
              <a:rPr lang="ko-KR" altLang="en-US" sz="950" b="1" dirty="0">
                <a:latin typeface="+mn-ea"/>
              </a:rPr>
              <a:t> 근거리 여행</a:t>
            </a:r>
            <a:r>
              <a:rPr lang="en-US" altLang="ko-KR" sz="950" b="1" dirty="0">
                <a:latin typeface="+mn-ea"/>
              </a:rPr>
              <a:t>, </a:t>
            </a:r>
            <a:r>
              <a:rPr lang="ko-KR" altLang="en-US" sz="950" b="1" dirty="0">
                <a:latin typeface="+mn-ea"/>
              </a:rPr>
              <a:t>성</a:t>
            </a:r>
            <a:r>
              <a:rPr lang="en-US" altLang="ko-KR" sz="950" b="1" dirty="0">
                <a:latin typeface="+mn-ea"/>
              </a:rPr>
              <a:t>·</a:t>
            </a:r>
            <a:r>
              <a:rPr lang="ko-KR" altLang="en-US" sz="950" b="1" dirty="0">
                <a:latin typeface="+mn-ea"/>
              </a:rPr>
              <a:t>비수기 경계의 모호함</a:t>
            </a:r>
            <a:r>
              <a:rPr lang="en-US" altLang="ko-KR" sz="950" b="1" dirty="0">
                <a:latin typeface="+mn-ea"/>
              </a:rPr>
              <a:t>, </a:t>
            </a:r>
            <a:r>
              <a:rPr lang="ko-KR" altLang="en-US" sz="950" b="1" dirty="0">
                <a:latin typeface="+mn-ea"/>
              </a:rPr>
              <a:t>동남아</a:t>
            </a:r>
            <a:r>
              <a:rPr lang="en-US" altLang="ko-KR" sz="950" b="1" dirty="0">
                <a:latin typeface="+mn-ea"/>
              </a:rPr>
              <a:t>, </a:t>
            </a:r>
            <a:r>
              <a:rPr lang="ko-KR" altLang="en-US" sz="950" b="1" dirty="0">
                <a:latin typeface="+mn-ea"/>
              </a:rPr>
              <a:t>가족여행이 가장 중요한 키워드로 자리 잡았다</a:t>
            </a:r>
            <a:r>
              <a:rPr lang="en-US" altLang="ko-KR" sz="950" b="1" dirty="0">
                <a:latin typeface="+mn-ea"/>
              </a:rPr>
              <a:t>.</a:t>
            </a:r>
          </a:p>
          <a:p>
            <a:pPr marL="457155" lvl="2">
              <a:lnSpc>
                <a:spcPct val="150000"/>
              </a:lnSpc>
            </a:pPr>
            <a:r>
              <a:rPr lang="en-US" altLang="ko-KR" sz="950" b="1" dirty="0">
                <a:latin typeface="+mn-ea"/>
              </a:rPr>
              <a:t>2019</a:t>
            </a:r>
            <a:r>
              <a:rPr lang="ko-KR" altLang="en-US" sz="950" b="1" dirty="0">
                <a:latin typeface="+mn-ea"/>
              </a:rPr>
              <a:t>년 여행업계에서는 여행이 일반화되어 가면서 어디로 여행을 갈지에 포커스를 맞추는 것이 아니라 점차 여행지에서 </a:t>
            </a:r>
            <a:r>
              <a:rPr lang="en-US" altLang="ko-KR" sz="950" b="1" dirty="0">
                <a:latin typeface="+mn-ea"/>
              </a:rPr>
              <a:t>‘</a:t>
            </a:r>
            <a:r>
              <a:rPr lang="ko-KR" altLang="en-US" sz="950" b="1" dirty="0">
                <a:latin typeface="+mn-ea"/>
              </a:rPr>
              <a:t>누군가와</a:t>
            </a:r>
            <a:r>
              <a:rPr lang="en-US" altLang="ko-KR" sz="950" b="1" dirty="0">
                <a:latin typeface="+mn-ea"/>
              </a:rPr>
              <a:t>’ ,’</a:t>
            </a:r>
            <a:r>
              <a:rPr lang="ko-KR" altLang="en-US" sz="950" b="1" dirty="0">
                <a:latin typeface="+mn-ea"/>
              </a:rPr>
              <a:t>무엇을</a:t>
            </a:r>
            <a:r>
              <a:rPr lang="en-US" altLang="ko-KR" sz="950" b="1" dirty="0">
                <a:latin typeface="+mn-ea"/>
              </a:rPr>
              <a:t>’</a:t>
            </a:r>
            <a:r>
              <a:rPr lang="ko-KR" altLang="en-US" sz="950" b="1" dirty="0" smtClean="0">
                <a:latin typeface="+mn-ea"/>
              </a:rPr>
              <a:t>할까라는</a:t>
            </a:r>
            <a:endParaRPr lang="en-US" altLang="ko-KR" sz="950" b="1" dirty="0" smtClean="0">
              <a:latin typeface="+mn-ea"/>
            </a:endParaRPr>
          </a:p>
          <a:p>
            <a:pPr marL="457155" lvl="2">
              <a:lnSpc>
                <a:spcPct val="150000"/>
              </a:lnSpc>
            </a:pPr>
            <a:r>
              <a:rPr lang="ko-KR" altLang="en-US" sz="950" b="1" dirty="0" smtClean="0">
                <a:latin typeface="+mn-ea"/>
              </a:rPr>
              <a:t>포인트에 초점을 </a:t>
            </a:r>
            <a:r>
              <a:rPr lang="ko-KR" altLang="en-US" sz="950" b="1" dirty="0">
                <a:latin typeface="+mn-ea"/>
              </a:rPr>
              <a:t>두고</a:t>
            </a:r>
            <a:r>
              <a:rPr lang="en-US" altLang="ko-KR" sz="950" b="1" dirty="0">
                <a:latin typeface="+mn-ea"/>
              </a:rPr>
              <a:t> </a:t>
            </a:r>
            <a:r>
              <a:rPr lang="ko-KR" altLang="en-US" sz="950" b="1" dirty="0">
                <a:latin typeface="+mn-ea"/>
              </a:rPr>
              <a:t>여행 동반인 변화를 파악하여 동반인 유형에 맞는 맞춤 상품을 개발하고 판매하는 것에 힘을 기울어야 할 것으로 판단된다</a:t>
            </a:r>
            <a:r>
              <a:rPr lang="en-US" altLang="ko-KR" sz="950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496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5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4391" y="52243"/>
            <a:ext cx="584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TABLE OF CONTENTS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1235202" y="394168"/>
            <a:ext cx="8220294" cy="6370975"/>
            <a:chOff x="1243828" y="495757"/>
            <a:chExt cx="8220294" cy="6370975"/>
          </a:xfrm>
        </p:grpSpPr>
        <p:sp>
          <p:nvSpPr>
            <p:cNvPr id="30" name="TextBox 29"/>
            <p:cNvSpPr txBox="1"/>
            <p:nvPr/>
          </p:nvSpPr>
          <p:spPr>
            <a:xfrm>
              <a:off x="1243828" y="495757"/>
              <a:ext cx="4927162" cy="6370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050" b="1" dirty="0" smtClean="0">
                  <a:latin typeface="+mn-ea"/>
                </a:rPr>
                <a:t>회원가입 통계</a:t>
              </a:r>
              <a:endParaRPr lang="en-US" altLang="ko-KR" sz="1100" b="1" dirty="0">
                <a:latin typeface="+mn-ea"/>
              </a:endParaRP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가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err="1" smtClean="0">
                  <a:latin typeface="+mn-ea"/>
                </a:rPr>
                <a:t>고객군</a:t>
              </a:r>
              <a:r>
                <a:rPr lang="ko-KR" altLang="en-US" sz="900" dirty="0" smtClean="0">
                  <a:latin typeface="+mn-ea"/>
                </a:rPr>
                <a:t> 회원가입 변</a:t>
              </a:r>
              <a:r>
                <a:rPr lang="ko-KR" altLang="en-US" sz="900" dirty="0">
                  <a:latin typeface="+mn-ea"/>
                </a:rPr>
                <a:t>화</a:t>
              </a:r>
              <a:r>
                <a:rPr lang="ko-KR" altLang="en-US" sz="900" dirty="0" smtClean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--</a:t>
              </a:r>
              <a:r>
                <a:rPr lang="ko-KR" altLang="en-US" sz="900" dirty="0" smtClean="0">
                  <a:latin typeface="+mn-ea"/>
                </a:rPr>
                <a:t>                                            </a:t>
              </a:r>
              <a:endParaRPr lang="en-US" altLang="ko-KR" sz="900" dirty="0">
                <a:latin typeface="+mn-ea"/>
              </a:endParaRP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나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err="1" smtClean="0">
                  <a:latin typeface="+mn-ea"/>
                </a:rPr>
                <a:t>고객군</a:t>
              </a:r>
              <a:r>
                <a:rPr lang="ko-KR" altLang="en-US" sz="900" dirty="0" smtClean="0">
                  <a:latin typeface="+mn-ea"/>
                </a:rPr>
                <a:t> </a:t>
              </a:r>
              <a:r>
                <a:rPr lang="ko-KR" altLang="en-US" sz="900" dirty="0" err="1" smtClean="0">
                  <a:latin typeface="+mn-ea"/>
                </a:rPr>
                <a:t>매체별</a:t>
              </a:r>
              <a:r>
                <a:rPr lang="ko-KR" altLang="en-US" sz="900" dirty="0" smtClean="0">
                  <a:latin typeface="+mn-ea"/>
                </a:rPr>
                <a:t> 회원가입 세부 비중 </a:t>
              </a:r>
              <a:r>
                <a:rPr lang="en-US" altLang="ko-KR" sz="900" dirty="0" smtClean="0">
                  <a:latin typeface="+mn-ea"/>
                </a:rPr>
                <a:t>-- 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</a:t>
              </a: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다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err="1" smtClean="0">
                  <a:latin typeface="+mn-ea"/>
                </a:rPr>
                <a:t>고객군</a:t>
              </a:r>
              <a:r>
                <a:rPr lang="ko-KR" altLang="en-US" sz="900" dirty="0" smtClean="0">
                  <a:latin typeface="+mn-ea"/>
                </a:rPr>
                <a:t> 연령대 변화 추이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</a:t>
              </a: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라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err="1" smtClean="0">
                  <a:latin typeface="+mn-ea"/>
                </a:rPr>
                <a:t>고객군</a:t>
              </a:r>
              <a:r>
                <a:rPr lang="ko-KR" altLang="en-US" sz="900" dirty="0" smtClean="0">
                  <a:latin typeface="+mn-ea"/>
                </a:rPr>
                <a:t> 성별 변화 추이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</a:t>
              </a:r>
              <a:r>
                <a:rPr lang="ko-KR" altLang="en-US" sz="900" dirty="0" smtClean="0">
                  <a:latin typeface="+mn-ea"/>
                </a:rPr>
                <a:t>                                                                                         </a:t>
              </a:r>
              <a:endParaRPr lang="en-US" altLang="ko-KR" sz="900" dirty="0" smtClean="0">
                <a:latin typeface="+mn-ea"/>
              </a:endParaRP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마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err="1" smtClean="0">
                  <a:latin typeface="+mn-ea"/>
                </a:rPr>
                <a:t>고객군</a:t>
              </a:r>
              <a:r>
                <a:rPr lang="ko-KR" altLang="en-US" sz="900" dirty="0" smtClean="0">
                  <a:latin typeface="+mn-ea"/>
                </a:rPr>
                <a:t> 거주지 비중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--</a:t>
              </a:r>
              <a:endParaRPr lang="en-US" altLang="ko-KR" sz="900" dirty="0" smtClean="0">
                <a:latin typeface="+mn-ea"/>
              </a:endParaRPr>
            </a:p>
            <a:p>
              <a:pPr marL="457154" lvl="1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바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smtClean="0">
                  <a:latin typeface="+mn-ea"/>
                </a:rPr>
                <a:t>회원가입경로 추이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---</a:t>
              </a: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050" b="1" dirty="0" smtClean="0">
                  <a:latin typeface="+mn-ea"/>
                </a:rPr>
                <a:t>예약</a:t>
              </a:r>
              <a:r>
                <a:rPr lang="en-US" altLang="ko-KR" sz="1050" b="1" dirty="0" smtClean="0">
                  <a:latin typeface="+mn-ea"/>
                </a:rPr>
                <a:t>, </a:t>
              </a:r>
              <a:r>
                <a:rPr lang="ko-KR" altLang="en-US" sz="1050" b="1" dirty="0" smtClean="0">
                  <a:latin typeface="+mn-ea"/>
                </a:rPr>
                <a:t>출발</a:t>
              </a:r>
              <a:r>
                <a:rPr lang="en-US" altLang="ko-KR" sz="1050" b="1" dirty="0" smtClean="0">
                  <a:latin typeface="+mn-ea"/>
                </a:rPr>
                <a:t>, </a:t>
              </a:r>
              <a:r>
                <a:rPr lang="ko-KR" altLang="en-US" sz="1050" b="1" dirty="0" smtClean="0">
                  <a:latin typeface="+mn-ea"/>
                </a:rPr>
                <a:t>취소 통계</a:t>
              </a:r>
              <a:endParaRPr lang="en-US" altLang="ko-KR" sz="900" dirty="0" smtClean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가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err="1" smtClean="0">
                  <a:latin typeface="+mn-ea"/>
                </a:rPr>
                <a:t>고객군</a:t>
              </a:r>
              <a:r>
                <a:rPr lang="ko-KR" altLang="en-US" sz="900" dirty="0" smtClean="0">
                  <a:latin typeface="+mn-ea"/>
                </a:rPr>
                <a:t> 연령대별 여행지역 비중 추이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endParaRPr lang="en-US" altLang="ko-KR" sz="900" dirty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나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smtClean="0">
                  <a:latin typeface="+mn-ea"/>
                </a:rPr>
                <a:t>선행예약 변화 추이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---</a:t>
              </a:r>
              <a:endParaRPr lang="en-US" altLang="ko-KR" sz="900" dirty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다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smtClean="0">
                  <a:latin typeface="+mn-ea"/>
                </a:rPr>
                <a:t>예약취소시점 변화 추이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---</a:t>
              </a: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라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err="1" smtClean="0">
                  <a:latin typeface="+mn-ea"/>
                </a:rPr>
                <a:t>상품가별</a:t>
              </a:r>
              <a:r>
                <a:rPr lang="ko-KR" altLang="en-US" sz="900" dirty="0" smtClean="0">
                  <a:latin typeface="+mn-ea"/>
                </a:rPr>
                <a:t> </a:t>
              </a:r>
              <a:r>
                <a:rPr lang="ko-KR" altLang="en-US" sz="900" dirty="0" err="1" smtClean="0">
                  <a:latin typeface="+mn-ea"/>
                </a:rPr>
                <a:t>취소율</a:t>
              </a:r>
              <a:r>
                <a:rPr lang="ko-KR" altLang="en-US" sz="900" dirty="0" smtClean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en-US" altLang="ko-KR" sz="1000" dirty="0" smtClean="0">
                  <a:latin typeface="+mn-ea"/>
                </a:rPr>
                <a:t>---</a:t>
              </a:r>
              <a:endParaRPr lang="en-US" altLang="ko-KR" sz="1000" dirty="0">
                <a:latin typeface="+mn-ea"/>
              </a:endParaRP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050" b="1" dirty="0" smtClean="0">
                  <a:latin typeface="+mn-ea"/>
                </a:rPr>
                <a:t>판매금액</a:t>
              </a:r>
              <a:endParaRPr lang="en-US" altLang="ko-KR" sz="1050" b="1" dirty="0" smtClean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가</a:t>
              </a:r>
              <a:r>
                <a:rPr lang="en-US" altLang="ko-KR" sz="900" dirty="0" smtClean="0">
                  <a:latin typeface="+mn-ea"/>
                </a:rPr>
                <a:t>.  2018</a:t>
              </a:r>
              <a:r>
                <a:rPr lang="ko-KR" altLang="en-US" sz="900" dirty="0">
                  <a:latin typeface="+mn-ea"/>
                </a:rPr>
                <a:t>년 연령대별 총 </a:t>
              </a:r>
              <a:r>
                <a:rPr lang="ko-KR" altLang="en-US" sz="900" dirty="0" smtClean="0">
                  <a:latin typeface="+mn-ea"/>
                </a:rPr>
                <a:t>판매금액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---</a:t>
              </a:r>
              <a:endParaRPr lang="en-US" altLang="ko-KR" sz="900" dirty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나</a:t>
              </a:r>
              <a:r>
                <a:rPr lang="en-US" altLang="ko-KR" sz="900" dirty="0" smtClean="0">
                  <a:latin typeface="+mn-ea"/>
                </a:rPr>
                <a:t>.  2018</a:t>
              </a:r>
              <a:r>
                <a:rPr lang="ko-KR" altLang="en-US" sz="900" dirty="0">
                  <a:latin typeface="+mn-ea"/>
                </a:rPr>
                <a:t>년 연령대별 평균 </a:t>
              </a:r>
              <a:r>
                <a:rPr lang="ko-KR" altLang="en-US" sz="900" dirty="0" smtClean="0">
                  <a:latin typeface="+mn-ea"/>
                </a:rPr>
                <a:t>판매금액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---</a:t>
              </a:r>
              <a:endParaRPr lang="en-US" altLang="ko-KR" sz="1050" b="1" dirty="0" smtClean="0">
                <a:latin typeface="+mn-ea"/>
              </a:endParaRP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050" b="1" dirty="0" err="1" smtClean="0">
                  <a:latin typeface="+mn-ea"/>
                </a:rPr>
                <a:t>재구매</a:t>
              </a:r>
              <a:endParaRPr lang="en-US" altLang="ko-KR" sz="1050" b="1" dirty="0" smtClean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가</a:t>
              </a:r>
              <a:r>
                <a:rPr lang="en-US" altLang="ko-KR" sz="900" dirty="0" smtClean="0">
                  <a:latin typeface="+mn-ea"/>
                </a:rPr>
                <a:t>.  2017</a:t>
              </a:r>
              <a:r>
                <a:rPr lang="ko-KR" altLang="en-US" sz="900" dirty="0">
                  <a:latin typeface="+mn-ea"/>
                </a:rPr>
                <a:t>년</a:t>
              </a:r>
              <a:r>
                <a:rPr lang="en-US" altLang="ko-KR" sz="900" dirty="0">
                  <a:latin typeface="+mn-ea"/>
                </a:rPr>
                <a:t>, 2018</a:t>
              </a:r>
              <a:r>
                <a:rPr lang="ko-KR" altLang="en-US" sz="900" dirty="0">
                  <a:latin typeface="+mn-ea"/>
                </a:rPr>
                <a:t>년 출발고객 </a:t>
              </a:r>
              <a:r>
                <a:rPr lang="ko-KR" altLang="en-US" sz="900" dirty="0" err="1">
                  <a:latin typeface="+mn-ea"/>
                </a:rPr>
                <a:t>재구매</a:t>
              </a:r>
              <a:r>
                <a:rPr lang="ko-KR" altLang="en-US" sz="900" dirty="0">
                  <a:latin typeface="+mn-ea"/>
                </a:rPr>
                <a:t> </a:t>
              </a:r>
              <a:r>
                <a:rPr lang="ko-KR" altLang="en-US" sz="900" dirty="0" smtClean="0">
                  <a:latin typeface="+mn-ea"/>
                </a:rPr>
                <a:t>분포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---</a:t>
              </a:r>
              <a:endParaRPr lang="en-US" altLang="ko-KR" sz="900" dirty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나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smtClean="0">
                  <a:latin typeface="+mn-ea"/>
                </a:rPr>
                <a:t>지역별 </a:t>
              </a:r>
              <a:r>
                <a:rPr lang="ko-KR" altLang="en-US" sz="900" dirty="0">
                  <a:latin typeface="+mn-ea"/>
                </a:rPr>
                <a:t>고객 </a:t>
              </a:r>
              <a:r>
                <a:rPr lang="ko-KR" altLang="en-US" sz="900" dirty="0" err="1">
                  <a:latin typeface="+mn-ea"/>
                </a:rPr>
                <a:t>재구매</a:t>
              </a:r>
              <a:r>
                <a:rPr lang="ko-KR" altLang="en-US" sz="900" dirty="0">
                  <a:latin typeface="+mn-ea"/>
                </a:rPr>
                <a:t> </a:t>
              </a:r>
              <a:r>
                <a:rPr lang="ko-KR" altLang="en-US" sz="900" dirty="0" smtClean="0">
                  <a:latin typeface="+mn-ea"/>
                </a:rPr>
                <a:t>패턴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endParaRPr lang="en-US" altLang="ko-KR" sz="1050" b="1" dirty="0" smtClean="0">
                <a:latin typeface="+mn-ea"/>
              </a:endParaRP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050" b="1" dirty="0" smtClean="0">
                  <a:latin typeface="+mn-ea"/>
                </a:rPr>
                <a:t>상품 및 기획전</a:t>
              </a:r>
              <a:endParaRPr lang="en-US" altLang="ko-KR" sz="1050" b="1" dirty="0" smtClean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가</a:t>
              </a:r>
              <a:r>
                <a:rPr lang="en-US" altLang="ko-KR" sz="900" dirty="0" smtClean="0">
                  <a:latin typeface="+mn-ea"/>
                </a:rPr>
                <a:t>.  2017</a:t>
              </a:r>
              <a:r>
                <a:rPr lang="ko-KR" altLang="en-US" sz="900" dirty="0">
                  <a:latin typeface="+mn-ea"/>
                </a:rPr>
                <a:t>년</a:t>
              </a:r>
              <a:r>
                <a:rPr lang="en-US" altLang="ko-KR" sz="900" dirty="0">
                  <a:latin typeface="+mn-ea"/>
                </a:rPr>
                <a:t>, 2018</a:t>
              </a:r>
              <a:r>
                <a:rPr lang="ko-KR" altLang="en-US" sz="900" dirty="0">
                  <a:latin typeface="+mn-ea"/>
                </a:rPr>
                <a:t>년 실제 판매 </a:t>
              </a:r>
              <a:r>
                <a:rPr lang="ko-KR" altLang="en-US" sz="900" dirty="0" smtClean="0">
                  <a:latin typeface="+mn-ea"/>
                </a:rPr>
                <a:t>상품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--</a:t>
              </a: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나</a:t>
              </a:r>
              <a:r>
                <a:rPr lang="en-US" altLang="ko-KR" sz="900" dirty="0" smtClean="0">
                  <a:latin typeface="+mn-ea"/>
                </a:rPr>
                <a:t>.  2017</a:t>
              </a:r>
              <a:r>
                <a:rPr lang="ko-KR" altLang="en-US" sz="900" dirty="0">
                  <a:latin typeface="+mn-ea"/>
                </a:rPr>
                <a:t>년</a:t>
              </a:r>
              <a:r>
                <a:rPr lang="en-US" altLang="ko-KR" sz="900" dirty="0">
                  <a:latin typeface="+mn-ea"/>
                </a:rPr>
                <a:t>, 2018</a:t>
              </a:r>
              <a:r>
                <a:rPr lang="ko-KR" altLang="en-US" sz="900" dirty="0">
                  <a:latin typeface="+mn-ea"/>
                </a:rPr>
                <a:t>년 지역별 행사 </a:t>
              </a:r>
              <a:r>
                <a:rPr lang="ko-KR" altLang="en-US" sz="900" dirty="0" smtClean="0">
                  <a:latin typeface="+mn-ea"/>
                </a:rPr>
                <a:t>개수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 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--</a:t>
              </a: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다</a:t>
              </a:r>
              <a:r>
                <a:rPr lang="en-US" altLang="ko-KR" sz="900" dirty="0" smtClean="0">
                  <a:latin typeface="+mn-ea"/>
                </a:rPr>
                <a:t>.  2018</a:t>
              </a:r>
              <a:r>
                <a:rPr lang="ko-KR" altLang="en-US" sz="900" dirty="0">
                  <a:latin typeface="+mn-ea"/>
                </a:rPr>
                <a:t>년 지역별 </a:t>
              </a:r>
              <a:r>
                <a:rPr lang="en-US" altLang="ko-KR" sz="900" dirty="0">
                  <a:latin typeface="+mn-ea"/>
                </a:rPr>
                <a:t>TOP5 </a:t>
              </a:r>
              <a:r>
                <a:rPr lang="ko-KR" altLang="en-US" sz="900" dirty="0">
                  <a:latin typeface="+mn-ea"/>
                </a:rPr>
                <a:t>인기 </a:t>
              </a:r>
              <a:r>
                <a:rPr lang="ko-KR" altLang="en-US" sz="900" dirty="0" smtClean="0">
                  <a:latin typeface="+mn-ea"/>
                </a:rPr>
                <a:t>상품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---</a:t>
              </a:r>
              <a:endParaRPr lang="en-US" altLang="ko-KR" sz="900" dirty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라</a:t>
              </a:r>
              <a:r>
                <a:rPr lang="en-US" altLang="ko-KR" sz="900" dirty="0" smtClean="0">
                  <a:latin typeface="+mn-ea"/>
                </a:rPr>
                <a:t>.  2017</a:t>
              </a:r>
              <a:r>
                <a:rPr lang="ko-KR" altLang="en-US" sz="900" dirty="0">
                  <a:latin typeface="+mn-ea"/>
                </a:rPr>
                <a:t>년 월별 </a:t>
              </a:r>
              <a:r>
                <a:rPr lang="en-US" altLang="ko-KR" sz="900" dirty="0">
                  <a:latin typeface="+mn-ea"/>
                </a:rPr>
                <a:t>TOP5 </a:t>
              </a:r>
              <a:r>
                <a:rPr lang="ko-KR" altLang="en-US" sz="900" dirty="0">
                  <a:latin typeface="+mn-ea"/>
                </a:rPr>
                <a:t>인기 </a:t>
              </a:r>
              <a:r>
                <a:rPr lang="ko-KR" altLang="en-US" sz="900" dirty="0" smtClean="0">
                  <a:latin typeface="+mn-ea"/>
                </a:rPr>
                <a:t>상품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---</a:t>
              </a:r>
              <a:endParaRPr lang="en-US" altLang="ko-KR" sz="900" dirty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마</a:t>
              </a:r>
              <a:r>
                <a:rPr lang="en-US" altLang="ko-KR" sz="900" dirty="0" smtClean="0">
                  <a:latin typeface="+mn-ea"/>
                </a:rPr>
                <a:t>.  2018</a:t>
              </a:r>
              <a:r>
                <a:rPr lang="ko-KR" altLang="en-US" sz="900" dirty="0">
                  <a:latin typeface="+mn-ea"/>
                </a:rPr>
                <a:t>년 월별 </a:t>
              </a:r>
              <a:r>
                <a:rPr lang="en-US" altLang="ko-KR" sz="900" dirty="0">
                  <a:latin typeface="+mn-ea"/>
                </a:rPr>
                <a:t>TOP5 </a:t>
              </a:r>
              <a:r>
                <a:rPr lang="ko-KR" altLang="en-US" sz="900" dirty="0">
                  <a:latin typeface="+mn-ea"/>
                </a:rPr>
                <a:t>인기 </a:t>
              </a:r>
              <a:r>
                <a:rPr lang="ko-KR" altLang="en-US" sz="900" dirty="0" smtClean="0">
                  <a:latin typeface="+mn-ea"/>
                </a:rPr>
                <a:t>상품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---</a:t>
              </a: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바</a:t>
              </a:r>
              <a:r>
                <a:rPr lang="en-US" altLang="ko-KR" sz="900" dirty="0" smtClean="0">
                  <a:latin typeface="+mn-ea"/>
                </a:rPr>
                <a:t>.  2017</a:t>
              </a:r>
              <a:r>
                <a:rPr lang="ko-KR" altLang="en-US" sz="900" dirty="0" smtClean="0">
                  <a:latin typeface="+mn-ea"/>
                </a:rPr>
                <a:t>년</a:t>
              </a:r>
              <a:r>
                <a:rPr lang="en-US" altLang="ko-KR" sz="900" dirty="0" smtClean="0">
                  <a:latin typeface="+mn-ea"/>
                </a:rPr>
                <a:t>, 2018</a:t>
              </a:r>
              <a:r>
                <a:rPr lang="ko-KR" altLang="en-US" sz="900" dirty="0" smtClean="0">
                  <a:latin typeface="+mn-ea"/>
                </a:rPr>
                <a:t>년 기획전 분석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</a:t>
              </a:r>
              <a:r>
                <a:rPr lang="en-US" altLang="ko-KR" sz="1050" dirty="0">
                  <a:latin typeface="+mn-ea"/>
                </a:rPr>
                <a:t> </a:t>
              </a:r>
              <a:r>
                <a:rPr lang="en-US" altLang="ko-KR" sz="1050" dirty="0" smtClean="0">
                  <a:latin typeface="+mn-ea"/>
                </a:rPr>
                <a:t>-- --</a:t>
              </a: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050" b="1" dirty="0" smtClean="0">
                  <a:latin typeface="+mn-ea"/>
                </a:rPr>
                <a:t>통계 심화 분석</a:t>
              </a:r>
              <a:endParaRPr lang="en-US" altLang="ko-KR" sz="1050" b="1" dirty="0" smtClean="0">
                <a:latin typeface="+mn-ea"/>
              </a:endParaRPr>
            </a:p>
            <a:p>
              <a:pPr marL="457154" lvl="2">
                <a:lnSpc>
                  <a:spcPct val="150000"/>
                </a:lnSpc>
              </a:pPr>
              <a:r>
                <a:rPr lang="ko-KR" altLang="en-US" sz="900" dirty="0" smtClean="0">
                  <a:latin typeface="+mn-ea"/>
                </a:rPr>
                <a:t>가</a:t>
              </a:r>
              <a:r>
                <a:rPr lang="en-US" altLang="ko-KR" sz="900" dirty="0" smtClean="0">
                  <a:latin typeface="+mn-ea"/>
                </a:rPr>
                <a:t>.  </a:t>
              </a:r>
              <a:r>
                <a:rPr lang="ko-KR" altLang="en-US" sz="900" dirty="0" smtClean="0">
                  <a:latin typeface="+mn-ea"/>
                </a:rPr>
                <a:t>지역별</a:t>
              </a:r>
              <a:r>
                <a:rPr lang="en-US" altLang="ko-KR" sz="900" dirty="0" smtClean="0">
                  <a:latin typeface="+mn-ea"/>
                </a:rPr>
                <a:t> </a:t>
              </a:r>
              <a:r>
                <a:rPr lang="ko-KR" altLang="en-US" sz="900" dirty="0" smtClean="0">
                  <a:latin typeface="+mn-ea"/>
                </a:rPr>
                <a:t>상품개수</a:t>
              </a:r>
              <a:r>
                <a:rPr lang="en-US" altLang="ko-KR" sz="900" dirty="0" smtClean="0">
                  <a:latin typeface="+mn-ea"/>
                </a:rPr>
                <a:t>, </a:t>
              </a:r>
              <a:r>
                <a:rPr lang="ko-KR" altLang="en-US" sz="900" dirty="0" err="1" smtClean="0">
                  <a:latin typeface="+mn-ea"/>
                </a:rPr>
                <a:t>평균상품가</a:t>
              </a:r>
              <a:r>
                <a:rPr lang="en-US" altLang="ko-KR" sz="900" dirty="0" smtClean="0">
                  <a:latin typeface="+mn-ea"/>
                </a:rPr>
                <a:t>, </a:t>
              </a:r>
              <a:r>
                <a:rPr lang="ko-KR" altLang="en-US" sz="900" dirty="0" smtClean="0">
                  <a:latin typeface="+mn-ea"/>
                </a:rPr>
                <a:t>출발자수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ko-KR" altLang="en-US" sz="900" dirty="0" smtClean="0">
                  <a:latin typeface="+mn-ea"/>
                </a:rPr>
                <a:t>연관관계 분석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</a:t>
              </a:r>
              <a:r>
                <a:rPr lang="en-US" altLang="ko-KR" sz="900" dirty="0">
                  <a:latin typeface="+mn-ea"/>
                </a:rPr>
                <a:t> </a:t>
              </a:r>
              <a:r>
                <a:rPr lang="en-US" altLang="ko-KR" sz="900" dirty="0" smtClean="0">
                  <a:latin typeface="+mn-ea"/>
                </a:rPr>
                <a:t>---</a:t>
              </a:r>
              <a:endParaRPr lang="en-US" altLang="ko-KR" sz="900" dirty="0">
                <a:latin typeface="+mn-ea"/>
              </a:endParaRPr>
            </a:p>
            <a:p>
              <a:pPr marL="400011" indent="-400011">
                <a:lnSpc>
                  <a:spcPct val="150000"/>
                </a:lnSpc>
                <a:buFont typeface="+mj-lt"/>
                <a:buAutoNum type="romanUcPeriod"/>
              </a:pPr>
              <a:r>
                <a:rPr lang="ko-KR" altLang="en-US" sz="1100" b="1" dirty="0" smtClean="0">
                  <a:latin typeface="+mn-ea"/>
                </a:rPr>
                <a:t>시사점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</a:t>
              </a:r>
              <a:r>
                <a:rPr lang="en-US" altLang="ko-KR" sz="1100" dirty="0">
                  <a:latin typeface="+mn-ea"/>
                </a:rPr>
                <a:t> </a:t>
              </a:r>
              <a:r>
                <a:rPr lang="en-US" altLang="ko-KR" sz="1100" dirty="0" smtClean="0">
                  <a:latin typeface="+mn-ea"/>
                </a:rPr>
                <a:t>----</a:t>
              </a:r>
              <a:endParaRPr lang="en-US" altLang="ko-KR" sz="1100" b="1" dirty="0">
                <a:latin typeface="+mn-ea"/>
              </a:endParaRPr>
            </a:p>
          </p:txBody>
        </p:sp>
        <p:grpSp>
          <p:nvGrpSpPr>
            <p:cNvPr id="16" name="그룹 15"/>
            <p:cNvGrpSpPr/>
            <p:nvPr/>
          </p:nvGrpSpPr>
          <p:grpSpPr>
            <a:xfrm>
              <a:off x="4885654" y="720803"/>
              <a:ext cx="4578468" cy="5966126"/>
              <a:chOff x="4885654" y="720803"/>
              <a:chExt cx="4578468" cy="5966126"/>
            </a:xfrm>
          </p:grpSpPr>
          <p:sp>
            <p:nvSpPr>
              <p:cNvPr id="9" name="직사각형 8"/>
              <p:cNvSpPr/>
              <p:nvPr/>
            </p:nvSpPr>
            <p:spPr>
              <a:xfrm>
                <a:off x="4892120" y="2210036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12p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15p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19p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21p</a:t>
                </a: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4892116" y="3293499"/>
                <a:ext cx="4572000" cy="71558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24p</a:t>
                </a: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26p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4900750" y="720803"/>
                <a:ext cx="1270240" cy="1338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06p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07p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08p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09p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10p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11p</a:t>
                </a: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4892122" y="3978206"/>
                <a:ext cx="4572000" cy="5078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28p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29p</a:t>
                </a: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4892114" y="4667907"/>
                <a:ext cx="4572000" cy="133882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34p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35p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36p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38p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40p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42p</a:t>
                </a: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4885654" y="6179098"/>
                <a:ext cx="4572000" cy="5078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43p</a:t>
                </a:r>
                <a:endParaRPr lang="en-US" altLang="ko-KR" sz="900" dirty="0">
                  <a:latin typeface="+mn-ea"/>
                </a:endParaRPr>
              </a:p>
              <a:p>
                <a:pPr marL="457154" lvl="1">
                  <a:lnSpc>
                    <a:spcPct val="150000"/>
                  </a:lnSpc>
                </a:pPr>
                <a:r>
                  <a:rPr lang="en-US" altLang="ko-KR" sz="900" dirty="0" smtClean="0">
                    <a:latin typeface="+mn-ea"/>
                  </a:rPr>
                  <a:t>47p</a:t>
                </a:r>
                <a:endParaRPr lang="en-US" altLang="ko-KR" sz="900" dirty="0"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490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6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406552" y="1221712"/>
            <a:ext cx="4051314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06552" y="1214624"/>
            <a:ext cx="194116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03147" y="1221712"/>
            <a:ext cx="19479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회원가입자수 추이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4668882" y="1221712"/>
            <a:ext cx="4062046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668882" y="1214624"/>
            <a:ext cx="194116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" name="TextBox 35"/>
          <p:cNvSpPr txBox="1">
            <a:spLocks noChangeArrowheads="1"/>
          </p:cNvSpPr>
          <p:nvPr/>
        </p:nvSpPr>
        <p:spPr bwMode="auto">
          <a:xfrm>
            <a:off x="4668882" y="1212834"/>
            <a:ext cx="19479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매체별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회원가입자수 비중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7399" y="879400"/>
            <a:ext cx="2341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회원가입 변화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graphicFrame>
        <p:nvGraphicFramePr>
          <p:cNvPr id="16" name="차트 15"/>
          <p:cNvGraphicFramePr>
            <a:graphicFrameLocks/>
          </p:cNvGraphicFramePr>
          <p:nvPr>
            <p:extLst/>
          </p:nvPr>
        </p:nvGraphicFramePr>
        <p:xfrm>
          <a:off x="340998" y="1498711"/>
          <a:ext cx="4116868" cy="2475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8" name="직선 연결선 1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차트 18"/>
          <p:cNvGraphicFramePr>
            <a:graphicFrameLocks/>
          </p:cNvGraphicFramePr>
          <p:nvPr>
            <p:extLst/>
          </p:nvPr>
        </p:nvGraphicFramePr>
        <p:xfrm>
          <a:off x="4617514" y="1498711"/>
          <a:ext cx="4113414" cy="2475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616520" y="3974682"/>
            <a:ext cx="11144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관리자 가입 제외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1" name="그룹 20"/>
          <p:cNvGrpSpPr>
            <a:grpSpLocks/>
          </p:cNvGrpSpPr>
          <p:nvPr/>
        </p:nvGrpSpPr>
        <p:grpSpPr bwMode="auto">
          <a:xfrm>
            <a:off x="2375827" y="1854679"/>
            <a:ext cx="1015919" cy="405442"/>
            <a:chOff x="2132974" y="1291234"/>
            <a:chExt cx="1315718" cy="1094218"/>
          </a:xfrm>
        </p:grpSpPr>
        <p:sp>
          <p:nvSpPr>
            <p:cNvPr id="25" name="순서도: 연결자 24"/>
            <p:cNvSpPr/>
            <p:nvPr/>
          </p:nvSpPr>
          <p:spPr>
            <a:xfrm>
              <a:off x="2219492" y="1291234"/>
              <a:ext cx="1142685" cy="1094218"/>
            </a:xfrm>
            <a:prstGeom prst="flowChartConnector">
              <a:avLst/>
            </a:prstGeom>
            <a:noFill/>
            <a:ln w="190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6" name="TextBox 5"/>
            <p:cNvSpPr txBox="1">
              <a:spLocks noChangeArrowheads="1"/>
            </p:cNvSpPr>
            <p:nvPr/>
          </p:nvSpPr>
          <p:spPr bwMode="auto">
            <a:xfrm>
              <a:off x="2132974" y="1536733"/>
              <a:ext cx="1315718" cy="664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000" b="1" dirty="0" smtClean="0">
                  <a:solidFill>
                    <a:srgbClr val="C00000"/>
                  </a:solidFill>
                  <a:latin typeface="Calibri" panose="020F0502020204030204" pitchFamily="34" charset="0"/>
                </a:rPr>
                <a:t>↑</a:t>
              </a:r>
              <a:r>
                <a:rPr lang="ko-KR" altLang="en-US" sz="1000" b="1" dirty="0" smtClean="0">
                  <a:solidFill>
                    <a:srgbClr val="C00000"/>
                  </a:solidFill>
                  <a:latin typeface="Calibri" panose="020F0502020204030204" pitchFamily="34" charset="0"/>
                </a:rPr>
                <a:t>약 </a:t>
              </a:r>
              <a:r>
                <a:rPr lang="en-US" altLang="ko-KR" sz="1000" b="1" dirty="0" smtClean="0">
                  <a:solidFill>
                    <a:srgbClr val="C00000"/>
                  </a:solidFill>
                  <a:latin typeface="Calibri" panose="020F0502020204030204" pitchFamily="34" charset="0"/>
                </a:rPr>
                <a:t>2</a:t>
              </a:r>
              <a:r>
                <a:rPr lang="ko-KR" altLang="en-US" sz="1000" b="1" dirty="0" smtClean="0">
                  <a:solidFill>
                    <a:srgbClr val="C00000"/>
                  </a:solidFill>
                  <a:latin typeface="Calibri" panose="020F0502020204030204" pitchFamily="34" charset="0"/>
                </a:rPr>
                <a:t>배 증가</a:t>
              </a:r>
              <a:endParaRPr lang="ko-KR" altLang="en-US" sz="1000" b="1" dirty="0">
                <a:solidFill>
                  <a:srgbClr val="C00000"/>
                </a:solidFill>
                <a:latin typeface="Calibri" panose="020F0502020204030204" pitchFamily="34" charset="0"/>
              </a:endParaRPr>
            </a:p>
          </p:txBody>
        </p:sp>
      </p:grpSp>
      <p:cxnSp>
        <p:nvCxnSpPr>
          <p:cNvPr id="28" name="직선 화살표 연결선 27"/>
          <p:cNvCxnSpPr/>
          <p:nvPr/>
        </p:nvCxnSpPr>
        <p:spPr>
          <a:xfrm flipV="1">
            <a:off x="3065977" y="1759789"/>
            <a:ext cx="621103" cy="769533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1"/>
          <p:cNvSpPr txBox="1">
            <a:spLocks noChangeArrowheads="1"/>
          </p:cNvSpPr>
          <p:nvPr/>
        </p:nvSpPr>
        <p:spPr bwMode="auto">
          <a:xfrm>
            <a:off x="588753" y="4262712"/>
            <a:ext cx="855524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2018</a:t>
            </a:r>
            <a:r>
              <a:rPr lang="ko-KR" altLang="en-US" sz="1400" b="1" dirty="0" smtClean="0"/>
              <a:t>년 회원가입자수의 급격한 증가</a:t>
            </a:r>
            <a:endParaRPr lang="en-US" altLang="ko-KR" sz="1400" b="1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400" b="1" dirty="0"/>
              <a:t> </a:t>
            </a:r>
            <a:r>
              <a:rPr lang="en-US" altLang="ko-KR" sz="1400" b="1" dirty="0" smtClean="0"/>
              <a:t>    -&gt; 12</a:t>
            </a:r>
            <a:r>
              <a:rPr lang="ko-KR" altLang="en-US" sz="1400" b="1" dirty="0" smtClean="0"/>
              <a:t>월 이벤트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친구추천 및 </a:t>
            </a:r>
            <a:r>
              <a:rPr lang="en-US" altLang="ko-KR" sz="1400" b="1" dirty="0" smtClean="0"/>
              <a:t>VERYGOOD 100Festival</a:t>
            </a:r>
            <a:r>
              <a:rPr lang="ko-KR" altLang="en-US" sz="1400" b="1" dirty="0" smtClean="0"/>
              <a:t>의 효과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(12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월 가입자수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– 43,700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명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)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MOBILE</a:t>
            </a:r>
            <a:r>
              <a:rPr lang="ko-KR" altLang="en-US" sz="1400" b="1" dirty="0" smtClean="0"/>
              <a:t>로 회원가입을 하는 비중 증가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2017</a:t>
            </a:r>
            <a:r>
              <a:rPr lang="ko-KR" altLang="en-US" sz="1400" b="1" dirty="0" smtClean="0"/>
              <a:t>년 </a:t>
            </a:r>
            <a:r>
              <a:rPr lang="en-US" altLang="ko-KR" sz="1400" b="1" dirty="0" smtClean="0"/>
              <a:t>11</a:t>
            </a:r>
            <a:r>
              <a:rPr lang="ko-KR" altLang="en-US" sz="1400" b="1" dirty="0" smtClean="0"/>
              <a:t>월 </a:t>
            </a:r>
            <a:r>
              <a:rPr lang="en-US" altLang="ko-KR" sz="1400" b="1" dirty="0" smtClean="0"/>
              <a:t>SNS </a:t>
            </a:r>
            <a:r>
              <a:rPr lang="ko-KR" altLang="en-US" sz="1400" b="1" dirty="0" smtClean="0"/>
              <a:t>간편가입 도입으로 </a:t>
            </a:r>
            <a:r>
              <a:rPr lang="en-US" altLang="ko-KR" sz="1400" b="1" dirty="0" smtClean="0"/>
              <a:t>2018</a:t>
            </a:r>
            <a:r>
              <a:rPr lang="ko-KR" altLang="en-US" sz="1400" b="1" dirty="0" smtClean="0"/>
              <a:t>년 </a:t>
            </a:r>
            <a:r>
              <a:rPr lang="ko-KR" altLang="en-US" sz="1400" b="1" dirty="0" err="1" smtClean="0"/>
              <a:t>모바일</a:t>
            </a:r>
            <a:r>
              <a:rPr lang="ko-KR" altLang="en-US" sz="1400" b="1" dirty="0" smtClean="0"/>
              <a:t> 가입 비중 증가</a:t>
            </a:r>
            <a:endParaRPr lang="en-US" altLang="ko-KR" sz="1400" b="1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400" b="1" dirty="0" smtClean="0">
                <a:solidFill>
                  <a:srgbClr val="C00000"/>
                </a:solidFill>
              </a:rPr>
              <a:t>  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(2018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년 약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8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만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5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천명정도가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SNS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간편가입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)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48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7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7"/>
          <p:cNvSpPr txBox="1"/>
          <p:nvPr/>
        </p:nvSpPr>
        <p:spPr>
          <a:xfrm>
            <a:off x="1628288" y="2553117"/>
            <a:ext cx="514884" cy="307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여성</a:t>
            </a:r>
            <a:endParaRPr lang="ko-KR" altLang="en-US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636914" y="1682364"/>
          <a:ext cx="5821884" cy="34863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5740"/>
                <a:gridCol w="1112807"/>
                <a:gridCol w="1777588"/>
                <a:gridCol w="1825749"/>
              </a:tblGrid>
              <a:tr h="2681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연령대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가입채널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남성 비율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여성 비율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dirty="0">
                          <a:latin typeface="+mn-ea"/>
                          <a:ea typeface="+mn-ea"/>
                        </a:rPr>
                        <a:t>PC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21%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36%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모바일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79%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64%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dirty="0">
                          <a:latin typeface="+mn-ea"/>
                          <a:ea typeface="+mn-ea"/>
                        </a:rPr>
                        <a:t>PC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30%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>
                          <a:latin typeface="+mn-ea"/>
                          <a:ea typeface="+mn-ea"/>
                        </a:rPr>
                        <a:t>33%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모바일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70%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67%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dirty="0">
                          <a:latin typeface="+mn-ea"/>
                          <a:ea typeface="+mn-ea"/>
                        </a:rPr>
                        <a:t>PC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36%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34%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모바일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64%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66%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dirty="0">
                          <a:latin typeface="+mn-ea"/>
                          <a:ea typeface="+mn-ea"/>
                        </a:rPr>
                        <a:t>PC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48%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39%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모바일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61%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dirty="0">
                          <a:latin typeface="+mn-ea"/>
                          <a:ea typeface="+mn-ea"/>
                        </a:rPr>
                        <a:t>PC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44%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모바일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43%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81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70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dirty="0">
                          <a:latin typeface="+mn-ea"/>
                          <a:ea typeface="+mn-ea"/>
                        </a:rPr>
                        <a:t>PC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41%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8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모바일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43%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" name="직사각형 27"/>
          <p:cNvSpPr/>
          <p:nvPr/>
        </p:nvSpPr>
        <p:spPr>
          <a:xfrm>
            <a:off x="1628288" y="1408823"/>
            <a:ext cx="296959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 smtClean="0">
                <a:solidFill>
                  <a:schemeClr val="bg1"/>
                </a:solidFill>
                <a:latin typeface="맑은고딕"/>
              </a:rPr>
              <a:t>2018</a:t>
            </a:r>
            <a:r>
              <a:rPr lang="ko-KR" altLang="en-US" sz="1200" b="1" dirty="0" smtClean="0">
                <a:solidFill>
                  <a:schemeClr val="bg1"/>
                </a:solidFill>
                <a:latin typeface="맑은고딕"/>
              </a:rPr>
              <a:t>년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맑은고딕"/>
              </a:rPr>
              <a:t>매체별</a:t>
            </a:r>
            <a:r>
              <a:rPr lang="en-US" altLang="ko-KR" sz="1200" b="1" dirty="0" smtClean="0">
                <a:solidFill>
                  <a:schemeClr val="bg1"/>
                </a:solidFill>
                <a:latin typeface="맑은고딕"/>
              </a:rPr>
              <a:t>, </a:t>
            </a:r>
            <a:r>
              <a:rPr lang="ko-KR" altLang="en-US" sz="1200" b="1" dirty="0" smtClean="0">
                <a:solidFill>
                  <a:schemeClr val="bg1"/>
                </a:solidFill>
                <a:latin typeface="맑은고딕"/>
              </a:rPr>
              <a:t>연령별 회원가입자 비중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7399" y="947478"/>
            <a:ext cx="3492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매체별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회원가입 세부 비중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4" name="TextBox 21"/>
          <p:cNvSpPr txBox="1">
            <a:spLocks noChangeArrowheads="1"/>
          </p:cNvSpPr>
          <p:nvPr/>
        </p:nvSpPr>
        <p:spPr bwMode="auto">
          <a:xfrm>
            <a:off x="2023571" y="5128919"/>
            <a:ext cx="570686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여성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전체 연령대 </a:t>
            </a:r>
            <a:r>
              <a:rPr lang="ko-KR" altLang="en-US" sz="1400" b="1" dirty="0" err="1" smtClean="0"/>
              <a:t>모바일</a:t>
            </a:r>
            <a:r>
              <a:rPr lang="ko-KR" altLang="en-US" sz="1400" b="1" dirty="0" smtClean="0"/>
              <a:t> 회원가입 비중이 높음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남성 </a:t>
            </a:r>
            <a:r>
              <a:rPr lang="en-US" altLang="ko-KR" sz="1400" b="1" dirty="0" smtClean="0"/>
              <a:t>– 60</a:t>
            </a:r>
            <a:r>
              <a:rPr lang="ko-KR" altLang="en-US" sz="1400" b="1" dirty="0" smtClean="0"/>
              <a:t>대</a:t>
            </a:r>
            <a:r>
              <a:rPr lang="en-US" altLang="ko-KR" sz="1400" b="1" dirty="0" smtClean="0"/>
              <a:t>, 70</a:t>
            </a:r>
            <a:r>
              <a:rPr lang="ko-KR" altLang="en-US" sz="1400" b="1" dirty="0" smtClean="0"/>
              <a:t>대를 제외한 나머지 </a:t>
            </a:r>
            <a:r>
              <a:rPr lang="ko-KR" altLang="en-US" sz="1400" b="1" dirty="0" err="1" smtClean="0"/>
              <a:t>모바일</a:t>
            </a:r>
            <a:r>
              <a:rPr lang="ko-KR" altLang="en-US" sz="1400" b="1" dirty="0" smtClean="0"/>
              <a:t> 회원가입 비중이 높음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남성보다 여성이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모바일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활용도가 높음 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38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8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406552" y="1221712"/>
            <a:ext cx="4051314" cy="248764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97926" y="1222433"/>
            <a:ext cx="194116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80091" y="1221712"/>
            <a:ext cx="17940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연령대별 회원가입 비중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4668882" y="1221712"/>
            <a:ext cx="4062046" cy="248764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668882" y="1214624"/>
            <a:ext cx="194116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" name="TextBox 35"/>
          <p:cNvSpPr txBox="1">
            <a:spLocks noChangeArrowheads="1"/>
          </p:cNvSpPr>
          <p:nvPr/>
        </p:nvSpPr>
        <p:spPr bwMode="auto">
          <a:xfrm>
            <a:off x="4742421" y="1221712"/>
            <a:ext cx="17940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연령대별 출발자수 비중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4742421" y="3906951"/>
          <a:ext cx="3901250" cy="1419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0250"/>
                <a:gridCol w="780250"/>
                <a:gridCol w="780250"/>
                <a:gridCol w="780250"/>
                <a:gridCol w="780250"/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smtClean="0">
                          <a:effectLst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</a:rPr>
                        <a:t>2015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</a:rPr>
                        <a:t>2016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</a:rPr>
                        <a:t>2017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</a:rPr>
                        <a:t>2018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312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20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312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30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362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40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312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50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886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60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312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70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31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총합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560717" y="3899284"/>
          <a:ext cx="3769745" cy="14177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3949"/>
                <a:gridCol w="753949"/>
                <a:gridCol w="753949"/>
                <a:gridCol w="753949"/>
                <a:gridCol w="753949"/>
              </a:tblGrid>
              <a:tr h="976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</a:rPr>
                        <a:t>2015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</a:rPr>
                        <a:t>2016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</a:rPr>
                        <a:t>2017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</a:rPr>
                        <a:t>2018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32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20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19%</a:t>
                      </a:r>
                      <a:endParaRPr lang="en-US" altLang="ko-KR" sz="11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15%</a:t>
                      </a:r>
                      <a:endParaRPr lang="en-US" altLang="ko-KR" sz="11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12%</a:t>
                      </a:r>
                      <a:endParaRPr lang="en-US" altLang="ko-KR" sz="11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12%</a:t>
                      </a:r>
                      <a:endParaRPr lang="en-US" altLang="ko-KR" sz="11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32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30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31%</a:t>
                      </a:r>
                      <a:endParaRPr lang="en-US" altLang="ko-KR" sz="11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27%</a:t>
                      </a:r>
                      <a:endParaRPr lang="en-US" altLang="ko-KR" sz="11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  <a:endParaRPr lang="en-US" altLang="ko-KR" sz="11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  <a:endParaRPr lang="en-US" altLang="ko-KR" sz="11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37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40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32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50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37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60</a:t>
                      </a:r>
                      <a:r>
                        <a:rPr lang="ko-KR" altLang="en-US" sz="1100" u="none" strike="noStrike" dirty="0">
                          <a:effectLst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32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70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대</a:t>
                      </a:r>
                      <a:endParaRPr lang="en-US" altLang="ko-KR" sz="1100" b="0" i="0" u="none" strike="noStrike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smtClean="0">
                          <a:effectLst/>
                        </a:rPr>
                        <a:t>총합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u="none" strike="noStrike" dirty="0">
                          <a:effectLst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77399" y="86277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다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연령대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28172" y="3701458"/>
            <a:ext cx="7104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%)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18486" y="3701458"/>
            <a:ext cx="7104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%)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차트 20"/>
          <p:cNvGraphicFramePr>
            <a:graphicFrameLocks/>
          </p:cNvGraphicFramePr>
          <p:nvPr>
            <p:extLst/>
          </p:nvPr>
        </p:nvGraphicFramePr>
        <p:xfrm>
          <a:off x="406552" y="1462314"/>
          <a:ext cx="4130942" cy="2307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9" name="차트 28"/>
          <p:cNvGraphicFramePr>
            <a:graphicFrameLocks/>
          </p:cNvGraphicFramePr>
          <p:nvPr>
            <p:extLst/>
          </p:nvPr>
        </p:nvGraphicFramePr>
        <p:xfrm>
          <a:off x="4675518" y="1484500"/>
          <a:ext cx="4123425" cy="2267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Box 21"/>
          <p:cNvSpPr txBox="1">
            <a:spLocks noChangeArrowheads="1"/>
          </p:cNvSpPr>
          <p:nvPr/>
        </p:nvSpPr>
        <p:spPr bwMode="auto">
          <a:xfrm>
            <a:off x="2169903" y="5279357"/>
            <a:ext cx="548172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회원가입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출발자수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20, 30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대↓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, 50, 60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대 비중↑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모든 연령층이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회원가입 비례 출발자수 증감</a:t>
            </a:r>
            <a:endParaRPr lang="en-US" altLang="ko-KR" sz="14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50, 60</a:t>
            </a:r>
            <a:r>
              <a:rPr lang="ko-KR" altLang="en-US" sz="1400" b="1" dirty="0" smtClean="0"/>
              <a:t>대의 경우 여행 상품을 예약하기 위해 가입을 하는 경향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89772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9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97320" y="1345827"/>
            <a:ext cx="3120159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97319" y="1345827"/>
            <a:ext cx="229202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97318" y="1338703"/>
            <a:ext cx="2143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 회원가입자 성별 비중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21214" y="3879179"/>
            <a:ext cx="1633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2018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 회원가입자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약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만명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8408" y="898833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성별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1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/>
          </p:nvPr>
        </p:nvGraphicFramePr>
        <p:xfrm>
          <a:off x="3901876" y="1608582"/>
          <a:ext cx="4715916" cy="24880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5986"/>
                <a:gridCol w="785986"/>
                <a:gridCol w="785986"/>
                <a:gridCol w="785986"/>
                <a:gridCol w="785986"/>
                <a:gridCol w="785986"/>
              </a:tblGrid>
              <a:tr h="17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연령대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2015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2018</a:t>
                      </a:r>
                      <a:r>
                        <a:rPr lang="en-US" altLang="ko-KR" sz="1100" b="1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78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57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en-US" altLang="ko-KR" sz="1100" b="0" i="0" u="none" strike="noStrike" dirty="0" smtClean="0">
                        <a:solidFill>
                          <a:schemeClr val="dk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57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7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3899721" y="1337202"/>
            <a:ext cx="4715911" cy="2684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7" name="TextBox 35"/>
          <p:cNvSpPr txBox="1">
            <a:spLocks noChangeArrowheads="1"/>
          </p:cNvSpPr>
          <p:nvPr/>
        </p:nvSpPr>
        <p:spPr bwMode="auto">
          <a:xfrm>
            <a:off x="3939766" y="1328680"/>
            <a:ext cx="25699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2015~ 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 회원가입자 구성 비중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3899721" y="1328680"/>
            <a:ext cx="4718067" cy="277680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차트 18"/>
          <p:cNvGraphicFramePr>
            <a:graphicFrameLocks/>
          </p:cNvGraphicFramePr>
          <p:nvPr>
            <p:extLst/>
          </p:nvPr>
        </p:nvGraphicFramePr>
        <p:xfrm>
          <a:off x="297422" y="1407483"/>
          <a:ext cx="3446442" cy="2767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TextBox 7"/>
          <p:cNvSpPr txBox="1"/>
          <p:nvPr/>
        </p:nvSpPr>
        <p:spPr>
          <a:xfrm>
            <a:off x="1378121" y="2596249"/>
            <a:ext cx="514884" cy="307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여성</a:t>
            </a:r>
            <a:endParaRPr lang="ko-KR" altLang="en-US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8"/>
          <p:cNvSpPr txBox="1"/>
          <p:nvPr/>
        </p:nvSpPr>
        <p:spPr>
          <a:xfrm>
            <a:off x="2274458" y="2253691"/>
            <a:ext cx="514884" cy="307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남성</a:t>
            </a:r>
            <a:endParaRPr lang="ko-KR" altLang="en-US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1781353" y="4288958"/>
            <a:ext cx="6374429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여성 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남성 성비는 약 </a:t>
            </a:r>
            <a:r>
              <a:rPr lang="en-US" altLang="ko-KR" sz="1400" b="1" dirty="0" smtClean="0"/>
              <a:t>6 : 4 </a:t>
            </a:r>
            <a:r>
              <a:rPr lang="ko-KR" altLang="en-US" sz="1400" b="1" dirty="0" smtClean="0"/>
              <a:t>비율</a:t>
            </a:r>
            <a:endParaRPr lang="en-US" altLang="ko-KR" sz="1400" b="1" dirty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40</a:t>
            </a:r>
            <a:r>
              <a:rPr lang="ko-KR" altLang="en-US" sz="1400" b="1" dirty="0" smtClean="0"/>
              <a:t>대 여성 </a:t>
            </a:r>
            <a:r>
              <a:rPr lang="ko-KR" altLang="en-US" sz="1400" b="1" dirty="0" err="1" smtClean="0"/>
              <a:t>회원가입율</a:t>
            </a:r>
            <a:r>
              <a:rPr lang="ko-KR" altLang="en-US" sz="1400" b="1" dirty="0" smtClean="0"/>
              <a:t> 가장 높음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50, 60</a:t>
            </a:r>
            <a:r>
              <a:rPr lang="ko-KR" altLang="en-US" sz="1400" b="1" dirty="0" smtClean="0"/>
              <a:t>대 회원가입 비중 증가 추세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30~50</a:t>
            </a:r>
            <a:r>
              <a:rPr lang="ko-KR" altLang="en-US" sz="1400" b="1" dirty="0" smtClean="0"/>
              <a:t>대 여성 회원가입 비중이 약 </a:t>
            </a:r>
            <a:r>
              <a:rPr lang="en-US" altLang="ko-KR" sz="1400" b="1" dirty="0" smtClean="0"/>
              <a:t>50% </a:t>
            </a:r>
            <a:r>
              <a:rPr lang="ko-KR" altLang="en-US" sz="1400" b="1" dirty="0" smtClean="0"/>
              <a:t>차지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자사의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중장년층을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여성을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대상으로한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마케팅의 결과로 예상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81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10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328828" y="1342264"/>
            <a:ext cx="4151291" cy="298819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28829" y="1342264"/>
            <a:ext cx="172857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373019" y="1335140"/>
            <a:ext cx="18267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회원가입자 지역 분포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4609666" y="1342264"/>
            <a:ext cx="4169570" cy="298819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4598905" y="1349043"/>
            <a:ext cx="302486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0" name="TextBox 35"/>
          <p:cNvSpPr txBox="1">
            <a:spLocks noChangeArrowheads="1"/>
          </p:cNvSpPr>
          <p:nvPr/>
        </p:nvSpPr>
        <p:spPr bwMode="auto">
          <a:xfrm>
            <a:off x="4648610" y="1346033"/>
            <a:ext cx="31582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 서울시 거주 회원가입자 상세  비중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7399" y="91758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마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거주지 비중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21" name="직선 연결선 2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차트 24"/>
          <p:cNvGraphicFramePr>
            <a:graphicFrameLocks/>
          </p:cNvGraphicFramePr>
          <p:nvPr>
            <p:extLst/>
          </p:nvPr>
        </p:nvGraphicFramePr>
        <p:xfrm>
          <a:off x="262864" y="1604779"/>
          <a:ext cx="4286337" cy="2725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차트 25"/>
          <p:cNvGraphicFramePr>
            <a:graphicFrameLocks/>
          </p:cNvGraphicFramePr>
          <p:nvPr>
            <p:extLst/>
          </p:nvPr>
        </p:nvGraphicFramePr>
        <p:xfrm>
          <a:off x="4598905" y="1612139"/>
          <a:ext cx="4180331" cy="2718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1837429" y="4735969"/>
            <a:ext cx="730657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전체 회원가입자의 약 </a:t>
            </a:r>
            <a:r>
              <a:rPr lang="en-US" altLang="ko-KR" sz="1400" b="1" dirty="0" smtClean="0"/>
              <a:t>70% </a:t>
            </a:r>
            <a:r>
              <a:rPr lang="ko-KR" altLang="en-US" sz="1400" b="1" dirty="0" smtClean="0"/>
              <a:t>수도권 및 근교 거주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서울시 회원 가입자의 </a:t>
            </a:r>
            <a:r>
              <a:rPr lang="en-US" altLang="ko-KR" sz="1400" b="1" dirty="0" smtClean="0"/>
              <a:t>TOP3</a:t>
            </a:r>
            <a:r>
              <a:rPr lang="ko-KR" altLang="en-US" sz="1400" b="1" dirty="0" smtClean="0"/>
              <a:t> 강남 거주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금전적으로 여유가 있는 지역의 고객들이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여행에 관심도가 높음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020574" y="1802387"/>
            <a:ext cx="448573" cy="2068309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816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11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03492" y="1365457"/>
            <a:ext cx="189465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58511" y="1365457"/>
            <a:ext cx="18051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j-lt"/>
              </a:rPr>
              <a:t>회원가입 경로 변화추이</a:t>
            </a:r>
            <a:endParaRPr lang="ko-KR" alt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7399" y="918439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바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회원가입경로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2" name="TextBox 35"/>
          <p:cNvSpPr txBox="1">
            <a:spLocks noChangeArrowheads="1"/>
          </p:cNvSpPr>
          <p:nvPr/>
        </p:nvSpPr>
        <p:spPr bwMode="auto">
          <a:xfrm>
            <a:off x="4784497" y="1361973"/>
            <a:ext cx="8652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j-lt"/>
              </a:rPr>
              <a:t>70</a:t>
            </a:r>
            <a:r>
              <a:rPr lang="ko-KR" altLang="en-US" sz="1200" b="1" dirty="0" smtClean="0">
                <a:solidFill>
                  <a:schemeClr val="bg1"/>
                </a:solidFill>
                <a:latin typeface="+mj-lt"/>
              </a:rPr>
              <a:t>대 고객</a:t>
            </a:r>
            <a:endParaRPr lang="ko-KR" alt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512119" y="1359371"/>
            <a:ext cx="3972184" cy="329513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/>
          </p:nvPr>
        </p:nvGraphicFramePr>
        <p:xfrm>
          <a:off x="4687379" y="1561841"/>
          <a:ext cx="3861398" cy="3092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5770"/>
                <a:gridCol w="500938"/>
                <a:gridCol w="500938"/>
                <a:gridCol w="500938"/>
                <a:gridCol w="500938"/>
                <a:gridCol w="500938"/>
                <a:gridCol w="500938"/>
              </a:tblGrid>
              <a:tr h="34363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가입경로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43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인원 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검색엔진</a:t>
                      </a:r>
                      <a:endParaRPr lang="ko-KR" altLang="en-US" sz="800" b="0" i="0" u="none" strike="noStrike" dirty="0">
                        <a:solidFill>
                          <a:schemeClr val="accent5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6,675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37.2%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6,752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36.1%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4,518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chemeClr val="accent5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32.2%</a:t>
                      </a:r>
                      <a:endParaRPr lang="en-US" altLang="ko-KR" sz="800" b="0" i="0" u="none" strike="noStrike" dirty="0">
                        <a:solidFill>
                          <a:schemeClr val="accent5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주변인소개</a:t>
                      </a:r>
                      <a:endParaRPr lang="ko-KR" altLang="en-US" sz="8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6,316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35.2%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6,824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36.5%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5,406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38.5%</a:t>
                      </a:r>
                      <a:endParaRPr lang="en-US" alt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신문 및 대중매체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2,018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2,119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1,501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인터넷 배너광고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911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927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749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1,833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1,898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1,684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12.0%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3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17,939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18,682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14,028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7803226" y="1350745"/>
            <a:ext cx="8547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,%)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17" name="직선 연결선 16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차트 17"/>
          <p:cNvGraphicFramePr>
            <a:graphicFrameLocks/>
          </p:cNvGraphicFramePr>
          <p:nvPr>
            <p:extLst/>
          </p:nvPr>
        </p:nvGraphicFramePr>
        <p:xfrm>
          <a:off x="512117" y="1638972"/>
          <a:ext cx="3972185" cy="3015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2057399" y="4836290"/>
            <a:ext cx="6068683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가입경로 응답 중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주변인 소개의 비중이 높음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 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검색엔진 가입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대중매체 비중 감소 추세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기존 고객을 </a:t>
            </a:r>
            <a:r>
              <a:rPr lang="ko-KR" altLang="en-US" sz="1400" b="1" dirty="0" err="1" smtClean="0"/>
              <a:t>대상으로한</a:t>
            </a:r>
            <a:r>
              <a:rPr lang="ko-KR" altLang="en-US" sz="1400" b="1" dirty="0" smtClean="0"/>
              <a:t> 마케팅을 강화 </a:t>
            </a:r>
            <a:endParaRPr lang="en-US" altLang="ko-KR" sz="1400" b="1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400" b="1" dirty="0" smtClean="0"/>
              <a:t>     -&gt; A/S </a:t>
            </a:r>
            <a:r>
              <a:rPr lang="ko-KR" altLang="en-US" sz="1400" b="1" dirty="0" smtClean="0"/>
              <a:t>콜 강화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및 친구추천과 같은 이벤트 지속적으로 진행 및 개발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24464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12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26491" y="1376566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616014" y="1366035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j-lt"/>
              </a:rPr>
              <a:t>20</a:t>
            </a:r>
            <a:r>
              <a:rPr lang="ko-KR" altLang="en-US" sz="1200" b="1" dirty="0" smtClean="0">
                <a:solidFill>
                  <a:schemeClr val="bg1"/>
                </a:solidFill>
                <a:latin typeface="+mj-lt"/>
              </a:rPr>
              <a:t>대 고객</a:t>
            </a:r>
            <a:endParaRPr lang="ko-KR" alt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7399" y="92366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연령대별 여행지역 비중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709347" y="1383654"/>
            <a:ext cx="3972184" cy="328805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709347" y="1383654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2" name="TextBox 35"/>
          <p:cNvSpPr txBox="1">
            <a:spLocks noChangeArrowheads="1"/>
          </p:cNvSpPr>
          <p:nvPr/>
        </p:nvSpPr>
        <p:spPr bwMode="auto">
          <a:xfrm>
            <a:off x="4798870" y="1373003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lt"/>
              </a:rPr>
              <a:t>3</a:t>
            </a:r>
            <a:r>
              <a:rPr lang="en-US" altLang="ko-KR" sz="1200" b="1" dirty="0" smtClean="0">
                <a:solidFill>
                  <a:schemeClr val="bg1"/>
                </a:solidFill>
                <a:latin typeface="+mj-lt"/>
              </a:rPr>
              <a:t>0</a:t>
            </a:r>
            <a:r>
              <a:rPr lang="ko-KR" altLang="en-US" sz="1200" b="1" dirty="0" smtClean="0">
                <a:solidFill>
                  <a:schemeClr val="bg1"/>
                </a:solidFill>
                <a:latin typeface="+mj-lt"/>
              </a:rPr>
              <a:t>대 고객</a:t>
            </a:r>
            <a:endParaRPr lang="ko-KR" alt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69004" y="4663958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03378" y="4671703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526491" y="1376566"/>
            <a:ext cx="3972184" cy="329513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22" name="직선 연결선 21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차트 22"/>
          <p:cNvGraphicFramePr>
            <a:graphicFrameLocks/>
          </p:cNvGraphicFramePr>
          <p:nvPr>
            <p:extLst/>
          </p:nvPr>
        </p:nvGraphicFramePr>
        <p:xfrm>
          <a:off x="526491" y="1643034"/>
          <a:ext cx="4020666" cy="3020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차트 23"/>
          <p:cNvGraphicFramePr>
            <a:graphicFrameLocks/>
          </p:cNvGraphicFramePr>
          <p:nvPr>
            <p:extLst/>
          </p:nvPr>
        </p:nvGraphicFramePr>
        <p:xfrm>
          <a:off x="4709348" y="1650002"/>
          <a:ext cx="3972184" cy="3013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Box 21"/>
          <p:cNvSpPr txBox="1">
            <a:spLocks noChangeArrowheads="1"/>
          </p:cNvSpPr>
          <p:nvPr/>
        </p:nvSpPr>
        <p:spPr bwMode="auto">
          <a:xfrm>
            <a:off x="1246219" y="4709870"/>
            <a:ext cx="2912290" cy="1141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200" b="1" dirty="0" smtClean="0"/>
              <a:t>Top 3 – </a:t>
            </a:r>
            <a:r>
              <a:rPr lang="ko-KR" altLang="en-US" sz="1200" b="1" dirty="0" smtClean="0"/>
              <a:t>동남아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유럽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일본</a:t>
            </a:r>
            <a:endParaRPr lang="en-US" altLang="ko-KR" sz="12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 smtClean="0"/>
              <a:t>일본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200" b="1" dirty="0" smtClean="0">
                <a:solidFill>
                  <a:srgbClr val="C00000"/>
                </a:solidFill>
              </a:rPr>
              <a:t>(11% → 14%) 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증가</a:t>
            </a:r>
            <a:endParaRPr lang="en-US" altLang="ko-KR" sz="12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 smtClean="0"/>
              <a:t>동남아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200" b="1" dirty="0" smtClean="0">
                <a:solidFill>
                  <a:schemeClr val="accent1">
                    <a:lumMod val="75000"/>
                  </a:schemeClr>
                </a:solidFill>
              </a:rPr>
              <a:t>(46% 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→ </a:t>
            </a:r>
            <a:r>
              <a:rPr lang="en-US" altLang="ko-KR" sz="1200" b="1" dirty="0" smtClean="0">
                <a:solidFill>
                  <a:schemeClr val="accent1">
                    <a:lumMod val="75000"/>
                  </a:schemeClr>
                </a:solidFill>
              </a:rPr>
              <a:t>42%) </a:t>
            </a:r>
            <a:r>
              <a:rPr lang="ko-KR" altLang="en-US" sz="1200" b="1" dirty="0" smtClean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TextBox 21"/>
          <p:cNvSpPr txBox="1">
            <a:spLocks noChangeArrowheads="1"/>
          </p:cNvSpPr>
          <p:nvPr/>
        </p:nvSpPr>
        <p:spPr bwMode="auto">
          <a:xfrm>
            <a:off x="5148612" y="4697659"/>
            <a:ext cx="353291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200" b="1" dirty="0" smtClean="0"/>
              <a:t>Top 3 – </a:t>
            </a:r>
            <a:r>
              <a:rPr lang="ko-KR" altLang="en-US" sz="1200" b="1" dirty="0" smtClean="0"/>
              <a:t>동남아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유럽</a:t>
            </a:r>
            <a:r>
              <a:rPr lang="en-US" altLang="ko-KR" sz="1200" b="1" dirty="0" smtClean="0"/>
              <a:t>, </a:t>
            </a:r>
            <a:r>
              <a:rPr lang="ko-KR" altLang="en-US" sz="1200" b="1" dirty="0" err="1" smtClean="0"/>
              <a:t>대양주</a:t>
            </a:r>
            <a:r>
              <a:rPr lang="en-US" altLang="ko-KR" sz="1200" b="1" dirty="0" smtClean="0"/>
              <a:t>/</a:t>
            </a:r>
            <a:r>
              <a:rPr lang="ko-KR" altLang="en-US" sz="1200" b="1" dirty="0" err="1" smtClean="0"/>
              <a:t>괌사</a:t>
            </a:r>
            <a:endParaRPr lang="en-US" altLang="ko-KR" sz="12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 smtClean="0"/>
              <a:t>일본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200" b="1" dirty="0" smtClean="0">
                <a:solidFill>
                  <a:srgbClr val="C00000"/>
                </a:solidFill>
              </a:rPr>
              <a:t>(9% → 11%) 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증가</a:t>
            </a:r>
            <a:endParaRPr lang="en-US" altLang="ko-KR" sz="12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 smtClean="0"/>
              <a:t>유럽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동남아 </a:t>
            </a:r>
            <a:r>
              <a:rPr lang="en-US" altLang="ko-KR" sz="1200" b="1" dirty="0" smtClean="0">
                <a:solidFill>
                  <a:schemeClr val="accent1">
                    <a:lumMod val="75000"/>
                  </a:schemeClr>
                </a:solidFill>
              </a:rPr>
              <a:t>1%</a:t>
            </a:r>
            <a:r>
              <a:rPr lang="ko-KR" altLang="en-US" sz="1200" b="1" dirty="0" smtClean="0">
                <a:solidFill>
                  <a:schemeClr val="accent1">
                    <a:lumMod val="75000"/>
                  </a:schemeClr>
                </a:solidFill>
              </a:rPr>
              <a:t> 감소</a:t>
            </a:r>
            <a:endParaRPr lang="en-US" altLang="ko-KR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TextBox 21"/>
          <p:cNvSpPr txBox="1">
            <a:spLocks noChangeArrowheads="1"/>
          </p:cNvSpPr>
          <p:nvPr/>
        </p:nvSpPr>
        <p:spPr bwMode="auto">
          <a:xfrm>
            <a:off x="1428121" y="6001804"/>
            <a:ext cx="65624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20, 30</a:t>
            </a:r>
            <a:r>
              <a:rPr lang="ko-KR" altLang="en-US" sz="1400" b="1" dirty="0" smtClean="0"/>
              <a:t>대의 경우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일본 여행 비중이 증가</a:t>
            </a:r>
            <a:r>
              <a:rPr lang="ko-KR" altLang="en-US" sz="1400" b="1" dirty="0" smtClean="0"/>
              <a:t>하고 나머지 지역은 비슷한 추세</a:t>
            </a:r>
            <a:endParaRPr lang="en-US" altLang="ko-KR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72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13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517865" y="1358681"/>
            <a:ext cx="3972184" cy="329513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17865" y="1365457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81510" y="1374083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j-lt"/>
              </a:rPr>
              <a:t>40</a:t>
            </a:r>
            <a:r>
              <a:rPr lang="ko-KR" altLang="en-US" sz="1200" b="1" dirty="0" smtClean="0">
                <a:solidFill>
                  <a:schemeClr val="bg1"/>
                </a:solidFill>
                <a:latin typeface="+mj-lt"/>
              </a:rPr>
              <a:t>대 고객</a:t>
            </a:r>
            <a:endParaRPr lang="ko-KR" alt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7399" y="91641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연령대별 여행지역 비중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700720" y="1358682"/>
            <a:ext cx="3972184" cy="327116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700720" y="1362135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2" name="TextBox 35"/>
          <p:cNvSpPr txBox="1">
            <a:spLocks noChangeArrowheads="1"/>
          </p:cNvSpPr>
          <p:nvPr/>
        </p:nvSpPr>
        <p:spPr bwMode="auto">
          <a:xfrm>
            <a:off x="4790243" y="1358681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j-lt"/>
              </a:rPr>
              <a:t>50</a:t>
            </a:r>
            <a:r>
              <a:rPr lang="ko-KR" altLang="en-US" sz="1200" b="1" dirty="0" smtClean="0">
                <a:solidFill>
                  <a:schemeClr val="bg1"/>
                </a:solidFill>
                <a:latin typeface="+mj-lt"/>
              </a:rPr>
              <a:t>대 고객</a:t>
            </a:r>
            <a:endParaRPr lang="ko-KR" alt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93847" y="4629842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84640" y="4606022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23" name="직선 연결선 22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차트 23"/>
          <p:cNvGraphicFramePr>
            <a:graphicFrameLocks/>
          </p:cNvGraphicFramePr>
          <p:nvPr>
            <p:extLst/>
          </p:nvPr>
        </p:nvGraphicFramePr>
        <p:xfrm>
          <a:off x="457200" y="1683201"/>
          <a:ext cx="4032849" cy="297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차트 25"/>
          <p:cNvGraphicFramePr>
            <a:graphicFrameLocks/>
          </p:cNvGraphicFramePr>
          <p:nvPr>
            <p:extLst/>
          </p:nvPr>
        </p:nvGraphicFramePr>
        <p:xfrm>
          <a:off x="4700721" y="1651082"/>
          <a:ext cx="4062072" cy="30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1057825" y="4779138"/>
            <a:ext cx="292010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200" b="1" dirty="0" smtClean="0"/>
              <a:t>Top 3 – </a:t>
            </a:r>
            <a:r>
              <a:rPr lang="ko-KR" altLang="en-US" sz="1200" b="1" dirty="0" smtClean="0"/>
              <a:t>동남아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유럽</a:t>
            </a:r>
            <a:r>
              <a:rPr lang="en-US" altLang="ko-KR" sz="1200" b="1" dirty="0" smtClean="0"/>
              <a:t>, </a:t>
            </a:r>
            <a:r>
              <a:rPr lang="ko-KR" altLang="en-US" sz="1200" b="1" dirty="0" err="1" smtClean="0"/>
              <a:t>대양주</a:t>
            </a:r>
            <a:r>
              <a:rPr lang="en-US" altLang="ko-KR" sz="1200" b="1" dirty="0" smtClean="0"/>
              <a:t>/</a:t>
            </a:r>
            <a:r>
              <a:rPr lang="ko-KR" altLang="en-US" sz="1200" b="1" dirty="0" err="1" smtClean="0"/>
              <a:t>괌사</a:t>
            </a:r>
            <a:endParaRPr lang="en-US" altLang="ko-KR" sz="12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 smtClean="0"/>
              <a:t>동남아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200" b="1" dirty="0" smtClean="0">
                <a:solidFill>
                  <a:srgbClr val="C00000"/>
                </a:solidFill>
              </a:rPr>
              <a:t>(36% → 44%) 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증가</a:t>
            </a:r>
            <a:endParaRPr lang="en-US" altLang="ko-KR" sz="12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 smtClean="0"/>
              <a:t>유럽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200" b="1" dirty="0" smtClean="0">
                <a:solidFill>
                  <a:schemeClr val="accent1">
                    <a:lumMod val="75000"/>
                  </a:schemeClr>
                </a:solidFill>
              </a:rPr>
              <a:t>(24%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ko-KR" sz="1200" b="1" dirty="0" smtClean="0">
                <a:solidFill>
                  <a:schemeClr val="accent1">
                    <a:lumMod val="75000"/>
                  </a:schemeClr>
                </a:solidFill>
              </a:rPr>
              <a:t>→ 17%) </a:t>
            </a:r>
            <a:r>
              <a:rPr lang="ko-KR" altLang="en-US" sz="1200" b="1" dirty="0" smtClean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2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ko-KR" sz="1200" b="1" dirty="0" smtClean="0">
              <a:solidFill>
                <a:srgbClr val="C00000"/>
              </a:solidFill>
            </a:endParaRP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5519888" y="4796410"/>
            <a:ext cx="233384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200" b="1" dirty="0" smtClean="0"/>
              <a:t>Top 3 – </a:t>
            </a:r>
            <a:r>
              <a:rPr lang="ko-KR" altLang="en-US" sz="1200" b="1" dirty="0" smtClean="0"/>
              <a:t>동남아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유럽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일본</a:t>
            </a:r>
            <a:endParaRPr lang="en-US" altLang="ko-KR" sz="12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 smtClean="0"/>
              <a:t>동남아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200" b="1" dirty="0" smtClean="0">
                <a:solidFill>
                  <a:srgbClr val="C00000"/>
                </a:solidFill>
              </a:rPr>
              <a:t>(25% → 33%) 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증가</a:t>
            </a:r>
            <a:endParaRPr lang="en-US" altLang="ko-KR" sz="12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/>
              <a:t>유럽</a:t>
            </a:r>
            <a:r>
              <a:rPr lang="ko-KR" altLang="en-US" sz="1200" b="1" dirty="0">
                <a:solidFill>
                  <a:srgbClr val="C00000"/>
                </a:solidFill>
              </a:rPr>
              <a:t> </a:t>
            </a:r>
            <a:r>
              <a:rPr lang="en-US" altLang="ko-KR" sz="1200" b="1" dirty="0" smtClean="0">
                <a:solidFill>
                  <a:schemeClr val="accent1">
                    <a:lumMod val="75000"/>
                  </a:schemeClr>
                </a:solidFill>
              </a:rPr>
              <a:t>(33% 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→ </a:t>
            </a:r>
            <a:r>
              <a:rPr lang="en-US" altLang="ko-KR" sz="1200" b="1" dirty="0" smtClean="0">
                <a:solidFill>
                  <a:schemeClr val="accent1">
                    <a:lumMod val="75000"/>
                  </a:schemeClr>
                </a:solidFill>
              </a:rPr>
              <a:t>27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</a:rPr>
              <a:t>%) </a:t>
            </a:r>
            <a:r>
              <a:rPr lang="ko-KR" altLang="en-US" sz="1200" b="1" dirty="0" smtClean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Box 21"/>
          <p:cNvSpPr txBox="1">
            <a:spLocks noChangeArrowheads="1"/>
          </p:cNvSpPr>
          <p:nvPr/>
        </p:nvSpPr>
        <p:spPr bwMode="auto">
          <a:xfrm>
            <a:off x="607388" y="5982524"/>
            <a:ext cx="8790922" cy="45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40, 50</a:t>
            </a:r>
            <a:r>
              <a:rPr lang="ko-KR" altLang="en-US" sz="1400" b="1" dirty="0" smtClean="0"/>
              <a:t>대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동남아 여행 비중 증가 </a:t>
            </a:r>
            <a:r>
              <a:rPr lang="ko-KR" altLang="en-US" sz="1400" b="1" dirty="0" smtClean="0"/>
              <a:t>추세</a:t>
            </a:r>
            <a:r>
              <a:rPr lang="en-US" altLang="ko-KR" sz="1400" b="1" dirty="0" smtClean="0"/>
              <a:t>, 50</a:t>
            </a:r>
            <a:r>
              <a:rPr lang="ko-KR" altLang="en-US" sz="1400" b="1" dirty="0" smtClean="0"/>
              <a:t>대의 경우 </a:t>
            </a:r>
            <a:r>
              <a:rPr lang="en-US" altLang="ko-KR" sz="1400" b="1" dirty="0" smtClean="0"/>
              <a:t>2017</a:t>
            </a:r>
            <a:r>
              <a:rPr lang="ko-KR" altLang="en-US" sz="1400" b="1" dirty="0" smtClean="0"/>
              <a:t>년 이후로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유럽 보다 동남아 비중이 높음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13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14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12119" y="1365457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58512" y="1366959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j-lt"/>
              </a:rPr>
              <a:t>60</a:t>
            </a:r>
            <a:r>
              <a:rPr lang="ko-KR" altLang="en-US" sz="1200" b="1" dirty="0" smtClean="0">
                <a:solidFill>
                  <a:schemeClr val="bg1"/>
                </a:solidFill>
                <a:latin typeface="+mj-lt"/>
              </a:rPr>
              <a:t>대 고객</a:t>
            </a:r>
            <a:endParaRPr lang="ko-KR" alt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7399" y="934032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고객군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연령대별 여행지역 비중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694975" y="1359372"/>
            <a:ext cx="3972184" cy="330153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694974" y="1365427"/>
            <a:ext cx="10443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2" name="TextBox 35"/>
          <p:cNvSpPr txBox="1">
            <a:spLocks noChangeArrowheads="1"/>
          </p:cNvSpPr>
          <p:nvPr/>
        </p:nvSpPr>
        <p:spPr bwMode="auto">
          <a:xfrm>
            <a:off x="4784497" y="1361973"/>
            <a:ext cx="9548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j-lt"/>
              </a:rPr>
              <a:t>70</a:t>
            </a:r>
            <a:r>
              <a:rPr lang="ko-KR" altLang="en-US" sz="1200" b="1" dirty="0" smtClean="0">
                <a:solidFill>
                  <a:schemeClr val="bg1"/>
                </a:solidFill>
                <a:latin typeface="+mj-lt"/>
              </a:rPr>
              <a:t>대 고객</a:t>
            </a:r>
            <a:endParaRPr lang="ko-KR" alt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93847" y="4654508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32136" y="4645882"/>
            <a:ext cx="9781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매년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출발자기준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512119" y="1359371"/>
            <a:ext cx="3972184" cy="329513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24" name="직선 연결선 23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차트 27"/>
          <p:cNvGraphicFramePr>
            <a:graphicFrameLocks/>
          </p:cNvGraphicFramePr>
          <p:nvPr>
            <p:extLst/>
          </p:nvPr>
        </p:nvGraphicFramePr>
        <p:xfrm>
          <a:off x="512118" y="1643958"/>
          <a:ext cx="4059881" cy="3001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차트 28"/>
          <p:cNvGraphicFramePr>
            <a:graphicFrameLocks/>
          </p:cNvGraphicFramePr>
          <p:nvPr>
            <p:extLst/>
          </p:nvPr>
        </p:nvGraphicFramePr>
        <p:xfrm>
          <a:off x="4694974" y="1635302"/>
          <a:ext cx="4015315" cy="3010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1318318" y="4724406"/>
            <a:ext cx="235978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200" b="1" dirty="0" smtClean="0"/>
              <a:t>Top 3 – </a:t>
            </a:r>
            <a:r>
              <a:rPr lang="ko-KR" altLang="en-US" sz="1200" b="1" dirty="0" smtClean="0"/>
              <a:t>유럽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동남아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일본</a:t>
            </a:r>
            <a:endParaRPr lang="en-US" altLang="ko-KR" sz="12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 smtClean="0"/>
              <a:t>동남아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200" b="1" dirty="0" smtClean="0">
                <a:solidFill>
                  <a:srgbClr val="C00000"/>
                </a:solidFill>
              </a:rPr>
              <a:t>(21% → 27%) 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증가</a:t>
            </a:r>
            <a:endParaRPr lang="en-US" altLang="ko-KR" sz="12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 smtClean="0"/>
              <a:t>중국 </a:t>
            </a:r>
            <a:r>
              <a:rPr lang="en-US" altLang="ko-KR" sz="1200" b="1" dirty="0" smtClean="0">
                <a:solidFill>
                  <a:schemeClr val="accent1">
                    <a:lumMod val="75000"/>
                  </a:schemeClr>
                </a:solidFill>
              </a:rPr>
              <a:t>(20% → 13%) </a:t>
            </a:r>
            <a:r>
              <a:rPr lang="ko-KR" altLang="en-US" sz="1200" b="1" dirty="0" smtClean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200" b="1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Box 21"/>
          <p:cNvSpPr txBox="1">
            <a:spLocks noChangeArrowheads="1"/>
          </p:cNvSpPr>
          <p:nvPr/>
        </p:nvSpPr>
        <p:spPr bwMode="auto">
          <a:xfrm>
            <a:off x="5485157" y="4732584"/>
            <a:ext cx="239182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200" b="1" dirty="0" smtClean="0"/>
              <a:t>Top 3 – </a:t>
            </a:r>
            <a:r>
              <a:rPr lang="ko-KR" altLang="en-US" sz="1200" b="1" dirty="0" smtClean="0"/>
              <a:t>동남아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유럽</a:t>
            </a:r>
            <a:r>
              <a:rPr lang="en-US" altLang="ko-KR" sz="1200" b="1" dirty="0" smtClean="0"/>
              <a:t>, </a:t>
            </a:r>
            <a:r>
              <a:rPr lang="ko-KR" altLang="en-US" sz="1200" b="1" dirty="0" smtClean="0"/>
              <a:t>일본</a:t>
            </a:r>
            <a:endParaRPr lang="en-US" altLang="ko-KR" sz="12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 smtClean="0"/>
              <a:t>동남아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200" b="1" dirty="0" smtClean="0">
                <a:solidFill>
                  <a:srgbClr val="C00000"/>
                </a:solidFill>
              </a:rPr>
              <a:t>(25% → 31%) 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증가</a:t>
            </a:r>
            <a:endParaRPr lang="en-US" altLang="ko-KR" sz="12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b="1" dirty="0"/>
              <a:t>중국 </a:t>
            </a:r>
            <a:r>
              <a:rPr lang="en-US" altLang="ko-KR" sz="1200" b="1" dirty="0" smtClean="0">
                <a:solidFill>
                  <a:schemeClr val="accent1">
                    <a:lumMod val="75000"/>
                  </a:schemeClr>
                </a:solidFill>
              </a:rPr>
              <a:t>(19% → 12%) </a:t>
            </a:r>
            <a:r>
              <a:rPr lang="ko-KR" altLang="en-US" sz="1200" b="1" dirty="0" smtClean="0">
                <a:solidFill>
                  <a:schemeClr val="accent1">
                    <a:lumMod val="75000"/>
                  </a:schemeClr>
                </a:solidFill>
              </a:rPr>
              <a:t>감소</a:t>
            </a:r>
            <a:endParaRPr lang="en-US" altLang="ko-KR" sz="1200" b="1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Box 21"/>
          <p:cNvSpPr txBox="1">
            <a:spLocks noChangeArrowheads="1"/>
          </p:cNvSpPr>
          <p:nvPr/>
        </p:nvSpPr>
        <p:spPr bwMode="auto">
          <a:xfrm>
            <a:off x="1629289" y="5895257"/>
            <a:ext cx="5885422" cy="45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모든 연령대중 </a:t>
            </a:r>
            <a:r>
              <a:rPr lang="en-US" altLang="ko-KR" sz="1400" b="1" dirty="0" smtClean="0"/>
              <a:t>60</a:t>
            </a:r>
            <a:r>
              <a:rPr lang="ko-KR" altLang="en-US" sz="1400" b="1" dirty="0" smtClean="0"/>
              <a:t>대의 경우에만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유럽 지역이 동남아 보다 높은 비중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71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15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94309" y="1323110"/>
            <a:ext cx="8095776" cy="246388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94309" y="1330234"/>
            <a:ext cx="304899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64647" y="1323110"/>
            <a:ext cx="31600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변화추이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출발일 기준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08295" y="5437559"/>
            <a:ext cx="21900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패키지 예약 기준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인솔자 제외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7399" y="914549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선행예약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3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/>
          </p:nvPr>
        </p:nvGraphicFramePr>
        <p:xfrm>
          <a:off x="510786" y="3833517"/>
          <a:ext cx="8079299" cy="1619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107"/>
                <a:gridCol w="812274"/>
                <a:gridCol w="812274"/>
                <a:gridCol w="812274"/>
                <a:gridCol w="812274"/>
                <a:gridCol w="812274"/>
                <a:gridCol w="812274"/>
                <a:gridCol w="812274"/>
                <a:gridCol w="812274"/>
              </a:tblGrid>
              <a:tr h="145573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2015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2016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2017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2018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5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일이내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27,410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28,525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28,423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30,341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30~59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28,386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28,709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34,969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35,381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60~89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16,034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17,413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23,278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23,406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90~119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9,160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9,459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14,868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14,703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120~149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3,716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5,297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8,741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9,804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150~179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1,756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2,029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4,017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5,347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21538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455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180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1,151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5,303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4,805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557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87,492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92,583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119,599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123,787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차트 21"/>
          <p:cNvGraphicFramePr>
            <a:graphicFrameLocks/>
          </p:cNvGraphicFramePr>
          <p:nvPr>
            <p:extLst/>
          </p:nvPr>
        </p:nvGraphicFramePr>
        <p:xfrm>
          <a:off x="494309" y="1660585"/>
          <a:ext cx="8095776" cy="21264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21"/>
          <p:cNvSpPr txBox="1">
            <a:spLocks noChangeArrowheads="1"/>
          </p:cNvSpPr>
          <p:nvPr/>
        </p:nvSpPr>
        <p:spPr bwMode="auto">
          <a:xfrm>
            <a:off x="2057400" y="5702474"/>
            <a:ext cx="6560038" cy="45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90 ~ 170</a:t>
            </a:r>
            <a:r>
              <a:rPr lang="ko-KR" altLang="en-US" sz="1400" b="1" dirty="0" smtClean="0"/>
              <a:t>일전 선행예약 비중이 지속적으로 증가하는 추세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35733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16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94309" y="1323110"/>
            <a:ext cx="8095776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94310" y="1330234"/>
            <a:ext cx="256806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64647" y="1323110"/>
            <a:ext cx="28169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연령별 선행예약 변화추이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08295" y="4076080"/>
            <a:ext cx="21900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패키지 예약 기준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인솔자 제외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7399" y="88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선행예약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3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차트 26"/>
          <p:cNvGraphicFramePr>
            <a:graphicFrameLocks/>
          </p:cNvGraphicFramePr>
          <p:nvPr>
            <p:extLst/>
          </p:nvPr>
        </p:nvGraphicFramePr>
        <p:xfrm>
          <a:off x="564647" y="1600109"/>
          <a:ext cx="8025438" cy="2475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5" name="직선 화살표 연결선 14"/>
          <p:cNvCxnSpPr/>
          <p:nvPr/>
        </p:nvCxnSpPr>
        <p:spPr>
          <a:xfrm flipV="1">
            <a:off x="1446417" y="2699595"/>
            <a:ext cx="4359160" cy="275692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1561381" y="3021808"/>
            <a:ext cx="4347049" cy="290735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1620585" y="3180967"/>
            <a:ext cx="4341962" cy="33025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V="1">
            <a:off x="1969312" y="3473710"/>
            <a:ext cx="4413849" cy="205022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1333859" y="2168431"/>
            <a:ext cx="4359575" cy="297626"/>
          </a:xfrm>
          <a:prstGeom prst="straightConnector1">
            <a:avLst/>
          </a:prstGeom>
          <a:ln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1561381" y="4241294"/>
            <a:ext cx="7224273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20, 30</a:t>
            </a:r>
            <a:r>
              <a:rPr lang="ko-KR" altLang="en-US" sz="1400" b="1" dirty="0" smtClean="0"/>
              <a:t>대가 주로 </a:t>
            </a:r>
            <a:r>
              <a:rPr lang="en-US" altLang="ko-KR" sz="1400" b="1" dirty="0" smtClean="0"/>
              <a:t>30</a:t>
            </a:r>
            <a:r>
              <a:rPr lang="ko-KR" altLang="en-US" sz="1400" b="1" dirty="0" err="1" smtClean="0"/>
              <a:t>일이내</a:t>
            </a:r>
            <a:r>
              <a:rPr lang="ko-KR" altLang="en-US" sz="1400" b="1" dirty="0" smtClean="0"/>
              <a:t> 예약을 선호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연령층이 상승할수록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최소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2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달전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~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부터 예약</a:t>
            </a:r>
            <a:r>
              <a:rPr lang="ko-KR" altLang="en-US" sz="1400" b="1" dirty="0" smtClean="0"/>
              <a:t>하는 경향이 증가 </a:t>
            </a:r>
            <a:r>
              <a:rPr lang="en-US" altLang="ko-KR" sz="1400" b="1" dirty="0" smtClean="0"/>
              <a:t>(70</a:t>
            </a:r>
            <a:r>
              <a:rPr lang="ko-KR" altLang="en-US" sz="1400" b="1" dirty="0" smtClean="0"/>
              <a:t>대 제외</a:t>
            </a:r>
            <a:r>
              <a:rPr lang="en-US" altLang="ko-KR" sz="1400" b="1" dirty="0" smtClean="0"/>
              <a:t>)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 smtClean="0"/>
              <a:t>중장년층은</a:t>
            </a:r>
            <a:r>
              <a:rPr lang="ko-KR" altLang="en-US" sz="1400" b="1" dirty="0" smtClean="0"/>
              <a:t>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시간적인 여유가 다른 연령층에 비해 상대적으로 많음</a:t>
            </a:r>
            <a:endParaRPr lang="en-US" altLang="ko-KR" sz="14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 smtClean="0"/>
              <a:t>긴급모객</a:t>
            </a:r>
            <a:r>
              <a:rPr lang="ko-KR" altLang="en-US" sz="1400" b="1" dirty="0" smtClean="0"/>
              <a:t> 상품의 경우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20, 30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대를 겨냥한 마케팅 </a:t>
            </a:r>
            <a:r>
              <a:rPr lang="ko-KR" altLang="en-US" sz="1400" b="1" dirty="0" smtClean="0"/>
              <a:t>진행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 smtClean="0"/>
              <a:t>얼리버드</a:t>
            </a:r>
            <a:r>
              <a:rPr lang="ko-KR" altLang="en-US" sz="1400" b="1" dirty="0" smtClean="0"/>
              <a:t> 상품의 경우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중장년층을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대상으로 마케팅 </a:t>
            </a:r>
            <a:r>
              <a:rPr lang="ko-KR" altLang="en-US" sz="1400" b="1" dirty="0" smtClean="0"/>
              <a:t>진행 </a:t>
            </a:r>
            <a:endParaRPr lang="en-US" altLang="ko-KR" sz="1400" b="1" dirty="0" smtClean="0"/>
          </a:p>
        </p:txBody>
      </p:sp>
      <p:cxnSp>
        <p:nvCxnSpPr>
          <p:cNvPr id="25" name="직선 화살표 연결선 24"/>
          <p:cNvCxnSpPr/>
          <p:nvPr/>
        </p:nvCxnSpPr>
        <p:spPr>
          <a:xfrm flipV="1">
            <a:off x="1830892" y="3457966"/>
            <a:ext cx="4354248" cy="157938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06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17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503973" y="1234788"/>
            <a:ext cx="4033521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03973" y="1234788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53223" y="1227664"/>
            <a:ext cx="23366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동남아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70614" y="1235766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7399" y="86515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선행예약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5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 bwMode="auto">
          <a:xfrm>
            <a:off x="4655752" y="1234788"/>
            <a:ext cx="4033521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4653943" y="1227664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678568" y="1224101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일본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차트 25"/>
          <p:cNvGraphicFramePr>
            <a:graphicFrameLocks/>
          </p:cNvGraphicFramePr>
          <p:nvPr>
            <p:extLst/>
          </p:nvPr>
        </p:nvGraphicFramePr>
        <p:xfrm>
          <a:off x="503973" y="1504663"/>
          <a:ext cx="4059749" cy="2483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차트 26"/>
          <p:cNvGraphicFramePr>
            <a:graphicFrameLocks/>
          </p:cNvGraphicFramePr>
          <p:nvPr>
            <p:extLst/>
          </p:nvPr>
        </p:nvGraphicFramePr>
        <p:xfrm>
          <a:off x="4678568" y="1504663"/>
          <a:ext cx="4010705" cy="2483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1763497" y="4468915"/>
            <a:ext cx="835733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동남아 </a:t>
            </a:r>
            <a:r>
              <a:rPr lang="en-US" altLang="ko-KR" sz="1400" b="1" dirty="0" smtClean="0"/>
              <a:t>– </a:t>
            </a:r>
            <a:r>
              <a:rPr lang="ko-KR" altLang="en-US" sz="1400" b="1" dirty="0" err="1" smtClean="0"/>
              <a:t>타지역</a:t>
            </a:r>
            <a:r>
              <a:rPr lang="ko-KR" altLang="en-US" sz="1400" b="1" dirty="0" smtClean="0"/>
              <a:t> 대비 </a:t>
            </a:r>
            <a:r>
              <a:rPr lang="en-US" altLang="ko-KR" sz="1400" b="1" dirty="0" smtClean="0"/>
              <a:t>[30</a:t>
            </a:r>
            <a:r>
              <a:rPr lang="ko-KR" altLang="en-US" sz="1400" b="1" dirty="0" err="1" smtClean="0"/>
              <a:t>일이내</a:t>
            </a:r>
            <a:r>
              <a:rPr lang="en-US" altLang="ko-KR" sz="1400" b="1" dirty="0" smtClean="0"/>
              <a:t>]</a:t>
            </a:r>
            <a:r>
              <a:rPr lang="ko-KR" altLang="en-US" sz="1400" b="1" dirty="0" smtClean="0"/>
              <a:t> 선행예약 비중이 높음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동남아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일본 모두 최소 </a:t>
            </a:r>
            <a:r>
              <a:rPr lang="en-US" altLang="ko-KR" sz="1400" b="1" dirty="0" smtClean="0"/>
              <a:t>[60</a:t>
            </a:r>
            <a:r>
              <a:rPr lang="ko-KR" altLang="en-US" sz="1400" b="1" dirty="0" smtClean="0"/>
              <a:t>일전</a:t>
            </a:r>
            <a:r>
              <a:rPr lang="en-US" altLang="ko-KR" sz="1400" b="1" dirty="0" smtClean="0"/>
              <a:t>]</a:t>
            </a:r>
            <a:r>
              <a:rPr lang="ko-KR" altLang="en-US" sz="1400" b="1" dirty="0" smtClean="0"/>
              <a:t>이상 </a:t>
            </a:r>
            <a:r>
              <a:rPr lang="ko-KR" altLang="en-US" sz="1400" b="1" dirty="0" err="1" smtClean="0"/>
              <a:t>선행예약하는</a:t>
            </a:r>
            <a:r>
              <a:rPr lang="ko-KR" altLang="en-US" sz="1400" b="1" dirty="0" smtClean="0"/>
              <a:t> 비중 증가 추세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369603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18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70238" y="1273930"/>
            <a:ext cx="3894728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70238" y="1273930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19489" y="1266806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중국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36879" y="1274908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7399" y="880031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선행예약 변화 추이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 bwMode="auto">
          <a:xfrm>
            <a:off x="4659800" y="1273930"/>
            <a:ext cx="3932109" cy="27529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4659800" y="1266806"/>
            <a:ext cx="209468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709051" y="1259682"/>
            <a:ext cx="20454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유럽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차트 25"/>
          <p:cNvGraphicFramePr>
            <a:graphicFrameLocks/>
          </p:cNvGraphicFramePr>
          <p:nvPr>
            <p:extLst/>
          </p:nvPr>
        </p:nvGraphicFramePr>
        <p:xfrm>
          <a:off x="519489" y="1543806"/>
          <a:ext cx="3845477" cy="2483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차트 26"/>
          <p:cNvGraphicFramePr>
            <a:graphicFrameLocks/>
          </p:cNvGraphicFramePr>
          <p:nvPr>
            <p:extLst/>
          </p:nvPr>
        </p:nvGraphicFramePr>
        <p:xfrm>
          <a:off x="4614469" y="1543805"/>
          <a:ext cx="4055078" cy="2483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764790" y="4374025"/>
            <a:ext cx="834417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중국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최소 </a:t>
            </a:r>
            <a:r>
              <a:rPr lang="en-US" altLang="ko-KR" sz="1400" b="1" dirty="0" smtClean="0"/>
              <a:t>[60</a:t>
            </a:r>
            <a:r>
              <a:rPr lang="ko-KR" altLang="en-US" sz="1400" b="1" dirty="0" smtClean="0"/>
              <a:t>일전</a:t>
            </a:r>
            <a:r>
              <a:rPr lang="en-US" altLang="ko-KR" sz="1400" b="1" dirty="0" smtClean="0"/>
              <a:t>]</a:t>
            </a:r>
            <a:r>
              <a:rPr lang="ko-KR" altLang="en-US" sz="1400" b="1" dirty="0" smtClean="0"/>
              <a:t>이상 선행예약이 증가 추세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유럽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최소 </a:t>
            </a:r>
            <a:r>
              <a:rPr lang="en-US" altLang="ko-KR" sz="1400" b="1" dirty="0" smtClean="0"/>
              <a:t>[90</a:t>
            </a:r>
            <a:r>
              <a:rPr lang="ko-KR" altLang="en-US" sz="1400" b="1" dirty="0" smtClean="0"/>
              <a:t>일전</a:t>
            </a:r>
            <a:r>
              <a:rPr lang="en-US" altLang="ko-KR" sz="1400" b="1" dirty="0" smtClean="0"/>
              <a:t>]</a:t>
            </a:r>
            <a:r>
              <a:rPr lang="ko-KR" altLang="en-US" sz="1400" b="1" dirty="0" smtClean="0"/>
              <a:t>이상 선행예약이 증가 추세 및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타지역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대비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[90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일전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]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부터 예약비중이 높음</a:t>
            </a:r>
            <a:endParaRPr lang="en-US" altLang="ko-KR" sz="14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유럽의 경우 지역 특성상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장기 여행상품</a:t>
            </a:r>
            <a:r>
              <a:rPr lang="ko-KR" altLang="en-US" sz="1400" b="1" dirty="0" smtClean="0"/>
              <a:t>이 대부분이므로 </a:t>
            </a:r>
            <a:r>
              <a:rPr lang="ko-KR" altLang="en-US" sz="1400" b="1" dirty="0" err="1" smtClean="0"/>
              <a:t>타지역에</a:t>
            </a:r>
            <a:r>
              <a:rPr lang="ko-KR" altLang="en-US" sz="1400" b="1" dirty="0" smtClean="0"/>
              <a:t> 비해 선행예약이 빠른 경향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292829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19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506487" y="1219114"/>
            <a:ext cx="8128555" cy="211068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06487" y="1219113"/>
            <a:ext cx="204693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55738" y="1211989"/>
            <a:ext cx="21357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예약취소시점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(2015~2018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73128" y="1220091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5485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다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예약취소시점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58477" y="3290754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47358" y="5593226"/>
            <a:ext cx="1505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이동으로 인한 취소 제외 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/>
          </p:nvPr>
        </p:nvGraphicFramePr>
        <p:xfrm>
          <a:off x="555743" y="3511196"/>
          <a:ext cx="8079299" cy="2105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107"/>
                <a:gridCol w="812274"/>
                <a:gridCol w="812274"/>
                <a:gridCol w="812274"/>
                <a:gridCol w="812274"/>
                <a:gridCol w="812274"/>
                <a:gridCol w="812274"/>
                <a:gridCol w="812274"/>
                <a:gridCol w="812274"/>
              </a:tblGrid>
              <a:tr h="10728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2015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2016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2017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2018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2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당일 상품 취소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 ~ 7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22,454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21,611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20,304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17,208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431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 ~ 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11,690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11,635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12,289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10,418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10~ 19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43,453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43,453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54,371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45,985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 ~ 29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25,589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29,393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40,543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30,577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 ~ 45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32,649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37,704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56,986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42,210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46 ~ 60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19,868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19,868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32,686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24,518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61 ~ 90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20,896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20,896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41,139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29,617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91 ~ 120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8,874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8,874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20,475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15,875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28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이전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8,759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8,759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24,834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16,859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28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194,834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202,644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304,137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233,624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차트 21"/>
          <p:cNvGraphicFramePr>
            <a:graphicFrameLocks/>
          </p:cNvGraphicFramePr>
          <p:nvPr>
            <p:extLst/>
          </p:nvPr>
        </p:nvGraphicFramePr>
        <p:xfrm>
          <a:off x="506486" y="1488988"/>
          <a:ext cx="8128555" cy="1840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TextBox 21"/>
          <p:cNvSpPr txBox="1">
            <a:spLocks noChangeArrowheads="1"/>
          </p:cNvSpPr>
          <p:nvPr/>
        </p:nvSpPr>
        <p:spPr bwMode="auto">
          <a:xfrm>
            <a:off x="1179662" y="5826326"/>
            <a:ext cx="7427344" cy="45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최대 </a:t>
            </a:r>
            <a:r>
              <a:rPr lang="en-US" altLang="ko-KR" sz="1400" b="1" dirty="0" smtClean="0"/>
              <a:t>15% </a:t>
            </a:r>
            <a:r>
              <a:rPr lang="ko-KR" altLang="en-US" sz="1400" b="1" dirty="0" smtClean="0"/>
              <a:t>취소 수수료</a:t>
            </a:r>
            <a:r>
              <a:rPr lang="en-US" altLang="ko-KR" sz="1400" b="1" dirty="0" smtClean="0"/>
              <a:t>(10~19</a:t>
            </a:r>
            <a:r>
              <a:rPr lang="ko-KR" altLang="en-US" sz="1400" b="1" dirty="0" smtClean="0"/>
              <a:t>일전</a:t>
            </a:r>
            <a:r>
              <a:rPr lang="en-US" altLang="ko-KR" sz="1400" b="1" dirty="0" smtClean="0"/>
              <a:t>)</a:t>
            </a:r>
            <a:r>
              <a:rPr lang="ko-KR" altLang="en-US" sz="1400" b="1" dirty="0" smtClean="0"/>
              <a:t>까지는 고객들이 감당하고 취소하는 경향이 있음   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101593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20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506487" y="1219114"/>
            <a:ext cx="8128555" cy="2187839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06487" y="1219113"/>
            <a:ext cx="217632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555737" y="1211989"/>
            <a:ext cx="25066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지역별 예약취소시점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73128" y="1220091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73120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다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예약취소시점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34571" y="3385276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23452" y="5680018"/>
            <a:ext cx="1505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이동으로 인한 취소 제외 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/>
          </p:nvPr>
        </p:nvGraphicFramePr>
        <p:xfrm>
          <a:off x="826789" y="3616108"/>
          <a:ext cx="7487949" cy="2105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5381"/>
                <a:gridCol w="752821"/>
                <a:gridCol w="752821"/>
                <a:gridCol w="752821"/>
                <a:gridCol w="752821"/>
                <a:gridCol w="752821"/>
                <a:gridCol w="752821"/>
                <a:gridCol w="752821"/>
                <a:gridCol w="752821"/>
              </a:tblGrid>
              <a:tr h="15306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동남아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당일 상품 취소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 ~ 7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4,038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6,688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641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2,535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 ~ 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3,676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3,204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774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1,539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10~ 19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12,270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14,863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4,547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8,332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 ~ 29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5,808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11,152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5,677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 ~ 45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9,827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14,662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3,118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7,123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46 ~ 60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5,899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8,421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1,719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3,721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61 ~ 90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8,817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9,509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2,043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3,317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91 ~ 120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5,858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4,822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794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1,068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121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이전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3,664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615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56,867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77,081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17,260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33,977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차트 20"/>
          <p:cNvGraphicFramePr>
            <a:graphicFrameLocks/>
          </p:cNvGraphicFramePr>
          <p:nvPr>
            <p:extLst/>
          </p:nvPr>
        </p:nvGraphicFramePr>
        <p:xfrm>
          <a:off x="506487" y="1488989"/>
          <a:ext cx="8128555" cy="1917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2057400" y="5693411"/>
            <a:ext cx="844390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유럽의 경우 </a:t>
            </a:r>
            <a:r>
              <a:rPr lang="ko-KR" altLang="en-US" sz="1400" b="1" dirty="0" err="1" smtClean="0"/>
              <a:t>타지역</a:t>
            </a:r>
            <a:r>
              <a:rPr lang="ko-KR" altLang="en-US" sz="1400" b="1" dirty="0" smtClean="0"/>
              <a:t> 대비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[61~90]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일전 취소 비중이 높음</a:t>
            </a:r>
            <a:endParaRPr lang="en-US" altLang="ko-KR" sz="14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원인으로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[90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일전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]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이상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선행예약하는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경향으로 인한 결과</a:t>
            </a:r>
            <a:r>
              <a:rPr lang="ko-KR" altLang="en-US" sz="1400" b="1" dirty="0" smtClean="0"/>
              <a:t>  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65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21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433971" y="1219512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83222" y="1212388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유럽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92379" y="1219512"/>
            <a:ext cx="4035819" cy="249847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92379" y="1219512"/>
            <a:ext cx="252940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9" name="TextBox 35"/>
          <p:cNvSpPr txBox="1">
            <a:spLocks noChangeArrowheads="1"/>
          </p:cNvSpPr>
          <p:nvPr/>
        </p:nvSpPr>
        <p:spPr bwMode="auto">
          <a:xfrm>
            <a:off x="4741630" y="1212388"/>
            <a:ext cx="24098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동남아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7399" y="870272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상품가별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취소율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7" y="1219512"/>
            <a:ext cx="4009163" cy="249847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/>
          </p:nvPr>
        </p:nvGraphicFramePr>
        <p:xfrm>
          <a:off x="4683145" y="3948819"/>
          <a:ext cx="4035818" cy="226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0968"/>
                <a:gridCol w="1107454"/>
                <a:gridCol w="1107454"/>
                <a:gridCol w="819942"/>
              </a:tblGrid>
              <a:tr h="3779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79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20~</a:t>
                      </a:r>
                      <a:r>
                        <a:rPr lang="en-US" altLang="ko-KR" sz="10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</a:t>
                      </a:r>
                      <a:r>
                        <a:rPr lang="ko-KR" altLang="en-US" sz="10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25,863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9,678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37.4%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9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40~59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106,471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39,076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36.7%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9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60~79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120,183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42,116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35.0%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9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80~99</a:t>
                      </a:r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69,312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23,619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34.0%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9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</a:t>
                      </a:r>
                      <a:r>
                        <a:rPr lang="ko-KR" altLang="en-US" sz="1000" b="0" i="0" u="none" strike="noStrike" dirty="0" err="1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이상</a:t>
                      </a:r>
                      <a:endParaRPr lang="ko-KR" altLang="en-US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59,145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23,819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40.2%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806226" y="3725110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19433" y="3717986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53976" y="6175872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 이동으로 인한 취소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/>
          </p:nvPr>
        </p:nvGraphicFramePr>
        <p:xfrm>
          <a:off x="440910" y="3955942"/>
          <a:ext cx="4035818" cy="22441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0765"/>
                <a:gridCol w="1035170"/>
                <a:gridCol w="1069941"/>
                <a:gridCol w="819942"/>
              </a:tblGrid>
              <a:tr h="2493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493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150~199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87,697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26,803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30.6%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3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200~249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64,705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19,346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29.9%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3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250~299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36,763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11,807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32.1%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3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300~349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19,463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6,318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31.5%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3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350~399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13,365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3,601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26.9%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3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400~449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3,117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897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28.8%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3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450~499</a:t>
                      </a:r>
                      <a:r>
                        <a:rPr lang="ko-KR" altLang="en-US" sz="10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1,146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413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36.0%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3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500</a:t>
                      </a:r>
                      <a:r>
                        <a:rPr lang="ko-KR" altLang="en-US" sz="1000" b="0" i="0" u="none" strike="noStrike" dirty="0" err="1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이상</a:t>
                      </a:r>
                      <a:endParaRPr lang="ko-KR" altLang="en-US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2,191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795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36.3%</a:t>
                      </a:r>
                      <a:endParaRPr lang="en-US" altLang="ko-KR" sz="10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0" name="직선 연결선 2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95830" y="6175872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 이동으로 인한 취소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0" name="차트 39"/>
          <p:cNvGraphicFramePr>
            <a:graphicFrameLocks/>
          </p:cNvGraphicFramePr>
          <p:nvPr>
            <p:extLst/>
          </p:nvPr>
        </p:nvGraphicFramePr>
        <p:xfrm>
          <a:off x="4433899" y="1489387"/>
          <a:ext cx="4710101" cy="22357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3" name="차트 32"/>
          <p:cNvGraphicFramePr>
            <a:graphicFrameLocks/>
          </p:cNvGraphicFramePr>
          <p:nvPr>
            <p:extLst/>
          </p:nvPr>
        </p:nvGraphicFramePr>
        <p:xfrm>
          <a:off x="73527" y="1489386"/>
          <a:ext cx="4618851" cy="2228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0901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67407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22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4035819" cy="272482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73988" y="1236208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중국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2"/>
            <a:ext cx="4035819" cy="2724819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83145" y="1243332"/>
            <a:ext cx="22597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9" name="TextBox 35"/>
          <p:cNvSpPr txBox="1">
            <a:spLocks noChangeArrowheads="1"/>
          </p:cNvSpPr>
          <p:nvPr/>
        </p:nvSpPr>
        <p:spPr bwMode="auto">
          <a:xfrm>
            <a:off x="4732396" y="1236208"/>
            <a:ext cx="2210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일본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상품가별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9744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상품가별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취소율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/>
          </p:nvPr>
        </p:nvGraphicFramePr>
        <p:xfrm>
          <a:off x="4683145" y="4194007"/>
          <a:ext cx="4035818" cy="1729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0968"/>
                <a:gridCol w="1107454"/>
                <a:gridCol w="1107454"/>
                <a:gridCol w="819942"/>
              </a:tblGrid>
              <a:tr h="1922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922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4,853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1,652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34.0%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2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11,880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4,467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37.6%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2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21,295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7,913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37.2%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2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23,624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9,178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38.9%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2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24,880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9,088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36.5%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2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20,414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7,188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35.2%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2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</a:t>
                      </a:r>
                      <a:r>
                        <a:rPr lang="ko-KR" altLang="en-US" sz="11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9,525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3,590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37.7%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2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23,274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8,527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36.6%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110807" y="3968151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/>
          </p:nvPr>
        </p:nvGraphicFramePr>
        <p:xfrm>
          <a:off x="439484" y="4198983"/>
          <a:ext cx="4035818" cy="1712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0968"/>
                <a:gridCol w="1107454"/>
                <a:gridCol w="1107454"/>
                <a:gridCol w="819942"/>
              </a:tblGrid>
              <a:tr h="1903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r>
                        <a:rPr lang="ko-KR" altLang="en-US" sz="10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취소자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취소율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90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u="none" strike="noStrike" dirty="0" err="1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12,967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4,606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35.5%</a:t>
                      </a:r>
                      <a:endParaRPr lang="en-US" altLang="ko-KR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13,914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4,576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32.9%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13,456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4,258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31.6%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11,492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3,538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30.8%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8,068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2,427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30.1%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</a:t>
                      </a:r>
                      <a:r>
                        <a:rPr lang="ko-KR" altLang="en-US" sz="11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5,024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1,327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26.4%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3,127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932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29.8%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만원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6,968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2,078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29.8%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869649" y="3976777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23" name="직선 연결선 22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42532" y="5946498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 이동으로 인한 취소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87204" y="5946498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 이동으로 인한 취소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1" name="차트 30"/>
          <p:cNvGraphicFramePr>
            <a:graphicFrameLocks/>
          </p:cNvGraphicFramePr>
          <p:nvPr>
            <p:extLst/>
          </p:nvPr>
        </p:nvGraphicFramePr>
        <p:xfrm>
          <a:off x="4460556" y="1513207"/>
          <a:ext cx="4477763" cy="2463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2" name="차트 31"/>
          <p:cNvGraphicFramePr>
            <a:graphicFrameLocks/>
          </p:cNvGraphicFramePr>
          <p:nvPr>
            <p:extLst/>
          </p:nvPr>
        </p:nvGraphicFramePr>
        <p:xfrm>
          <a:off x="181155" y="1513208"/>
          <a:ext cx="4551242" cy="2463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4867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4163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23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4035819" cy="272482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338171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73987" y="1236208"/>
            <a:ext cx="33324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60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만원대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일본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도시별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전체 취소자수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Ⅱ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출발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 통계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75512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상품가별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취소율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심화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23" name="직선 연결선 22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27855" y="3968151"/>
            <a:ext cx="2618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 이동으로 인한 취소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불포함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항공 호텔 제외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차트 27"/>
          <p:cNvGraphicFramePr>
            <a:graphicFrameLocks/>
          </p:cNvGraphicFramePr>
          <p:nvPr>
            <p:extLst/>
          </p:nvPr>
        </p:nvGraphicFramePr>
        <p:xfrm>
          <a:off x="424737" y="1591574"/>
          <a:ext cx="3986568" cy="2376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" name="직사각형 32"/>
          <p:cNvSpPr/>
          <p:nvPr/>
        </p:nvSpPr>
        <p:spPr bwMode="auto">
          <a:xfrm>
            <a:off x="4683310" y="1243331"/>
            <a:ext cx="4035819" cy="272482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4683310" y="1239769"/>
            <a:ext cx="272012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0" name="TextBox 35"/>
          <p:cNvSpPr txBox="1">
            <a:spLocks noChangeArrowheads="1"/>
          </p:cNvSpPr>
          <p:nvPr/>
        </p:nvSpPr>
        <p:spPr bwMode="auto">
          <a:xfrm>
            <a:off x="4743811" y="1232645"/>
            <a:ext cx="27870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60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만원대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일본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도시별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취소율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2018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3" name="차트 42"/>
          <p:cNvGraphicFramePr>
            <a:graphicFrameLocks/>
          </p:cNvGraphicFramePr>
          <p:nvPr>
            <p:extLst/>
          </p:nvPr>
        </p:nvGraphicFramePr>
        <p:xfrm>
          <a:off x="4657083" y="1517813"/>
          <a:ext cx="4062046" cy="2450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Box 21"/>
          <p:cNvSpPr txBox="1">
            <a:spLocks noChangeArrowheads="1"/>
          </p:cNvSpPr>
          <p:nvPr/>
        </p:nvSpPr>
        <p:spPr bwMode="auto">
          <a:xfrm>
            <a:off x="717311" y="4503126"/>
            <a:ext cx="842669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 smtClean="0"/>
              <a:t>타지역의</a:t>
            </a:r>
            <a:r>
              <a:rPr lang="ko-KR" altLang="en-US" sz="1400" b="1" dirty="0" smtClean="0"/>
              <a:t> 경우 최저가 또는 최고가의 </a:t>
            </a:r>
            <a:r>
              <a:rPr lang="ko-KR" altLang="en-US" sz="1400" b="1" dirty="0" err="1" smtClean="0"/>
              <a:t>취소율이</a:t>
            </a:r>
            <a:r>
              <a:rPr lang="ko-KR" altLang="en-US" sz="1400" b="1" dirty="0" smtClean="0"/>
              <a:t> 높았으나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일본의 경우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60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만원대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취소율</a:t>
            </a:r>
            <a:r>
              <a:rPr lang="ko-KR" altLang="en-US" sz="1400" b="1" dirty="0" err="1" smtClean="0"/>
              <a:t>이</a:t>
            </a:r>
            <a:r>
              <a:rPr lang="ko-KR" altLang="en-US" sz="1400" b="1" dirty="0" smtClean="0"/>
              <a:t> 높음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일본 </a:t>
            </a:r>
            <a:r>
              <a:rPr lang="ko-KR" altLang="en-US" sz="1400" b="1" dirty="0" err="1" smtClean="0"/>
              <a:t>도시별</a:t>
            </a:r>
            <a:r>
              <a:rPr lang="ko-KR" altLang="en-US" sz="1400" b="1" dirty="0" smtClean="0"/>
              <a:t>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취소자수의 경우 </a:t>
            </a:r>
            <a:r>
              <a:rPr lang="ko-KR" altLang="en-US" sz="1400" b="1" dirty="0" smtClean="0"/>
              <a:t>오사카와 </a:t>
            </a:r>
            <a:r>
              <a:rPr lang="ko-KR" altLang="en-US" sz="1400" b="1" dirty="0" err="1" smtClean="0"/>
              <a:t>후쿠오카가</a:t>
            </a:r>
            <a:r>
              <a:rPr lang="ko-KR" altLang="en-US" sz="1400" b="1" dirty="0" smtClean="0"/>
              <a:t> 높음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 smtClean="0"/>
              <a:t>도시별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취소율의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경우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센다이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삿포로가 가장 높음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148831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24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4035819" cy="245228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242317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55918" y="1234707"/>
            <a:ext cx="258215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유럽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2"/>
            <a:ext cx="4035819" cy="244922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83145" y="1243332"/>
            <a:ext cx="258892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Ⅲ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판매금액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0901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연령대별 총판매금액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(2018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)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726277" y="1227365"/>
            <a:ext cx="25889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일본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07661" y="5682586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/>
          </p:nvPr>
        </p:nvGraphicFramePr>
        <p:xfrm>
          <a:off x="482403" y="3909191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/>
                <a:gridCol w="1807079"/>
                <a:gridCol w="1121298"/>
              </a:tblGrid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유럽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941,384,357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10,835,609,956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13,853,888,638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12,059,650,226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26,432,513,753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79,260,214,050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77,439,518,288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14,088,997,969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1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234,911,777,237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표 32"/>
          <p:cNvGraphicFramePr>
            <a:graphicFrameLocks noGrp="1"/>
          </p:cNvGraphicFramePr>
          <p:nvPr>
            <p:extLst/>
          </p:nvPr>
        </p:nvGraphicFramePr>
        <p:xfrm>
          <a:off x="4717957" y="3909441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/>
                <a:gridCol w="1807079"/>
                <a:gridCol w="1121298"/>
              </a:tblGrid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일본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1,077,728,902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4,445,296,184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2,799,601,851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2,755,534,963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8,832,432,205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14,847,025,325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10,559,138,472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4,284,206,959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7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49,600,964,861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3819104" y="3693529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112776" y="3664636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942858" y="5682586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차트 29"/>
          <p:cNvGraphicFramePr>
            <a:graphicFrameLocks/>
          </p:cNvGraphicFramePr>
          <p:nvPr>
            <p:extLst/>
          </p:nvPr>
        </p:nvGraphicFramePr>
        <p:xfrm>
          <a:off x="116103" y="1380227"/>
          <a:ext cx="4439998" cy="24914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" name="차트 30"/>
          <p:cNvGraphicFramePr>
            <a:graphicFrameLocks/>
          </p:cNvGraphicFramePr>
          <p:nvPr>
            <p:extLst/>
          </p:nvPr>
        </p:nvGraphicFramePr>
        <p:xfrm>
          <a:off x="4209691" y="1423358"/>
          <a:ext cx="4566946" cy="2406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Box 21"/>
          <p:cNvSpPr txBox="1">
            <a:spLocks noChangeArrowheads="1"/>
          </p:cNvSpPr>
          <p:nvPr/>
        </p:nvSpPr>
        <p:spPr bwMode="auto">
          <a:xfrm>
            <a:off x="1898013" y="5958998"/>
            <a:ext cx="54196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일본 </a:t>
            </a:r>
            <a:r>
              <a:rPr lang="en-US" altLang="ko-KR" sz="1400" b="1" dirty="0" smtClean="0"/>
              <a:t>– </a:t>
            </a:r>
            <a:r>
              <a:rPr lang="ko-KR" altLang="en-US" sz="1400" b="1" dirty="0" err="1" smtClean="0"/>
              <a:t>타지역</a:t>
            </a:r>
            <a:r>
              <a:rPr lang="ko-KR" altLang="en-US" sz="1400" b="1" dirty="0" smtClean="0"/>
              <a:t> 대비 </a:t>
            </a:r>
            <a:r>
              <a:rPr lang="en-US" altLang="ko-KR" sz="1400" b="1" dirty="0" smtClean="0"/>
              <a:t>10</a:t>
            </a:r>
            <a:r>
              <a:rPr lang="ko-KR" altLang="en-US" sz="1400" b="1" dirty="0" smtClean="0"/>
              <a:t>대</a:t>
            </a:r>
            <a:r>
              <a:rPr lang="en-US" altLang="ko-KR" sz="1400" b="1" dirty="0" smtClean="0"/>
              <a:t>, 40</a:t>
            </a:r>
            <a:r>
              <a:rPr lang="ko-KR" altLang="en-US" sz="1400" b="1" dirty="0" smtClean="0"/>
              <a:t>대 판매 비중이 높음 </a:t>
            </a:r>
            <a:r>
              <a:rPr lang="en-US" altLang="ko-KR" sz="1400" b="1" dirty="0" smtClean="0"/>
              <a:t>-&gt; </a:t>
            </a:r>
            <a:r>
              <a:rPr lang="ko-KR" altLang="en-US" sz="1400" b="1" dirty="0" smtClean="0"/>
              <a:t>가족여행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42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25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4035819" cy="243640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242317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55918" y="1234707"/>
            <a:ext cx="258215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중국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2"/>
            <a:ext cx="4035819" cy="243565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83145" y="1243332"/>
            <a:ext cx="258892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Ⅲ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판매금액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731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연령대별 총판매금액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(2018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)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726277" y="1227365"/>
            <a:ext cx="25889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총판매금액 비중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동남아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/>
          </p:nvPr>
        </p:nvGraphicFramePr>
        <p:xfrm>
          <a:off x="459884" y="3897550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/>
                <a:gridCol w="1807079"/>
                <a:gridCol w="1121298"/>
              </a:tblGrid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중국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368,428,776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1,124,773,887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990,167,304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1,268,530,319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3,255,081,119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9,502,692,673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8,934,745,944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2,227,990,396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27,672,410,418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/>
          </p:nvPr>
        </p:nvGraphicFramePr>
        <p:xfrm>
          <a:off x="4698735" y="3893774"/>
          <a:ext cx="4004637" cy="1771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60"/>
                <a:gridCol w="1807079"/>
                <a:gridCol w="1121298"/>
              </a:tblGrid>
              <a:tr h="16926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동남아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대미만</a:t>
                      </a:r>
                      <a:endParaRPr lang="ko-KR" alt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4,547,454,729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1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11,119,834,667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8,131,991,062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11,247,267,525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24,999,974,211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73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31,368,703,355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20,260,820,489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 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6,290,682,769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4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117,966,728,807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8123574" y="3656310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38057" y="3654862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675601" y="5649796"/>
            <a:ext cx="8963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22581" y="5649796"/>
            <a:ext cx="8963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차트 28"/>
          <p:cNvGraphicFramePr>
            <a:graphicFrameLocks/>
          </p:cNvGraphicFramePr>
          <p:nvPr>
            <p:extLst/>
          </p:nvPr>
        </p:nvGraphicFramePr>
        <p:xfrm>
          <a:off x="0" y="1447294"/>
          <a:ext cx="4460556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9" name="차트 38"/>
          <p:cNvGraphicFramePr>
            <a:graphicFrameLocks/>
          </p:cNvGraphicFramePr>
          <p:nvPr>
            <p:extLst/>
          </p:nvPr>
        </p:nvGraphicFramePr>
        <p:xfrm>
          <a:off x="4330460" y="1402512"/>
          <a:ext cx="4388504" cy="2401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Box 21"/>
          <p:cNvSpPr txBox="1">
            <a:spLocks noChangeArrowheads="1"/>
          </p:cNvSpPr>
          <p:nvPr/>
        </p:nvSpPr>
        <p:spPr bwMode="auto">
          <a:xfrm>
            <a:off x="1028701" y="5936032"/>
            <a:ext cx="71836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동남아 </a:t>
            </a:r>
            <a:r>
              <a:rPr lang="en-US" altLang="ko-KR" sz="1400" b="1" dirty="0" smtClean="0"/>
              <a:t>– </a:t>
            </a:r>
            <a:r>
              <a:rPr lang="ko-KR" altLang="en-US" sz="1400" b="1" dirty="0" err="1" smtClean="0"/>
              <a:t>타지역</a:t>
            </a:r>
            <a:r>
              <a:rPr lang="ko-KR" altLang="en-US" sz="1400" b="1" dirty="0" smtClean="0"/>
              <a:t> 대비 </a:t>
            </a:r>
            <a:r>
              <a:rPr lang="en-US" altLang="ko-KR" sz="1400" b="1" dirty="0" smtClean="0"/>
              <a:t>10</a:t>
            </a:r>
            <a:r>
              <a:rPr lang="ko-KR" altLang="en-US" sz="1400" b="1" dirty="0" smtClean="0"/>
              <a:t>대 및 </a:t>
            </a:r>
            <a:r>
              <a:rPr lang="en-US" altLang="ko-KR" sz="1400" b="1" dirty="0" smtClean="0"/>
              <a:t>10</a:t>
            </a:r>
            <a:r>
              <a:rPr lang="ko-KR" altLang="en-US" sz="1400" b="1" dirty="0" smtClean="0"/>
              <a:t>대 미만</a:t>
            </a:r>
            <a:r>
              <a:rPr lang="en-US" altLang="ko-KR" sz="1400" b="1" dirty="0" smtClean="0"/>
              <a:t>, 30</a:t>
            </a:r>
            <a:r>
              <a:rPr lang="ko-KR" altLang="en-US" sz="1400" b="1" dirty="0" smtClean="0"/>
              <a:t>대 </a:t>
            </a:r>
            <a:r>
              <a:rPr lang="en-US" altLang="ko-KR" sz="1400" b="1" dirty="0" smtClean="0"/>
              <a:t>40</a:t>
            </a:r>
            <a:r>
              <a:rPr lang="ko-KR" altLang="en-US" sz="1400" b="1" dirty="0" smtClean="0"/>
              <a:t>대 판매 비중이 높음</a:t>
            </a:r>
            <a:r>
              <a:rPr lang="en-US" altLang="ko-KR" sz="1400" b="1" dirty="0"/>
              <a:t> </a:t>
            </a:r>
            <a:r>
              <a:rPr lang="en-US" altLang="ko-KR" sz="1400" b="1" dirty="0" smtClean="0"/>
              <a:t>-&gt; </a:t>
            </a:r>
            <a:r>
              <a:rPr lang="ko-KR" altLang="en-US" sz="1400" b="1" dirty="0" smtClean="0"/>
              <a:t>가족여행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63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26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4035819" cy="272482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274115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55918" y="1234707"/>
            <a:ext cx="26237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연령대별 평균 판매금액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유럽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2"/>
            <a:ext cx="4035819" cy="2724819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Ⅲ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판매금액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4269" y="878285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연령대별 평균 판매금액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(2018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)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683145" y="1241831"/>
            <a:ext cx="274115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4714326" y="1233206"/>
            <a:ext cx="26237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연령대별 평균 판매금액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일본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07511" y="3949152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32114" y="3968151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차트 22"/>
          <p:cNvGraphicFramePr>
            <a:graphicFrameLocks/>
          </p:cNvGraphicFramePr>
          <p:nvPr>
            <p:extLst/>
          </p:nvPr>
        </p:nvGraphicFramePr>
        <p:xfrm>
          <a:off x="406931" y="1510205"/>
          <a:ext cx="4053625" cy="2457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차트 25"/>
          <p:cNvGraphicFramePr>
            <a:graphicFrameLocks/>
          </p:cNvGraphicFramePr>
          <p:nvPr>
            <p:extLst/>
          </p:nvPr>
        </p:nvGraphicFramePr>
        <p:xfrm>
          <a:off x="4683145" y="1510205"/>
          <a:ext cx="4035819" cy="2438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1602224" y="4733281"/>
            <a:ext cx="711674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유럽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일본</a:t>
            </a:r>
            <a:r>
              <a:rPr lang="en-US" altLang="ko-KR" sz="1400" b="1" dirty="0" smtClean="0"/>
              <a:t> -</a:t>
            </a:r>
            <a:r>
              <a:rPr lang="ko-KR" altLang="en-US" sz="1400" b="1" dirty="0" smtClean="0"/>
              <a:t> 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금전적으로 여유가 많은 </a:t>
            </a:r>
            <a:r>
              <a:rPr lang="ko-KR" altLang="en-US" sz="1400" b="1" dirty="0" err="1" smtClean="0"/>
              <a:t>중장년층</a:t>
            </a:r>
            <a:r>
              <a:rPr lang="ko-KR" altLang="en-US" sz="1400" b="1" dirty="0" smtClean="0"/>
              <a:t> 이상이 높은 금액을 선호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일본의 경우 </a:t>
            </a:r>
            <a:r>
              <a:rPr lang="en-US" altLang="ko-KR" sz="1400" b="1" dirty="0" smtClean="0"/>
              <a:t>50</a:t>
            </a:r>
            <a:r>
              <a:rPr lang="ko-KR" altLang="en-US" sz="1400" b="1" dirty="0" smtClean="0"/>
              <a:t>대 고객이 고가의 상품을 선호하는 경향 </a:t>
            </a:r>
            <a:endParaRPr lang="en-US" altLang="ko-KR" sz="1400" b="1" dirty="0" smtClean="0"/>
          </a:p>
        </p:txBody>
      </p:sp>
      <p:sp>
        <p:nvSpPr>
          <p:cNvPr id="22" name="직사각형 21"/>
          <p:cNvSpPr/>
          <p:nvPr/>
        </p:nvSpPr>
        <p:spPr>
          <a:xfrm>
            <a:off x="3519078" y="1770136"/>
            <a:ext cx="448573" cy="1732461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7367521" y="1589816"/>
            <a:ext cx="448573" cy="1897249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66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/>
              <a:pPr/>
              <a:t>27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4035819" cy="272482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2"/>
            <a:ext cx="4035819" cy="2724819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83145" y="1243332"/>
            <a:ext cx="272028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Ⅲ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판매금액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267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연령대별 평균 판매금액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(2018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)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726277" y="1227365"/>
            <a:ext cx="27884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연령대별 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평균 판매금액 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비중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동남아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4737" y="1243332"/>
            <a:ext cx="274115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6" name="TextBox 35"/>
          <p:cNvSpPr txBox="1">
            <a:spLocks noChangeArrowheads="1"/>
          </p:cNvSpPr>
          <p:nvPr/>
        </p:nvSpPr>
        <p:spPr bwMode="auto">
          <a:xfrm>
            <a:off x="455918" y="1234707"/>
            <a:ext cx="26237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연령대별 평균 판매금액 비중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중국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07511" y="3949152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27628" y="3968151"/>
            <a:ext cx="8643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출발자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기준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차트 31"/>
          <p:cNvGraphicFramePr>
            <a:graphicFrameLocks/>
          </p:cNvGraphicFramePr>
          <p:nvPr>
            <p:extLst/>
          </p:nvPr>
        </p:nvGraphicFramePr>
        <p:xfrm>
          <a:off x="424737" y="1511706"/>
          <a:ext cx="4035819" cy="2456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3" name="차트 32"/>
          <p:cNvGraphicFramePr>
            <a:graphicFrameLocks/>
          </p:cNvGraphicFramePr>
          <p:nvPr>
            <p:extLst/>
          </p:nvPr>
        </p:nvGraphicFramePr>
        <p:xfrm>
          <a:off x="4683145" y="1511706"/>
          <a:ext cx="4108822" cy="2456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2416617" y="4622185"/>
            <a:ext cx="441223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중국</a:t>
            </a:r>
            <a:r>
              <a:rPr lang="en-US" altLang="ko-KR" sz="1400" b="1" dirty="0" smtClean="0"/>
              <a:t>]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중장년층이</a:t>
            </a:r>
            <a:r>
              <a:rPr lang="ko-KR" altLang="en-US" sz="1400" b="1" dirty="0" smtClean="0"/>
              <a:t> 상대적으로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높은 가격 선호</a:t>
            </a:r>
            <a:endParaRPr lang="en-US" altLang="ko-KR" sz="14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동남아</a:t>
            </a:r>
            <a:r>
              <a:rPr lang="en-US" altLang="ko-KR" sz="1400" b="1" dirty="0" smtClean="0"/>
              <a:t>] </a:t>
            </a:r>
            <a:r>
              <a:rPr lang="ko-KR" altLang="en-US" sz="1400" b="1" dirty="0" smtClean="0"/>
              <a:t>전 연령대 비슷한 평균 판매금액 추이 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164196" y="1860854"/>
            <a:ext cx="717691" cy="1658265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6677116" y="1860853"/>
            <a:ext cx="1103910" cy="1658265"/>
          </a:xfrm>
          <a:prstGeom prst="rect">
            <a:avLst/>
          </a:prstGeom>
          <a:ln w="19050">
            <a:solidFill>
              <a:srgbClr val="C00000">
                <a:alpha val="99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700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28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4035819" cy="242446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242317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08820" y="1243332"/>
            <a:ext cx="258215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2017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 출발고객의 구매횟수 분포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83145" y="1243333"/>
            <a:ext cx="4035819" cy="242194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83145" y="1243332"/>
            <a:ext cx="258892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출발고객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분포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50295" y="3707280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31009" y="3712446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726277" y="1227365"/>
            <a:ext cx="25889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 출발고객의 구매횟수 분포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/>
          </p:nvPr>
        </p:nvGraphicFramePr>
        <p:xfrm>
          <a:off x="455918" y="3927579"/>
          <a:ext cx="4035819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5273"/>
                <a:gridCol w="1345273"/>
                <a:gridCol w="1345273"/>
              </a:tblGrid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구매횟수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334,018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74,4%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72,400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16.1%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24,374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5.4%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9,501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2.1%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4,200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0.9%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2,053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0.5%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1,013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0.2%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533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0.1%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0.1%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이상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519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0.1%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1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448,907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100.0%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/>
          </p:nvPr>
        </p:nvGraphicFramePr>
        <p:xfrm>
          <a:off x="4726277" y="3927579"/>
          <a:ext cx="4029093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3031"/>
                <a:gridCol w="1343031"/>
                <a:gridCol w="1343031"/>
              </a:tblGrid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구매횟수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341,912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72.8%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78,813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16.8%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27,588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5.9%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11,352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2.4%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4,854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1.0%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2,399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0.5%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1,222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0.3%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668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0.1%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357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0.1%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이상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747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0.2%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0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469,912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100.0%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963354" y="5857394"/>
            <a:ext cx="26007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인솔자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가이드 제외</a:t>
            </a:r>
            <a:endParaRPr lang="en-US" altLang="ko-KR" sz="9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16453" y="5870679"/>
            <a:ext cx="26007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인솔자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가이드 제외</a:t>
            </a:r>
            <a:endParaRPr lang="en-US" altLang="ko-KR" sz="9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05428" y="6111470"/>
            <a:ext cx="1991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ko-KR" altLang="en-US" sz="12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재구매고객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비중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27.2%</a:t>
            </a:r>
            <a:r>
              <a:rPr lang="ko-KR" altLang="en-US" sz="12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200" b="1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51829" y="6111470"/>
            <a:ext cx="1991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ko-KR" altLang="en-US" sz="12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재구매고객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비중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25.6%</a:t>
            </a:r>
            <a:r>
              <a:rPr lang="ko-KR" altLang="en-US" sz="12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200" b="1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graphicFrame>
        <p:nvGraphicFramePr>
          <p:cNvPr id="29" name="차트 28"/>
          <p:cNvGraphicFramePr>
            <a:graphicFrameLocks/>
          </p:cNvGraphicFramePr>
          <p:nvPr>
            <p:extLst/>
          </p:nvPr>
        </p:nvGraphicFramePr>
        <p:xfrm>
          <a:off x="277399" y="1511706"/>
          <a:ext cx="4183157" cy="2426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차트 32"/>
          <p:cNvGraphicFramePr>
            <a:graphicFrameLocks/>
          </p:cNvGraphicFramePr>
          <p:nvPr>
            <p:extLst/>
          </p:nvPr>
        </p:nvGraphicFramePr>
        <p:xfrm>
          <a:off x="4546121" y="1511706"/>
          <a:ext cx="4172843" cy="2426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3713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29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3879844" cy="223311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300857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24738" y="1232483"/>
            <a:ext cx="31106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유럽 여행고객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고객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패턴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414274" y="3711592"/>
          <a:ext cx="3973087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949"/>
                <a:gridCol w="516762"/>
                <a:gridCol w="363297"/>
                <a:gridCol w="363297"/>
                <a:gridCol w="363297"/>
                <a:gridCol w="363297"/>
                <a:gridCol w="363297"/>
                <a:gridCol w="363297"/>
                <a:gridCol w="363297"/>
                <a:gridCol w="363297"/>
              </a:tblGrid>
              <a:tr h="11713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</a:t>
                      </a:r>
                      <a:r>
                        <a:rPr lang="ko-KR" altLang="en-US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</a:t>
                      </a:r>
                      <a:r>
                        <a:rPr lang="ko-KR" altLang="en-US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7135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5,827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6,663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7,083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8,057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2,405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2,994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4,001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4,197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1,251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1,878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1,016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1,577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1,369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1,494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1,964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2,088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626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1,008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1,319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1,342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303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497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208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205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424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321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293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285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109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237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348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713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12,484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15,282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16,834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18,840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713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84,808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85,615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99,188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100,504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  <a:tr h="11713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18%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17%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19%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2" name="차트 41"/>
          <p:cNvGraphicFramePr>
            <a:graphicFrameLocks/>
          </p:cNvGraphicFramePr>
          <p:nvPr>
            <p:extLst/>
          </p:nvPr>
        </p:nvGraphicFramePr>
        <p:xfrm>
          <a:off x="424737" y="1520331"/>
          <a:ext cx="3879844" cy="2016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/>
          </p:nvPr>
        </p:nvGraphicFramePr>
        <p:xfrm>
          <a:off x="4713924" y="3714788"/>
          <a:ext cx="3991154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450"/>
                <a:gridCol w="519112"/>
                <a:gridCol w="364949"/>
                <a:gridCol w="364949"/>
                <a:gridCol w="364949"/>
                <a:gridCol w="364949"/>
                <a:gridCol w="364949"/>
                <a:gridCol w="364949"/>
                <a:gridCol w="364949"/>
                <a:gridCol w="364949"/>
              </a:tblGrid>
              <a:tr h="11465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4659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1,603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2,391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3,229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3,768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3,184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4,713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6,661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42%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8,585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935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1,739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1,335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</a:t>
                      </a:r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2,255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1,013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1,338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2,590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2,829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234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354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598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129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212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395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508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402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634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</a:rPr>
                        <a:t>617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849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343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269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238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287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81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130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175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65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7,877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11,731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15,793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19,966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465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100,029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113,673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152,911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162,210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  <a:tr h="11465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12%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44" name="직사각형 43"/>
          <p:cNvSpPr/>
          <p:nvPr/>
        </p:nvSpPr>
        <p:spPr bwMode="auto">
          <a:xfrm>
            <a:off x="4752776" y="1230401"/>
            <a:ext cx="3879844" cy="224604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752776" y="1243332"/>
            <a:ext cx="317489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graphicFrame>
        <p:nvGraphicFramePr>
          <p:cNvPr id="47" name="차트 46"/>
          <p:cNvGraphicFramePr>
            <a:graphicFrameLocks/>
          </p:cNvGraphicFramePr>
          <p:nvPr>
            <p:extLst/>
          </p:nvPr>
        </p:nvGraphicFramePr>
        <p:xfrm>
          <a:off x="4752776" y="1556161"/>
          <a:ext cx="3879844" cy="1937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5195196" y="5562017"/>
            <a:ext cx="35413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출발고객명수 기준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항공호텔제외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해당년도 기준 과거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년간의 구매기록 근거</a:t>
            </a:r>
            <a:endParaRPr lang="ko-KR" altLang="en-US" sz="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69968" y="3499344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Box 35"/>
          <p:cNvSpPr txBox="1">
            <a:spLocks noChangeArrowheads="1"/>
          </p:cNvSpPr>
          <p:nvPr/>
        </p:nvSpPr>
        <p:spPr bwMode="auto">
          <a:xfrm>
            <a:off x="4751316" y="1230401"/>
            <a:ext cx="32516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동남아 여행고객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TextBox 21"/>
          <p:cNvSpPr txBox="1">
            <a:spLocks noChangeArrowheads="1"/>
          </p:cNvSpPr>
          <p:nvPr/>
        </p:nvSpPr>
        <p:spPr bwMode="auto">
          <a:xfrm>
            <a:off x="1234599" y="5710634"/>
            <a:ext cx="699163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최초로 유럽 및 동남아 여행을 다녀온 고객의 경우 같은 지역을 재방문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최초</a:t>
            </a:r>
            <a:r>
              <a:rPr lang="en-US" altLang="ko-KR" sz="1400" b="1" dirty="0" smtClean="0"/>
              <a:t>)</a:t>
            </a:r>
            <a:r>
              <a:rPr lang="ko-KR" altLang="en-US" sz="1400" b="1" dirty="0" smtClean="0"/>
              <a:t>유럽 </a:t>
            </a:r>
            <a:r>
              <a:rPr lang="en-US" altLang="ko-KR" sz="1400" b="1" dirty="0" smtClean="0"/>
              <a:t>- (2</a:t>
            </a:r>
            <a:r>
              <a:rPr lang="ko-KR" altLang="en-US" sz="1400" b="1" dirty="0" smtClean="0"/>
              <a:t>차</a:t>
            </a:r>
            <a:r>
              <a:rPr lang="en-US" altLang="ko-KR" sz="1400" b="1" dirty="0" smtClean="0"/>
              <a:t>)</a:t>
            </a:r>
            <a:r>
              <a:rPr lang="ko-KR" altLang="en-US" sz="1400" b="1" dirty="0" smtClean="0"/>
              <a:t>동남아 </a:t>
            </a:r>
            <a:r>
              <a:rPr lang="en-US" altLang="ko-KR" sz="1400" b="1" dirty="0" smtClean="0"/>
              <a:t>, (</a:t>
            </a:r>
            <a:r>
              <a:rPr lang="ko-KR" altLang="en-US" sz="1400" b="1" dirty="0" smtClean="0"/>
              <a:t>최초</a:t>
            </a:r>
            <a:r>
              <a:rPr lang="en-US" altLang="ko-KR" sz="1400" b="1" dirty="0" smtClean="0"/>
              <a:t>)</a:t>
            </a:r>
            <a:r>
              <a:rPr lang="ko-KR" altLang="en-US" sz="1400" b="1" dirty="0" smtClean="0"/>
              <a:t>동남아 </a:t>
            </a:r>
            <a:r>
              <a:rPr lang="en-US" altLang="ko-KR" sz="1400" b="1" dirty="0" smtClean="0"/>
              <a:t>- (2</a:t>
            </a:r>
            <a:r>
              <a:rPr lang="ko-KR" altLang="en-US" sz="1400" b="1" dirty="0" smtClean="0"/>
              <a:t>차</a:t>
            </a:r>
            <a:r>
              <a:rPr lang="en-US" altLang="ko-KR" sz="1400" b="1" dirty="0" smtClean="0"/>
              <a:t>)</a:t>
            </a:r>
            <a:r>
              <a:rPr lang="ko-KR" altLang="en-US" sz="1400" b="1" dirty="0" smtClean="0"/>
              <a:t>유럽 </a:t>
            </a:r>
            <a:r>
              <a:rPr lang="en-US" altLang="ko-KR" sz="1400" b="1" dirty="0" smtClean="0"/>
              <a:t>-&gt; </a:t>
            </a:r>
            <a:r>
              <a:rPr lang="ko-KR" altLang="en-US" sz="1400" b="1" dirty="0" smtClean="0"/>
              <a:t>상품 추천 및 영업에 활용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347882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30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3879844" cy="233633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424362" y="3777366"/>
          <a:ext cx="3880218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095"/>
                <a:gridCol w="504683"/>
                <a:gridCol w="354805"/>
                <a:gridCol w="354805"/>
                <a:gridCol w="354805"/>
                <a:gridCol w="354805"/>
                <a:gridCol w="354805"/>
                <a:gridCol w="354805"/>
                <a:gridCol w="354805"/>
                <a:gridCol w="354805"/>
              </a:tblGrid>
              <a:tr h="11699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6991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872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1,158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1,449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1,419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1,161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1,497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2,129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2,330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588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1,077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662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1,061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451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955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798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150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303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259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87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187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145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49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73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142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118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130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 smtClean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3,429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4,829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5,944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6,281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43,489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50,415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36,569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42,841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16%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/>
          </p:nvPr>
        </p:nvGraphicFramePr>
        <p:xfrm>
          <a:off x="4740588" y="3774211"/>
          <a:ext cx="3892030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8730"/>
                <a:gridCol w="506220"/>
                <a:gridCol w="355885"/>
                <a:gridCol w="355885"/>
                <a:gridCol w="355885"/>
                <a:gridCol w="355885"/>
                <a:gridCol w="355885"/>
                <a:gridCol w="355885"/>
                <a:gridCol w="355885"/>
                <a:gridCol w="355885"/>
              </a:tblGrid>
              <a:tr h="1198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984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625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997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1,657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2,066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775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1,593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2,675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36%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3,414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384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808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663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914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780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1,015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1,505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2,007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311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357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280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120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156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</a:t>
                      </a:r>
                      <a:r>
                        <a:rPr lang="en-US" altLang="ko-KR" sz="800" u="none" strike="noStrike" dirty="0" smtClean="0">
                          <a:effectLst/>
                          <a:latin typeface="+mj-lt"/>
                        </a:rPr>
                        <a:t>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184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162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223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190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</a:rPr>
                        <a:t>2,912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4,918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7,439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9,479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34,947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44,455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64,170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64,980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12%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44" name="직사각형 43"/>
          <p:cNvSpPr/>
          <p:nvPr/>
        </p:nvSpPr>
        <p:spPr bwMode="auto">
          <a:xfrm>
            <a:off x="4752776" y="1230401"/>
            <a:ext cx="3879844" cy="234926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752776" y="1243332"/>
            <a:ext cx="308000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6" name="TextBox 35"/>
          <p:cNvSpPr txBox="1">
            <a:spLocks noChangeArrowheads="1"/>
          </p:cNvSpPr>
          <p:nvPr/>
        </p:nvSpPr>
        <p:spPr bwMode="auto">
          <a:xfrm>
            <a:off x="4736859" y="1230401"/>
            <a:ext cx="30959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일본 여행고객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0" name="차트 19"/>
          <p:cNvGraphicFramePr>
            <a:graphicFrameLocks/>
          </p:cNvGraphicFramePr>
          <p:nvPr>
            <p:extLst/>
          </p:nvPr>
        </p:nvGraphicFramePr>
        <p:xfrm>
          <a:off x="408820" y="1520331"/>
          <a:ext cx="3895761" cy="2046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차트 22"/>
          <p:cNvGraphicFramePr>
            <a:graphicFrameLocks/>
          </p:cNvGraphicFramePr>
          <p:nvPr>
            <p:extLst/>
          </p:nvPr>
        </p:nvGraphicFramePr>
        <p:xfrm>
          <a:off x="4736859" y="1520332"/>
          <a:ext cx="3895761" cy="1979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191962" y="5618452"/>
            <a:ext cx="35413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출발고객명수 기준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항공호텔제외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해당년도 기준 과거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년간의 구매기록 근거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98206" y="3576688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고객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패턴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26197" y="1239011"/>
            <a:ext cx="299705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0" name="TextBox 35"/>
          <p:cNvSpPr txBox="1">
            <a:spLocks noChangeArrowheads="1"/>
          </p:cNvSpPr>
          <p:nvPr/>
        </p:nvSpPr>
        <p:spPr bwMode="auto">
          <a:xfrm>
            <a:off x="424737" y="1226080"/>
            <a:ext cx="31591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중국 여행고객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Box 21"/>
          <p:cNvSpPr txBox="1">
            <a:spLocks noChangeArrowheads="1"/>
          </p:cNvSpPr>
          <p:nvPr/>
        </p:nvSpPr>
        <p:spPr bwMode="auto">
          <a:xfrm>
            <a:off x="403134" y="5711193"/>
            <a:ext cx="865456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최초로 중국을 다녀온 여행객은 </a:t>
            </a:r>
            <a:r>
              <a:rPr lang="en-US" altLang="ko-KR" sz="1400" b="1" dirty="0" smtClean="0"/>
              <a:t>2</a:t>
            </a:r>
            <a:r>
              <a:rPr lang="ko-KR" altLang="en-US" sz="1400" b="1" dirty="0" smtClean="0"/>
              <a:t>차 여행지로 동남아 및 유럽을 선호 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일본의 경우 </a:t>
            </a:r>
            <a:r>
              <a:rPr lang="en-US" altLang="ko-KR" sz="1400" b="1" dirty="0" smtClean="0"/>
              <a:t>15</a:t>
            </a:r>
            <a:r>
              <a:rPr lang="ko-KR" altLang="en-US" sz="1400" b="1" dirty="0" smtClean="0"/>
              <a:t>년의 경우 일본을 재방문 하는 경향</a:t>
            </a:r>
            <a:r>
              <a:rPr lang="en-US" altLang="ko-KR" sz="1400" b="1" dirty="0" smtClean="0"/>
              <a:t>,</a:t>
            </a:r>
            <a:r>
              <a:rPr lang="ko-KR" altLang="en-US" sz="1400" b="1" dirty="0" smtClean="0"/>
              <a:t> 현재 </a:t>
            </a:r>
            <a:r>
              <a:rPr lang="en-US" altLang="ko-KR" sz="1400" b="1" dirty="0" smtClean="0"/>
              <a:t>18</a:t>
            </a:r>
            <a:r>
              <a:rPr lang="ko-KR" altLang="en-US" sz="1400" b="1" dirty="0" smtClean="0"/>
              <a:t>년의 경우 동남아 및 유럽을 선호하는 경향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3804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31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2"/>
            <a:ext cx="3879844" cy="233633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424362" y="3777366"/>
          <a:ext cx="3880218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095"/>
                <a:gridCol w="504683"/>
                <a:gridCol w="354805"/>
                <a:gridCol w="354805"/>
                <a:gridCol w="354805"/>
                <a:gridCol w="354805"/>
                <a:gridCol w="354805"/>
                <a:gridCol w="354805"/>
                <a:gridCol w="354805"/>
                <a:gridCol w="354805"/>
              </a:tblGrid>
              <a:tr h="11699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6991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218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273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465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529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182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339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452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45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133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56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149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218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37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128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10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40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>
                          <a:effectLst/>
                          <a:latin typeface="+mj-lt"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  <a:latin typeface="+mj-lt"/>
                        </a:rPr>
                        <a:t>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13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u="none" strike="noStrike" dirty="0">
                          <a:effectLst/>
                          <a:latin typeface="+mj-lt"/>
                        </a:rPr>
                        <a:t>      </a:t>
                      </a:r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  <a:latin typeface="+mj-lt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550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759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1,237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1,545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5,120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6,947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8,821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9,482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  <a:tr h="11699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14%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16%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/>
          </p:nvPr>
        </p:nvGraphicFramePr>
        <p:xfrm>
          <a:off x="4740588" y="3774211"/>
          <a:ext cx="3892030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8730"/>
                <a:gridCol w="506220"/>
                <a:gridCol w="355885"/>
                <a:gridCol w="355885"/>
                <a:gridCol w="355885"/>
                <a:gridCol w="355885"/>
                <a:gridCol w="355885"/>
                <a:gridCol w="355885"/>
                <a:gridCol w="355885"/>
                <a:gridCol w="355885"/>
              </a:tblGrid>
              <a:tr h="1198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984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312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31%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520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752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999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295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474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703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121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169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150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245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104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172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231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306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166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16%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189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197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3%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104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3%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74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33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3%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39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55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</a:rPr>
                        <a:t>1,015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100%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</a:rPr>
                        <a:t>1,483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</a:rPr>
                        <a:t>2,032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</a:rPr>
                        <a:t>2,795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8,475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11,012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14,823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15,989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12%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13%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14%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17%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44" name="직사각형 43"/>
          <p:cNvSpPr/>
          <p:nvPr/>
        </p:nvSpPr>
        <p:spPr bwMode="auto">
          <a:xfrm>
            <a:off x="4752776" y="1230401"/>
            <a:ext cx="3879844" cy="234926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752776" y="1243332"/>
            <a:ext cx="3485616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6" name="TextBox 35"/>
          <p:cNvSpPr txBox="1">
            <a:spLocks noChangeArrowheads="1"/>
          </p:cNvSpPr>
          <p:nvPr/>
        </p:nvSpPr>
        <p:spPr bwMode="auto">
          <a:xfrm>
            <a:off x="4730416" y="1236208"/>
            <a:ext cx="35695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미주 여행고객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91962" y="5618452"/>
            <a:ext cx="35413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출발고객명수 기준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항공호텔제외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해당년도 기준 과거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년간의 구매기록 근거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98206" y="3576688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고객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패턴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26197" y="1239011"/>
            <a:ext cx="3466876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0" name="TextBox 35"/>
          <p:cNvSpPr txBox="1">
            <a:spLocks noChangeArrowheads="1"/>
          </p:cNvSpPr>
          <p:nvPr/>
        </p:nvSpPr>
        <p:spPr bwMode="auto">
          <a:xfrm>
            <a:off x="424737" y="1226080"/>
            <a:ext cx="33297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대양주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여행고객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3" name="차트 32"/>
          <p:cNvGraphicFramePr>
            <a:graphicFrameLocks/>
          </p:cNvGraphicFramePr>
          <p:nvPr>
            <p:extLst/>
          </p:nvPr>
        </p:nvGraphicFramePr>
        <p:xfrm>
          <a:off x="424737" y="1513207"/>
          <a:ext cx="3879844" cy="2087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4" name="차트 33"/>
          <p:cNvGraphicFramePr>
            <a:graphicFrameLocks/>
          </p:cNvGraphicFramePr>
          <p:nvPr>
            <p:extLst/>
          </p:nvPr>
        </p:nvGraphicFramePr>
        <p:xfrm>
          <a:off x="4712987" y="1513207"/>
          <a:ext cx="3919633" cy="2063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Box 21"/>
          <p:cNvSpPr txBox="1">
            <a:spLocks noChangeArrowheads="1"/>
          </p:cNvSpPr>
          <p:nvPr/>
        </p:nvSpPr>
        <p:spPr bwMode="auto">
          <a:xfrm>
            <a:off x="704074" y="5899167"/>
            <a:ext cx="78075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최초로 </a:t>
            </a:r>
            <a:r>
              <a:rPr lang="ko-KR" altLang="en-US" sz="1400" b="1" dirty="0" err="1" smtClean="0"/>
              <a:t>대양주</a:t>
            </a:r>
            <a:r>
              <a:rPr lang="ko-KR" altLang="en-US" sz="1400" b="1" dirty="0" smtClean="0"/>
              <a:t> 및 미주를 방문한 여행객은 </a:t>
            </a:r>
            <a:r>
              <a:rPr lang="en-US" altLang="ko-KR" sz="1400" b="1" dirty="0" smtClean="0"/>
              <a:t>2</a:t>
            </a:r>
            <a:r>
              <a:rPr lang="ko-KR" altLang="en-US" sz="1400" b="1" dirty="0" smtClean="0"/>
              <a:t>차 여행지로 유럽</a:t>
            </a:r>
            <a:r>
              <a:rPr lang="en-US" altLang="ko-KR" sz="1400" b="1" dirty="0"/>
              <a:t> </a:t>
            </a:r>
            <a:r>
              <a:rPr lang="en-US" altLang="ko-KR" sz="1400" b="1" dirty="0" smtClean="0"/>
              <a:t>&gt; </a:t>
            </a:r>
            <a:r>
              <a:rPr lang="ko-KR" altLang="en-US" sz="1400" b="1" dirty="0" smtClean="0"/>
              <a:t>동남아</a:t>
            </a:r>
            <a:r>
              <a:rPr lang="en-US" altLang="ko-KR" sz="1400" b="1" dirty="0" smtClean="0"/>
              <a:t>&gt; </a:t>
            </a:r>
            <a:r>
              <a:rPr lang="ko-KR" altLang="en-US" sz="1400" b="1" dirty="0" err="1" smtClean="0"/>
              <a:t>일본순으로</a:t>
            </a:r>
            <a:r>
              <a:rPr lang="ko-KR" altLang="en-US" sz="1400" b="1" dirty="0" smtClean="0"/>
              <a:t> 선호  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66502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32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3"/>
            <a:ext cx="3879844" cy="22966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 bwMode="auto">
          <a:xfrm>
            <a:off x="4752776" y="1230401"/>
            <a:ext cx="3879844" cy="230958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4752776" y="1243332"/>
            <a:ext cx="3371104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6" name="TextBox 35"/>
          <p:cNvSpPr txBox="1">
            <a:spLocks noChangeArrowheads="1"/>
          </p:cNvSpPr>
          <p:nvPr/>
        </p:nvSpPr>
        <p:spPr bwMode="auto">
          <a:xfrm>
            <a:off x="4736858" y="1230401"/>
            <a:ext cx="338702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chemeClr val="bg1"/>
                </a:solidFill>
                <a:latin typeface="Calibri" panose="020F0502020204030204" pitchFamily="34" charset="0"/>
              </a:rPr>
              <a:t>기타지역 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여행고객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91962" y="5548116"/>
            <a:ext cx="35413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출발고객명수 기준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항공호텔제외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해당년도 기준 과거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년간의 구매기록 근거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98206" y="3523936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고객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패턴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26197" y="1239011"/>
            <a:ext cx="351082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0" name="TextBox 35"/>
          <p:cNvSpPr txBox="1">
            <a:spLocks noChangeArrowheads="1"/>
          </p:cNvSpPr>
          <p:nvPr/>
        </p:nvSpPr>
        <p:spPr bwMode="auto">
          <a:xfrm>
            <a:off x="424738" y="1226080"/>
            <a:ext cx="35122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괌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/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사이판 여행고객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/>
          </p:nvPr>
        </p:nvGraphicFramePr>
        <p:xfrm>
          <a:off x="424737" y="3716678"/>
          <a:ext cx="3892030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8730"/>
                <a:gridCol w="506220"/>
                <a:gridCol w="355885"/>
                <a:gridCol w="355885"/>
                <a:gridCol w="355885"/>
                <a:gridCol w="355885"/>
                <a:gridCol w="355885"/>
                <a:gridCol w="355885"/>
                <a:gridCol w="355885"/>
                <a:gridCol w="355885"/>
              </a:tblGrid>
              <a:tr h="1198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984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</a:t>
                      </a:r>
                      <a:r>
                        <a:rPr lang="en-US" altLang="ko-KR" sz="9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/</a:t>
                      </a:r>
                    </a:p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사이판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99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8%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117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163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214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507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664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700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</a:rPr>
                        <a:t>1,157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58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87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62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122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104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143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215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55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75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27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35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324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27%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389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454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521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57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5%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33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37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0%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</a:rPr>
                        <a:t>1,195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>
                          <a:effectLst/>
                        </a:rPr>
                        <a:t>100%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</a:rPr>
                        <a:t>1,515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</a:rPr>
                        <a:t>1,730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 smtClean="0">
                          <a:effectLst/>
                        </a:rPr>
                        <a:t>2,370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17,845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17,420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19,751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21,938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7%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33" name="표 32"/>
          <p:cNvGraphicFramePr>
            <a:graphicFrameLocks noGrp="1"/>
          </p:cNvGraphicFramePr>
          <p:nvPr>
            <p:extLst/>
          </p:nvPr>
        </p:nvGraphicFramePr>
        <p:xfrm>
          <a:off x="4740588" y="3712667"/>
          <a:ext cx="3892030" cy="184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8730"/>
                <a:gridCol w="506220"/>
                <a:gridCol w="355885"/>
                <a:gridCol w="355885"/>
                <a:gridCol w="355885"/>
                <a:gridCol w="365292"/>
                <a:gridCol w="346478"/>
                <a:gridCol w="355885"/>
                <a:gridCol w="355885"/>
                <a:gridCol w="355885"/>
              </a:tblGrid>
              <a:tr h="1198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984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기타지역</a:t>
                      </a:r>
                      <a:endParaRPr lang="en-US" altLang="ko-KR" sz="900" b="1" i="0" u="none" strike="noStrike" dirty="0" smtClean="0">
                        <a:solidFill>
                          <a:schemeClr val="dk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125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235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307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82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78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169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35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33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94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36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93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 dirty="0">
                          <a:effectLst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19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32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290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295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488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u="none" strike="noStrike">
                          <a:effectLst/>
                        </a:rPr>
                        <a:t>780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1,540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1,977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3,074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3,517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  <a:tr h="11984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19%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16%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22%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34" name="차트 33"/>
          <p:cNvGraphicFramePr>
            <a:graphicFrameLocks/>
          </p:cNvGraphicFramePr>
          <p:nvPr>
            <p:extLst/>
          </p:nvPr>
        </p:nvGraphicFramePr>
        <p:xfrm>
          <a:off x="403134" y="1513207"/>
          <a:ext cx="3901447" cy="1961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5" name="차트 34"/>
          <p:cNvGraphicFramePr>
            <a:graphicFrameLocks/>
          </p:cNvGraphicFramePr>
          <p:nvPr>
            <p:extLst/>
          </p:nvPr>
        </p:nvGraphicFramePr>
        <p:xfrm>
          <a:off x="4736858" y="1503080"/>
          <a:ext cx="3895762" cy="2026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직사각형 4"/>
          <p:cNvSpPr/>
          <p:nvPr/>
        </p:nvSpPr>
        <p:spPr>
          <a:xfrm>
            <a:off x="5923819" y="5694844"/>
            <a:ext cx="281268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기타지역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–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캐리비안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중동지역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아프리카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서인도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극동지역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1"/>
          <p:cNvSpPr txBox="1">
            <a:spLocks noChangeArrowheads="1"/>
          </p:cNvSpPr>
          <p:nvPr/>
        </p:nvSpPr>
        <p:spPr bwMode="auto">
          <a:xfrm>
            <a:off x="229478" y="5753087"/>
            <a:ext cx="904659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최초로 </a:t>
            </a:r>
            <a:r>
              <a:rPr lang="ko-KR" altLang="en-US" sz="1400" b="1" dirty="0" err="1" smtClean="0"/>
              <a:t>괌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사이판을 방문한 여행객의 경우 </a:t>
            </a:r>
            <a:r>
              <a:rPr lang="en-US" altLang="ko-KR" sz="1400" b="1" dirty="0" smtClean="0"/>
              <a:t>2</a:t>
            </a:r>
            <a:r>
              <a:rPr lang="ko-KR" altLang="en-US" sz="1400" b="1" dirty="0" smtClean="0"/>
              <a:t>차 여행지로 동남아 선호</a:t>
            </a:r>
            <a:r>
              <a:rPr lang="en-US" altLang="ko-KR" sz="1400" b="1" dirty="0" smtClean="0"/>
              <a:t>,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괌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사이판을 재방문 하는 경향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기타지역의 경우 </a:t>
            </a:r>
            <a:r>
              <a:rPr lang="en-US" altLang="ko-KR" sz="1400" b="1" dirty="0" smtClean="0"/>
              <a:t>2</a:t>
            </a:r>
            <a:r>
              <a:rPr lang="ko-KR" altLang="en-US" sz="1400" b="1" dirty="0" smtClean="0"/>
              <a:t>차 여행지로 유럽 및 동남아를 선호하고 중국의 선호도가 증가하는 추세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341845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33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6" y="1243333"/>
            <a:ext cx="8235687" cy="2333356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891378" y="124431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Ⅳ. </a:t>
            </a:r>
            <a:r>
              <a:rPr lang="ko-KR" altLang="en-US" sz="3200" dirty="0" err="1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재구매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62301" y="5728165"/>
            <a:ext cx="35413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출발고객명수 기준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항공호텔제외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해당년도 기준 과거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년간의 구매기록 근거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98206" y="3576688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고객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재구매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패턴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26197" y="1239011"/>
            <a:ext cx="310917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0" name="TextBox 35"/>
          <p:cNvSpPr txBox="1">
            <a:spLocks noChangeArrowheads="1"/>
          </p:cNvSpPr>
          <p:nvPr/>
        </p:nvSpPr>
        <p:spPr bwMode="auto">
          <a:xfrm>
            <a:off x="424738" y="1226080"/>
            <a:ext cx="31801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국내 여행고객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회차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재구매지역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변화 추이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/>
          </p:nvPr>
        </p:nvGraphicFramePr>
        <p:xfrm>
          <a:off x="424736" y="3766188"/>
          <a:ext cx="8218097" cy="19367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539"/>
                <a:gridCol w="1068894"/>
                <a:gridCol w="751458"/>
                <a:gridCol w="751458"/>
                <a:gridCol w="751458"/>
                <a:gridCol w="751458"/>
                <a:gridCol w="751458"/>
                <a:gridCol w="751458"/>
                <a:gridCol w="751458"/>
                <a:gridCol w="751458"/>
              </a:tblGrid>
              <a:tr h="13834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최초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차 여행지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2016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2018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인원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비중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8341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en-US" altLang="ko-KR" sz="900" b="1" i="0" u="none" strike="noStrike" dirty="0" smtClean="0">
                        <a:solidFill>
                          <a:schemeClr val="dk1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동남아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중국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괌사이판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국내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34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1,034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834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해당년도 전체고객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11,749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9,349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11,698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9,837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  <a:tr h="13834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재구매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전환율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7%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8%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20" name="차트 19"/>
          <p:cNvGraphicFramePr>
            <a:graphicFrameLocks/>
          </p:cNvGraphicFramePr>
          <p:nvPr>
            <p:extLst/>
          </p:nvPr>
        </p:nvGraphicFramePr>
        <p:xfrm>
          <a:off x="424737" y="1565764"/>
          <a:ext cx="8235686" cy="2010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1319725" y="5821003"/>
            <a:ext cx="7824276" cy="800842"/>
            <a:chOff x="493248" y="5817621"/>
            <a:chExt cx="8240068" cy="800842"/>
          </a:xfrm>
        </p:grpSpPr>
        <p:sp>
          <p:nvSpPr>
            <p:cNvPr id="16" name="TextBox 21"/>
            <p:cNvSpPr txBox="1">
              <a:spLocks noChangeArrowheads="1"/>
            </p:cNvSpPr>
            <p:nvPr/>
          </p:nvSpPr>
          <p:spPr bwMode="auto">
            <a:xfrm>
              <a:off x="493248" y="5817621"/>
              <a:ext cx="824006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marL="285750" indent="-285750" latinLnBrk="0">
                <a:lnSpc>
                  <a:spcPct val="200000"/>
                </a:lnSpc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ko-KR" altLang="en-US" sz="1400" b="1" dirty="0" smtClean="0"/>
                <a:t>최초로 국내를 방문한 여행객의 경우 국내를 재방문 하는 경향이 높았으나</a:t>
              </a:r>
              <a:endParaRPr lang="en-US" altLang="ko-KR" sz="1400" b="1" dirty="0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780040" y="6159876"/>
              <a:ext cx="3244799" cy="4585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0">
                <a:lnSpc>
                  <a:spcPct val="200000"/>
                </a:lnSpc>
                <a:spcBef>
                  <a:spcPct val="0"/>
                </a:spcBef>
              </a:pPr>
              <a:r>
                <a:rPr lang="ko-KR" altLang="en-US" sz="1400" b="1" dirty="0"/>
                <a:t>동남아를 방문하는 비중이 높아지는 추세</a:t>
              </a:r>
              <a:endParaRPr lang="en-US" altLang="ko-KR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3006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34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6" y="1243332"/>
            <a:ext cx="8356955" cy="233663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6" y="1243332"/>
            <a:ext cx="449232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실제 판매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 및 기획전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24735" y="1230412"/>
            <a:ext cx="55447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지역별 사용 마스터 개수 및 실제 </a:t>
            </a:r>
            <a:r>
              <a:rPr lang="ko-KR" altLang="en-US" sz="1200" b="1" smtClean="0">
                <a:solidFill>
                  <a:schemeClr val="bg1"/>
                </a:solidFill>
                <a:latin typeface="Calibri" panose="020F0502020204030204" pitchFamily="34" charset="0"/>
              </a:rPr>
              <a:t>판매된 마스터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(2017~2018)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/>
          </p:nvPr>
        </p:nvGraphicFramePr>
        <p:xfrm>
          <a:off x="424735" y="3619117"/>
          <a:ext cx="8296569" cy="25161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7469"/>
                <a:gridCol w="1869775"/>
                <a:gridCol w="1869775"/>
                <a:gridCol w="1869775"/>
                <a:gridCol w="1869775"/>
              </a:tblGrid>
              <a:tr h="2492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17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년 사용 마스터개수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17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년 실제 판매된 마스터개수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</a:rPr>
                        <a:t>18</a:t>
                      </a:r>
                      <a:r>
                        <a:rPr lang="ko-KR" altLang="en-US" sz="1100" b="1" u="none" strike="noStrike" dirty="0" smtClean="0">
                          <a:effectLst/>
                        </a:rPr>
                        <a:t>년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사용 마스터개수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 smtClean="0">
                          <a:effectLst/>
                        </a:rPr>
                        <a:t>18</a:t>
                      </a:r>
                      <a:r>
                        <a:rPr lang="ko-KR" altLang="en-US" sz="1100" b="1" u="none" strike="noStrike" dirty="0" smtClean="0">
                          <a:effectLst/>
                        </a:rPr>
                        <a:t>년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실제 판매된 마스터개수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동남아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 smtClean="0">
                          <a:effectLst/>
                        </a:rPr>
                        <a:t>1,231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891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1,272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유럽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 smtClean="0">
                          <a:effectLst/>
                        </a:rPr>
                        <a:t>1,306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549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1,211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일본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351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225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국내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322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208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중국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378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대양주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327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184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미주지역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290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161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사이판</a:t>
                      </a:r>
                      <a:r>
                        <a:rPr lang="en-US" altLang="ko-KR" sz="1000" u="none" strike="noStrike" dirty="0">
                          <a:effectLst/>
                        </a:rPr>
                        <a:t>/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218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129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서인도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60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기타지역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20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중동지역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34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 아프리카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30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극동지역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7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캐리비안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차트 32"/>
          <p:cNvGraphicFramePr>
            <a:graphicFrameLocks/>
          </p:cNvGraphicFramePr>
          <p:nvPr>
            <p:extLst/>
          </p:nvPr>
        </p:nvGraphicFramePr>
        <p:xfrm>
          <a:off x="424736" y="1507411"/>
          <a:ext cx="8356956" cy="2085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TextBox 21"/>
          <p:cNvSpPr txBox="1">
            <a:spLocks noChangeArrowheads="1"/>
          </p:cNvSpPr>
          <p:nvPr/>
        </p:nvSpPr>
        <p:spPr bwMode="auto">
          <a:xfrm>
            <a:off x="870132" y="6115506"/>
            <a:ext cx="74661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미주 지역을 제외한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사용 마스터 개수 대비 실제 판매되는 마스터 개수가 증감</a:t>
            </a:r>
            <a:r>
              <a:rPr lang="ko-KR" altLang="en-US" sz="1400" b="1" dirty="0" smtClean="0"/>
              <a:t>하는 추세 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86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35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7" y="1243331"/>
            <a:ext cx="8262064" cy="306125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221494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36879" y="1243332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행사 개수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 및 기획전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차트 31"/>
          <p:cNvGraphicFramePr>
            <a:graphicFrameLocks/>
          </p:cNvGraphicFramePr>
          <p:nvPr>
            <p:extLst/>
          </p:nvPr>
        </p:nvGraphicFramePr>
        <p:xfrm>
          <a:off x="424735" y="1532834"/>
          <a:ext cx="8167173" cy="2709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69064" y="1236208"/>
            <a:ext cx="2265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지역별 행사개수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(2017~2018)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532209" y="4630332"/>
            <a:ext cx="8962845" cy="851652"/>
            <a:chOff x="569343" y="4650265"/>
            <a:chExt cx="8896475" cy="851652"/>
          </a:xfrm>
        </p:grpSpPr>
        <p:sp>
          <p:nvSpPr>
            <p:cNvPr id="42" name="TextBox 21"/>
            <p:cNvSpPr txBox="1">
              <a:spLocks noChangeArrowheads="1"/>
            </p:cNvSpPr>
            <p:nvPr/>
          </p:nvSpPr>
          <p:spPr bwMode="auto">
            <a:xfrm>
              <a:off x="569343" y="4650265"/>
              <a:ext cx="88964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marL="285750" indent="-285750" latinLnBrk="0">
                <a:lnSpc>
                  <a:spcPct val="200000"/>
                </a:lnSpc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ko-KR" altLang="en-US" sz="1400" b="1" dirty="0" smtClean="0"/>
                <a:t>지역별 행사 개수의 경우 사이판</a:t>
              </a:r>
              <a:r>
                <a:rPr lang="en-US" altLang="ko-KR" sz="1400" b="1" dirty="0" smtClean="0"/>
                <a:t>/</a:t>
              </a:r>
              <a:r>
                <a:rPr lang="ko-KR" altLang="en-US" sz="1400" b="1" dirty="0" err="1" smtClean="0"/>
                <a:t>괌</a:t>
              </a:r>
              <a:r>
                <a:rPr lang="en-US" altLang="ko-KR" sz="1400" b="1" dirty="0" smtClean="0"/>
                <a:t>, </a:t>
              </a:r>
              <a:r>
                <a:rPr lang="ko-KR" altLang="en-US" sz="1400" b="1" dirty="0" smtClean="0"/>
                <a:t>북미지역</a:t>
              </a:r>
              <a:r>
                <a:rPr lang="en-US" altLang="ko-KR" sz="1400" b="1" dirty="0" smtClean="0"/>
                <a:t>, </a:t>
              </a:r>
              <a:r>
                <a:rPr lang="ko-KR" altLang="en-US" sz="1400" b="1" dirty="0" smtClean="0"/>
                <a:t>미주지역</a:t>
              </a:r>
              <a:r>
                <a:rPr lang="en-US" altLang="ko-KR" sz="1400" b="1" dirty="0" smtClean="0"/>
                <a:t>, </a:t>
              </a:r>
              <a:r>
                <a:rPr lang="ko-KR" altLang="en-US" sz="1400" b="1" dirty="0" smtClean="0"/>
                <a:t>중국</a:t>
              </a:r>
              <a:r>
                <a:rPr lang="en-US" altLang="ko-KR" sz="1400" b="1" dirty="0" smtClean="0"/>
                <a:t>, </a:t>
              </a:r>
              <a:r>
                <a:rPr lang="ko-KR" altLang="en-US" sz="1400" b="1" dirty="0" smtClean="0"/>
                <a:t>아프리카</a:t>
              </a:r>
              <a:r>
                <a:rPr lang="en-US" altLang="ko-KR" sz="1400" b="1" dirty="0" smtClean="0"/>
                <a:t>, </a:t>
              </a:r>
              <a:endParaRPr lang="en-US" altLang="ko-KR" sz="1400" b="1" dirty="0" smtClean="0">
                <a:solidFill>
                  <a:srgbClr val="C00000"/>
                </a:solidFill>
              </a:endParaRP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853602" y="5045702"/>
              <a:ext cx="3114955" cy="456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atinLnBrk="0">
                <a:lnSpc>
                  <a:spcPct val="200000"/>
                </a:lnSpc>
                <a:spcBef>
                  <a:spcPct val="0"/>
                </a:spcBef>
              </a:pPr>
              <a:r>
                <a:rPr lang="ko-KR" altLang="en-US" sz="1400" b="1" dirty="0">
                  <a:latin typeface="맑은고딕"/>
                </a:rPr>
                <a:t>극동지역을 제외하고 행사개수가 증가</a:t>
              </a:r>
              <a:r>
                <a:rPr lang="en-US" altLang="ko-KR" sz="1400" b="1" dirty="0">
                  <a:latin typeface="맑은고딕"/>
                </a:rPr>
                <a:t> </a:t>
              </a:r>
              <a:endParaRPr lang="en-US" altLang="ko-KR" sz="1400" b="1" dirty="0">
                <a:solidFill>
                  <a:srgbClr val="C00000"/>
                </a:solidFill>
                <a:latin typeface="맑은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284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36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65956" y="870273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다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2018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지역별 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 및 기획전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664232" y="1254124"/>
          <a:ext cx="8043773" cy="39648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6597"/>
                <a:gridCol w="672861"/>
                <a:gridCol w="6064369"/>
                <a:gridCol w="719946"/>
              </a:tblGrid>
              <a:tr h="18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지역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마스터코드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유럽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EPP4390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12,957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EPP200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전일정특급호텔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버스 內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wifi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사용가능</a:t>
                      </a:r>
                      <a:r>
                        <a:rPr lang="en-US" altLang="ko-KR" sz="800" u="none" strike="noStrike" dirty="0">
                          <a:effectLst/>
                        </a:rPr>
                        <a:t>】 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보스포러스크루즈</a:t>
                      </a:r>
                      <a:r>
                        <a:rPr lang="ko-KR" altLang="en-US" sz="800" u="none" strike="noStrike" dirty="0">
                          <a:effectLst/>
                        </a:rPr>
                        <a:t> 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터키일주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9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12,500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EPP0141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★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가심비</a:t>
                      </a:r>
                      <a:r>
                        <a:rPr lang="ko-KR" altLang="en-US" sz="800" u="none" strike="noStrike" dirty="0">
                          <a:effectLst/>
                        </a:rPr>
                        <a:t> 높은★</a:t>
                      </a:r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뜨거운 성원에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플롬열차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100</a:t>
                      </a:r>
                      <a:r>
                        <a:rPr lang="ko-KR" altLang="en-US" sz="800" u="none" strike="noStrike" dirty="0">
                          <a:effectLst/>
                        </a:rPr>
                        <a:t>유로 옵션 포함 연장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>
                          <a:effectLst/>
                        </a:rPr>
                        <a:t>러시아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북유럽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에스토니아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탈린</a:t>
                      </a:r>
                      <a:r>
                        <a:rPr lang="en-US" altLang="ko-KR" sz="800" u="none" strike="noStrike" dirty="0">
                          <a:effectLst/>
                        </a:rPr>
                        <a:t>) 6</a:t>
                      </a:r>
                      <a:r>
                        <a:rPr lang="ko-KR" altLang="en-US" sz="800" u="none" strike="noStrike" dirty="0">
                          <a:effectLst/>
                        </a:rPr>
                        <a:t>국 </a:t>
                      </a:r>
                      <a:r>
                        <a:rPr lang="en-US" altLang="ko-KR" sz="800" u="none" strike="noStrike" dirty="0">
                          <a:effectLst/>
                        </a:rPr>
                        <a:t>12</a:t>
                      </a:r>
                      <a:r>
                        <a:rPr lang="ko-KR" altLang="en-US" sz="800" u="none" strike="noStrike" dirty="0">
                          <a:effectLst/>
                        </a:rPr>
                        <a:t>일 대한항공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11,211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EPP4035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여행의 유행을 따르라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발칸 </a:t>
                      </a: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슬</a:t>
                      </a:r>
                      <a:r>
                        <a:rPr lang="en-US" altLang="ko-KR" sz="800" u="none" strike="noStrike">
                          <a:effectLst/>
                        </a:rPr>
                        <a:t>) + </a:t>
                      </a:r>
                      <a:r>
                        <a:rPr lang="ko-KR" altLang="en-US" sz="800" u="none" strike="noStrike">
                          <a:effectLst/>
                        </a:rPr>
                        <a:t>동유럽 핵심 </a:t>
                      </a: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9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</a:t>
                      </a:r>
                      <a:r>
                        <a:rPr lang="ko-KR" altLang="en-US" sz="800" u="none" strike="noStrike">
                          <a:effectLst/>
                        </a:rPr>
                        <a:t>직항출발</a:t>
                      </a:r>
                      <a:r>
                        <a:rPr lang="en-US" altLang="ko-KR" sz="800" u="none" strike="noStrike">
                          <a:effectLst/>
                        </a:rPr>
                        <a:t>/2</a:t>
                      </a:r>
                      <a:r>
                        <a:rPr lang="ko-KR" altLang="en-US" sz="800" u="none" strike="noStrike">
                          <a:effectLst/>
                        </a:rPr>
                        <a:t>대야경 포함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9,164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EPP4056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남다른 유럽여행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발칸 </a:t>
                      </a: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보</a:t>
                      </a:r>
                      <a:r>
                        <a:rPr lang="en-US" altLang="ko-KR" sz="800" u="none" strike="noStrike">
                          <a:effectLst/>
                        </a:rPr>
                        <a:t>) + </a:t>
                      </a:r>
                      <a:r>
                        <a:rPr lang="ko-KR" altLang="en-US" sz="800" u="none" strike="noStrike">
                          <a:effectLst/>
                        </a:rPr>
                        <a:t>동유럽 </a:t>
                      </a:r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독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12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</a:t>
                      </a:r>
                      <a:r>
                        <a:rPr lang="ko-KR" altLang="en-US" sz="800" u="none" strike="noStrike">
                          <a:effectLst/>
                        </a:rPr>
                        <a:t>베를린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메주고리예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8,751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일본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JPP0808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한 여름날 북해도에서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샤코탄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11,669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JPF9703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사잔비치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리조트</a:t>
                      </a:r>
                      <a:r>
                        <a:rPr lang="ko-KR" altLang="en-US" sz="800" u="none" strike="noStrike" dirty="0">
                          <a:effectLst/>
                        </a:rPr>
                        <a:t> 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오키나와 자유여행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/4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11,664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JPP713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단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일이라면 아깝지 않게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오키나와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9,405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JPP821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교토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아라시야마를 걷는다</a:t>
                      </a:r>
                      <a:r>
                        <a:rPr lang="en-US" altLang="ko-KR" sz="800" u="none" strike="noStrike">
                          <a:effectLst/>
                        </a:rPr>
                        <a:t>]</a:t>
                      </a:r>
                      <a:r>
                        <a:rPr lang="ko-KR" altLang="en-US" sz="800" u="none" strike="noStrike">
                          <a:effectLst/>
                        </a:rPr>
                        <a:t>오사카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나라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교토</a:t>
                      </a:r>
                      <a:r>
                        <a:rPr lang="en-US" altLang="ko-KR" sz="800" u="none" strike="noStrike">
                          <a:effectLst/>
                        </a:rPr>
                        <a:t>,</a:t>
                      </a:r>
                      <a:r>
                        <a:rPr lang="ko-KR" altLang="en-US" sz="800" u="none" strike="noStrike">
                          <a:effectLst/>
                        </a:rPr>
                        <a:t>아라시야마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고베 </a:t>
                      </a:r>
                      <a:r>
                        <a:rPr lang="en-US" altLang="ko-KR" sz="800" u="none" strike="noStrike">
                          <a:effectLst/>
                        </a:rPr>
                        <a:t>or </a:t>
                      </a:r>
                      <a:r>
                        <a:rPr lang="ko-KR" altLang="en-US" sz="800" u="none" strike="noStrike">
                          <a:effectLst/>
                        </a:rPr>
                        <a:t>유니버셜 스튜디오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주택박물관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잇큐 온천욕 </a:t>
                      </a: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r>
                        <a:rPr lang="en-US" altLang="ko-KR" sz="800" u="none" strike="noStrike">
                          <a:effectLst/>
                        </a:rPr>
                        <a:t>_</a:t>
                      </a:r>
                      <a:r>
                        <a:rPr lang="ko-KR" altLang="en-US" sz="800" u="none" strike="noStrike">
                          <a:effectLst/>
                        </a:rPr>
                        <a:t>진에어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6,809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JPP821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먹고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>
                          <a:effectLst/>
                        </a:rPr>
                        <a:t>보고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>
                          <a:effectLst/>
                        </a:rPr>
                        <a:t>즐기는 세가지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꽉찬</a:t>
                      </a:r>
                      <a:r>
                        <a:rPr lang="ko-KR" altLang="en-US" sz="800" u="none" strike="noStrike" dirty="0">
                          <a:effectLst/>
                        </a:rPr>
                        <a:t> 즐거움 오사카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나라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교토</a:t>
                      </a:r>
                      <a:r>
                        <a:rPr lang="en-US" altLang="ko-KR" sz="800" u="none" strike="noStrike" dirty="0">
                          <a:effectLst/>
                        </a:rPr>
                        <a:t>//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고베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유니버셜</a:t>
                      </a:r>
                      <a:r>
                        <a:rPr lang="ko-KR" altLang="en-US" sz="800" u="none" strike="noStrike" dirty="0">
                          <a:effectLst/>
                        </a:rPr>
                        <a:t> 스튜디오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롯코산</a:t>
                      </a:r>
                      <a:r>
                        <a:rPr lang="ko-KR" altLang="en-US" sz="800" u="none" strike="noStrike" dirty="0">
                          <a:effectLst/>
                        </a:rPr>
                        <a:t> 전망대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잇큐온천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6,584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중국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CPP230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준특급호텔에서</a:t>
                      </a:r>
                      <a:r>
                        <a:rPr lang="ko-KR" altLang="en-US" sz="800" u="none" strike="noStrike" dirty="0">
                          <a:effectLst/>
                        </a:rPr>
                        <a:t> 계림은 푸근하다</a:t>
                      </a:r>
                      <a:r>
                        <a:rPr lang="en-US" altLang="ko-KR" sz="800" u="none" strike="noStrike" dirty="0">
                          <a:effectLst/>
                        </a:rPr>
                        <a:t>..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양삭에서도</a:t>
                      </a:r>
                      <a:r>
                        <a:rPr lang="en-US" altLang="ko-KR" sz="800" u="none" strike="noStrike" dirty="0">
                          <a:effectLst/>
                        </a:rPr>
                        <a:t>.. 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</a:t>
                      </a:r>
                      <a:r>
                        <a:rPr lang="en-US" altLang="ko-KR" sz="800" u="none" strike="noStrike">
                          <a:effectLst/>
                        </a:rPr>
                        <a:t>15,675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CPP2610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전 일정 식사업그레이드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발마사지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대련 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서파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>
                          <a:effectLst/>
                        </a:rPr>
                        <a:t>백두산천지 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>
                          <a:effectLst/>
                        </a:rPr>
                        <a:t>압록강유람 </a:t>
                      </a:r>
                      <a:r>
                        <a:rPr lang="en-US" altLang="ko-KR" sz="800" u="none" strike="noStrike" dirty="0">
                          <a:effectLst/>
                        </a:rPr>
                        <a:t>_ 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7,396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CPP641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대련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여순감옥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동방수성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러시아거리 관광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 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6,373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CPP0720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가볍게떠나는청도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청도 완전 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6,078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CPP985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은하수 가득한 초원에서 꿈길을 걷다</a:t>
                      </a:r>
                      <a:r>
                        <a:rPr lang="en-US" altLang="ko-KR" sz="800" u="none" strike="noStrike" dirty="0">
                          <a:effectLst/>
                        </a:rPr>
                        <a:t>~】</a:t>
                      </a:r>
                      <a:r>
                        <a:rPr lang="ko-KR" altLang="en-US" sz="800" u="none" strike="noStrike" dirty="0">
                          <a:effectLst/>
                        </a:rPr>
                        <a:t>북경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승덕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적봉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내몽고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아시아나항공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5,342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동남아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APY111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아미코젠퍼시픽</a:t>
                      </a:r>
                      <a:r>
                        <a:rPr lang="en-US" altLang="ko-KR" sz="800" u="none" strike="noStrike" dirty="0">
                          <a:effectLst/>
                        </a:rPr>
                        <a:t>-I-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코타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차</a:t>
                      </a:r>
                      <a:r>
                        <a:rPr lang="en-US" altLang="ko-KR" sz="800" u="none" strike="noStrike" dirty="0">
                          <a:effectLst/>
                        </a:rPr>
                        <a:t>(ZE)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16,384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APP9967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多 둘러보기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】$60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바나국립공원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마사지 </a:t>
                      </a:r>
                      <a:r>
                        <a:rPr lang="en-US" altLang="ko-KR" sz="800" u="none" strike="noStrike" dirty="0">
                          <a:effectLst/>
                        </a:rPr>
                        <a:t>60</a:t>
                      </a:r>
                      <a:r>
                        <a:rPr lang="ko-KR" altLang="en-US" sz="800" u="none" strike="noStrike" dirty="0">
                          <a:effectLst/>
                        </a:rPr>
                        <a:t>분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투본강투어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10,638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APY111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삼천리 자전거 </a:t>
                      </a:r>
                      <a:r>
                        <a:rPr lang="en-US" altLang="ko-KR" sz="800" u="none" strike="noStrike" dirty="0">
                          <a:effectLst/>
                        </a:rPr>
                        <a:t>-I- 2018 </a:t>
                      </a:r>
                      <a:r>
                        <a:rPr lang="ko-KR" altLang="en-US" sz="800" u="none" strike="noStrike" dirty="0">
                          <a:effectLst/>
                        </a:rPr>
                        <a:t>우수대리점 해외연수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발리</a:t>
                      </a:r>
                      <a:r>
                        <a:rPr lang="en-US" altLang="ko-KR" sz="800" u="none" strike="noStrike" dirty="0">
                          <a:effectLst/>
                        </a:rPr>
                        <a:t>)2</a:t>
                      </a:r>
                      <a:r>
                        <a:rPr lang="ko-KR" altLang="en-US" sz="800" u="none" strike="noStrike" dirty="0">
                          <a:effectLst/>
                        </a:rPr>
                        <a:t>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</a:t>
                      </a:r>
                      <a:r>
                        <a:rPr lang="en-US" altLang="ko-KR" sz="800" u="none" strike="noStrike" dirty="0">
                          <a:effectLst/>
                        </a:rPr>
                        <a:t>10,404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APP9900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쿠팡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세부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9,823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APP5400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골목마다 배어있는 색색의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마카오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홍콩 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8,526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21"/>
          <p:cNvSpPr txBox="1">
            <a:spLocks noChangeArrowheads="1"/>
          </p:cNvSpPr>
          <p:nvPr/>
        </p:nvSpPr>
        <p:spPr bwMode="auto">
          <a:xfrm>
            <a:off x="1556608" y="5425057"/>
            <a:ext cx="680238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유럽의 경우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동유럽 지역의 선호도</a:t>
            </a:r>
            <a:r>
              <a:rPr lang="ko-KR" altLang="en-US" sz="1400" b="1" dirty="0" smtClean="0"/>
              <a:t>가 높음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일본의 경우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온천 상품 및 오키나와와 같은 휴양지</a:t>
            </a:r>
            <a:r>
              <a:rPr lang="ko-KR" altLang="en-US" sz="1400" b="1" dirty="0" smtClean="0"/>
              <a:t>의 선호도가 높음</a:t>
            </a:r>
            <a:endParaRPr lang="en-US" altLang="ko-KR" sz="1400" b="1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7289321" y="5194225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324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37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65956" y="870273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다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2018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지역별 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 및 기획전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664232" y="1254124"/>
          <a:ext cx="8043773" cy="39648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6597"/>
                <a:gridCol w="672861"/>
                <a:gridCol w="6064369"/>
                <a:gridCol w="719946"/>
              </a:tblGrid>
              <a:tr h="1888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지역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마스터코드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86" marR="5286" marT="52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effectLst/>
                        </a:rPr>
                        <a:t>대양주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PPP202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시드니 여행의 정석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호주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시드니</a:t>
                      </a:r>
                      <a:r>
                        <a:rPr lang="en-US" altLang="ko-KR" sz="800" u="none" strike="noStrike" dirty="0">
                          <a:effectLst/>
                        </a:rPr>
                        <a:t>) 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블루마운틴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포트스테판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5,913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PPP803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[8</a:t>
                      </a:r>
                      <a:r>
                        <a:rPr lang="ko-KR" altLang="en-US" sz="800" u="none" strike="noStrike" dirty="0">
                          <a:effectLst/>
                        </a:rPr>
                        <a:t>시간절약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항공이동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마운트쿡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트래킹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호주 시드니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뉴질랜드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남북섬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10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4,422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PPP803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[8</a:t>
                      </a:r>
                      <a:r>
                        <a:rPr lang="ko-KR" altLang="en-US" sz="800" u="none" strike="noStrike">
                          <a:effectLst/>
                        </a:rPr>
                        <a:t>시간절약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항공이동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마운트쿡 트래킹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호주 시드니 </a:t>
                      </a:r>
                      <a:r>
                        <a:rPr lang="en-US" altLang="ko-KR" sz="800" u="none" strike="noStrike">
                          <a:effectLst/>
                        </a:rPr>
                        <a:t>+ </a:t>
                      </a:r>
                      <a:r>
                        <a:rPr lang="ko-KR" altLang="en-US" sz="800" u="none" strike="noStrike">
                          <a:effectLst/>
                        </a:rPr>
                        <a:t>뉴질랜드 남북섬 </a:t>
                      </a:r>
                      <a:r>
                        <a:rPr lang="en-US" altLang="ko-KR" sz="800" u="none" strike="noStrike">
                          <a:effectLst/>
                        </a:rPr>
                        <a:t>10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3,896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PTS001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싱호뉴 </a:t>
                      </a:r>
                      <a:r>
                        <a:rPr lang="en-US" altLang="ko-KR" sz="800" u="none" strike="noStrike">
                          <a:effectLst/>
                        </a:rPr>
                        <a:t>11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/ </a:t>
                      </a:r>
                      <a:r>
                        <a:rPr lang="ko-KR" altLang="en-US" sz="800" u="none" strike="noStrike">
                          <a:effectLst/>
                        </a:rPr>
                        <a:t>티켓조인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3,001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PPP803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[8</a:t>
                      </a:r>
                      <a:r>
                        <a:rPr lang="ko-KR" altLang="en-US" sz="800" u="none" strike="noStrike" dirty="0">
                          <a:effectLst/>
                        </a:rPr>
                        <a:t>시간절약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항공이동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마운트쿡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트래킹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호주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뉴질랜드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남북섬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10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2,468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미주지역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UPP699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남미 티켓 조인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4,875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UPP245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[3</a:t>
                      </a:r>
                      <a:r>
                        <a:rPr lang="ko-KR" altLang="en-US" sz="800" u="none" strike="noStrike">
                          <a:effectLst/>
                        </a:rPr>
                        <a:t>대도시</a:t>
                      </a:r>
                      <a:r>
                        <a:rPr lang="en-US" altLang="ko-KR" sz="800" u="none" strike="noStrike">
                          <a:effectLst/>
                        </a:rPr>
                        <a:t>/5</a:t>
                      </a:r>
                      <a:r>
                        <a:rPr lang="ko-KR" altLang="en-US" sz="800" u="none" strike="noStrike">
                          <a:effectLst/>
                        </a:rPr>
                        <a:t>대캐니언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행운의 땅 세도나 </a:t>
                      </a:r>
                      <a:r>
                        <a:rPr lang="en-US" altLang="ko-KR" sz="800" u="none" strike="noStrike">
                          <a:effectLst/>
                        </a:rPr>
                        <a:t>9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2,544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UPP171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일급호텔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실속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오아후섬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폴리네시안민속촌 </a:t>
                      </a:r>
                      <a:r>
                        <a:rPr lang="en-US" altLang="ko-KR" sz="800" u="none" strike="noStrike">
                          <a:effectLst/>
                        </a:rPr>
                        <a:t>6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2,507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UPP193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하와이 </a:t>
                      </a:r>
                      <a:r>
                        <a:rPr lang="en-US" altLang="ko-KR" sz="800" u="none" strike="noStrike" dirty="0">
                          <a:effectLst/>
                        </a:rPr>
                        <a:t>OZ </a:t>
                      </a:r>
                      <a:r>
                        <a:rPr lang="ko-KR" altLang="en-US" sz="800" u="none" strike="noStrike" dirty="0">
                          <a:effectLst/>
                        </a:rPr>
                        <a:t>티켓조인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2,128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UPP2352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 smtClean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◆</a:t>
                      </a:r>
                      <a:r>
                        <a:rPr lang="ko-KR" altLang="en-US" sz="800" u="none" strike="noStrike" dirty="0">
                          <a:effectLst/>
                        </a:rPr>
                        <a:t>디즈니포함◆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미서부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대캐년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라스베가스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요세미티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샌프란시스코 </a:t>
                      </a:r>
                      <a:r>
                        <a:rPr lang="en-US" altLang="ko-KR" sz="800" u="none" strike="noStrike" dirty="0">
                          <a:effectLst/>
                        </a:rPr>
                        <a:t>11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2,116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사이판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IPY111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아미코젠퍼시픽</a:t>
                      </a:r>
                      <a:r>
                        <a:rPr lang="en-US" altLang="ko-KR" sz="800" u="none" strike="noStrike">
                          <a:effectLst/>
                        </a:rPr>
                        <a:t>-I-</a:t>
                      </a:r>
                      <a:r>
                        <a:rPr lang="ko-KR" altLang="en-US" sz="800" u="none" strike="noStrike">
                          <a:effectLst/>
                        </a:rPr>
                        <a:t>팔라우 프로모션 </a:t>
                      </a: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r>
                        <a:rPr lang="ko-KR" altLang="en-US" sz="800" u="none" strike="noStrike">
                          <a:effectLst/>
                        </a:rPr>
                        <a:t>차 </a:t>
                      </a:r>
                      <a:r>
                        <a:rPr lang="en-US" altLang="ko-KR" sz="800" u="none" strike="noStrike">
                          <a:effectLst/>
                        </a:rPr>
                        <a:t>(OZ)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6,889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IPP129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▶</a:t>
                      </a:r>
                      <a:r>
                        <a:rPr lang="en-US" altLang="ko-KR" sz="800" u="none" strike="noStrike">
                          <a:effectLst/>
                        </a:rPr>
                        <a:t>Premium_Saipan◀ [</a:t>
                      </a:r>
                      <a:r>
                        <a:rPr lang="ko-KR" altLang="en-US" sz="800" u="none" strike="noStrike">
                          <a:effectLst/>
                        </a:rPr>
                        <a:t>켄싱턴호텔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로얄디럭스 무료</a:t>
                      </a:r>
                      <a:r>
                        <a:rPr lang="en-US" altLang="ko-KR" sz="800" u="none" strike="noStrike">
                          <a:effectLst/>
                        </a:rPr>
                        <a:t>UP+</a:t>
                      </a:r>
                      <a:r>
                        <a:rPr lang="ko-KR" altLang="en-US" sz="800" u="none" strike="noStrike">
                          <a:effectLst/>
                        </a:rPr>
                        <a:t>전일정호텔식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마나가하섬투어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반잠수함</a:t>
                      </a:r>
                      <a:r>
                        <a:rPr lang="en-US" altLang="ko-KR" sz="800" u="none" strike="noStrike">
                          <a:effectLst/>
                        </a:rPr>
                        <a:t>)+NO</a:t>
                      </a:r>
                      <a:r>
                        <a:rPr lang="ko-KR" altLang="en-US" sz="800" u="none" strike="noStrike">
                          <a:effectLst/>
                        </a:rPr>
                        <a:t>팁 </a:t>
                      </a:r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5,675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IPF660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괌 </a:t>
                      </a:r>
                      <a:r>
                        <a:rPr lang="en-US" altLang="ko-KR" sz="800" u="none" strike="noStrike">
                          <a:effectLst/>
                        </a:rPr>
                        <a:t>PIC</a:t>
                      </a:r>
                      <a:r>
                        <a:rPr lang="ko-KR" altLang="en-US" sz="800" u="none" strike="noStrike">
                          <a:effectLst/>
                        </a:rPr>
                        <a:t>리조트</a:t>
                      </a:r>
                      <a:r>
                        <a:rPr lang="en-US" altLang="ko-KR" sz="800" u="none" strike="noStrike">
                          <a:effectLst/>
                        </a:rPr>
                        <a:t>]■</a:t>
                      </a:r>
                      <a:r>
                        <a:rPr lang="ko-KR" altLang="en-US" sz="800" u="none" strike="noStrike">
                          <a:effectLst/>
                        </a:rPr>
                        <a:t>소아동반가족</a:t>
                      </a:r>
                      <a:r>
                        <a:rPr lang="en-US" altLang="ko-KR" sz="800" u="none" strike="noStrike">
                          <a:effectLst/>
                        </a:rPr>
                        <a:t>,</a:t>
                      </a:r>
                      <a:r>
                        <a:rPr lang="ko-KR" altLang="en-US" sz="800" u="none" strike="noStrike">
                          <a:effectLst/>
                        </a:rPr>
                        <a:t>슈페리어플러스</a:t>
                      </a:r>
                      <a:r>
                        <a:rPr lang="en-US" altLang="ko-KR" sz="800" u="none" strike="noStrike">
                          <a:effectLst/>
                        </a:rPr>
                        <a:t>UP■ </a:t>
                      </a:r>
                      <a:r>
                        <a:rPr lang="ko-KR" altLang="en-US" sz="800" u="none" strike="noStrike">
                          <a:effectLst/>
                        </a:rPr>
                        <a:t>골드카드포함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무제한 워터파크</a:t>
                      </a:r>
                      <a:r>
                        <a:rPr lang="en-US" altLang="ko-KR" sz="800" u="none" strike="noStrike">
                          <a:effectLst/>
                        </a:rPr>
                        <a:t>_</a:t>
                      </a:r>
                      <a:r>
                        <a:rPr lang="ko-KR" altLang="en-US" sz="800" u="none" strike="noStrike">
                          <a:effectLst/>
                        </a:rPr>
                        <a:t>오후출발</a:t>
                      </a:r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4,497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IPF860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▶</a:t>
                      </a:r>
                      <a:r>
                        <a:rPr lang="en-US" altLang="ko-KR" sz="800" u="none" strike="noStrike">
                          <a:effectLst/>
                        </a:rPr>
                        <a:t>Premium_Guam◀ [PIC</a:t>
                      </a:r>
                      <a:r>
                        <a:rPr lang="ko-KR" altLang="en-US" sz="800" u="none" strike="noStrike">
                          <a:effectLst/>
                        </a:rPr>
                        <a:t>리조트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슈페리어플러스 무료</a:t>
                      </a:r>
                      <a:r>
                        <a:rPr lang="en-US" altLang="ko-KR" sz="800" u="none" strike="noStrike">
                          <a:effectLst/>
                        </a:rPr>
                        <a:t>UP+</a:t>
                      </a:r>
                      <a:r>
                        <a:rPr lang="ko-KR" altLang="en-US" sz="800" u="none" strike="noStrike">
                          <a:effectLst/>
                        </a:rPr>
                        <a:t>퍼시픽환타지 디너쇼</a:t>
                      </a:r>
                      <a:r>
                        <a:rPr lang="en-US" altLang="ko-KR" sz="800" u="none" strike="noStrike">
                          <a:effectLst/>
                        </a:rPr>
                        <a:t>+NO</a:t>
                      </a:r>
                      <a:r>
                        <a:rPr lang="ko-KR" altLang="en-US" sz="800" u="none" strike="noStrike">
                          <a:effectLst/>
                        </a:rPr>
                        <a:t>팁</a:t>
                      </a:r>
                      <a:r>
                        <a:rPr lang="en-US" altLang="ko-KR" sz="800" u="none" strike="noStrike">
                          <a:effectLst/>
                        </a:rPr>
                        <a:t>_</a:t>
                      </a:r>
                      <a:r>
                        <a:rPr lang="ko-KR" altLang="en-US" sz="800" u="none" strike="noStrike">
                          <a:effectLst/>
                        </a:rPr>
                        <a:t>대한항공 오후출발 </a:t>
                      </a:r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박</a:t>
                      </a:r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4,199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IPP102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[PIC</a:t>
                      </a:r>
                      <a:r>
                        <a:rPr lang="ko-KR" altLang="en-US" sz="800" u="none" strike="noStrike">
                          <a:effectLst/>
                        </a:rPr>
                        <a:t>리조트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골드카드</a:t>
                      </a:r>
                      <a:r>
                        <a:rPr lang="en-US" altLang="ko-KR" sz="800" u="none" strike="noStrike">
                          <a:effectLst/>
                        </a:rPr>
                        <a:t>+BBQ, </a:t>
                      </a:r>
                      <a:r>
                        <a:rPr lang="ko-KR" altLang="en-US" sz="800" u="none" strike="noStrike">
                          <a:effectLst/>
                        </a:rPr>
                        <a:t>신규슬라이드오픈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마나가하섬 </a:t>
                      </a:r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3,760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서인도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MPP947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연합특가</a:t>
                      </a:r>
                      <a:r>
                        <a:rPr lang="en-US" altLang="ko-KR" sz="800" u="none" strike="noStrike">
                          <a:effectLst/>
                        </a:rPr>
                        <a:t>]●</a:t>
                      </a:r>
                      <a:r>
                        <a:rPr lang="ko-KR" altLang="en-US" sz="800" u="none" strike="noStrike">
                          <a:effectLst/>
                        </a:rPr>
                        <a:t>출발확정●</a:t>
                      </a:r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특별한휴가</a:t>
                      </a:r>
                      <a:r>
                        <a:rPr lang="en-US" altLang="ko-KR" sz="800" u="none" strike="noStrike">
                          <a:effectLst/>
                        </a:rPr>
                        <a:t>][</a:t>
                      </a:r>
                      <a:r>
                        <a:rPr lang="ko-KR" altLang="en-US" sz="800" u="none" strike="noStrike">
                          <a:effectLst/>
                        </a:rPr>
                        <a:t>아시아나항공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타지마할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골든트라이앵글 인도핵심 </a:t>
                      </a:r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r>
                        <a:rPr lang="en-US" altLang="ko-KR" sz="800" u="none" strike="noStrike">
                          <a:effectLst/>
                        </a:rPr>
                        <a:t>_OZ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2,123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MPP947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●출발확정●</a:t>
                      </a:r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대한항공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준특급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더 여유로운 북인도 골든트라이앵글 핵심일주 </a:t>
                      </a:r>
                      <a:r>
                        <a:rPr lang="en-US" altLang="ko-KR" sz="800" u="none" strike="noStrike">
                          <a:effectLst/>
                        </a:rPr>
                        <a:t>6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r>
                        <a:rPr lang="en-US" altLang="ko-KR" sz="800" u="none" strike="noStrike">
                          <a:effectLst/>
                        </a:rPr>
                        <a:t>_KE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1,181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MPP900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●출발확정●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힐링로드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인디아</a:t>
                      </a:r>
                      <a:r>
                        <a:rPr lang="en-US" altLang="ko-KR" sz="800" u="none" strike="noStrike" dirty="0">
                          <a:effectLst/>
                        </a:rPr>
                        <a:t>][</a:t>
                      </a:r>
                      <a:r>
                        <a:rPr lang="ko-KR" altLang="en-US" sz="800" u="none" strike="noStrike" dirty="0">
                          <a:effectLst/>
                        </a:rPr>
                        <a:t>국내선</a:t>
                      </a: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r>
                        <a:rPr lang="ko-KR" altLang="en-US" sz="800" u="none" strike="noStrike" dirty="0">
                          <a:effectLst/>
                        </a:rPr>
                        <a:t>회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호텔업그레이드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북인도 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9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_OZ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1,070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MPP947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●출발확정●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특별한휴가</a:t>
                      </a:r>
                      <a:r>
                        <a:rPr lang="en-US" altLang="ko-KR" sz="800" u="none" strike="noStrike" dirty="0">
                          <a:effectLst/>
                        </a:rPr>
                        <a:t>][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아시아나항공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타지마할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골든트라이앵글</a:t>
                      </a:r>
                      <a:r>
                        <a:rPr lang="ko-KR" altLang="en-US" sz="800" u="none" strike="noStrike" dirty="0">
                          <a:effectLst/>
                        </a:rPr>
                        <a:t> 인도핵심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_OZ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1,044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MPP908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나마스떼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프리미어</a:t>
                      </a:r>
                      <a:r>
                        <a:rPr lang="en-US" altLang="ko-KR" sz="800" u="none" strike="noStrike" dirty="0">
                          <a:effectLst/>
                        </a:rPr>
                        <a:t>][</a:t>
                      </a:r>
                      <a:r>
                        <a:rPr lang="ko-KR" altLang="en-US" sz="800" u="none" strike="noStrike" dirty="0">
                          <a:effectLst/>
                        </a:rPr>
                        <a:t>국내선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회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특급호텔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북인도 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9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_OZ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879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27" marR="6127" marT="612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21"/>
          <p:cNvSpPr txBox="1">
            <a:spLocks noChangeArrowheads="1"/>
          </p:cNvSpPr>
          <p:nvPr/>
        </p:nvSpPr>
        <p:spPr bwMode="auto">
          <a:xfrm>
            <a:off x="2222057" y="5380138"/>
            <a:ext cx="501672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시드니의 경우 </a:t>
            </a:r>
            <a:r>
              <a:rPr lang="ko-KR" altLang="en-US" sz="1400" b="1" dirty="0" err="1" smtClean="0"/>
              <a:t>마운트쿡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트래킹</a:t>
            </a:r>
            <a:r>
              <a:rPr lang="ko-KR" altLang="en-US" sz="1400" b="1" dirty="0" smtClean="0"/>
              <a:t> 상품의 선호도가 높음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사이판</a:t>
            </a:r>
            <a:r>
              <a:rPr lang="en-US" altLang="ko-KR" sz="1400" b="1" dirty="0" smtClean="0"/>
              <a:t>/</a:t>
            </a:r>
            <a:r>
              <a:rPr lang="ko-KR" altLang="en-US" sz="1400" b="1" dirty="0" err="1" smtClean="0"/>
              <a:t>괌의</a:t>
            </a:r>
            <a:r>
              <a:rPr lang="ko-KR" altLang="en-US" sz="1400" b="1" dirty="0" smtClean="0"/>
              <a:t> 경우 가족상품의 선호도가 높음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ko-KR" sz="1400" b="1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289321" y="5194225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73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38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65956" y="870273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2017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월별 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 및 기획전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740793" y="1208829"/>
          <a:ext cx="8115691" cy="45017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456"/>
                <a:gridCol w="759125"/>
                <a:gridCol w="5702060"/>
                <a:gridCol w="877050"/>
              </a:tblGrid>
              <a:tr h="2242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err="1">
                          <a:effectLst/>
                        </a:rPr>
                        <a:t>출발월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</a:rPr>
                        <a:t>마스터코드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876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APP0002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■ 보아도 보아도 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>
                          <a:effectLst/>
                        </a:rPr>
                        <a:t>쉬어도 쉬어도 ■ ［ 하노이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성급 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성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Vinpearl</a:t>
                      </a:r>
                      <a:r>
                        <a:rPr lang="en-US" altLang="ko-KR" sz="800" u="none" strike="noStrike" dirty="0">
                          <a:effectLst/>
                        </a:rPr>
                        <a:t> Resort +$230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옵션포함 ］하노이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617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APP8666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캄보디아 </a:t>
                      </a:r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환승無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출발</a:t>
                      </a:r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r>
                        <a:rPr lang="ko-KR" altLang="en-US" sz="800" u="none" strike="noStrike" dirty="0">
                          <a:effectLst/>
                        </a:rPr>
                        <a:t>확정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두배의</a:t>
                      </a:r>
                      <a:r>
                        <a:rPr lang="ko-KR" altLang="en-US" sz="800" u="none" strike="noStrike" dirty="0">
                          <a:effectLst/>
                        </a:rPr>
                        <a:t> 재미까지</a:t>
                      </a:r>
                      <a:r>
                        <a:rPr lang="en-US" altLang="ko-KR" sz="800" u="none" strike="noStrike" dirty="0">
                          <a:effectLst/>
                        </a:rPr>
                        <a:t>】+ $280</a:t>
                      </a:r>
                      <a:r>
                        <a:rPr lang="ko-KR" altLang="en-US" sz="800" u="none" strike="noStrike" dirty="0">
                          <a:effectLst/>
                        </a:rPr>
                        <a:t>불 상당 옵션포함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참좋은단독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582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APP0813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■  미소의 나라 캄보디아 </a:t>
                      </a:r>
                      <a:r>
                        <a:rPr lang="en-US" altLang="ko-KR" sz="800" u="none" strike="noStrike" dirty="0">
                          <a:effectLst/>
                        </a:rPr>
                        <a:t>$170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상당옵션포함■ 캄보디아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앙코르왓</a:t>
                      </a:r>
                      <a:r>
                        <a:rPr lang="ko-KR" altLang="en-US" sz="800" u="none" strike="noStrike" dirty="0">
                          <a:effectLst/>
                        </a:rPr>
                        <a:t> 出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[ZA</a:t>
                      </a:r>
                      <a:r>
                        <a:rPr lang="ko-KR" altLang="en-US" sz="800" u="none" strike="noStrike" dirty="0">
                          <a:effectLst/>
                        </a:rPr>
                        <a:t>항공</a:t>
                      </a:r>
                      <a:r>
                        <a:rPr lang="en-US" altLang="ko-KR" sz="800" u="none" strike="noStrike" dirty="0">
                          <a:effectLst/>
                        </a:rPr>
                        <a:t>]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494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시들지 않는 북해도의 눈꽃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433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APP9967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多 느껴보세요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투본강</a:t>
                      </a:r>
                      <a:r>
                        <a:rPr lang="en-US" altLang="ko-KR" sz="800" u="none" strike="noStrike" dirty="0">
                          <a:effectLst/>
                        </a:rPr>
                        <a:t>($30)+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전동카</a:t>
                      </a:r>
                      <a:r>
                        <a:rPr lang="en-US" altLang="ko-KR" sz="800" u="none" strike="noStrike" dirty="0">
                          <a:effectLst/>
                        </a:rPr>
                        <a:t>($20) 4</a:t>
                      </a:r>
                      <a:r>
                        <a:rPr lang="ko-KR" altLang="en-US" sz="800" u="none" strike="noStrike" dirty="0">
                          <a:effectLst/>
                        </a:rPr>
                        <a:t>성 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UP 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360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APP0002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■ 보아도 보아도 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>
                          <a:effectLst/>
                        </a:rPr>
                        <a:t>쉬어도 쉬어도 ■ ［ 하노이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성급 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성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Vinpearl</a:t>
                      </a:r>
                      <a:r>
                        <a:rPr lang="en-US" altLang="ko-KR" sz="800" u="none" strike="noStrike" dirty="0">
                          <a:effectLst/>
                        </a:rPr>
                        <a:t> Resort +$230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옵션포함 ］하노이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676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시들지 않는 북해도의 눈꽃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530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APP8666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캄보디아 </a:t>
                      </a:r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환승無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출발</a:t>
                      </a:r>
                      <a:r>
                        <a:rPr lang="en-US" altLang="ko-KR" sz="800" u="none" strike="noStrike" dirty="0">
                          <a:effectLst/>
                        </a:rPr>
                        <a:t>100%</a:t>
                      </a:r>
                      <a:r>
                        <a:rPr lang="ko-KR" altLang="en-US" sz="800" u="none" strike="noStrike" dirty="0">
                          <a:effectLst/>
                        </a:rPr>
                        <a:t>확정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두배의</a:t>
                      </a:r>
                      <a:r>
                        <a:rPr lang="ko-KR" altLang="en-US" sz="800" u="none" strike="noStrike" dirty="0">
                          <a:effectLst/>
                        </a:rPr>
                        <a:t> 재미까지</a:t>
                      </a:r>
                      <a:r>
                        <a:rPr lang="en-US" altLang="ko-KR" sz="800" u="none" strike="noStrike" dirty="0">
                          <a:effectLst/>
                        </a:rPr>
                        <a:t>】+ $280</a:t>
                      </a:r>
                      <a:r>
                        <a:rPr lang="ko-KR" altLang="en-US" sz="800" u="none" strike="noStrike" dirty="0">
                          <a:effectLst/>
                        </a:rPr>
                        <a:t>불 상당 옵션포함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참좋은단독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522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JPP649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여유있게</a:t>
                      </a:r>
                      <a:r>
                        <a:rPr lang="ko-KR" altLang="en-US" sz="800" u="none" strike="noStrike" dirty="0">
                          <a:effectLst/>
                        </a:rPr>
                        <a:t> 겨울나기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유후인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벳부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후쿠오카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꿈의현수교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히젠야호텔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) 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391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APP1821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</a:t>
                      </a:r>
                      <a:r>
                        <a:rPr lang="en-US" altLang="ko-KR" sz="800" u="none" strike="noStrike" dirty="0">
                          <a:effectLst/>
                        </a:rPr>
                        <a:t>】[</a:t>
                      </a:r>
                      <a:r>
                        <a:rPr lang="ko-KR" altLang="en-US" sz="800" u="none" strike="noStrike" dirty="0">
                          <a:effectLst/>
                        </a:rPr>
                        <a:t>오전출발</a:t>
                      </a:r>
                      <a:r>
                        <a:rPr lang="en-US" altLang="ko-KR" sz="800" u="none" strike="noStrike" dirty="0">
                          <a:effectLst/>
                        </a:rPr>
                        <a:t>]■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마블산</a:t>
                      </a:r>
                      <a:r>
                        <a:rPr lang="ko-KR" altLang="en-US" sz="800" u="none" strike="noStrike" dirty="0">
                          <a:effectLst/>
                        </a:rPr>
                        <a:t> 투어포함■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기내박</a:t>
                      </a:r>
                      <a:r>
                        <a:rPr lang="ko-KR" altLang="en-US" sz="800" u="none" strike="noStrike" dirty="0">
                          <a:effectLst/>
                        </a:rPr>
                        <a:t> 無 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다양한특전</a:t>
                      </a:r>
                      <a:r>
                        <a:rPr lang="ko-KR" altLang="en-US" sz="800" u="none" strike="noStrike" dirty="0">
                          <a:effectLst/>
                        </a:rPr>
                        <a:t> 제공</a:t>
                      </a:r>
                      <a:r>
                        <a:rPr lang="en-US" altLang="ko-KR" sz="800" u="none" strike="noStrike" dirty="0">
                          <a:effectLst/>
                        </a:rPr>
                        <a:t>![</a:t>
                      </a:r>
                      <a:r>
                        <a:rPr lang="ko-KR" altLang="en-US" sz="800" u="none" strike="noStrike" dirty="0">
                          <a:effectLst/>
                        </a:rPr>
                        <a:t>연합상품</a:t>
                      </a:r>
                      <a:r>
                        <a:rPr lang="en-US" altLang="ko-KR" sz="800" u="none" strike="noStrike" dirty="0">
                          <a:effectLst/>
                        </a:rPr>
                        <a:t>]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348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KPP888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티몬국내선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5,621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APP1821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</a:t>
                      </a:r>
                      <a:r>
                        <a:rPr lang="en-US" altLang="ko-KR" sz="800" u="none" strike="noStrike" dirty="0">
                          <a:effectLst/>
                        </a:rPr>
                        <a:t>】[</a:t>
                      </a:r>
                      <a:r>
                        <a:rPr lang="ko-KR" altLang="en-US" sz="800" u="none" strike="noStrike" dirty="0">
                          <a:effectLst/>
                        </a:rPr>
                        <a:t>오전출발</a:t>
                      </a:r>
                      <a:r>
                        <a:rPr lang="en-US" altLang="ko-KR" sz="800" u="none" strike="noStrike" dirty="0">
                          <a:effectLst/>
                        </a:rPr>
                        <a:t>]■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마블산</a:t>
                      </a:r>
                      <a:r>
                        <a:rPr lang="ko-KR" altLang="en-US" sz="800" u="none" strike="noStrike" dirty="0">
                          <a:effectLst/>
                        </a:rPr>
                        <a:t> 투어포함■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기내박</a:t>
                      </a:r>
                      <a:r>
                        <a:rPr lang="ko-KR" altLang="en-US" sz="800" u="none" strike="noStrike" dirty="0">
                          <a:effectLst/>
                        </a:rPr>
                        <a:t> 無 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다양한특전</a:t>
                      </a:r>
                      <a:r>
                        <a:rPr lang="ko-KR" altLang="en-US" sz="800" u="none" strike="noStrike" dirty="0">
                          <a:effectLst/>
                        </a:rPr>
                        <a:t> 제공</a:t>
                      </a:r>
                      <a:r>
                        <a:rPr lang="en-US" altLang="ko-KR" sz="800" u="none" strike="noStrike" dirty="0">
                          <a:effectLst/>
                        </a:rPr>
                        <a:t>![</a:t>
                      </a:r>
                      <a:r>
                        <a:rPr lang="ko-KR" altLang="en-US" sz="800" u="none" strike="noStrike" dirty="0">
                          <a:effectLst/>
                        </a:rPr>
                        <a:t>연합상품</a:t>
                      </a:r>
                      <a:r>
                        <a:rPr lang="en-US" altLang="ko-KR" sz="800" u="none" strike="noStrike" dirty="0">
                          <a:effectLst/>
                        </a:rPr>
                        <a:t>]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523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PPP202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시드니 여행의 정석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호주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시드니</a:t>
                      </a:r>
                      <a:r>
                        <a:rPr lang="en-US" altLang="ko-KR" sz="800" u="none" strike="noStrike" dirty="0">
                          <a:effectLst/>
                        </a:rPr>
                        <a:t>) 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블루마운틴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포트스테판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519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APP4000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코타키나발루에서</a:t>
                      </a:r>
                      <a:r>
                        <a:rPr lang="ko-KR" altLang="en-US" sz="800" u="none" strike="noStrike" dirty="0">
                          <a:effectLst/>
                        </a:rPr>
                        <a:t> 찾은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일간의 </a:t>
                      </a:r>
                      <a:r>
                        <a:rPr lang="en-US" altLang="ko-KR" sz="800" u="none" strike="noStrike" dirty="0">
                          <a:effectLst/>
                        </a:rPr>
                        <a:t>&amp;#39;</a:t>
                      </a:r>
                      <a:r>
                        <a:rPr lang="ko-KR" altLang="en-US" sz="800" u="none" strike="noStrike" dirty="0">
                          <a:effectLst/>
                        </a:rPr>
                        <a:t>행복의 느낌</a:t>
                      </a:r>
                      <a:r>
                        <a:rPr lang="en-US" altLang="ko-KR" sz="800" u="none" strike="noStrike" dirty="0">
                          <a:effectLst/>
                        </a:rPr>
                        <a:t>&amp;#39;_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샹그릴라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라사리아리조트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가든윙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씨뷰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호핑투어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선셋보트투어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시내관광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호텔식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회 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아동반값</a:t>
                      </a:r>
                      <a:r>
                        <a:rPr lang="en-US" altLang="ko-KR" sz="800" u="none" strike="noStrike" dirty="0">
                          <a:effectLst/>
                        </a:rPr>
                        <a:t>]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509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APP0002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■ 보아도 보아도 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>
                          <a:effectLst/>
                        </a:rPr>
                        <a:t>쉬어도 쉬어도 ■ ［ 하노이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성급 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성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Vinpearl</a:t>
                      </a:r>
                      <a:r>
                        <a:rPr lang="en-US" altLang="ko-KR" sz="800" u="none" strike="noStrike" dirty="0">
                          <a:effectLst/>
                        </a:rPr>
                        <a:t> Resort +$230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옵션포함 ］하노이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429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KPP888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티몬국내선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</a:rPr>
                        <a:t>6,031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KPP888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티몬항공권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745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열도의 핵심 </a:t>
                      </a:r>
                      <a:r>
                        <a:rPr lang="en-US" altLang="ko-KR" sz="800" u="none" strike="noStrike" dirty="0">
                          <a:effectLst/>
                        </a:rPr>
                        <a:t>Real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627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APP5789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九색 갖춘 방콕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파타야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방콕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파타야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산호섬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코끼리트래킹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안마</a:t>
                      </a: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r>
                        <a:rPr lang="ko-KR" altLang="en-US" sz="800" u="none" strike="noStrike" dirty="0">
                          <a:effectLst/>
                        </a:rPr>
                        <a:t>시간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콜로세움쇼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475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APP1821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</a:t>
                      </a:r>
                      <a:r>
                        <a:rPr lang="en-US" altLang="ko-KR" sz="800" u="none" strike="noStrike" dirty="0">
                          <a:effectLst/>
                        </a:rPr>
                        <a:t>】■</a:t>
                      </a:r>
                      <a:r>
                        <a:rPr lang="ko-KR" altLang="en-US" sz="800" u="none" strike="noStrike" dirty="0">
                          <a:effectLst/>
                        </a:rPr>
                        <a:t>오전출발■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마블산</a:t>
                      </a:r>
                      <a:r>
                        <a:rPr lang="ko-KR" altLang="en-US" sz="800" u="none" strike="noStrike" dirty="0">
                          <a:effectLst/>
                        </a:rPr>
                        <a:t> 투어포함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!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기내박</a:t>
                      </a:r>
                      <a:r>
                        <a:rPr lang="ko-KR" altLang="en-US" sz="800" u="none" strike="noStrike" dirty="0">
                          <a:effectLst/>
                        </a:rPr>
                        <a:t> 無 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다양한특전</a:t>
                      </a:r>
                      <a:r>
                        <a:rPr lang="ko-KR" altLang="en-US" sz="800" u="none" strike="noStrike" dirty="0">
                          <a:effectLst/>
                        </a:rPr>
                        <a:t> 제공</a:t>
                      </a:r>
                      <a:r>
                        <a:rPr lang="en-US" altLang="ko-KR" sz="800" u="none" strike="noStrike" dirty="0">
                          <a:effectLst/>
                        </a:rPr>
                        <a:t>!</a:t>
                      </a:r>
                      <a:r>
                        <a:rPr lang="ko-KR" altLang="en-US" sz="800" u="none" strike="noStrike" dirty="0">
                          <a:effectLst/>
                        </a:rPr>
                        <a:t>오전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연합상품</a:t>
                      </a:r>
                      <a:r>
                        <a:rPr lang="en-US" altLang="ko-KR" sz="800" u="none" strike="noStrike" dirty="0">
                          <a:effectLst/>
                        </a:rPr>
                        <a:t>]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440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열도의 핵심 </a:t>
                      </a:r>
                      <a:r>
                        <a:rPr lang="en-US" altLang="ko-KR" sz="800" u="none" strike="noStrike" dirty="0">
                          <a:effectLst/>
                        </a:rPr>
                        <a:t>Real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729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JPP696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사라쿠라산</a:t>
                      </a:r>
                      <a:r>
                        <a:rPr lang="ko-KR" altLang="en-US" sz="800" u="none" strike="noStrike" dirty="0">
                          <a:effectLst/>
                        </a:rPr>
                        <a:t> 전망대에서 맥주 한잔</a:t>
                      </a:r>
                      <a:r>
                        <a:rPr lang="en-US" altLang="ko-KR" sz="800" u="none" strike="noStrike" dirty="0">
                          <a:effectLst/>
                        </a:rPr>
                        <a:t>]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유후인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벳부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기타큐슈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케이블카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506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APP0741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구름과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바다사이에</a:t>
                      </a:r>
                      <a:r>
                        <a:rPr lang="ko-KR" altLang="en-US" sz="800" u="none" strike="noStrike" dirty="0">
                          <a:effectLst/>
                        </a:rPr>
                        <a:t> 사막이 있는</a:t>
                      </a:r>
                      <a:r>
                        <a:rPr lang="en-US" altLang="ko-KR" sz="800" u="none" strike="noStrike" dirty="0">
                          <a:effectLst/>
                        </a:rPr>
                        <a:t>.. ] $200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옵션포함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호치민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판티엣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무이네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미토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-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아시아나항공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412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JPP016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기본에 마음을 더하다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노보리베츠</a:t>
                      </a:r>
                      <a:r>
                        <a:rPr lang="ko-KR" altLang="en-US" sz="800" u="none" strike="noStrike" dirty="0">
                          <a:effectLst/>
                        </a:rPr>
                        <a:t> 특급온천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아시아나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375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JPP6644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봄향기</a:t>
                      </a:r>
                      <a:r>
                        <a:rPr lang="ko-KR" altLang="en-US" sz="800" u="none" strike="noStrike" dirty="0">
                          <a:effectLst/>
                        </a:rPr>
                        <a:t> 가득한 온천에서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오사카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고베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교토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히메지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롯코산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온천호텔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314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6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APP5789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九색 갖춘 방콕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파타야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방콕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파타야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산호섬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코끼리트래킹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안마</a:t>
                      </a:r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r>
                        <a:rPr lang="ko-KR" altLang="en-US" sz="800" u="none" strike="noStrike" dirty="0">
                          <a:effectLst/>
                        </a:rPr>
                        <a:t>시간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526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JPP696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사라쿠라산</a:t>
                      </a:r>
                      <a:r>
                        <a:rPr lang="ko-KR" altLang="en-US" sz="800" u="none" strike="noStrike" dirty="0">
                          <a:effectLst/>
                        </a:rPr>
                        <a:t> 전망대에서 맥주 한잔</a:t>
                      </a:r>
                      <a:r>
                        <a:rPr lang="en-US" altLang="ko-KR" sz="800" u="none" strike="noStrike" dirty="0">
                          <a:effectLst/>
                        </a:rPr>
                        <a:t>]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유후인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벳부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기타큐슈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케이블카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480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JPP016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기본에 마음을 더하다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노보리베츠</a:t>
                      </a:r>
                      <a:r>
                        <a:rPr lang="ko-KR" altLang="en-US" sz="800" u="none" strike="noStrike" dirty="0">
                          <a:effectLst/>
                        </a:rPr>
                        <a:t> 특급온천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아시아나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EPP0140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백세인생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나는 아직도 여행에 목마르다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러시아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북유럽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노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스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핀</a:t>
                      </a:r>
                      <a:r>
                        <a:rPr lang="en-US" altLang="ko-KR" sz="800" u="none" strike="noStrike" dirty="0">
                          <a:effectLst/>
                        </a:rPr>
                        <a:t>)/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에스토니아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탈린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국 </a:t>
                      </a:r>
                      <a:r>
                        <a:rPr lang="en-US" altLang="ko-KR" sz="800" u="none" strike="noStrike" dirty="0">
                          <a:effectLst/>
                        </a:rPr>
                        <a:t>12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대한항공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385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8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열도의 핵심 </a:t>
                      </a:r>
                      <a:r>
                        <a:rPr lang="en-US" altLang="ko-KR" sz="800" u="none" strike="noStrike" dirty="0">
                          <a:effectLst/>
                        </a:rPr>
                        <a:t>Real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383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471115" y="5703184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54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39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65956" y="870273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라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2017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월별 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 및 기획전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783925" y="1208834"/>
          <a:ext cx="8115691" cy="43898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7071"/>
                <a:gridCol w="767751"/>
                <a:gridCol w="5788325"/>
                <a:gridCol w="842544"/>
              </a:tblGrid>
              <a:tr h="19901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err="1">
                          <a:effectLst/>
                        </a:rPr>
                        <a:t>출발월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</a:rPr>
                        <a:t>마스터코드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15" marR="3515" marT="35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969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7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한 여름날 북해도에서 </a:t>
                      </a:r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>
                          <a:effectLst/>
                        </a:rPr>
                        <a:t>+ </a:t>
                      </a:r>
                      <a:r>
                        <a:rPr lang="ko-KR" altLang="en-US" sz="800" u="none" strike="noStrike">
                          <a:effectLst/>
                        </a:rPr>
                        <a:t>후라노</a:t>
                      </a:r>
                      <a:r>
                        <a:rPr lang="en-US" altLang="ko-KR" sz="800" u="none" strike="noStrike">
                          <a:effectLst/>
                        </a:rPr>
                        <a:t>,</a:t>
                      </a:r>
                      <a:r>
                        <a:rPr lang="ko-KR" altLang="en-US" sz="800" u="none" strike="noStrike">
                          <a:effectLst/>
                        </a:rPr>
                        <a:t>비에이 </a:t>
                      </a:r>
                      <a:r>
                        <a:rPr lang="en-US" altLang="ko-KR" sz="800" u="none" strike="noStrike">
                          <a:effectLst/>
                        </a:rPr>
                        <a:t>+ </a:t>
                      </a:r>
                      <a:r>
                        <a:rPr lang="ko-KR" altLang="en-US" sz="800" u="none" strike="noStrike">
                          <a:effectLst/>
                        </a:rPr>
                        <a:t>샤코탄 </a:t>
                      </a:r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r>
                        <a:rPr lang="en-US" altLang="ko-KR" sz="800" u="none" strike="noStrike">
                          <a:effectLst/>
                        </a:rPr>
                        <a:t>_</a:t>
                      </a:r>
                      <a:r>
                        <a:rPr lang="ko-KR" altLang="en-US" sz="800" u="none" strike="noStrike">
                          <a:effectLst/>
                        </a:rPr>
                        <a:t>진에어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881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APP1919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■이스타항공■ 초특급 호이안 빈펄 리조트</a:t>
                      </a: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박</a:t>
                      </a:r>
                      <a:r>
                        <a:rPr lang="en-US" altLang="ko-KR" sz="800" u="none" strike="noStrike">
                          <a:effectLst/>
                        </a:rPr>
                        <a:t>! 1DAY </a:t>
                      </a:r>
                      <a:r>
                        <a:rPr lang="ko-KR" altLang="en-US" sz="800" u="none" strike="noStrike">
                          <a:effectLst/>
                        </a:rPr>
                        <a:t>자유일정포함 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＄</a:t>
                      </a:r>
                      <a:r>
                        <a:rPr lang="en-US" altLang="ko-KR" sz="800" u="none" strike="noStrike">
                          <a:effectLst/>
                        </a:rPr>
                        <a:t>80 </a:t>
                      </a:r>
                      <a:r>
                        <a:rPr lang="ko-KR" altLang="en-US" sz="800" u="none" strike="noStrike">
                          <a:effectLst/>
                        </a:rPr>
                        <a:t>상당 </a:t>
                      </a: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박 </a:t>
                      </a:r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857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APP0806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■물처럼</a:t>
                      </a:r>
                      <a:r>
                        <a:rPr lang="en-US" altLang="ko-KR" sz="800" u="none" strike="noStrike" dirty="0">
                          <a:effectLst/>
                        </a:rPr>
                        <a:t>...</a:t>
                      </a:r>
                      <a:r>
                        <a:rPr lang="ko-KR" altLang="en-US" sz="800" u="none" strike="noStrike" dirty="0">
                          <a:effectLst/>
                        </a:rPr>
                        <a:t>구름처럼</a:t>
                      </a:r>
                      <a:r>
                        <a:rPr lang="en-US" altLang="ko-KR" sz="800" u="none" strike="noStrike" dirty="0">
                          <a:effectLst/>
                        </a:rPr>
                        <a:t>...■ [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Vinpearl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Halong</a:t>
                      </a:r>
                      <a:r>
                        <a:rPr lang="en-US" altLang="ko-KR" sz="800" u="none" strike="noStrike" dirty="0">
                          <a:effectLst/>
                        </a:rPr>
                        <a:t> Bay Resort + $270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옵션포함 ］하노이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598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JPP6699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[4</a:t>
                      </a:r>
                      <a:r>
                        <a:rPr lang="ko-KR" altLang="en-US" sz="800" u="none" strike="noStrike">
                          <a:effectLst/>
                        </a:rPr>
                        <a:t>명확정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트윈룸</a:t>
                      </a:r>
                      <a:r>
                        <a:rPr lang="en-US" altLang="ko-KR" sz="800" u="none" strike="noStrike">
                          <a:effectLst/>
                        </a:rPr>
                        <a:t>][</a:t>
                      </a:r>
                      <a:r>
                        <a:rPr lang="ko-KR" altLang="en-US" sz="800" u="none" strike="noStrike">
                          <a:effectLst/>
                        </a:rPr>
                        <a:t>기본에 마음을 더하다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오사카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교토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우지</a:t>
                      </a:r>
                      <a:r>
                        <a:rPr lang="en-US" altLang="ko-KR" sz="800" u="none" strike="noStrike">
                          <a:effectLst/>
                        </a:rPr>
                        <a:t>or</a:t>
                      </a:r>
                      <a:r>
                        <a:rPr lang="ko-KR" altLang="en-US" sz="800" u="none" strike="noStrike">
                          <a:effectLst/>
                        </a:rPr>
                        <a:t>유니버셜스튜디오 </a:t>
                      </a: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(KE)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376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EPP4390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367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8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한 여름날 북해도에서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샤코탄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</a:rPr>
                        <a:t>1,193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CPP349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특급 월드체인호텔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UP【</a:t>
                      </a:r>
                      <a:r>
                        <a:rPr lang="ko-KR" altLang="en-US" sz="800" u="none" strike="noStrike" dirty="0">
                          <a:effectLst/>
                        </a:rPr>
                        <a:t>상해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항주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주가각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서호유람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주가각뱃놀이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서커스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493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APP1919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■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이스타항공</a:t>
                      </a:r>
                      <a:r>
                        <a:rPr lang="ko-KR" altLang="en-US" sz="800" u="none" strike="noStrike" dirty="0">
                          <a:effectLst/>
                        </a:rPr>
                        <a:t>■ 초특급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리조트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! 1DAY </a:t>
                      </a:r>
                      <a:r>
                        <a:rPr lang="ko-KR" altLang="en-US" sz="800" u="none" strike="noStrike" dirty="0">
                          <a:effectLst/>
                        </a:rPr>
                        <a:t>자유일정포함 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＄</a:t>
                      </a:r>
                      <a:r>
                        <a:rPr lang="en-US" altLang="ko-KR" sz="800" u="none" strike="noStrike" dirty="0">
                          <a:effectLst/>
                        </a:rPr>
                        <a:t>80 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476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JPP6644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가성비</a:t>
                      </a:r>
                      <a:r>
                        <a:rPr lang="en-US" altLang="ko-KR" sz="800" u="none" strike="noStrike" dirty="0">
                          <a:effectLst/>
                        </a:rPr>
                        <a:t>NO.1][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쉿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나만알고있는오사카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오사카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고베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교토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히메지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롯코산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463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APP006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 </a:t>
                      </a:r>
                      <a:r>
                        <a:rPr lang="ko-KR" altLang="en-US" sz="800" u="none" strike="noStrike" dirty="0">
                          <a:effectLst/>
                        </a:rPr>
                        <a:t>나는 인도차이나에 반했다</a:t>
                      </a:r>
                      <a:r>
                        <a:rPr lang="en-US" altLang="ko-KR" sz="800" u="none" strike="noStrike" dirty="0">
                          <a:effectLst/>
                        </a:rPr>
                        <a:t>_2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色여행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캄보디아 </a:t>
                      </a:r>
                      <a:r>
                        <a:rPr lang="en-US" altLang="ko-KR" sz="800" u="none" strike="noStrike" dirty="0">
                          <a:effectLst/>
                        </a:rPr>
                        <a:t>+$190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전일정특급호텔</a:t>
                      </a:r>
                      <a:r>
                        <a:rPr lang="ko-KR" altLang="en-US" sz="800" u="none" strike="noStrike" dirty="0">
                          <a:effectLst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일 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378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9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열도의 핵심 </a:t>
                      </a:r>
                      <a:r>
                        <a:rPr lang="en-US" altLang="ko-KR" sz="800" u="none" strike="noStrike" dirty="0">
                          <a:effectLst/>
                        </a:rPr>
                        <a:t>Real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544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JPP6644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가성비</a:t>
                      </a:r>
                      <a:r>
                        <a:rPr lang="en-US" altLang="ko-KR" sz="800" u="none" strike="noStrike" dirty="0">
                          <a:effectLst/>
                        </a:rPr>
                        <a:t>NO.1][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쉿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나만알고있는오사카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오사카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고베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교토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히메지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롯코산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386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APP1823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[4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명이상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예약시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풀빌라</a:t>
                      </a:r>
                      <a:r>
                        <a:rPr lang="ko-KR" altLang="en-US" sz="800" u="none" strike="noStrike" dirty="0">
                          <a:effectLst/>
                        </a:rPr>
                        <a:t> 업그레이드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초특급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빈펄리조트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박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관광형</a:t>
                      </a:r>
                      <a:r>
                        <a:rPr lang="ko-KR" altLang="en-US" sz="800" u="none" strike="noStrike" dirty="0">
                          <a:effectLst/>
                        </a:rPr>
                        <a:t> 패키지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338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EPP4390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333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APP006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 </a:t>
                      </a:r>
                      <a:r>
                        <a:rPr lang="ko-KR" altLang="en-US" sz="800" u="none" strike="noStrike" dirty="0">
                          <a:effectLst/>
                        </a:rPr>
                        <a:t>나는 인도차이나에 반했다</a:t>
                      </a:r>
                      <a:r>
                        <a:rPr lang="en-US" altLang="ko-KR" sz="800" u="none" strike="noStrike" dirty="0">
                          <a:effectLst/>
                        </a:rPr>
                        <a:t>_2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色여행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캄보디아 </a:t>
                      </a:r>
                      <a:r>
                        <a:rPr lang="en-US" altLang="ko-KR" sz="800" u="none" strike="noStrike" dirty="0">
                          <a:effectLst/>
                        </a:rPr>
                        <a:t>+$190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전일정특급호텔</a:t>
                      </a:r>
                      <a:r>
                        <a:rPr lang="ko-KR" altLang="en-US" sz="800" u="none" strike="noStrike" dirty="0">
                          <a:effectLst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일 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296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10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EPP042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더 가까워진 러시아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>
                          <a:effectLst/>
                        </a:rPr>
                        <a:t>웃자 웃자 블라디보스톡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제주항공</a:t>
                      </a:r>
                      <a:r>
                        <a:rPr lang="en-US" altLang="ko-KR" sz="800" u="none" strike="noStrike" dirty="0">
                          <a:effectLst/>
                        </a:rPr>
                        <a:t>]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</a:rPr>
                        <a:t>       </a:t>
                      </a:r>
                      <a:r>
                        <a:rPr lang="en-US" altLang="ko-KR" sz="800" u="none" strike="noStrike">
                          <a:effectLst/>
                        </a:rPr>
                        <a:t>441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APP1823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[4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명이상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예약시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풀빌라</a:t>
                      </a:r>
                      <a:r>
                        <a:rPr lang="ko-KR" altLang="en-US" sz="800" u="none" strike="noStrike" dirty="0">
                          <a:effectLst/>
                        </a:rPr>
                        <a:t> 업그레이드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초특급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빈펄리조트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박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관광형</a:t>
                      </a:r>
                      <a:r>
                        <a:rPr lang="ko-KR" altLang="en-US" sz="800" u="none" strike="noStrike" dirty="0">
                          <a:effectLst/>
                        </a:rPr>
                        <a:t> 패키지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425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APP006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 </a:t>
                      </a:r>
                      <a:r>
                        <a:rPr lang="ko-KR" altLang="en-US" sz="800" u="none" strike="noStrike" dirty="0">
                          <a:effectLst/>
                        </a:rPr>
                        <a:t>나는 인도차이나에 반했다</a:t>
                      </a:r>
                      <a:r>
                        <a:rPr lang="en-US" altLang="ko-KR" sz="800" u="none" strike="noStrike" dirty="0">
                          <a:effectLst/>
                        </a:rPr>
                        <a:t>_2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色여행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캄보디아 </a:t>
                      </a:r>
                      <a:r>
                        <a:rPr lang="en-US" altLang="ko-KR" sz="800" u="none" strike="noStrike" dirty="0">
                          <a:effectLst/>
                        </a:rPr>
                        <a:t>+$190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전일정특급호텔</a:t>
                      </a:r>
                      <a:r>
                        <a:rPr lang="ko-KR" altLang="en-US" sz="800" u="none" strike="noStrike" dirty="0">
                          <a:effectLst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일 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388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</a:t>
                      </a:r>
                      <a:r>
                        <a:rPr lang="en-US" altLang="ko-KR" sz="800" u="none" strike="noStrike" dirty="0">
                          <a:effectLst/>
                        </a:rPr>
                        <a:t>No.1 </a:t>
                      </a:r>
                      <a:r>
                        <a:rPr lang="ko-KR" altLang="en-US" sz="800" u="none" strike="noStrike" dirty="0">
                          <a:effectLst/>
                        </a:rPr>
                        <a:t>온천과 휴식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노보리베츠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오타루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>
                          <a:effectLst/>
                        </a:rPr>
                        <a:t>도야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>
                          <a:effectLst/>
                        </a:rPr>
                        <a:t>삿포로</a:t>
                      </a:r>
                      <a:r>
                        <a:rPr lang="en-US" altLang="ko-KR" sz="800" u="none" strike="noStrike" dirty="0">
                          <a:effectLst/>
                        </a:rPr>
                        <a:t>) </a:t>
                      </a:r>
                      <a:r>
                        <a:rPr lang="ko-KR" altLang="en-US" sz="800" u="none" strike="noStrike" dirty="0">
                          <a:effectLst/>
                        </a:rPr>
                        <a:t>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373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JPP630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료칸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>
                          <a:effectLst/>
                        </a:rPr>
                        <a:t>가을단풍 속 온천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후쿠오카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유후인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야바케이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야나가와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특식포함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338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11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APP7777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■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하롱속에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또다른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■ </a:t>
                      </a:r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리조트</a:t>
                      </a:r>
                      <a:r>
                        <a:rPr lang="en-US" altLang="ko-KR" sz="800" u="none" strike="noStrike" dirty="0">
                          <a:effectLst/>
                        </a:rPr>
                        <a:t>_$220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옵션포함 </a:t>
                      </a:r>
                      <a:r>
                        <a:rPr lang="en-US" altLang="ko-KR" sz="800" u="none" strike="noStrike" dirty="0">
                          <a:effectLst/>
                        </a:rPr>
                        <a:t>】+ </a:t>
                      </a:r>
                      <a:r>
                        <a:rPr lang="ko-KR" altLang="en-US" sz="800" u="none" strike="noStrike" dirty="0">
                          <a:effectLst/>
                        </a:rPr>
                        <a:t>하노이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닌빈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503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JPP630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료칸</a:t>
                      </a:r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r>
                        <a:rPr lang="ko-KR" altLang="en-US" sz="800" u="none" strike="noStrike">
                          <a:effectLst/>
                        </a:rPr>
                        <a:t>박</a:t>
                      </a:r>
                      <a:r>
                        <a:rPr lang="en-US" altLang="ko-KR" sz="800" u="none" strike="noStrike">
                          <a:effectLst/>
                        </a:rPr>
                        <a:t>/ </a:t>
                      </a:r>
                      <a:r>
                        <a:rPr lang="ko-KR" altLang="en-US" sz="800" u="none" strike="noStrike">
                          <a:effectLst/>
                        </a:rPr>
                        <a:t>가을단풍 속 온천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후쿠오카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유후인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야바케이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야나가와 </a:t>
                      </a: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특식포함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439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JPP310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맛집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온천</a:t>
                      </a:r>
                      <a:r>
                        <a:rPr lang="en-US" altLang="ko-KR" sz="800" u="none" strike="noStrike">
                          <a:effectLst/>
                        </a:rPr>
                        <a:t>][</a:t>
                      </a:r>
                      <a:r>
                        <a:rPr lang="ko-KR" altLang="en-US" sz="800" u="none" strike="noStrike">
                          <a:effectLst/>
                        </a:rPr>
                        <a:t>가을</a:t>
                      </a:r>
                      <a:r>
                        <a:rPr lang="en-US" altLang="ko-KR" sz="800" u="none" strike="noStrike">
                          <a:effectLst/>
                        </a:rPr>
                        <a:t>,</a:t>
                      </a:r>
                      <a:r>
                        <a:rPr lang="ko-KR" altLang="en-US" sz="800" u="none" strike="noStrike">
                          <a:effectLst/>
                        </a:rPr>
                        <a:t>반대가 끌리는이유</a:t>
                      </a:r>
                      <a:r>
                        <a:rPr lang="en-US" altLang="ko-KR" sz="800" u="none" strike="noStrike">
                          <a:effectLst/>
                        </a:rPr>
                        <a:t>]</a:t>
                      </a:r>
                      <a:r>
                        <a:rPr lang="ko-KR" altLang="en-US" sz="800" u="none" strike="noStrike">
                          <a:effectLst/>
                        </a:rPr>
                        <a:t>오사카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나라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교토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벳부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유후인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쿠로가와온천 </a:t>
                      </a:r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426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APP2448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●같이 가야 하는 이유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앙코르왓</a:t>
                      </a:r>
                      <a:r>
                        <a:rPr lang="en-US" altLang="ko-KR" sz="800" u="none" strike="noStrike" dirty="0">
                          <a:effectLst/>
                        </a:rPr>
                        <a:t>]● 220$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특전 포함 베트남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캄보디아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345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APT222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푸켓</a:t>
                      </a:r>
                      <a:r>
                        <a:rPr lang="ko-KR" altLang="en-US" sz="800" u="none" strike="noStrike" dirty="0">
                          <a:effectLst/>
                        </a:rPr>
                        <a:t> 단체항공권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 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319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12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CPP641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대련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여순감옥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동방수성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러시아거리 관광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 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571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APP9967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多 둘러보기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】 $60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바나국립공원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마사지 </a:t>
                      </a:r>
                      <a:r>
                        <a:rPr lang="en-US" altLang="ko-KR" sz="800" u="none" strike="noStrike" dirty="0">
                          <a:effectLst/>
                        </a:rPr>
                        <a:t>60</a:t>
                      </a:r>
                      <a:r>
                        <a:rPr lang="ko-KR" altLang="en-US" sz="800" u="none" strike="noStrike" dirty="0">
                          <a:effectLst/>
                        </a:rPr>
                        <a:t>분 포함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$30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투본강투어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492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APP7777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■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하롱속에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또다른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■ </a:t>
                      </a:r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리조트</a:t>
                      </a:r>
                      <a:r>
                        <a:rPr lang="en-US" altLang="ko-KR" sz="800" u="none" strike="noStrike" dirty="0">
                          <a:effectLst/>
                        </a:rPr>
                        <a:t>_$220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옵션포함 </a:t>
                      </a:r>
                      <a:r>
                        <a:rPr lang="en-US" altLang="ko-KR" sz="800" u="none" strike="noStrike" dirty="0">
                          <a:effectLst/>
                        </a:rPr>
                        <a:t>】+ </a:t>
                      </a:r>
                      <a:r>
                        <a:rPr lang="ko-KR" altLang="en-US" sz="800" u="none" strike="noStrike" dirty="0">
                          <a:effectLst/>
                        </a:rPr>
                        <a:t>하노이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닌빈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APP3434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새로움을 더하다</a:t>
                      </a:r>
                      <a:r>
                        <a:rPr lang="en-US" altLang="ko-KR" sz="800" u="none" strike="noStrike" dirty="0">
                          <a:effectLst/>
                        </a:rPr>
                        <a:t>】●</a:t>
                      </a:r>
                      <a:r>
                        <a:rPr lang="ko-KR" altLang="en-US" sz="800" u="none" strike="noStrike" dirty="0">
                          <a:effectLst/>
                        </a:rPr>
                        <a:t>오전출발●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빈펄리조트</a:t>
                      </a:r>
                      <a:r>
                        <a:rPr lang="en-US" altLang="ko-KR" sz="800" u="none" strike="noStrike" dirty="0">
                          <a:effectLst/>
                        </a:rPr>
                        <a:t>+$60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바나산국립공원포함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대한항공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370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JPP649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찬바람도 쉬어가는 온천에서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유후인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벳부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후쿠오카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쿠로가와</a:t>
                      </a:r>
                      <a:r>
                        <a:rPr lang="ko-KR" altLang="en-US" sz="800" u="none" strike="noStrike" dirty="0">
                          <a:effectLst/>
                        </a:rPr>
                        <a:t> 온천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히젠야호텔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) 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365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41" marR="3641" marT="364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21"/>
          <p:cNvSpPr txBox="1">
            <a:spLocks noChangeArrowheads="1"/>
          </p:cNvSpPr>
          <p:nvPr/>
        </p:nvSpPr>
        <p:spPr bwMode="auto">
          <a:xfrm>
            <a:off x="1028700" y="5558801"/>
            <a:ext cx="745969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2017</a:t>
            </a:r>
            <a:r>
              <a:rPr lang="ko-KR" altLang="en-US" sz="1400" b="1" dirty="0" smtClean="0"/>
              <a:t>년의 경우 동남아 상품의 비율이 높음 </a:t>
            </a:r>
            <a:r>
              <a:rPr lang="en-US" altLang="ko-KR" sz="1400" b="1" dirty="0" smtClean="0"/>
              <a:t>-&gt;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다낭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및 하노이 지역 선호도가 높음</a:t>
            </a:r>
            <a:endParaRPr lang="en-US" altLang="ko-KR" sz="14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북해도의 경우 </a:t>
            </a:r>
            <a:r>
              <a:rPr lang="en-US" altLang="ko-KR" sz="1400" b="1" dirty="0" smtClean="0"/>
              <a:t>1</a:t>
            </a:r>
            <a:r>
              <a:rPr lang="ko-KR" altLang="en-US" sz="1400" b="1" dirty="0" smtClean="0"/>
              <a:t>월 </a:t>
            </a:r>
            <a:r>
              <a:rPr lang="en-US" altLang="ko-KR" sz="1400" b="1" dirty="0" smtClean="0"/>
              <a:t>~ 10</a:t>
            </a:r>
            <a:r>
              <a:rPr lang="ko-KR" altLang="en-US" sz="1400" b="1" dirty="0" smtClean="0"/>
              <a:t>월까지 선호도가 높음 </a:t>
            </a:r>
            <a:r>
              <a:rPr lang="en-US" altLang="ko-KR" sz="1400" b="1" dirty="0" smtClean="0"/>
              <a:t>-&gt;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시기와 관계없이 선호도가 높음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48750" y="5558801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524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40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65956" y="870273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마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2018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월별 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 및 기획전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666000" y="1208837"/>
          <a:ext cx="7796513" cy="43122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2853"/>
                <a:gridCol w="785004"/>
                <a:gridCol w="5477773"/>
                <a:gridCol w="810883"/>
              </a:tblGrid>
              <a:tr h="207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err="1">
                          <a:effectLst/>
                        </a:rPr>
                        <a:t>출발월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마스터코드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KPP920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티몬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국내선항공권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 smtClean="0">
                          <a:effectLst/>
                        </a:rPr>
                        <a:t>3,643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시들지 않는 북해도의 눈꽃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532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APP4343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증편기념 새로움을 더하다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빈펄리조트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관광형</a:t>
                      </a:r>
                      <a:r>
                        <a:rPr lang="ko-KR" altLang="en-US" sz="800" u="none" strike="noStrike" dirty="0">
                          <a:effectLst/>
                        </a:rPr>
                        <a:t> 패키지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479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JPP649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찬바람도 쉬어가는 온천에서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유후인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벳부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후쿠오카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쿠로가와</a:t>
                      </a:r>
                      <a:r>
                        <a:rPr lang="ko-KR" altLang="en-US" sz="800" u="none" strike="noStrike" dirty="0">
                          <a:effectLst/>
                        </a:rPr>
                        <a:t> 온천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히젠야호텔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) 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472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APP129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낭만야경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지우펀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+ 101</a:t>
                      </a:r>
                      <a:r>
                        <a:rPr lang="ko-KR" altLang="en-US" sz="800" u="none" strike="noStrike" dirty="0">
                          <a:effectLst/>
                        </a:rPr>
                        <a:t>빌딩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대만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야류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화련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스펀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천등띄우기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시외특급호텔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식사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회 업그레이드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아시아나항공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446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KPP920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티몬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국내선항공권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 smtClean="0">
                          <a:effectLst/>
                        </a:rPr>
                        <a:t>4,245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APP0644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푸른바다와</a:t>
                      </a:r>
                      <a:r>
                        <a:rPr lang="ko-KR" altLang="en-US" sz="800" u="none" strike="noStrike" dirty="0">
                          <a:effectLst/>
                        </a:rPr>
                        <a:t> 사막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온천을 품다 </a:t>
                      </a:r>
                      <a:r>
                        <a:rPr lang="en-US" altLang="ko-KR" sz="800" u="none" strike="noStrike" dirty="0">
                          <a:effectLst/>
                        </a:rPr>
                        <a:t>】180$ 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혜택 </a:t>
                      </a:r>
                      <a:r>
                        <a:rPr lang="en-US" altLang="ko-KR" sz="800" u="none" strike="noStrike" dirty="0">
                          <a:effectLst/>
                        </a:rPr>
                        <a:t>+ 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빈쩌유</a:t>
                      </a:r>
                      <a:r>
                        <a:rPr lang="ko-KR" altLang="en-US" sz="800" u="none" strike="noStrike" dirty="0">
                          <a:effectLst/>
                        </a:rPr>
                        <a:t> 유황온천 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호치민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붕따우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무이네 </a:t>
                      </a:r>
                      <a:r>
                        <a:rPr lang="en-US" altLang="ko-KR" sz="800" u="none" strike="noStrike" dirty="0">
                          <a:effectLst/>
                        </a:rPr>
                        <a:t>-</a:t>
                      </a:r>
                      <a:r>
                        <a:rPr lang="ko-KR" altLang="en-US" sz="800" u="none" strike="noStrike" dirty="0">
                          <a:effectLst/>
                        </a:rPr>
                        <a:t>제주항공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509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EPP200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전일정특급호텔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버스 內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wifi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사용가능</a:t>
                      </a:r>
                      <a:r>
                        <a:rPr lang="en-US" altLang="ko-KR" sz="800" u="none" strike="noStrike" dirty="0">
                          <a:effectLst/>
                        </a:rPr>
                        <a:t>】 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보스포러스크루즈</a:t>
                      </a:r>
                      <a:r>
                        <a:rPr lang="ko-KR" altLang="en-US" sz="800" u="none" strike="noStrike" dirty="0">
                          <a:effectLst/>
                        </a:rPr>
                        <a:t> 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터키일주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9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313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APP5878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바람따라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요트타고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방콕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파타야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오전 요트투어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코끼리트래킹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전통마사지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콜로세움쇼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306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JPP0808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시들지 않는 북해도의 눈꽃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249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JPP654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옛 풍경 그대로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녹아든</a:t>
                      </a:r>
                      <a:r>
                        <a:rPr lang="ko-KR" altLang="en-US" sz="800" u="none" strike="noStrike" dirty="0">
                          <a:effectLst/>
                        </a:rPr>
                        <a:t> 새로운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큐슈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후쿠오카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유후인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야나가와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쇼와노마치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559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JPP088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●반짝반짝 빛나는● 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지다이무라</a:t>
                      </a:r>
                      <a:r>
                        <a:rPr lang="en-US" altLang="ko-KR" sz="800" u="none" strike="noStrike" dirty="0">
                          <a:effectLst/>
                        </a:rPr>
                        <a:t>+3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대게포함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489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APP2777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마음은 여유롭게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호텔은 편안하게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하롱리조트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$230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특전 제공 </a:t>
                      </a:r>
                      <a:r>
                        <a:rPr lang="en-US" altLang="ko-KR" sz="800" u="none" strike="noStrike" dirty="0">
                          <a:effectLst/>
                        </a:rPr>
                        <a:t>+  </a:t>
                      </a:r>
                      <a:r>
                        <a:rPr lang="ko-KR" altLang="en-US" sz="800" u="none" strike="noStrike" dirty="0">
                          <a:effectLst/>
                        </a:rPr>
                        <a:t>하노이 </a:t>
                      </a:r>
                      <a:r>
                        <a:rPr lang="en-US" altLang="ko-KR" sz="800" u="none" strike="noStrike" dirty="0">
                          <a:effectLst/>
                        </a:rPr>
                        <a:t>&amp;amp;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&amp;amp;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옌뜨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451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APP5400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곳곳에 시선이 머무는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마카오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홍콩 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389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APP1833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집중</a:t>
                      </a:r>
                      <a:r>
                        <a:rPr lang="en-US" altLang="ko-KR" sz="800" u="none" strike="noStrike" dirty="0">
                          <a:effectLst/>
                        </a:rPr>
                        <a:t>! </a:t>
                      </a:r>
                      <a:r>
                        <a:rPr lang="ko-KR" altLang="en-US" sz="800" u="none" strike="noStrike" dirty="0">
                          <a:effectLst/>
                        </a:rPr>
                        <a:t>선착순 </a:t>
                      </a:r>
                      <a:r>
                        <a:rPr lang="en-US" altLang="ko-KR" sz="800" u="none" strike="noStrike" dirty="0">
                          <a:effectLst/>
                        </a:rPr>
                        <a:t>8</a:t>
                      </a:r>
                      <a:r>
                        <a:rPr lang="ko-KR" altLang="en-US" sz="800" u="none" strike="noStrike" dirty="0">
                          <a:effectLst/>
                        </a:rPr>
                        <a:t>명 한정</a:t>
                      </a:r>
                      <a:r>
                        <a:rPr lang="en-US" altLang="ko-KR" sz="800" u="none" strike="noStrike" dirty="0">
                          <a:effectLst/>
                        </a:rPr>
                        <a:t>】■$60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바나산포함</a:t>
                      </a:r>
                      <a:r>
                        <a:rPr lang="ko-KR" altLang="en-US" sz="800" u="none" strike="noStrike" dirty="0">
                          <a:effectLst/>
                        </a:rPr>
                        <a:t>■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 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오후출발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332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APP2777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마음은 여유롭게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호텔은 편안하게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하롱리조트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$230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특전 제공 </a:t>
                      </a:r>
                      <a:r>
                        <a:rPr lang="en-US" altLang="ko-KR" sz="800" u="none" strike="noStrike" dirty="0">
                          <a:effectLst/>
                        </a:rPr>
                        <a:t>+  </a:t>
                      </a:r>
                      <a:r>
                        <a:rPr lang="ko-KR" altLang="en-US" sz="800" u="none" strike="noStrike" dirty="0">
                          <a:effectLst/>
                        </a:rPr>
                        <a:t>하노이 </a:t>
                      </a:r>
                      <a:r>
                        <a:rPr lang="en-US" altLang="ko-KR" sz="800" u="none" strike="noStrike" dirty="0">
                          <a:effectLst/>
                        </a:rPr>
                        <a:t>&amp;amp;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&amp;amp;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옌뜨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508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JPP6640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홀가분한봄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훌쩍떠나는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오사카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고베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교토</a:t>
                      </a:r>
                      <a:r>
                        <a:rPr lang="ko-KR" altLang="en-US" sz="800" u="none" strike="noStrike" dirty="0">
                          <a:effectLst/>
                        </a:rPr>
                        <a:t>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467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CPP230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준특급호텔에서</a:t>
                      </a:r>
                      <a:r>
                        <a:rPr lang="ko-KR" altLang="en-US" sz="800" u="none" strike="noStrike" dirty="0">
                          <a:effectLst/>
                        </a:rPr>
                        <a:t> 계림은 푸근하다</a:t>
                      </a:r>
                      <a:r>
                        <a:rPr lang="en-US" altLang="ko-KR" sz="800" u="none" strike="noStrike" dirty="0">
                          <a:effectLst/>
                        </a:rPr>
                        <a:t>..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양삭에서도</a:t>
                      </a:r>
                      <a:r>
                        <a:rPr lang="en-US" altLang="ko-KR" sz="800" u="none" strike="noStrike" dirty="0">
                          <a:effectLst/>
                        </a:rPr>
                        <a:t>.. 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404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JPP654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옛 풍경 그대로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녹아든</a:t>
                      </a:r>
                      <a:r>
                        <a:rPr lang="ko-KR" altLang="en-US" sz="800" u="none" strike="noStrike" dirty="0">
                          <a:effectLst/>
                        </a:rPr>
                        <a:t> 새로운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큐슈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후쿠오카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유후인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야나가와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쇼와노마치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389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JPP713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단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일이라면 아깝지 않게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오키나와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379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JPP088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●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북해도愛빠지다</a:t>
                      </a:r>
                      <a:r>
                        <a:rPr lang="ko-KR" altLang="en-US" sz="800" u="none" strike="noStrike" dirty="0">
                          <a:effectLst/>
                        </a:rPr>
                        <a:t>● 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지다이무라</a:t>
                      </a:r>
                      <a:r>
                        <a:rPr lang="en-US" altLang="ko-KR" sz="800" u="none" strike="noStrike" dirty="0">
                          <a:effectLst/>
                        </a:rPr>
                        <a:t>+3</a:t>
                      </a:r>
                      <a:r>
                        <a:rPr lang="ko-KR" altLang="en-US" sz="800" u="none" strike="noStrike" dirty="0">
                          <a:effectLst/>
                        </a:rPr>
                        <a:t>대게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맥주공장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453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EPP4390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445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APP9967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多 둘러보기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】$60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바나국립공원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마사지 </a:t>
                      </a:r>
                      <a:r>
                        <a:rPr lang="en-US" altLang="ko-KR" sz="800" u="none" strike="noStrike" dirty="0">
                          <a:effectLst/>
                        </a:rPr>
                        <a:t>60</a:t>
                      </a:r>
                      <a:r>
                        <a:rPr lang="ko-KR" altLang="en-US" sz="800" u="none" strike="noStrike" dirty="0">
                          <a:effectLst/>
                        </a:rPr>
                        <a:t>분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투본강투어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386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EPP0141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★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가심비</a:t>
                      </a:r>
                      <a:r>
                        <a:rPr lang="ko-KR" altLang="en-US" sz="800" u="none" strike="noStrike" dirty="0">
                          <a:effectLst/>
                        </a:rPr>
                        <a:t> 높은★</a:t>
                      </a:r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뜨거운 성원에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플롬열차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100</a:t>
                      </a:r>
                      <a:r>
                        <a:rPr lang="ko-KR" altLang="en-US" sz="800" u="none" strike="noStrike" dirty="0">
                          <a:effectLst/>
                        </a:rPr>
                        <a:t>유로 옵션 포함 연장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>
                          <a:effectLst/>
                        </a:rPr>
                        <a:t>러시아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북유럽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에스토니아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탈린</a:t>
                      </a:r>
                      <a:r>
                        <a:rPr lang="en-US" altLang="ko-KR" sz="800" u="none" strike="noStrike" dirty="0">
                          <a:effectLst/>
                        </a:rPr>
                        <a:t>) 6</a:t>
                      </a:r>
                      <a:r>
                        <a:rPr lang="ko-KR" altLang="en-US" sz="800" u="none" strike="noStrike" dirty="0">
                          <a:effectLst/>
                        </a:rPr>
                        <a:t>국 </a:t>
                      </a:r>
                      <a:r>
                        <a:rPr lang="en-US" altLang="ko-KR" sz="800" u="none" strike="noStrike" dirty="0">
                          <a:effectLst/>
                        </a:rPr>
                        <a:t>12</a:t>
                      </a:r>
                      <a:r>
                        <a:rPr lang="ko-KR" altLang="en-US" sz="800" u="none" strike="noStrike" dirty="0">
                          <a:effectLst/>
                        </a:rPr>
                        <a:t>일 대한항공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372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CPP230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준특급호텔에서</a:t>
                      </a:r>
                      <a:r>
                        <a:rPr lang="ko-KR" altLang="en-US" sz="800" u="none" strike="noStrike" dirty="0">
                          <a:effectLst/>
                        </a:rPr>
                        <a:t> 계림은 푸근하다</a:t>
                      </a:r>
                      <a:r>
                        <a:rPr lang="en-US" altLang="ko-KR" sz="800" u="none" strike="noStrike" dirty="0">
                          <a:effectLst/>
                        </a:rPr>
                        <a:t>..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양삭에서도</a:t>
                      </a:r>
                      <a:r>
                        <a:rPr lang="en-US" altLang="ko-KR" sz="800" u="none" strike="noStrike" dirty="0">
                          <a:effectLst/>
                        </a:rPr>
                        <a:t>.. 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368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6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JPP016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특급 온천호텔의 여유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노보리베츠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죠잔케이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게요리포함</a:t>
                      </a:r>
                      <a:r>
                        <a:rPr lang="ko-KR" altLang="en-US" sz="800" u="none" strike="noStrike" dirty="0">
                          <a:effectLst/>
                        </a:rPr>
                        <a:t> 북해도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아시아나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498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EPP200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전일정특급호텔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버스 內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wifi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사용가능</a:t>
                      </a:r>
                      <a:r>
                        <a:rPr lang="en-US" altLang="ko-KR" sz="800" u="none" strike="noStrike" dirty="0">
                          <a:effectLst/>
                        </a:rPr>
                        <a:t>】 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보스포러스크루즈</a:t>
                      </a:r>
                      <a:r>
                        <a:rPr lang="ko-KR" altLang="en-US" sz="800" u="none" strike="noStrike" dirty="0">
                          <a:effectLst/>
                        </a:rPr>
                        <a:t> 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터키일주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9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484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●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북해도愛빠지다</a:t>
                      </a:r>
                      <a:r>
                        <a:rPr lang="ko-KR" altLang="en-US" sz="800" u="none" strike="noStrike" dirty="0">
                          <a:effectLst/>
                        </a:rPr>
                        <a:t>● 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지다이무라</a:t>
                      </a:r>
                      <a:r>
                        <a:rPr lang="en-US" altLang="ko-KR" sz="800" u="none" strike="noStrike" dirty="0">
                          <a:effectLst/>
                        </a:rPr>
                        <a:t>+3</a:t>
                      </a:r>
                      <a:r>
                        <a:rPr lang="ko-KR" altLang="en-US" sz="800" u="none" strike="noStrike" dirty="0">
                          <a:effectLst/>
                        </a:rPr>
                        <a:t>대게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맥주공장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441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KPI101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묵호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강릉 출발│ 관광호텔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펜션급</a:t>
                      </a:r>
                      <a:r>
                        <a:rPr lang="en-US" altLang="ko-KR" sz="800" u="none" strike="noStrike">
                          <a:effectLst/>
                        </a:rPr>
                        <a:t>)]_</a:t>
                      </a:r>
                      <a:r>
                        <a:rPr lang="ko-KR" altLang="en-US" sz="800" u="none" strike="noStrike">
                          <a:effectLst/>
                        </a:rPr>
                        <a:t>서울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경기 매일출발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427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EPP4390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412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16793" y="5504776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933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41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65956" y="870273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마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2018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년 월별 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TOP5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인기 상품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 및 기획전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750497" y="1208842"/>
          <a:ext cx="7677510" cy="4179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5994"/>
                <a:gridCol w="776377"/>
                <a:gridCol w="5382883"/>
                <a:gridCol w="802256"/>
              </a:tblGrid>
              <a:tr h="2145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err="1">
                          <a:effectLst/>
                        </a:rPr>
                        <a:t>출발월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마스터코드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상품이름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출발자수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70" marR="2870" marT="28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7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한 여름날 북해도에서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샤코탄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 smtClean="0">
                          <a:effectLst/>
                        </a:rPr>
                        <a:t>1,074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EPP4056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남다른 유럽여행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발칸 </a:t>
                      </a: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보</a:t>
                      </a:r>
                      <a:r>
                        <a:rPr lang="en-US" altLang="ko-KR" sz="800" u="none" strike="noStrike">
                          <a:effectLst/>
                        </a:rPr>
                        <a:t>) + </a:t>
                      </a:r>
                      <a:r>
                        <a:rPr lang="ko-KR" altLang="en-US" sz="800" u="none" strike="noStrike">
                          <a:effectLst/>
                        </a:rPr>
                        <a:t>동유럽 </a:t>
                      </a:r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독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12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</a:t>
                      </a:r>
                      <a:r>
                        <a:rPr lang="ko-KR" altLang="en-US" sz="800" u="none" strike="noStrike">
                          <a:effectLst/>
                        </a:rPr>
                        <a:t>베를린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메주고리예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327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EPP4390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>
                          <a:effectLst/>
                        </a:rPr>
                        <a:t>] A380</a:t>
                      </a:r>
                      <a:r>
                        <a:rPr lang="ko-KR" altLang="en-US" sz="800" u="none" strike="noStrike">
                          <a:effectLst/>
                        </a:rPr>
                        <a:t>탑승</a:t>
                      </a:r>
                      <a:r>
                        <a:rPr lang="en-US" altLang="ko-KR" sz="800" u="none" strike="noStrike">
                          <a:effectLst/>
                        </a:rPr>
                        <a:t>. 4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독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9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 </a:t>
                      </a:r>
                      <a:r>
                        <a:rPr lang="ko-KR" altLang="en-US" sz="800" u="none" strike="noStrike">
                          <a:effectLst/>
                        </a:rPr>
                        <a:t>아기자기</a:t>
                      </a:r>
                      <a:r>
                        <a:rPr lang="en-US" altLang="ko-KR" sz="800" u="none" strike="noStrike">
                          <a:effectLst/>
                        </a:rPr>
                        <a:t>. </a:t>
                      </a:r>
                      <a:r>
                        <a:rPr lang="ko-KR" altLang="en-US" sz="800" u="none" strike="noStrike">
                          <a:effectLst/>
                        </a:rPr>
                        <a:t>소도시 산책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326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EPP0141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★가심비 높은★</a:t>
                      </a:r>
                      <a:r>
                        <a:rPr lang="en-US" altLang="ko-KR" sz="800" u="none" strike="noStrike">
                          <a:effectLst/>
                        </a:rPr>
                        <a:t>【</a:t>
                      </a:r>
                      <a:r>
                        <a:rPr lang="ko-KR" altLang="en-US" sz="800" u="none" strike="noStrike">
                          <a:effectLst/>
                        </a:rPr>
                        <a:t>뜨거운 성원에 플롬열차 </a:t>
                      </a:r>
                      <a:r>
                        <a:rPr lang="en-US" altLang="ko-KR" sz="800" u="none" strike="noStrike">
                          <a:effectLst/>
                        </a:rPr>
                        <a:t>100</a:t>
                      </a:r>
                      <a:r>
                        <a:rPr lang="ko-KR" altLang="en-US" sz="800" u="none" strike="noStrike">
                          <a:effectLst/>
                        </a:rPr>
                        <a:t>유로 옵션 포함 연장</a:t>
                      </a:r>
                      <a:r>
                        <a:rPr lang="en-US" altLang="ko-KR" sz="800" u="none" strike="noStrike">
                          <a:effectLst/>
                        </a:rPr>
                        <a:t>】</a:t>
                      </a:r>
                      <a:r>
                        <a:rPr lang="ko-KR" altLang="en-US" sz="800" u="none" strike="noStrike">
                          <a:effectLst/>
                        </a:rPr>
                        <a:t>러시아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북유럽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에스토니아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탈린</a:t>
                      </a:r>
                      <a:r>
                        <a:rPr lang="en-US" altLang="ko-KR" sz="800" u="none" strike="noStrike">
                          <a:effectLst/>
                        </a:rPr>
                        <a:t>) 6</a:t>
                      </a:r>
                      <a:r>
                        <a:rPr lang="ko-KR" altLang="en-US" sz="800" u="none" strike="noStrike">
                          <a:effectLst/>
                        </a:rPr>
                        <a:t>국 </a:t>
                      </a:r>
                      <a:r>
                        <a:rPr lang="en-US" altLang="ko-KR" sz="800" u="none" strike="noStrike">
                          <a:effectLst/>
                        </a:rPr>
                        <a:t>12</a:t>
                      </a:r>
                      <a:r>
                        <a:rPr lang="ko-KR" altLang="en-US" sz="800" u="none" strike="noStrike">
                          <a:effectLst/>
                        </a:rPr>
                        <a:t>일 대한항공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324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EPP4035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여행의 유행을 따르라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발칸 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크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슬</a:t>
                      </a:r>
                      <a:r>
                        <a:rPr lang="en-US" altLang="ko-KR" sz="800" u="none" strike="noStrike" dirty="0">
                          <a:effectLst/>
                        </a:rPr>
                        <a:t>) + </a:t>
                      </a:r>
                      <a:r>
                        <a:rPr lang="ko-KR" altLang="en-US" sz="800" u="none" strike="noStrike" dirty="0">
                          <a:effectLst/>
                        </a:rPr>
                        <a:t>동유럽 핵심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</a:t>
                      </a:r>
                      <a:r>
                        <a:rPr lang="ko-KR" altLang="en-US" sz="800" u="none" strike="noStrike" dirty="0">
                          <a:effectLst/>
                        </a:rPr>
                        <a:t>직항출발</a:t>
                      </a:r>
                      <a:r>
                        <a:rPr lang="en-US" altLang="ko-KR" sz="800" u="none" strike="noStrike" dirty="0">
                          <a:effectLst/>
                        </a:rPr>
                        <a:t>/2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대야경</a:t>
                      </a:r>
                      <a:r>
                        <a:rPr lang="ko-KR" altLang="en-US" sz="800" u="none" strike="noStrike" dirty="0">
                          <a:effectLst/>
                        </a:rPr>
                        <a:t> 포함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323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8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KPP930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[11</a:t>
                      </a:r>
                      <a:r>
                        <a:rPr lang="ko-KR" altLang="en-US" sz="800" u="none" strike="noStrike">
                          <a:effectLst/>
                        </a:rPr>
                        <a:t>번가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국내선항공권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962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JPP0808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한 여름날 북해도에서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북해도 핵심일주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후라노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비에이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샤코탄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857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EPP4390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522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KPP931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[11</a:t>
                      </a:r>
                      <a:r>
                        <a:rPr lang="ko-KR" altLang="en-US" sz="800" u="none" strike="noStrike" dirty="0">
                          <a:effectLst/>
                        </a:rPr>
                        <a:t>번가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국내선항공권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357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EPP4035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여행의 유행을 따르라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발칸 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크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슬</a:t>
                      </a:r>
                      <a:r>
                        <a:rPr lang="en-US" altLang="ko-KR" sz="800" u="none" strike="noStrike" dirty="0">
                          <a:effectLst/>
                        </a:rPr>
                        <a:t>) + </a:t>
                      </a:r>
                      <a:r>
                        <a:rPr lang="ko-KR" altLang="en-US" sz="800" u="none" strike="noStrike" dirty="0">
                          <a:effectLst/>
                        </a:rPr>
                        <a:t>동유럽 핵심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</a:t>
                      </a:r>
                      <a:r>
                        <a:rPr lang="ko-KR" altLang="en-US" sz="800" u="none" strike="noStrike" dirty="0">
                          <a:effectLst/>
                        </a:rPr>
                        <a:t>직항출발</a:t>
                      </a:r>
                      <a:r>
                        <a:rPr lang="en-US" altLang="ko-KR" sz="800" u="none" strike="noStrike" dirty="0">
                          <a:effectLst/>
                        </a:rPr>
                        <a:t>/2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대야경</a:t>
                      </a:r>
                      <a:r>
                        <a:rPr lang="ko-KR" altLang="en-US" sz="800" u="none" strike="noStrike" dirty="0">
                          <a:effectLst/>
                        </a:rPr>
                        <a:t> 포함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318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9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CPP2610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전 일정 식사업그레이드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발마사지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대련 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서파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>
                          <a:effectLst/>
                        </a:rPr>
                        <a:t>백두산천지 </a:t>
                      </a:r>
                      <a:r>
                        <a:rPr lang="en-US" altLang="ko-KR" sz="800" u="none" strike="noStrike" dirty="0">
                          <a:effectLst/>
                        </a:rPr>
                        <a:t>/ </a:t>
                      </a:r>
                      <a:r>
                        <a:rPr lang="ko-KR" altLang="en-US" sz="800" u="none" strike="noStrike" dirty="0">
                          <a:effectLst/>
                        </a:rPr>
                        <a:t>압록강유람 </a:t>
                      </a:r>
                      <a:r>
                        <a:rPr lang="en-US" altLang="ko-KR" sz="800" u="none" strike="noStrike" dirty="0">
                          <a:effectLst/>
                        </a:rPr>
                        <a:t>_ 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342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APP9967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多 둘러보기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베트남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】$60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바나국립공원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마사지 </a:t>
                      </a:r>
                      <a:r>
                        <a:rPr lang="en-US" altLang="ko-KR" sz="800" u="none" strike="noStrike" dirty="0">
                          <a:effectLst/>
                        </a:rPr>
                        <a:t>60</a:t>
                      </a:r>
                      <a:r>
                        <a:rPr lang="ko-KR" altLang="en-US" sz="800" u="none" strike="noStrike" dirty="0">
                          <a:effectLst/>
                        </a:rPr>
                        <a:t>분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투본강투어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289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KPP930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[11</a:t>
                      </a:r>
                      <a:r>
                        <a:rPr lang="ko-KR" altLang="en-US" sz="800" u="none" strike="noStrike" dirty="0">
                          <a:effectLst/>
                        </a:rPr>
                        <a:t>번가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국내선항공권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279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EPP4056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남다른 유럽여행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발칸 </a:t>
                      </a:r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슬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보</a:t>
                      </a:r>
                      <a:r>
                        <a:rPr lang="en-US" altLang="ko-KR" sz="800" u="none" strike="noStrike">
                          <a:effectLst/>
                        </a:rPr>
                        <a:t>) + </a:t>
                      </a:r>
                      <a:r>
                        <a:rPr lang="ko-KR" altLang="en-US" sz="800" u="none" strike="noStrike">
                          <a:effectLst/>
                        </a:rPr>
                        <a:t>동유럽 </a:t>
                      </a:r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독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12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</a:t>
                      </a:r>
                      <a:r>
                        <a:rPr lang="ko-KR" altLang="en-US" sz="800" u="none" strike="noStrike">
                          <a:effectLst/>
                        </a:rPr>
                        <a:t>베를린</a:t>
                      </a:r>
                      <a:r>
                        <a:rPr lang="en-US" altLang="ko-KR" sz="800" u="none" strike="noStrike">
                          <a:effectLst/>
                        </a:rPr>
                        <a:t>+</a:t>
                      </a:r>
                      <a:r>
                        <a:rPr lang="ko-KR" altLang="en-US" sz="800" u="none" strike="noStrike">
                          <a:effectLst/>
                        </a:rPr>
                        <a:t>메주고리예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266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EPP4390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238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10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EPP4390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 dirty="0">
                          <a:effectLst/>
                        </a:rPr>
                        <a:t>] A380</a:t>
                      </a:r>
                      <a:r>
                        <a:rPr lang="ko-KR" altLang="en-US" sz="800" u="none" strike="noStrike" dirty="0">
                          <a:effectLst/>
                        </a:rPr>
                        <a:t>탑승</a:t>
                      </a:r>
                      <a:r>
                        <a:rPr lang="en-US" altLang="ko-KR" sz="800" u="none" strike="noStrike" dirty="0">
                          <a:effectLst/>
                        </a:rPr>
                        <a:t>. 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9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 </a:t>
                      </a:r>
                      <a:r>
                        <a:rPr lang="ko-KR" altLang="en-US" sz="800" u="none" strike="noStrike" dirty="0">
                          <a:effectLst/>
                        </a:rPr>
                        <a:t>아기자기</a:t>
                      </a:r>
                      <a:r>
                        <a:rPr lang="en-US" altLang="ko-KR" sz="800" u="none" strike="noStrike" dirty="0">
                          <a:effectLst/>
                        </a:rPr>
                        <a:t>. </a:t>
                      </a:r>
                      <a:r>
                        <a:rPr lang="ko-KR" altLang="en-US" sz="800" u="none" strike="noStrike" dirty="0">
                          <a:effectLst/>
                        </a:rPr>
                        <a:t>소도시 산책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392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APP5400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골목마다 배어있는 색색의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마카오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홍콩 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369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APP2777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하노이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빈펄리조트</a:t>
                      </a:r>
                      <a:r>
                        <a:rPr lang="en-US" altLang="ko-KR" sz="800" u="none" strike="noStrike" dirty="0">
                          <a:effectLst/>
                        </a:rPr>
                        <a:t>】【</a:t>
                      </a:r>
                      <a:r>
                        <a:rPr lang="ko-KR" altLang="en-US" sz="800" u="none" strike="noStrike" dirty="0">
                          <a:effectLst/>
                        </a:rPr>
                        <a:t>마음은 여유롭게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호텔은 편안하게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하롱베이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빈펄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리조트</a:t>
                      </a:r>
                      <a:r>
                        <a:rPr lang="en-US" altLang="ko-KR" sz="800" u="none" strike="noStrike" dirty="0">
                          <a:effectLst/>
                        </a:rPr>
                        <a:t>+$230</a:t>
                      </a:r>
                      <a:r>
                        <a:rPr lang="ko-KR" altLang="en-US" sz="800" u="none" strike="noStrike" dirty="0">
                          <a:effectLst/>
                        </a:rPr>
                        <a:t>상당 옵션 포함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311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EPP200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전일정특급호텔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버스 內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wifi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사용가능</a:t>
                      </a:r>
                      <a:r>
                        <a:rPr lang="en-US" altLang="ko-KR" sz="800" u="none" strike="noStrike" dirty="0">
                          <a:effectLst/>
                        </a:rPr>
                        <a:t>】 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보스포러스크루즈</a:t>
                      </a:r>
                      <a:r>
                        <a:rPr lang="ko-KR" altLang="en-US" sz="800" u="none" strike="noStrike" dirty="0">
                          <a:effectLst/>
                        </a:rPr>
                        <a:t> 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】 </a:t>
                      </a:r>
                      <a:r>
                        <a:rPr lang="ko-KR" altLang="en-US" sz="800" u="none" strike="noStrike" dirty="0">
                          <a:effectLst/>
                        </a:rPr>
                        <a:t>터키일주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9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309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EPP4056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남다른 유럽여행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발칸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크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슬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보</a:t>
                      </a:r>
                      <a:r>
                        <a:rPr lang="en-US" altLang="ko-KR" sz="800" u="none" strike="noStrike" dirty="0">
                          <a:effectLst/>
                        </a:rPr>
                        <a:t>) + </a:t>
                      </a:r>
                      <a:r>
                        <a:rPr lang="ko-KR" altLang="en-US" sz="800" u="none" strike="noStrike" dirty="0">
                          <a:effectLst/>
                        </a:rPr>
                        <a:t>동유럽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개국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독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헝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오</a:t>
                      </a:r>
                      <a:r>
                        <a:rPr lang="en-US" altLang="ko-KR" sz="800" u="none" strike="noStrike" dirty="0">
                          <a:effectLst/>
                        </a:rPr>
                        <a:t>) 12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r>
                        <a:rPr lang="en-US" altLang="ko-KR" sz="800" u="none" strike="noStrike" dirty="0">
                          <a:effectLst/>
                        </a:rPr>
                        <a:t>※</a:t>
                      </a:r>
                      <a:r>
                        <a:rPr lang="ko-KR" altLang="en-US" sz="800" u="none" strike="noStrike" dirty="0">
                          <a:effectLst/>
                        </a:rPr>
                        <a:t>베를린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메주고리예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277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11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APP5400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골목마다 배어있는 색색의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마카오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홍콩 일주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박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진에어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284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PPP282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호주 시드니 </a:t>
                      </a:r>
                      <a:r>
                        <a:rPr lang="en-US" altLang="ko-KR" sz="800" u="none" strike="noStrike" dirty="0">
                          <a:effectLst/>
                        </a:rPr>
                        <a:t>6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블루마운틴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포트스테판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샌드보딩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돌핀크루즈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275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JPP6644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온천에 퐁당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쉼이 가득한 여행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오사카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고베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교토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히메지성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아리마온천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270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APP6922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보라카이</a:t>
                      </a:r>
                      <a:r>
                        <a:rPr lang="en-US" altLang="ko-KR" sz="800" u="none" strike="noStrike" dirty="0">
                          <a:effectLst/>
                        </a:rPr>
                        <a:t>】</a:t>
                      </a:r>
                      <a:r>
                        <a:rPr lang="ko-KR" altLang="en-US" sz="800" u="none" strike="noStrike" dirty="0">
                          <a:effectLst/>
                        </a:rPr>
                        <a:t>내가 선택한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리조트는</a:t>
                      </a:r>
                      <a:r>
                        <a:rPr lang="en-US" altLang="ko-KR" sz="800" u="none" strike="noStrike" dirty="0">
                          <a:effectLst/>
                        </a:rPr>
                        <a:t>? </a:t>
                      </a:r>
                      <a:r>
                        <a:rPr lang="ko-KR" altLang="en-US" sz="800" u="none" strike="noStrike" dirty="0">
                          <a:effectLst/>
                        </a:rPr>
                        <a:t>베스트셀러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리조트에서</a:t>
                      </a:r>
                      <a:r>
                        <a:rPr lang="ko-KR" altLang="en-US" sz="800" u="none" strike="noStrike" dirty="0">
                          <a:effectLst/>
                        </a:rPr>
                        <a:t> 여유로운 휴양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세일링보트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>
                          <a:effectLst/>
                        </a:rPr>
                        <a:t>마사지</a:t>
                      </a:r>
                      <a:r>
                        <a:rPr lang="en-US" altLang="ko-KR" sz="800" u="none" strike="noStrike" dirty="0">
                          <a:effectLst/>
                        </a:rPr>
                        <a:t>) 5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에어아시아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264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APP0810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【</a:t>
                      </a:r>
                      <a:r>
                        <a:rPr lang="ko-KR" altLang="en-US" sz="800" u="none" strike="noStrike" dirty="0">
                          <a:effectLst/>
                        </a:rPr>
                        <a:t>여름의 끝에서 만난 여름</a:t>
                      </a:r>
                      <a:r>
                        <a:rPr lang="en-US" altLang="ko-KR" sz="800" u="none" strike="noStrike" dirty="0">
                          <a:effectLst/>
                        </a:rPr>
                        <a:t>】[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다낭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호이안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후에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스톤마사지</a:t>
                      </a:r>
                      <a:r>
                        <a:rPr lang="en-US" altLang="ko-KR" sz="800" u="none" strike="noStrike" dirty="0">
                          <a:effectLst/>
                        </a:rPr>
                        <a:t>90</a:t>
                      </a:r>
                      <a:r>
                        <a:rPr lang="ko-KR" altLang="en-US" sz="800" u="none" strike="noStrike" dirty="0">
                          <a:effectLst/>
                        </a:rPr>
                        <a:t>분포함</a:t>
                      </a:r>
                      <a:r>
                        <a:rPr lang="en-US" altLang="ko-KR" sz="800" u="none" strike="noStrike" dirty="0">
                          <a:effectLst/>
                        </a:rPr>
                        <a:t>_</a:t>
                      </a:r>
                      <a:r>
                        <a:rPr lang="ko-KR" altLang="en-US" sz="800" u="none" strike="noStrike" dirty="0">
                          <a:effectLst/>
                        </a:rPr>
                        <a:t>관광패키지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</a:rPr>
                        <a:t>236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12</a:t>
                      </a:r>
                      <a:r>
                        <a:rPr lang="ko-KR" altLang="en-US" sz="800" u="none" strike="noStrike">
                          <a:effectLst/>
                        </a:rPr>
                        <a:t>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APP6221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씨엠립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캄보디아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유적지 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일관광</a:t>
                      </a:r>
                      <a:r>
                        <a:rPr lang="ko-KR" altLang="en-US" sz="800" u="none" strike="noStrike" dirty="0">
                          <a:effectLst/>
                        </a:rPr>
                        <a:t> ■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앙코르왓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붉은사암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반데스레이</a:t>
                      </a:r>
                      <a:r>
                        <a:rPr lang="ko-KR" altLang="en-US" sz="800" u="none" strike="noStrike" dirty="0">
                          <a:effectLst/>
                        </a:rPr>
                        <a:t>■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툭툭이포함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일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359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CPP4034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영화의 도시 청도 </a:t>
                      </a:r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r>
                        <a:rPr lang="ko-KR" altLang="en-US" sz="800" u="none" strike="noStrike" dirty="0">
                          <a:effectLst/>
                        </a:rPr>
                        <a:t>일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럭셔리</a:t>
                      </a:r>
                      <a:r>
                        <a:rPr lang="ko-KR" altLang="en-US" sz="800" u="none" strike="noStrike" dirty="0">
                          <a:effectLst/>
                        </a:rPr>
                        <a:t> 월드체인 호텔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무비뮤지엄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무비로드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완다몰</a:t>
                      </a:r>
                      <a:r>
                        <a:rPr lang="ko-KR" altLang="en-US" sz="800" u="none" strike="noStrike" dirty="0">
                          <a:effectLst/>
                        </a:rPr>
                        <a:t> 자유시간 포함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347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EPP4389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▒</a:t>
                      </a:r>
                      <a:r>
                        <a:rPr lang="en-US" altLang="ko-KR" sz="800" u="none" strike="noStrike">
                          <a:effectLst/>
                        </a:rPr>
                        <a:t>X-MAS</a:t>
                      </a:r>
                      <a:r>
                        <a:rPr lang="ko-KR" altLang="en-US" sz="800" u="none" strike="noStrike">
                          <a:effectLst/>
                        </a:rPr>
                        <a:t>마켓▒</a:t>
                      </a:r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일상을 빛나게 하는 사치</a:t>
                      </a:r>
                      <a:r>
                        <a:rPr lang="en-US" altLang="ko-KR" sz="800" u="none" strike="noStrike">
                          <a:effectLst/>
                        </a:rPr>
                        <a:t>] </a:t>
                      </a:r>
                      <a:r>
                        <a:rPr lang="ko-KR" altLang="en-US" sz="800" u="none" strike="noStrike">
                          <a:effectLst/>
                        </a:rPr>
                        <a:t>동유럽 </a:t>
                      </a:r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독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9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 3</a:t>
                      </a:r>
                      <a:r>
                        <a:rPr lang="ko-KR" altLang="en-US" sz="800" u="none" strike="noStrike">
                          <a:effectLst/>
                        </a:rPr>
                        <a:t>대 야경 포함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소도시 관광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296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EPP4390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▒</a:t>
                      </a:r>
                      <a:r>
                        <a:rPr lang="en-US" altLang="ko-KR" sz="800" u="none" strike="noStrike">
                          <a:effectLst/>
                        </a:rPr>
                        <a:t>X-MAS</a:t>
                      </a:r>
                      <a:r>
                        <a:rPr lang="ko-KR" altLang="en-US" sz="800" u="none" strike="noStrike">
                          <a:effectLst/>
                        </a:rPr>
                        <a:t>마켓▒</a:t>
                      </a:r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바쁜 일상 속 한번의 쉼표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터벅터벅 동유럽</a:t>
                      </a:r>
                      <a:r>
                        <a:rPr lang="en-US" altLang="ko-KR" sz="800" u="none" strike="noStrike">
                          <a:effectLst/>
                        </a:rPr>
                        <a:t>] A380</a:t>
                      </a:r>
                      <a:r>
                        <a:rPr lang="ko-KR" altLang="en-US" sz="800" u="none" strike="noStrike">
                          <a:effectLst/>
                        </a:rPr>
                        <a:t>탑승</a:t>
                      </a:r>
                      <a:r>
                        <a:rPr lang="en-US" altLang="ko-KR" sz="800" u="none" strike="noStrike">
                          <a:effectLst/>
                        </a:rPr>
                        <a:t>. 4</a:t>
                      </a:r>
                      <a:r>
                        <a:rPr lang="ko-KR" altLang="en-US" sz="800" u="none" strike="noStrike">
                          <a:effectLst/>
                        </a:rPr>
                        <a:t>개국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독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체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헝</a:t>
                      </a:r>
                      <a:r>
                        <a:rPr lang="en-US" altLang="ko-KR" sz="800" u="none" strike="noStrike">
                          <a:effectLst/>
                        </a:rPr>
                        <a:t>.</a:t>
                      </a:r>
                      <a:r>
                        <a:rPr lang="ko-KR" altLang="en-US" sz="800" u="none" strike="noStrike">
                          <a:effectLst/>
                        </a:rPr>
                        <a:t>오</a:t>
                      </a:r>
                      <a:r>
                        <a:rPr lang="en-US" altLang="ko-KR" sz="800" u="none" strike="noStrike">
                          <a:effectLst/>
                        </a:rPr>
                        <a:t>) 9</a:t>
                      </a:r>
                      <a:r>
                        <a:rPr lang="ko-KR" altLang="en-US" sz="800" u="none" strike="noStrike">
                          <a:effectLst/>
                        </a:rPr>
                        <a:t>일 </a:t>
                      </a:r>
                      <a:r>
                        <a:rPr lang="en-US" altLang="ko-KR" sz="800" u="none" strike="noStrike">
                          <a:effectLst/>
                        </a:rPr>
                        <a:t>※ </a:t>
                      </a:r>
                      <a:r>
                        <a:rPr lang="ko-KR" altLang="en-US" sz="800" u="none" strike="noStrike">
                          <a:effectLst/>
                        </a:rPr>
                        <a:t>아기자기</a:t>
                      </a:r>
                      <a:r>
                        <a:rPr lang="en-US" altLang="ko-KR" sz="800" u="none" strike="noStrike">
                          <a:effectLst/>
                        </a:rPr>
                        <a:t>. </a:t>
                      </a:r>
                      <a:r>
                        <a:rPr lang="ko-KR" altLang="en-US" sz="800" u="none" strike="noStrike">
                          <a:effectLst/>
                        </a:rPr>
                        <a:t>소도시 산책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275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32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APP8923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ko-KR" altLang="en-US" sz="800" u="none" strike="noStrike">
                          <a:effectLst/>
                        </a:rPr>
                        <a:t>오전출발</a:t>
                      </a:r>
                      <a:r>
                        <a:rPr lang="en-US" altLang="ko-KR" sz="800" u="none" strike="noStrike">
                          <a:effectLst/>
                        </a:rPr>
                        <a:t>]【</a:t>
                      </a:r>
                      <a:r>
                        <a:rPr lang="ko-KR" altLang="en-US" sz="800" u="none" strike="noStrike">
                          <a:effectLst/>
                        </a:rPr>
                        <a:t>보라카이</a:t>
                      </a:r>
                      <a:r>
                        <a:rPr lang="en-US" altLang="ko-KR" sz="800" u="none" strike="noStrike">
                          <a:effectLst/>
                        </a:rPr>
                        <a:t>_20</a:t>
                      </a:r>
                      <a:r>
                        <a:rPr lang="ko-KR" altLang="en-US" sz="800" u="none" strike="noStrike">
                          <a:effectLst/>
                        </a:rPr>
                        <a:t>년전 그모습 그대로</a:t>
                      </a:r>
                      <a:r>
                        <a:rPr lang="en-US" altLang="ko-KR" sz="800" u="none" strike="noStrike">
                          <a:effectLst/>
                        </a:rPr>
                        <a:t>】</a:t>
                      </a:r>
                      <a:r>
                        <a:rPr lang="ko-KR" altLang="en-US" sz="800" u="none" strike="noStrike">
                          <a:effectLst/>
                        </a:rPr>
                        <a:t>호핑투어 </a:t>
                      </a:r>
                      <a:r>
                        <a:rPr lang="en-US" altLang="ko-KR" sz="800" u="none" strike="noStrike">
                          <a:effectLst/>
                        </a:rPr>
                        <a:t>+ </a:t>
                      </a:r>
                      <a:r>
                        <a:rPr lang="ko-KR" altLang="en-US" sz="800" u="none" strike="noStrike">
                          <a:effectLst/>
                        </a:rPr>
                        <a:t>스톤마사지</a:t>
                      </a:r>
                      <a:r>
                        <a:rPr lang="en-US" altLang="ko-KR" sz="800" u="none" strike="noStrike">
                          <a:effectLst/>
                        </a:rPr>
                        <a:t>UP + </a:t>
                      </a:r>
                      <a:r>
                        <a:rPr lang="ko-KR" altLang="en-US" sz="800" u="none" strike="noStrike">
                          <a:effectLst/>
                        </a:rPr>
                        <a:t>세일링보트 </a:t>
                      </a:r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r>
                        <a:rPr lang="ko-KR" altLang="en-US" sz="800" u="none" strike="noStrike">
                          <a:effectLst/>
                        </a:rPr>
                        <a:t>일</a:t>
                      </a:r>
                      <a:r>
                        <a:rPr lang="en-US" altLang="ko-KR" sz="800" u="none" strike="noStrike">
                          <a:effectLst/>
                        </a:rPr>
                        <a:t>_</a:t>
                      </a:r>
                      <a:r>
                        <a:rPr lang="ko-KR" altLang="en-US" sz="800" u="none" strike="noStrike">
                          <a:effectLst/>
                        </a:rPr>
                        <a:t>필리핀항공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</a:rPr>
                        <a:t>266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65" marR="2865" marT="286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Box 21"/>
          <p:cNvSpPr txBox="1">
            <a:spLocks noChangeArrowheads="1"/>
          </p:cNvSpPr>
          <p:nvPr/>
        </p:nvSpPr>
        <p:spPr bwMode="auto">
          <a:xfrm>
            <a:off x="1028700" y="5282412"/>
            <a:ext cx="746616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2018</a:t>
            </a:r>
            <a:r>
              <a:rPr lang="ko-KR" altLang="en-US" sz="1400" b="1" dirty="0" smtClean="0"/>
              <a:t>년 북해도 상품의 경우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날씨 및 시기와 크게 관계없이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1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월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~8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월 인기 지역</a:t>
            </a:r>
            <a:endParaRPr lang="en-US" altLang="ko-KR" sz="14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2018</a:t>
            </a:r>
            <a:r>
              <a:rPr lang="ko-KR" altLang="en-US" sz="1400" b="1" dirty="0" smtClean="0"/>
              <a:t>년 유럽의 경우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5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월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~ 12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월 인기지역</a:t>
            </a:r>
            <a:endParaRPr lang="en-US" altLang="ko-KR" sz="14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2018</a:t>
            </a:r>
            <a:r>
              <a:rPr lang="ko-KR" altLang="en-US" sz="1400" b="1" dirty="0" smtClean="0"/>
              <a:t>년 동남아의 경우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1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월 </a:t>
            </a:r>
            <a:r>
              <a:rPr lang="en-US" altLang="ko-KR" sz="1400" b="1" dirty="0" smtClean="0">
                <a:solidFill>
                  <a:srgbClr val="C00000"/>
                </a:solidFill>
              </a:rPr>
              <a:t>~ 5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월 인기지역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4929" y="5375379"/>
            <a:ext cx="1449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출발일 기준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317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42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6" y="1243331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36879" y="1243332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948"/>
            <a:ext cx="488632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바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기획전 분석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51443" y="3904646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단위 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r>
              <a:rPr lang="en-US" altLang="ko-KR" sz="9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Ⅴ.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상품 및 기획전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24735" y="1234263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2017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년 </a:t>
            </a:r>
            <a:r>
              <a:rPr lang="ko-KR" altLang="en-US" sz="1200" b="1" dirty="0" smtClean="0">
                <a:solidFill>
                  <a:schemeClr val="bg1"/>
                </a:solidFill>
                <a:latin typeface="맑은고딕"/>
              </a:rPr>
              <a:t>지역별 기획전 조회수 및 유입자수 추이 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graphicFrame>
        <p:nvGraphicFramePr>
          <p:cNvPr id="15" name="차트 14"/>
          <p:cNvGraphicFramePr>
            <a:graphicFrameLocks/>
          </p:cNvGraphicFramePr>
          <p:nvPr>
            <p:extLst/>
          </p:nvPr>
        </p:nvGraphicFramePr>
        <p:xfrm>
          <a:off x="424734" y="1512830"/>
          <a:ext cx="4138639" cy="2169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직사각형 15"/>
          <p:cNvSpPr/>
          <p:nvPr/>
        </p:nvSpPr>
        <p:spPr bwMode="auto">
          <a:xfrm>
            <a:off x="4618985" y="1241763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18986" y="1241764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607859" y="1230634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2018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년 </a:t>
            </a:r>
            <a:r>
              <a:rPr lang="ko-KR" altLang="en-US" sz="1200" b="1" dirty="0" smtClean="0">
                <a:solidFill>
                  <a:schemeClr val="bg1"/>
                </a:solidFill>
                <a:latin typeface="맑은고딕"/>
              </a:rPr>
              <a:t>지역별 기획전 조회수 및 유입자수 추이 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/>
          </p:nvPr>
        </p:nvGraphicFramePr>
        <p:xfrm>
          <a:off x="778418" y="4132358"/>
          <a:ext cx="3370888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2722"/>
                <a:gridCol w="842722"/>
                <a:gridCol w="842722"/>
                <a:gridCol w="842722"/>
              </a:tblGrid>
              <a:tr h="1370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유입자수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비율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70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유럽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</a:t>
                      </a:r>
                      <a:r>
                        <a:rPr lang="en-US" altLang="ko-KR" sz="1000" u="none" strike="noStrike" dirty="0">
                          <a:effectLst/>
                        </a:rPr>
                        <a:t>196,979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</a:t>
                      </a:r>
                      <a:r>
                        <a:rPr lang="en-US" altLang="ko-KR" sz="1000" u="none" strike="noStrike" dirty="0">
                          <a:effectLst/>
                        </a:rPr>
                        <a:t>46,819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24%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70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일본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</a:t>
                      </a:r>
                      <a:r>
                        <a:rPr lang="en-US" altLang="ko-KR" sz="1000" u="none" strike="noStrike" dirty="0">
                          <a:effectLst/>
                        </a:rPr>
                        <a:t>146,083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</a:t>
                      </a:r>
                      <a:r>
                        <a:rPr lang="en-US" altLang="ko-KR" sz="1000" u="none" strike="noStrike" dirty="0">
                          <a:effectLst/>
                        </a:rPr>
                        <a:t>40,946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28%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70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동남아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</a:t>
                      </a:r>
                      <a:r>
                        <a:rPr lang="en-US" altLang="ko-KR" sz="1000" u="none" strike="noStrike" dirty="0">
                          <a:effectLst/>
                        </a:rPr>
                        <a:t>106,062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</a:t>
                      </a:r>
                      <a:r>
                        <a:rPr lang="en-US" altLang="ko-KR" sz="1000" u="none" strike="noStrike" dirty="0">
                          <a:effectLst/>
                        </a:rPr>
                        <a:t>25,819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24%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70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북미지역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</a:t>
                      </a:r>
                      <a:r>
                        <a:rPr lang="en-US" altLang="ko-KR" sz="1000" u="none" strike="noStrike" dirty="0">
                          <a:effectLst/>
                        </a:rPr>
                        <a:t>55,212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</a:t>
                      </a:r>
                      <a:r>
                        <a:rPr lang="en-US" altLang="ko-KR" sz="1000" u="none" strike="noStrike" dirty="0">
                          <a:effectLst/>
                        </a:rPr>
                        <a:t>12,282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22%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70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중국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</a:t>
                      </a:r>
                      <a:r>
                        <a:rPr lang="en-US" altLang="ko-KR" sz="1000" u="none" strike="noStrike">
                          <a:effectLst/>
                        </a:rPr>
                        <a:t>32,955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7,818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24%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70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대양주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</a:t>
                      </a:r>
                      <a:r>
                        <a:rPr lang="en-US" altLang="ko-KR" sz="1000" u="none" strike="noStrike">
                          <a:effectLst/>
                        </a:rPr>
                        <a:t>16,708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4,156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25%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018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사이판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9,346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3,671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39%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70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기타지역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</a:t>
                      </a:r>
                      <a:r>
                        <a:rPr lang="en-US" altLang="ko-KR" sz="1000" u="none" strike="noStrike">
                          <a:effectLst/>
                        </a:rPr>
                        <a:t>10,260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2,520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25%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70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중미지역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6,814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1,599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23%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캐리비안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2,440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706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29%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합계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582,859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146,336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25%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/>
          </p:nvPr>
        </p:nvGraphicFramePr>
        <p:xfrm>
          <a:off x="4972667" y="4139066"/>
          <a:ext cx="3370888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2722"/>
                <a:gridCol w="842722"/>
                <a:gridCol w="842722"/>
                <a:gridCol w="842722"/>
              </a:tblGrid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유입자수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비율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동남아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</a:t>
                      </a:r>
                      <a:r>
                        <a:rPr lang="en-US" altLang="ko-KR" sz="1000" u="none" strike="noStrike" dirty="0">
                          <a:effectLst/>
                        </a:rPr>
                        <a:t>195,879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</a:t>
                      </a:r>
                      <a:r>
                        <a:rPr lang="en-US" altLang="ko-KR" sz="1000" u="none" strike="noStrike">
                          <a:effectLst/>
                        </a:rPr>
                        <a:t>19,888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10%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유럽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</a:t>
                      </a:r>
                      <a:r>
                        <a:rPr lang="en-US" altLang="ko-KR" sz="1000" u="none" strike="noStrike" dirty="0">
                          <a:effectLst/>
                        </a:rPr>
                        <a:t>106,228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</a:t>
                      </a:r>
                      <a:r>
                        <a:rPr lang="en-US" altLang="ko-KR" sz="1000" u="none" strike="noStrike">
                          <a:effectLst/>
                        </a:rPr>
                        <a:t>34,879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33%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일본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</a:t>
                      </a:r>
                      <a:r>
                        <a:rPr lang="en-US" altLang="ko-KR" sz="1000" u="none" strike="noStrike" dirty="0">
                          <a:effectLst/>
                        </a:rPr>
                        <a:t>51,856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</a:t>
                      </a:r>
                      <a:r>
                        <a:rPr lang="en-US" altLang="ko-KR" sz="1000" u="none" strike="noStrike">
                          <a:effectLst/>
                        </a:rPr>
                        <a:t>17,342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33%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중국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</a:t>
                      </a:r>
                      <a:r>
                        <a:rPr lang="en-US" altLang="ko-KR" sz="1000" u="none" strike="noStrike" dirty="0">
                          <a:effectLst/>
                        </a:rPr>
                        <a:t>19,571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4,269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22%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북미지역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</a:t>
                      </a:r>
                      <a:r>
                        <a:rPr lang="en-US" altLang="ko-KR" sz="1000" u="none" strike="noStrike">
                          <a:effectLst/>
                        </a:rPr>
                        <a:t>17,442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</a:t>
                      </a:r>
                      <a:r>
                        <a:rPr lang="en-US" altLang="ko-KR" sz="1000" u="none" strike="noStrike" dirty="0">
                          <a:effectLst/>
                        </a:rPr>
                        <a:t>14,853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85%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캐리비안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</a:t>
                      </a:r>
                      <a:r>
                        <a:rPr lang="en-US" altLang="ko-KR" sz="1000" u="none" strike="noStrike">
                          <a:effectLst/>
                        </a:rPr>
                        <a:t>15,256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5,799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38%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중미지역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</a:t>
                      </a:r>
                      <a:r>
                        <a:rPr lang="en-US" altLang="ko-KR" sz="1000" u="none" strike="noStrike">
                          <a:effectLst/>
                        </a:rPr>
                        <a:t>13,769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4,158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30%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대양주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</a:t>
                      </a:r>
                      <a:r>
                        <a:rPr lang="en-US" altLang="ko-KR" sz="1000" u="none" strike="noStrike">
                          <a:effectLst/>
                        </a:rPr>
                        <a:t>11,099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3,383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>
                          <a:effectLst/>
                        </a:rPr>
                        <a:t>30%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기타지역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6,594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1,751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>
                          <a:effectLst/>
                        </a:rPr>
                        <a:t>27%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사이판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dirty="0">
                          <a:effectLst/>
                        </a:rPr>
                        <a:t>     </a:t>
                      </a:r>
                      <a:r>
                        <a:rPr lang="en-US" altLang="ko-KR" sz="1000" u="none" strike="noStrike" dirty="0">
                          <a:effectLst/>
                        </a:rPr>
                        <a:t>4,068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>
                          <a:effectLst/>
                        </a:rPr>
                        <a:t>     </a:t>
                      </a:r>
                      <a:r>
                        <a:rPr lang="en-US" altLang="ko-KR" sz="1000" u="none" strike="noStrike">
                          <a:effectLst/>
                        </a:rPr>
                        <a:t>2,037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50%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2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합계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441,762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108,359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25%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783327" y="3726021"/>
            <a:ext cx="50353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기획전 등록일 이후 한달 간의 조회수 및 마스터 상품 페이지로의 전환수 측정 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라르고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및 지역 묶음 기획전 제외</a:t>
            </a:r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21"/>
          <p:cNvSpPr txBox="1">
            <a:spLocks noChangeArrowheads="1"/>
          </p:cNvSpPr>
          <p:nvPr/>
        </p:nvSpPr>
        <p:spPr bwMode="auto">
          <a:xfrm>
            <a:off x="1677838" y="6162545"/>
            <a:ext cx="74661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2018</a:t>
            </a:r>
            <a:r>
              <a:rPr lang="ko-KR" altLang="en-US" sz="1400" b="1" dirty="0" smtClean="0"/>
              <a:t>년의 경우 북미지역 기획전의 조회수 대비 유입자수가 높은 비율 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  <p:graphicFrame>
        <p:nvGraphicFramePr>
          <p:cNvPr id="28" name="차트 27"/>
          <p:cNvGraphicFramePr>
            <a:graphicFrameLocks/>
          </p:cNvGraphicFramePr>
          <p:nvPr>
            <p:extLst/>
          </p:nvPr>
        </p:nvGraphicFramePr>
        <p:xfrm>
          <a:off x="4607859" y="1507633"/>
          <a:ext cx="4089379" cy="2218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7517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43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6" y="1243331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36879" y="1243332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399" y="868948"/>
            <a:ext cx="56310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상품개수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,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평균상품가와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출발자수 연관관계 분석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Ⅵ.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통계 심화 분석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24735" y="1234263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동남아 마스터 상품개수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18985" y="1241763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18986" y="1241764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607859" y="1230634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동남아 평균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상품가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graphicFrame>
        <p:nvGraphicFramePr>
          <p:cNvPr id="29" name="차트 28"/>
          <p:cNvGraphicFramePr>
            <a:graphicFrameLocks/>
          </p:cNvGraphicFramePr>
          <p:nvPr>
            <p:extLst/>
          </p:nvPr>
        </p:nvGraphicFramePr>
        <p:xfrm>
          <a:off x="424736" y="1507634"/>
          <a:ext cx="3996242" cy="2211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차트 29"/>
          <p:cNvGraphicFramePr>
            <a:graphicFrameLocks/>
          </p:cNvGraphicFramePr>
          <p:nvPr>
            <p:extLst/>
          </p:nvPr>
        </p:nvGraphicFramePr>
        <p:xfrm>
          <a:off x="4618985" y="1507632"/>
          <a:ext cx="4078253" cy="2211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직사각형 34"/>
          <p:cNvSpPr/>
          <p:nvPr/>
        </p:nvSpPr>
        <p:spPr bwMode="auto">
          <a:xfrm>
            <a:off x="424736" y="3950381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424737" y="3950382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24735" y="3941313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동남아 출발자수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graphicFrame>
        <p:nvGraphicFramePr>
          <p:cNvPr id="39" name="차트 38"/>
          <p:cNvGraphicFramePr>
            <a:graphicFrameLocks/>
          </p:cNvGraphicFramePr>
          <p:nvPr>
            <p:extLst/>
          </p:nvPr>
        </p:nvGraphicFramePr>
        <p:xfrm>
          <a:off x="424735" y="4236308"/>
          <a:ext cx="4112240" cy="2223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TextBox 21"/>
          <p:cNvSpPr txBox="1">
            <a:spLocks noChangeArrowheads="1"/>
          </p:cNvSpPr>
          <p:nvPr/>
        </p:nvSpPr>
        <p:spPr bwMode="auto">
          <a:xfrm>
            <a:off x="4618985" y="3871003"/>
            <a:ext cx="4319334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동남아의 경우 좀더 다양한 상품을 추가 한다고 해서 출발자수가 증가하지 않음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11</a:t>
            </a:r>
            <a:r>
              <a:rPr lang="ko-KR" altLang="en-US" sz="1400" b="1" dirty="0" smtClean="0"/>
              <a:t>월 상품 개수가 급격히 감소한 이유로</a:t>
            </a:r>
            <a:endParaRPr lang="en-US" altLang="ko-KR" sz="1400" b="1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ko-KR" altLang="en-US" sz="1400" b="1" dirty="0" smtClean="0">
                <a:solidFill>
                  <a:srgbClr val="C00000"/>
                </a:solidFill>
              </a:rPr>
              <a:t>    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다낭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지역 상품의 정리 및 개편이 원인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39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44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6" y="1243331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36879" y="1243332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Ⅵ.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통계 심화 분석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24735" y="1234263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중국 마스터 상품개수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18985" y="1241763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18986" y="1241764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607859" y="1230634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중국 평균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상품가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sp>
        <p:nvSpPr>
          <p:cNvPr id="35" name="직사각형 34"/>
          <p:cNvSpPr/>
          <p:nvPr/>
        </p:nvSpPr>
        <p:spPr bwMode="auto">
          <a:xfrm>
            <a:off x="424736" y="3950381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424737" y="3950382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24735" y="3941313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중국 출발자수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graphicFrame>
        <p:nvGraphicFramePr>
          <p:cNvPr id="26" name="차트 25"/>
          <p:cNvGraphicFramePr>
            <a:graphicFrameLocks/>
          </p:cNvGraphicFramePr>
          <p:nvPr>
            <p:extLst/>
          </p:nvPr>
        </p:nvGraphicFramePr>
        <p:xfrm>
          <a:off x="424735" y="1507633"/>
          <a:ext cx="4078254" cy="2211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차트 26"/>
          <p:cNvGraphicFramePr>
            <a:graphicFrameLocks/>
          </p:cNvGraphicFramePr>
          <p:nvPr>
            <p:extLst/>
          </p:nvPr>
        </p:nvGraphicFramePr>
        <p:xfrm>
          <a:off x="4594459" y="1507633"/>
          <a:ext cx="4009643" cy="2211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차트 31"/>
          <p:cNvGraphicFramePr>
            <a:graphicFrameLocks/>
          </p:cNvGraphicFramePr>
          <p:nvPr>
            <p:extLst/>
          </p:nvPr>
        </p:nvGraphicFramePr>
        <p:xfrm>
          <a:off x="424735" y="4218312"/>
          <a:ext cx="4078254" cy="223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77399" y="868948"/>
            <a:ext cx="56310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상품개수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,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평균상품가와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출발자수 연관관계 분석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0" name="TextBox 21"/>
          <p:cNvSpPr txBox="1">
            <a:spLocks noChangeArrowheads="1"/>
          </p:cNvSpPr>
          <p:nvPr/>
        </p:nvSpPr>
        <p:spPr bwMode="auto">
          <a:xfrm>
            <a:off x="4618985" y="3941313"/>
            <a:ext cx="4319334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중국의 경우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상품과 </a:t>
            </a:r>
            <a:r>
              <a:rPr lang="ko-KR" altLang="en-US" sz="1400" b="1" dirty="0" err="1" smtClean="0"/>
              <a:t>출발자</a:t>
            </a:r>
            <a:r>
              <a:rPr lang="ko-KR" altLang="en-US" sz="1400" b="1" dirty="0" smtClean="0"/>
              <a:t> 연관관계가 없음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17</a:t>
            </a:r>
            <a:r>
              <a:rPr lang="ko-KR" altLang="en-US" sz="1400" b="1" dirty="0" smtClean="0"/>
              <a:t>년</a:t>
            </a:r>
            <a:r>
              <a:rPr lang="en-US" altLang="ko-KR" sz="1400" b="1" dirty="0" smtClean="0"/>
              <a:t>, 18</a:t>
            </a:r>
            <a:r>
              <a:rPr lang="ko-KR" altLang="en-US" sz="1400" b="1" dirty="0" smtClean="0"/>
              <a:t>년 </a:t>
            </a:r>
            <a:r>
              <a:rPr lang="ko-KR" altLang="en-US" sz="1400" b="1" dirty="0" err="1" smtClean="0"/>
              <a:t>평균상품가</a:t>
            </a:r>
            <a:r>
              <a:rPr lang="ko-KR" altLang="en-US" sz="1400" b="1" dirty="0" smtClean="0"/>
              <a:t> 비례하여 출발자수가 증감하는 추세 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ko-KR" altLang="en-US" sz="1400" b="1" dirty="0" smtClean="0"/>
              <a:t>중국 고객들의 경우 상품의 다양성 보다 </a:t>
            </a:r>
            <a:r>
              <a:rPr lang="ko-KR" altLang="en-US" sz="1400" b="1" dirty="0" err="1" smtClean="0">
                <a:solidFill>
                  <a:srgbClr val="C00000"/>
                </a:solidFill>
              </a:rPr>
              <a:t>상품가에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 영향을 많이 받는 경향</a:t>
            </a:r>
            <a:endParaRPr lang="en-US" altLang="ko-KR" sz="14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38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45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6" y="1243331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36879" y="1243332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Ⅵ.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통계 심화 분석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24735" y="1234263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유럽 마스터 상품개수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18985" y="1241763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18986" y="1241764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607859" y="1230634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유럽 평균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상품가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sp>
        <p:nvSpPr>
          <p:cNvPr id="35" name="직사각형 34"/>
          <p:cNvSpPr/>
          <p:nvPr/>
        </p:nvSpPr>
        <p:spPr bwMode="auto">
          <a:xfrm>
            <a:off x="424736" y="3950381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424737" y="3950382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24735" y="3941313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유럽 출발자수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graphicFrame>
        <p:nvGraphicFramePr>
          <p:cNvPr id="23" name="차트 22"/>
          <p:cNvGraphicFramePr>
            <a:graphicFrameLocks/>
          </p:cNvGraphicFramePr>
          <p:nvPr>
            <p:extLst/>
          </p:nvPr>
        </p:nvGraphicFramePr>
        <p:xfrm>
          <a:off x="364879" y="1507633"/>
          <a:ext cx="4138110" cy="2234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9" name="차트 28"/>
          <p:cNvGraphicFramePr>
            <a:graphicFrameLocks/>
          </p:cNvGraphicFramePr>
          <p:nvPr>
            <p:extLst/>
          </p:nvPr>
        </p:nvGraphicFramePr>
        <p:xfrm>
          <a:off x="4593981" y="1507633"/>
          <a:ext cx="4103257" cy="2234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차트 29"/>
          <p:cNvGraphicFramePr>
            <a:graphicFrameLocks/>
          </p:cNvGraphicFramePr>
          <p:nvPr>
            <p:extLst/>
          </p:nvPr>
        </p:nvGraphicFramePr>
        <p:xfrm>
          <a:off x="424735" y="4311558"/>
          <a:ext cx="4078254" cy="2139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77399" y="868948"/>
            <a:ext cx="56310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상품개수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,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평균상품가와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출발자수 연관관계 분석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9" name="TextBox 21"/>
          <p:cNvSpPr txBox="1">
            <a:spLocks noChangeArrowheads="1"/>
          </p:cNvSpPr>
          <p:nvPr/>
        </p:nvSpPr>
        <p:spPr bwMode="auto">
          <a:xfrm>
            <a:off x="4618985" y="4008661"/>
            <a:ext cx="407825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유럽의 경우 </a:t>
            </a:r>
            <a:r>
              <a:rPr lang="en-US" altLang="ko-KR" sz="1400" b="1" dirty="0" smtClean="0"/>
              <a:t>17</a:t>
            </a:r>
            <a:r>
              <a:rPr lang="ko-KR" altLang="en-US" sz="1400" b="1" dirty="0" smtClean="0"/>
              <a:t>년과 </a:t>
            </a:r>
            <a:r>
              <a:rPr lang="en-US" altLang="ko-KR" sz="1400" b="1" dirty="0" smtClean="0"/>
              <a:t>18</a:t>
            </a:r>
            <a:r>
              <a:rPr lang="ko-KR" altLang="en-US" sz="1400" b="1" dirty="0" smtClean="0"/>
              <a:t>년 상품개수</a:t>
            </a:r>
            <a:r>
              <a:rPr lang="en-US" altLang="ko-KR" sz="1400" b="1" dirty="0" smtClean="0"/>
              <a:t>, </a:t>
            </a:r>
            <a:r>
              <a:rPr lang="ko-KR" altLang="en-US" sz="1400" b="1" dirty="0" err="1" smtClean="0"/>
              <a:t>상품가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출발자수 추이가 차이의 폭이 크지 않음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전체적으로 큰 변화가 없음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414173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46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 bwMode="auto">
          <a:xfrm>
            <a:off x="424736" y="1243331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424737" y="1243332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36879" y="1243332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Ⅵ. </a:t>
            </a:r>
            <a:r>
              <a:rPr lang="ko-KR" altLang="en-US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통계 심화 분석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24735" y="1234263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일본 마스터 상품개수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618985" y="1241763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618986" y="1241764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607859" y="1230634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일본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평균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상품가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sp>
        <p:nvSpPr>
          <p:cNvPr id="35" name="직사각형 34"/>
          <p:cNvSpPr/>
          <p:nvPr/>
        </p:nvSpPr>
        <p:spPr bwMode="auto">
          <a:xfrm>
            <a:off x="424736" y="3950381"/>
            <a:ext cx="4078253" cy="250053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424737" y="3950382"/>
            <a:ext cx="407825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24735" y="3941313"/>
            <a:ext cx="39962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일본</a:t>
            </a:r>
            <a:r>
              <a:rPr lang="ko-KR" altLang="en-US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출발자수 추이 </a:t>
            </a:r>
            <a:r>
              <a:rPr lang="en-US" altLang="ko-KR" sz="12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(2017 ~ 2018)</a:t>
            </a:r>
            <a:endParaRPr lang="ko-KR" altLang="en-US" sz="1200" b="1" dirty="0">
              <a:solidFill>
                <a:schemeClr val="bg1"/>
              </a:solidFill>
              <a:latin typeface="맑은고딕"/>
            </a:endParaRPr>
          </a:p>
        </p:txBody>
      </p:sp>
      <p:graphicFrame>
        <p:nvGraphicFramePr>
          <p:cNvPr id="26" name="차트 25"/>
          <p:cNvGraphicFramePr>
            <a:graphicFrameLocks/>
          </p:cNvGraphicFramePr>
          <p:nvPr>
            <p:extLst/>
          </p:nvPr>
        </p:nvGraphicFramePr>
        <p:xfrm>
          <a:off x="424735" y="1507633"/>
          <a:ext cx="3996243" cy="2211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차트 26"/>
          <p:cNvGraphicFramePr>
            <a:graphicFrameLocks/>
          </p:cNvGraphicFramePr>
          <p:nvPr>
            <p:extLst/>
          </p:nvPr>
        </p:nvGraphicFramePr>
        <p:xfrm>
          <a:off x="4618985" y="1507633"/>
          <a:ext cx="4078253" cy="2211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차트 31"/>
          <p:cNvGraphicFramePr>
            <a:graphicFrameLocks/>
          </p:cNvGraphicFramePr>
          <p:nvPr>
            <p:extLst/>
          </p:nvPr>
        </p:nvGraphicFramePr>
        <p:xfrm>
          <a:off x="424735" y="4218313"/>
          <a:ext cx="4078254" cy="223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TextBox 21"/>
          <p:cNvSpPr txBox="1">
            <a:spLocks noChangeArrowheads="1"/>
          </p:cNvSpPr>
          <p:nvPr/>
        </p:nvSpPr>
        <p:spPr bwMode="auto">
          <a:xfrm>
            <a:off x="4538257" y="3962804"/>
            <a:ext cx="468344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smtClean="0"/>
              <a:t>일본의 경우 상품개수 및 </a:t>
            </a:r>
            <a:r>
              <a:rPr lang="ko-KR" altLang="en-US" sz="1400" b="1" dirty="0" err="1" smtClean="0"/>
              <a:t>상품가에</a:t>
            </a:r>
            <a:r>
              <a:rPr lang="ko-KR" altLang="en-US" sz="1400" b="1" dirty="0" smtClean="0"/>
              <a:t> 영향을 받지 않음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b="1" dirty="0" smtClean="0"/>
              <a:t>17</a:t>
            </a:r>
            <a:r>
              <a:rPr lang="ko-KR" altLang="en-US" sz="1400" b="1" dirty="0" smtClean="0"/>
              <a:t>년보다 </a:t>
            </a:r>
            <a:r>
              <a:rPr lang="en-US" altLang="ko-KR" sz="1400" b="1" dirty="0" smtClean="0"/>
              <a:t>18</a:t>
            </a:r>
            <a:r>
              <a:rPr lang="ko-KR" altLang="en-US" sz="1400" b="1" dirty="0" smtClean="0"/>
              <a:t>년의 경우 </a:t>
            </a:r>
            <a:r>
              <a:rPr lang="en-US" altLang="ko-KR" sz="1400" b="1" dirty="0" smtClean="0"/>
              <a:t>1</a:t>
            </a:r>
            <a:r>
              <a:rPr lang="ko-KR" altLang="en-US" sz="1400" b="1" dirty="0" smtClean="0"/>
              <a:t>월</a:t>
            </a:r>
            <a:r>
              <a:rPr lang="en-US" altLang="ko-KR" sz="1400" b="1" dirty="0" smtClean="0"/>
              <a:t>~4</a:t>
            </a:r>
            <a:r>
              <a:rPr lang="ko-KR" altLang="en-US" sz="1400" b="1" dirty="0" smtClean="0"/>
              <a:t>월의 출발자수가 증가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ko-KR" altLang="en-US" sz="1400" b="1" dirty="0" smtClean="0"/>
              <a:t>작년보다 북해도 및 </a:t>
            </a:r>
            <a:r>
              <a:rPr lang="ko-KR" altLang="en-US" sz="1400" b="1" dirty="0" err="1" smtClean="0"/>
              <a:t>후쿠오카</a:t>
            </a:r>
            <a:r>
              <a:rPr lang="ko-KR" altLang="en-US" sz="1400" b="1" dirty="0" smtClean="0"/>
              <a:t> 지역의 온천 및</a:t>
            </a:r>
            <a:endParaRPr lang="en-US" altLang="ko-KR" sz="1400" b="1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400" b="1" dirty="0"/>
              <a:t> </a:t>
            </a:r>
            <a:r>
              <a:rPr lang="en-US" altLang="ko-KR" sz="1400" b="1" dirty="0" smtClean="0"/>
              <a:t>  </a:t>
            </a:r>
            <a:r>
              <a:rPr lang="ko-KR" altLang="en-US" sz="1400" b="1" dirty="0" smtClean="0"/>
              <a:t> 휴양 상품에 대한 선호도가 증가</a:t>
            </a:r>
            <a:endParaRPr lang="en-US" altLang="ko-KR" sz="1400" b="1" dirty="0" smtClean="0"/>
          </a:p>
        </p:txBody>
      </p:sp>
      <p:sp>
        <p:nvSpPr>
          <p:cNvPr id="39" name="TextBox 38"/>
          <p:cNvSpPr txBox="1"/>
          <p:nvPr/>
        </p:nvSpPr>
        <p:spPr>
          <a:xfrm>
            <a:off x="277399" y="868948"/>
            <a:ext cx="56310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.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지역별 상품개수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,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평균상품가와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출발자수 연관관계 분석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419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7C085A-8814-44C9-BFB8-4CB754621C4A}" type="datetime1">
              <a:rPr lang="ko-KR" altLang="en-US" smtClean="0"/>
              <a:t>2020-01-06</a:t>
            </a:fld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35370" y="6675428"/>
            <a:ext cx="2057400" cy="182572"/>
          </a:xfrm>
        </p:spPr>
        <p:txBody>
          <a:bodyPr/>
          <a:lstStyle/>
          <a:p>
            <a:fld id="{B0197802-7672-4A71-82A0-78001C8EF422}" type="slidenum">
              <a:rPr lang="ko-KR" altLang="en-US" smtClean="0"/>
              <a:pPr/>
              <a:t>47</a:t>
            </a:fld>
            <a:r>
              <a:rPr lang="ko-KR" altLang="en-US" dirty="0" smtClean="0"/>
              <a:t> </a:t>
            </a:r>
            <a:r>
              <a:rPr lang="en-US" altLang="ko-KR" dirty="0" smtClean="0"/>
              <a:t>/ 47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3527" y="203210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chemeClr val="accent3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Ⅶ</a:t>
            </a:r>
            <a:r>
              <a:rPr lang="en-US" altLang="ko-KR" sz="3200" b="1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시사점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334620" y="893742"/>
            <a:ext cx="1142794" cy="2972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 smtClean="0">
                <a:solidFill>
                  <a:schemeClr val="bg1"/>
                </a:solidFill>
              </a:rPr>
              <a:t>회원가입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277399" y="824686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1"/>
          <p:cNvSpPr txBox="1">
            <a:spLocks noChangeArrowheads="1"/>
          </p:cNvSpPr>
          <p:nvPr/>
        </p:nvSpPr>
        <p:spPr bwMode="auto">
          <a:xfrm>
            <a:off x="277399" y="1102819"/>
            <a:ext cx="8820727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200" dirty="0" smtClean="0"/>
              <a:t>2018</a:t>
            </a:r>
            <a:r>
              <a:rPr lang="ko-KR" altLang="en-US" sz="1200" dirty="0" smtClean="0"/>
              <a:t>년 회원가입자수 약 </a:t>
            </a:r>
            <a:r>
              <a:rPr lang="en-US" altLang="ko-KR" sz="1200" dirty="0" smtClean="0"/>
              <a:t>2</a:t>
            </a:r>
            <a:r>
              <a:rPr lang="ko-KR" altLang="en-US" sz="1200" dirty="0" err="1" smtClean="0"/>
              <a:t>배이상</a:t>
            </a:r>
            <a:r>
              <a:rPr lang="ko-KR" altLang="en-US" sz="1200" dirty="0" smtClean="0"/>
              <a:t> 증가</a:t>
            </a:r>
            <a:endParaRPr lang="en-US" altLang="ko-KR" sz="1200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200" b="1" dirty="0" smtClean="0">
                <a:solidFill>
                  <a:srgbClr val="FF0000"/>
                </a:solidFill>
              </a:rPr>
              <a:t>     </a:t>
            </a:r>
            <a:r>
              <a:rPr lang="en-US" altLang="ko-KR" sz="1200" dirty="0" smtClean="0"/>
              <a:t>-&gt;</a:t>
            </a:r>
            <a:r>
              <a:rPr lang="en-US" altLang="ko-KR" sz="1200" dirty="0" smtClean="0">
                <a:solidFill>
                  <a:srgbClr val="C00000"/>
                </a:solidFill>
              </a:rPr>
              <a:t> </a:t>
            </a:r>
            <a:r>
              <a:rPr lang="en-US" altLang="ko-KR" sz="1200" b="1" dirty="0" smtClean="0">
                <a:solidFill>
                  <a:srgbClr val="C00000"/>
                </a:solidFill>
              </a:rPr>
              <a:t>SNS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간편가입 도입 및 친구추천</a:t>
            </a:r>
            <a:r>
              <a:rPr lang="en-US" altLang="ko-KR" sz="1200" b="1" dirty="0" smtClean="0">
                <a:solidFill>
                  <a:srgbClr val="C00000"/>
                </a:solidFill>
              </a:rPr>
              <a:t>, Verygood100 </a:t>
            </a:r>
            <a:r>
              <a:rPr lang="ko-KR" altLang="en-US" sz="1200" dirty="0" smtClean="0"/>
              <a:t>마케팅의 효과</a:t>
            </a:r>
            <a:endParaRPr lang="en-US" altLang="ko-KR" sz="1200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dirty="0" err="1" smtClean="0"/>
              <a:t>모바일</a:t>
            </a:r>
            <a:r>
              <a:rPr lang="ko-KR" altLang="en-US" sz="1200" dirty="0" smtClean="0"/>
              <a:t> 회원가입 비중의 증가</a:t>
            </a:r>
            <a:r>
              <a:rPr lang="en-US" altLang="ko-KR" sz="1200" dirty="0" smtClean="0"/>
              <a:t>,</a:t>
            </a:r>
            <a:r>
              <a:rPr lang="ko-KR" altLang="en-US" sz="1200" dirty="0" smtClean="0"/>
              <a:t> 주 </a:t>
            </a:r>
            <a:r>
              <a:rPr lang="ko-KR" altLang="en-US" sz="1200" dirty="0" err="1" smtClean="0"/>
              <a:t>타겟층인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40, 50, 60</a:t>
            </a:r>
            <a:r>
              <a:rPr lang="ko-KR" altLang="en-US" sz="1200" dirty="0" smtClean="0"/>
              <a:t>대 여성의 </a:t>
            </a:r>
            <a:r>
              <a:rPr lang="ko-KR" altLang="en-US" sz="1200" dirty="0" err="1" smtClean="0"/>
              <a:t>모바일</a:t>
            </a:r>
            <a:r>
              <a:rPr lang="ko-KR" altLang="en-US" sz="1200" dirty="0" smtClean="0"/>
              <a:t> 회원가입 비중이 높음</a:t>
            </a:r>
            <a:endParaRPr lang="en-US" altLang="ko-KR" sz="1200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200" b="1" dirty="0"/>
              <a:t> </a:t>
            </a:r>
            <a:r>
              <a:rPr lang="en-US" altLang="ko-KR" sz="1200" b="1" dirty="0" smtClean="0"/>
              <a:t>    </a:t>
            </a:r>
            <a:r>
              <a:rPr lang="en-US" altLang="ko-KR" sz="1200" dirty="0" smtClean="0"/>
              <a:t>-&gt;</a:t>
            </a:r>
            <a:r>
              <a:rPr lang="en-US" altLang="ko-KR" sz="1200" b="1" dirty="0" smtClean="0"/>
              <a:t> </a:t>
            </a:r>
            <a:r>
              <a:rPr lang="ko-KR" altLang="en-US" sz="1200" dirty="0" err="1" smtClean="0"/>
              <a:t>중장년층</a:t>
            </a:r>
            <a:r>
              <a:rPr lang="ko-KR" altLang="en-US" sz="1200" dirty="0" smtClean="0"/>
              <a:t> 여성고객들 </a:t>
            </a:r>
            <a:r>
              <a:rPr lang="ko-KR" altLang="en-US" sz="1200" b="1" dirty="0" err="1" smtClean="0">
                <a:solidFill>
                  <a:srgbClr val="C00000"/>
                </a:solidFill>
              </a:rPr>
              <a:t>모바일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활용도↑</a:t>
            </a:r>
            <a:r>
              <a:rPr lang="en-US" altLang="ko-KR" sz="1200" b="1" dirty="0" smtClean="0">
                <a:solidFill>
                  <a:srgbClr val="C00000"/>
                </a:solidFill>
              </a:rPr>
              <a:t>, </a:t>
            </a:r>
            <a:r>
              <a:rPr lang="ko-KR" altLang="en-US" sz="1200" b="1" dirty="0" err="1" smtClean="0">
                <a:solidFill>
                  <a:srgbClr val="C00000"/>
                </a:solidFill>
              </a:rPr>
              <a:t>모바일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중요도↑</a:t>
            </a:r>
            <a:endParaRPr lang="en-US" altLang="ko-KR" sz="12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200" dirty="0" smtClean="0"/>
              <a:t> </a:t>
            </a:r>
            <a:r>
              <a:rPr lang="ko-KR" altLang="en-US" sz="1200" dirty="0" smtClean="0"/>
              <a:t>마스터상품 및 무분별한 행사생성을 줄이고 </a:t>
            </a:r>
            <a:r>
              <a:rPr lang="ko-KR" altLang="en-US" sz="1200" b="1" dirty="0" err="1" smtClean="0">
                <a:solidFill>
                  <a:srgbClr val="C00000"/>
                </a:solidFill>
              </a:rPr>
              <a:t>모바일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화면 중심의 상품 구성 및 간단하게 구성된 카테고리 필요</a:t>
            </a:r>
            <a:endParaRPr lang="en-US" altLang="ko-KR" sz="12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dirty="0" smtClean="0"/>
              <a:t>주변인 소개의 비중이 증가 추세</a:t>
            </a:r>
            <a:endParaRPr lang="en-US" altLang="ko-KR" sz="1200" dirty="0" smtClean="0"/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200" b="1" dirty="0"/>
              <a:t> </a:t>
            </a:r>
            <a:r>
              <a:rPr lang="en-US" altLang="ko-KR" sz="1200" b="1" dirty="0" smtClean="0"/>
              <a:t>    </a:t>
            </a:r>
            <a:r>
              <a:rPr lang="en-US" altLang="ko-KR" sz="1200" dirty="0" smtClean="0"/>
              <a:t>-&gt;</a:t>
            </a:r>
            <a:r>
              <a:rPr lang="en-US" altLang="ko-KR" sz="1200" b="1" dirty="0" smtClean="0"/>
              <a:t> </a:t>
            </a:r>
            <a:r>
              <a:rPr lang="en-US" altLang="ko-KR" sz="1200" b="1" dirty="0" smtClean="0">
                <a:solidFill>
                  <a:srgbClr val="C00000"/>
                </a:solidFill>
              </a:rPr>
              <a:t>A/S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콜 강화 및 친구추천과 같은 기존고객을 통한 신규고객 유치 마케팅 지속적인 개발</a:t>
            </a:r>
            <a:endParaRPr lang="en-US" altLang="ko-KR" sz="1200" dirty="0">
              <a:solidFill>
                <a:srgbClr val="C00000"/>
              </a:solidFill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ko-KR" altLang="en-US" sz="1200" b="1" dirty="0" smtClean="0"/>
              <a:t> </a:t>
            </a:r>
            <a:endParaRPr lang="en-US" altLang="ko-KR" sz="1200" b="1" dirty="0">
              <a:solidFill>
                <a:srgbClr val="C00000"/>
              </a:solidFill>
            </a:endParaRPr>
          </a:p>
        </p:txBody>
      </p:sp>
      <p:sp>
        <p:nvSpPr>
          <p:cNvPr id="26" name="TextBox 21"/>
          <p:cNvSpPr txBox="1">
            <a:spLocks noChangeArrowheads="1"/>
          </p:cNvSpPr>
          <p:nvPr/>
        </p:nvSpPr>
        <p:spPr bwMode="auto">
          <a:xfrm>
            <a:off x="334620" y="3959837"/>
            <a:ext cx="882072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200" dirty="0" smtClean="0"/>
              <a:t>40, 50</a:t>
            </a:r>
            <a:r>
              <a:rPr lang="ko-KR" altLang="en-US" sz="1200" dirty="0" smtClean="0"/>
              <a:t>대의 경우 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유럽보다 동남아</a:t>
            </a:r>
            <a:r>
              <a:rPr lang="ko-KR" altLang="en-US" sz="1200" dirty="0" smtClean="0"/>
              <a:t>의 여행 비중이 높아지고 있는 추세</a:t>
            </a:r>
            <a:endParaRPr lang="en-US" altLang="ko-KR" sz="1200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200" dirty="0" smtClean="0"/>
              <a:t>60</a:t>
            </a:r>
            <a:r>
              <a:rPr lang="ko-KR" altLang="en-US" sz="1200" dirty="0" smtClean="0"/>
              <a:t>대의 경우 동남아 여행 비중이 증가 추세이지만 아직까지는 유럽의 비율이 </a:t>
            </a:r>
            <a:r>
              <a:rPr lang="ko-KR" altLang="en-US" sz="1200" dirty="0" err="1" smtClean="0"/>
              <a:t>높은편</a:t>
            </a:r>
            <a:endParaRPr lang="en-US" altLang="ko-KR" sz="1200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ko-KR" altLang="en-US" sz="1200" dirty="0" err="1" smtClean="0"/>
              <a:t>중장년층의</a:t>
            </a:r>
            <a:r>
              <a:rPr lang="ko-KR" altLang="en-US" sz="1200" dirty="0" smtClean="0"/>
              <a:t> 동남아 여행 비중이 지속적인 증가 추세이므로 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동남아 상품 재점검 및 강화</a:t>
            </a:r>
            <a:endParaRPr lang="en-US" altLang="ko-KR" sz="1200" b="1" dirty="0" smtClean="0">
              <a:solidFill>
                <a:srgbClr val="C00000"/>
              </a:solidFill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dirty="0" smtClean="0"/>
              <a:t>동남아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일본의 경우 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가족여행이 </a:t>
            </a:r>
            <a:r>
              <a:rPr lang="ko-KR" altLang="en-US" sz="1200" b="1" dirty="0" err="1" smtClean="0">
                <a:solidFill>
                  <a:srgbClr val="C00000"/>
                </a:solidFill>
              </a:rPr>
              <a:t>타지역에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비해 많은 경향</a:t>
            </a:r>
            <a:endParaRPr lang="en-US" altLang="ko-KR" sz="1200" b="1" dirty="0">
              <a:solidFill>
                <a:srgbClr val="C00000"/>
              </a:solidFill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200" b="1" dirty="0" smtClean="0"/>
              <a:t>     </a:t>
            </a:r>
            <a:r>
              <a:rPr lang="ko-KR" altLang="en-US" sz="1200" b="1" dirty="0" smtClean="0"/>
              <a:t> </a:t>
            </a:r>
            <a:r>
              <a:rPr lang="en-US" altLang="ko-KR" sz="1200" dirty="0" smtClean="0"/>
              <a:t>-&gt;</a:t>
            </a:r>
            <a:r>
              <a:rPr lang="en-US" altLang="ko-KR" sz="1200" b="1" dirty="0" smtClean="0"/>
              <a:t> </a:t>
            </a:r>
            <a:r>
              <a:rPr lang="ko-KR" altLang="en-US" sz="1200" dirty="0" smtClean="0"/>
              <a:t>아이와 함께 여유로운 일정으로 다녀올 수 있는 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가족여행 일정 상품 구성 고려</a:t>
            </a:r>
            <a:endParaRPr lang="en-US" altLang="ko-KR" sz="1200" b="1" dirty="0" smtClean="0">
              <a:solidFill>
                <a:srgbClr val="C00000"/>
              </a:solidFill>
            </a:endParaRPr>
          </a:p>
          <a:p>
            <a:pPr marL="171450" indent="-1714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dirty="0" smtClean="0"/>
              <a:t>일본의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1200" b="1" dirty="0" smtClean="0">
                <a:solidFill>
                  <a:srgbClr val="C00000"/>
                </a:solidFill>
              </a:rPr>
              <a:t>60</a:t>
            </a:r>
            <a:r>
              <a:rPr lang="ko-KR" altLang="en-US" sz="1200" b="1" dirty="0" err="1" smtClean="0">
                <a:solidFill>
                  <a:srgbClr val="C00000"/>
                </a:solidFill>
              </a:rPr>
              <a:t>만원대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상품의</a:t>
            </a:r>
            <a:r>
              <a:rPr lang="ko-KR" altLang="en-US" sz="1200" dirty="0" smtClean="0">
                <a:solidFill>
                  <a:srgbClr val="C00000"/>
                </a:solidFill>
              </a:rPr>
              <a:t> </a:t>
            </a:r>
            <a:r>
              <a:rPr lang="ko-KR" altLang="en-US" sz="1200" dirty="0" smtClean="0"/>
              <a:t>경우 </a:t>
            </a:r>
            <a:r>
              <a:rPr lang="ko-KR" altLang="en-US" sz="1200" dirty="0" err="1" smtClean="0"/>
              <a:t>취소율이</a:t>
            </a:r>
            <a:r>
              <a:rPr lang="ko-KR" altLang="en-US" sz="1200" dirty="0" smtClean="0"/>
              <a:t> 높은 도시의 원인을 심층 분석하여 </a:t>
            </a:r>
            <a:r>
              <a:rPr lang="ko-KR" altLang="en-US" sz="1200" b="1" dirty="0" err="1" smtClean="0">
                <a:solidFill>
                  <a:srgbClr val="C00000"/>
                </a:solidFill>
              </a:rPr>
              <a:t>취소율</a:t>
            </a:r>
            <a:r>
              <a:rPr lang="ko-KR" altLang="en-US" sz="1200" b="1" dirty="0" smtClean="0">
                <a:solidFill>
                  <a:srgbClr val="C00000"/>
                </a:solidFill>
              </a:rPr>
              <a:t> 관리 필요</a:t>
            </a:r>
            <a:endParaRPr lang="en-US" altLang="ko-KR" sz="1200" b="1" dirty="0">
              <a:solidFill>
                <a:srgbClr val="C00000"/>
              </a:solidFill>
            </a:endParaRPr>
          </a:p>
          <a:p>
            <a:pPr marL="171450" indent="-1714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dirty="0" smtClean="0"/>
              <a:t>고객의 </a:t>
            </a:r>
            <a:r>
              <a:rPr lang="en-US" altLang="ko-KR" sz="1200" dirty="0" smtClean="0"/>
              <a:t>2</a:t>
            </a:r>
            <a:r>
              <a:rPr lang="ko-KR" altLang="en-US" sz="1200" dirty="0" err="1" smtClean="0"/>
              <a:t>회차</a:t>
            </a:r>
            <a:r>
              <a:rPr lang="ko-KR" altLang="en-US" sz="1200" dirty="0" smtClean="0"/>
              <a:t> 여행지역 데이터를 통하여 고객의 </a:t>
            </a:r>
            <a:r>
              <a:rPr lang="en-US" altLang="ko-KR" sz="1200" dirty="0" smtClean="0"/>
              <a:t>NEEDS</a:t>
            </a:r>
            <a:r>
              <a:rPr lang="ko-KR" altLang="en-US" sz="1200" dirty="0" smtClean="0"/>
              <a:t>를 예상하여 영업 및 마케팅에 활용</a:t>
            </a:r>
            <a:endParaRPr lang="en-US" altLang="ko-KR" sz="1200" dirty="0"/>
          </a:p>
        </p:txBody>
      </p:sp>
      <p:sp>
        <p:nvSpPr>
          <p:cNvPr id="28" name="직사각형 27"/>
          <p:cNvSpPr/>
          <p:nvPr/>
        </p:nvSpPr>
        <p:spPr>
          <a:xfrm>
            <a:off x="334620" y="3748588"/>
            <a:ext cx="1142794" cy="2972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b="1" dirty="0" smtClean="0">
                <a:solidFill>
                  <a:schemeClr val="bg1"/>
                </a:solidFill>
              </a:rPr>
              <a:t>여행지역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75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145632</TotalTime>
  <Words>11941</Words>
  <Application>Microsoft Office PowerPoint</Application>
  <PresentationFormat>화면 슬라이드 쇼(4:3)</PresentationFormat>
  <Paragraphs>3548</Paragraphs>
  <Slides>47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7" baseType="lpstr">
      <vt:lpstr>굴림</vt:lpstr>
      <vt:lpstr>나눔고딕</vt:lpstr>
      <vt:lpstr>나눔고딕 ExtraBold</vt:lpstr>
      <vt:lpstr>맑은 고딕</vt:lpstr>
      <vt:lpstr>맑은고딕</vt:lpstr>
      <vt:lpstr>Arial</vt:lpstr>
      <vt:lpstr>Calibri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여승은</dc:creator>
  <cp:lastModifiedBy>yeo seungeun</cp:lastModifiedBy>
  <cp:revision>4352</cp:revision>
  <cp:lastPrinted>2019-03-26T01:10:27Z</cp:lastPrinted>
  <dcterms:created xsi:type="dcterms:W3CDTF">2014-03-24T10:18:17Z</dcterms:created>
  <dcterms:modified xsi:type="dcterms:W3CDTF">2020-01-09T00:37:06Z</dcterms:modified>
</cp:coreProperties>
</file>