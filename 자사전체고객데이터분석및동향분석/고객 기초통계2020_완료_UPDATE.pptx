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3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4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5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6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7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drawings/drawing2.xml" ContentType="application/vnd.openxmlformats-officedocument.drawingml.chartshapes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8.xml" ContentType="application/vnd.openxmlformats-officedocument.presentationml.notesSl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56" r:id="rId2"/>
    <p:sldId id="603" r:id="rId3"/>
    <p:sldId id="604" r:id="rId4"/>
    <p:sldId id="605" r:id="rId5"/>
    <p:sldId id="542" r:id="rId6"/>
    <p:sldId id="544" r:id="rId7"/>
    <p:sldId id="546" r:id="rId8"/>
    <p:sldId id="545" r:id="rId9"/>
    <p:sldId id="547" r:id="rId10"/>
    <p:sldId id="548" r:id="rId11"/>
    <p:sldId id="549" r:id="rId12"/>
    <p:sldId id="602" r:id="rId13"/>
    <p:sldId id="550" r:id="rId14"/>
    <p:sldId id="551" r:id="rId15"/>
    <p:sldId id="552" r:id="rId16"/>
    <p:sldId id="553" r:id="rId17"/>
    <p:sldId id="554" r:id="rId18"/>
    <p:sldId id="555" r:id="rId19"/>
    <p:sldId id="556" r:id="rId20"/>
    <p:sldId id="557" r:id="rId21"/>
    <p:sldId id="558" r:id="rId22"/>
    <p:sldId id="559" r:id="rId23"/>
    <p:sldId id="589" r:id="rId24"/>
    <p:sldId id="560" r:id="rId25"/>
    <p:sldId id="590" r:id="rId26"/>
    <p:sldId id="562" r:id="rId27"/>
    <p:sldId id="591" r:id="rId28"/>
    <p:sldId id="563" r:id="rId29"/>
    <p:sldId id="592" r:id="rId30"/>
    <p:sldId id="564" r:id="rId31"/>
    <p:sldId id="565" r:id="rId32"/>
    <p:sldId id="566" r:id="rId33"/>
    <p:sldId id="567" r:id="rId34"/>
    <p:sldId id="568" r:id="rId35"/>
    <p:sldId id="569" r:id="rId36"/>
    <p:sldId id="570" r:id="rId37"/>
    <p:sldId id="571" r:id="rId38"/>
    <p:sldId id="572" r:id="rId39"/>
    <p:sldId id="575" r:id="rId40"/>
    <p:sldId id="576" r:id="rId41"/>
    <p:sldId id="579" r:id="rId42"/>
    <p:sldId id="580" r:id="rId43"/>
    <p:sldId id="587" r:id="rId44"/>
    <p:sldId id="588" r:id="rId45"/>
    <p:sldId id="593" r:id="rId46"/>
    <p:sldId id="598" r:id="rId47"/>
    <p:sldId id="594" r:id="rId48"/>
    <p:sldId id="599" r:id="rId49"/>
    <p:sldId id="600" r:id="rId50"/>
    <p:sldId id="601" r:id="rId5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57" userDrawn="1">
          <p15:clr>
            <a:srgbClr val="A4A3A4"/>
          </p15:clr>
        </p15:guide>
        <p15:guide id="3" orient="horz" pos="2636" userDrawn="1">
          <p15:clr>
            <a:srgbClr val="A4A3A4"/>
          </p15:clr>
        </p15:guide>
        <p15:guide id="4" pos="363" userDrawn="1">
          <p15:clr>
            <a:srgbClr val="A4A3A4"/>
          </p15:clr>
        </p15:guide>
        <p15:guide id="5" pos="34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679"/>
    <a:srgbClr val="70AD47"/>
    <a:srgbClr val="A50021"/>
    <a:srgbClr val="FFC000"/>
    <a:srgbClr val="A5A5A5"/>
    <a:srgbClr val="ED7D31"/>
    <a:srgbClr val="5B9BD5"/>
    <a:srgbClr val="744642"/>
    <a:srgbClr val="DDDDDD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3894" autoAdjust="0"/>
  </p:normalViewPr>
  <p:slideViewPr>
    <p:cSldViewPr snapToGrid="0" showGuides="1">
      <p:cViewPr varScale="1">
        <p:scale>
          <a:sx n="105" d="100"/>
          <a:sy n="105" d="100"/>
        </p:scale>
        <p:origin x="2082" y="84"/>
      </p:cViewPr>
      <p:guideLst>
        <p:guide pos="2857"/>
        <p:guide orient="horz" pos="2636"/>
        <p:guide pos="363"/>
        <p:guide pos="3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chartUserShapes" Target="../drawings/drawing2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191209.xlsx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51648;&#50669;&#48324;%20&#51116;&#44396;&#47588;&#54056;&#53556;_%202018-03-06.xlsx" TargetMode="External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20&#45380;%20&#44256;&#44061;&#44592;&#52488;&#53685;&#44228;\2020&#45380;&#44256;&#44061;&#44592;&#52488;&#53685;&#44228;_200102_&#50629;&#45936;&#49660;.xlsx" TargetMode="External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일본!$G$4:$G$5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9625464506070326E-3"/>
                  <c:y val="-4.6916085193448898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5.076628441830832E-3"/>
                  <c:y val="2.6063210701262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3.3844189612205547E-3"/>
                  <c:y val="3.739896636994623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3.3844189612206167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5.07662844183083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3.3844189612206787E-3"/>
                  <c:y val="-3.72055197757591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일본!$G$6:$G$17</c:f>
              <c:numCache>
                <c:formatCode>0%</c:formatCode>
                <c:ptCount val="9"/>
                <c:pt idx="0">
                  <c:v>0.20272468483123221</c:v>
                </c:pt>
                <c:pt idx="1">
                  <c:v>0.32391215941439611</c:v>
                </c:pt>
                <c:pt idx="2">
                  <c:v>0.1642944286295242</c:v>
                </c:pt>
                <c:pt idx="3">
                  <c:v>0.20638470923139488</c:v>
                </c:pt>
                <c:pt idx="4">
                  <c:v>2.1960146400976006E-2</c:v>
                </c:pt>
                <c:pt idx="5">
                  <c:v>1.1996746644977633E-2</c:v>
                </c:pt>
                <c:pt idx="6">
                  <c:v>2.4400162667751118E-2</c:v>
                </c:pt>
                <c:pt idx="7">
                  <c:v>3.9650264335095567E-2</c:v>
                </c:pt>
                <c:pt idx="8">
                  <c:v>4.6766978446522974E-3</c:v>
                </c:pt>
              </c:numCache>
            </c:numRef>
          </c:val>
        </c:ser>
        <c:ser>
          <c:idx val="1"/>
          <c:order val="1"/>
          <c:tx>
            <c:strRef>
              <c:f>일본!$H$4:$H$5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일본!$H$6:$H$17</c:f>
            </c:numRef>
          </c:val>
        </c:ser>
        <c:ser>
          <c:idx val="2"/>
          <c:order val="2"/>
          <c:tx>
            <c:strRef>
              <c:f>일본!$I$4:$I$5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976441582060728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5.076628441830832E-3"/>
                  <c:y val="7.44110468808934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8.36711749178853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6.2753381188415513E-3"/>
                  <c:y val="-2.04727100387208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일본!$I$6:$I$17</c:f>
              <c:numCache>
                <c:formatCode>0%</c:formatCode>
                <c:ptCount val="9"/>
                <c:pt idx="0">
                  <c:v>0.22274499260653313</c:v>
                </c:pt>
                <c:pt idx="1">
                  <c:v>0.35959134292243583</c:v>
                </c:pt>
                <c:pt idx="2">
                  <c:v>8.9124882376663536E-2</c:v>
                </c:pt>
                <c:pt idx="3">
                  <c:v>0.20231213872832371</c:v>
                </c:pt>
                <c:pt idx="4">
                  <c:v>4.180669444817852E-2</c:v>
                </c:pt>
                <c:pt idx="5">
                  <c:v>2.5809920688264553E-2</c:v>
                </c:pt>
                <c:pt idx="6">
                  <c:v>2.0970560559214948E-2</c:v>
                </c:pt>
                <c:pt idx="7">
                  <c:v>2.9977147466057265E-2</c:v>
                </c:pt>
                <c:pt idx="8">
                  <c:v>7.6623202043285387E-3</c:v>
                </c:pt>
              </c:numCache>
            </c:numRef>
          </c:val>
        </c:ser>
        <c:ser>
          <c:idx val="3"/>
          <c:order val="3"/>
          <c:tx>
            <c:strRef>
              <c:f>일본!$J$4:$J$5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일본!$J$6:$J$17</c:f>
            </c:numRef>
          </c:val>
        </c:ser>
        <c:ser>
          <c:idx val="4"/>
          <c:order val="4"/>
          <c:tx>
            <c:strRef>
              <c:f>일본!$K$4:$K$5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1041754553721255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6922094806103084E-3"/>
                  <c:y val="-8.0907505263259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3844189612205547E-3"/>
                  <c:y val="-1.4882207910303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5229885325492496E-2"/>
                  <c:y val="-1.39375630704551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5.8757588464973236E-3"/>
                  <c:y val="-6.14181301161624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6.7688379224411094E-3"/>
                  <c:y val="-2.23233118654554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2.0917793729471326E-3"/>
                  <c:y val="1.48822093761787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1.2409392836777048E-16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일본!$K$6:$K$17</c:f>
              <c:numCache>
                <c:formatCode>0%</c:formatCode>
                <c:ptCount val="9"/>
                <c:pt idx="0">
                  <c:v>0.21795548053592151</c:v>
                </c:pt>
                <c:pt idx="1">
                  <c:v>0.3601645743221859</c:v>
                </c:pt>
                <c:pt idx="2">
                  <c:v>9.642367338326828E-2</c:v>
                </c:pt>
                <c:pt idx="3">
                  <c:v>0.21173119527376305</c:v>
                </c:pt>
                <c:pt idx="4">
                  <c:v>3.7662200654077431E-2</c:v>
                </c:pt>
                <c:pt idx="5">
                  <c:v>2.9538980905158774E-2</c:v>
                </c:pt>
                <c:pt idx="6">
                  <c:v>1.9411330309104337E-2</c:v>
                </c:pt>
                <c:pt idx="7">
                  <c:v>2.0044308471357738E-2</c:v>
                </c:pt>
                <c:pt idx="8">
                  <c:v>7.0682561451629921E-3</c:v>
                </c:pt>
              </c:numCache>
            </c:numRef>
          </c:val>
        </c:ser>
        <c:ser>
          <c:idx val="5"/>
          <c:order val="5"/>
          <c:tx>
            <c:strRef>
              <c:f>일본!$L$4:$L$5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일본!$L$6:$L$17</c:f>
            </c:numRef>
          </c:val>
        </c:ser>
        <c:ser>
          <c:idx val="6"/>
          <c:order val="6"/>
          <c:tx>
            <c:strRef>
              <c:f>일본!$M$4:$M$5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일본!$M$6:$M$17</c:f>
            </c:numRef>
          </c:val>
        </c:ser>
        <c:ser>
          <c:idx val="7"/>
          <c:order val="7"/>
          <c:tx>
            <c:strRef>
              <c:f>일본!$N$4:$N$5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153256883661664E-2"/>
                  <c:y val="7.441103955151753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0153256883661664E-2"/>
                  <c:y val="-2.417391808981555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1845466364271941E-2"/>
                  <c:y val="2.976441582060728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0153256883661664E-2"/>
                  <c:y val="4.464662373091093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1.0153256883661664E-2"/>
                  <c:y val="-1.488220791030364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5.076628441830832E-3"/>
                  <c:y val="7.441103955151822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8.4610474030512636E-3"/>
                  <c:y val="-7.441103955151822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1.812073882306280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6.768837922441109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일본!$N$6:$N$17</c:f>
              <c:numCache>
                <c:formatCode>0%</c:formatCode>
                <c:ptCount val="9"/>
                <c:pt idx="0">
                  <c:v>0.2336191383507992</c:v>
                </c:pt>
                <c:pt idx="1">
                  <c:v>0.40330263575738329</c:v>
                </c:pt>
                <c:pt idx="2">
                  <c:v>0.11675664232031333</c:v>
                </c:pt>
                <c:pt idx="3">
                  <c:v>0.14152641050068804</c:v>
                </c:pt>
                <c:pt idx="4">
                  <c:v>2.7627818355033345E-2</c:v>
                </c:pt>
                <c:pt idx="5">
                  <c:v>3.1438551921244839E-2</c:v>
                </c:pt>
                <c:pt idx="6">
                  <c:v>1.9371228961575102E-2</c:v>
                </c:pt>
                <c:pt idx="7">
                  <c:v>1.7571715888641898E-2</c:v>
                </c:pt>
                <c:pt idx="8">
                  <c:v>8.7858579443209489E-3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95097760"/>
        <c:axId val="1095094960"/>
      </c:barChart>
      <c:catAx>
        <c:axId val="1095097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5094960"/>
        <c:crosses val="autoZero"/>
        <c:auto val="1"/>
        <c:lblAlgn val="ctr"/>
        <c:lblOffset val="100"/>
        <c:noMultiLvlLbl val="0"/>
      </c:catAx>
      <c:valAx>
        <c:axId val="1095094960"/>
        <c:scaling>
          <c:orientation val="minMax"/>
          <c:max val="0.6000000000000000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509776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간편가입!$O$30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간편가입!$N$31:$N$34</c:f>
              <c:strCache>
                <c:ptCount val="4"/>
                <c:pt idx="0">
                  <c:v>2018년(PC)</c:v>
                </c:pt>
                <c:pt idx="1">
                  <c:v>2019년(PC)</c:v>
                </c:pt>
                <c:pt idx="2">
                  <c:v>2018년(모바일)</c:v>
                </c:pt>
                <c:pt idx="3">
                  <c:v>2019년(모바일)</c:v>
                </c:pt>
              </c:strCache>
            </c:strRef>
          </c:cat>
          <c:val>
            <c:numRef>
              <c:f>간편가입!$O$31:$O$34</c:f>
            </c:numRef>
          </c:val>
        </c:ser>
        <c:ser>
          <c:idx val="1"/>
          <c:order val="1"/>
          <c:tx>
            <c:strRef>
              <c:f>간편가입!$P$30</c:f>
              <c:strCache>
                <c:ptCount val="1"/>
                <c:pt idx="0">
                  <c:v>간편가입비율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wdDnDiag">
                <a:fgClr>
                  <a:schemeClr val="accent2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간편가입!$N$31:$N$34</c:f>
              <c:strCache>
                <c:ptCount val="4"/>
                <c:pt idx="0">
                  <c:v>2018년(PC)</c:v>
                </c:pt>
                <c:pt idx="1">
                  <c:v>2019년(PC)</c:v>
                </c:pt>
                <c:pt idx="2">
                  <c:v>2018년(모바일)</c:v>
                </c:pt>
                <c:pt idx="3">
                  <c:v>2019년(모바일)</c:v>
                </c:pt>
              </c:strCache>
            </c:strRef>
          </c:cat>
          <c:val>
            <c:numRef>
              <c:f>간편가입!$P$31:$P$34</c:f>
              <c:numCache>
                <c:formatCode>0%</c:formatCode>
                <c:ptCount val="4"/>
                <c:pt idx="0">
                  <c:v>0.51</c:v>
                </c:pt>
                <c:pt idx="1">
                  <c:v>0.38</c:v>
                </c:pt>
                <c:pt idx="2">
                  <c:v>0.78</c:v>
                </c:pt>
                <c:pt idx="3">
                  <c:v>0.57999999999999996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5958528"/>
        <c:axId val="415960208"/>
      </c:barChart>
      <c:catAx>
        <c:axId val="41595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5960208"/>
        <c:crosses val="autoZero"/>
        <c:auto val="1"/>
        <c:lblAlgn val="ctr"/>
        <c:lblOffset val="100"/>
        <c:noMultiLvlLbl val="0"/>
      </c:catAx>
      <c:valAx>
        <c:axId val="4159602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5958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기기타입별회원가입!$B$20</c:f>
              <c:strCache>
                <c:ptCount val="1"/>
                <c:pt idx="0">
                  <c:v>회원가입자수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기기타입별회원가입!$C$19:$F$19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기기타입별회원가입!$C$20:$F$20</c:f>
              <c:numCache>
                <c:formatCode>_(* #,##0_);_(* \(#,##0\);_(* "-"_);_(@_)</c:formatCode>
                <c:ptCount val="4"/>
                <c:pt idx="0">
                  <c:v>51039</c:v>
                </c:pt>
                <c:pt idx="1">
                  <c:v>76333</c:v>
                </c:pt>
                <c:pt idx="2">
                  <c:v>162636</c:v>
                </c:pt>
                <c:pt idx="3">
                  <c:v>114802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5961888"/>
        <c:axId val="415947888"/>
      </c:barChart>
      <c:catAx>
        <c:axId val="41596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5947888"/>
        <c:crosses val="autoZero"/>
        <c:auto val="1"/>
        <c:lblAlgn val="ctr"/>
        <c:lblOffset val="100"/>
        <c:noMultiLvlLbl val="0"/>
      </c:catAx>
      <c:valAx>
        <c:axId val="41594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596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기기타입별회원가입!$C$12</c:f>
              <c:strCache>
                <c:ptCount val="1"/>
                <c:pt idx="0">
                  <c:v>PC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기기타입별회원가입!$B$13:$B$16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기기타입별회원가입!$C$13:$C$16</c:f>
              <c:numCache>
                <c:formatCode>0%</c:formatCode>
                <c:ptCount val="4"/>
                <c:pt idx="0">
                  <c:v>0.69296028527204689</c:v>
                </c:pt>
                <c:pt idx="1">
                  <c:v>0.52593340589878435</c:v>
                </c:pt>
                <c:pt idx="2">
                  <c:v>0.29754738729508196</c:v>
                </c:pt>
                <c:pt idx="3">
                  <c:v>0.34401546554640594</c:v>
                </c:pt>
              </c:numCache>
            </c:numRef>
          </c:val>
        </c:ser>
        <c:ser>
          <c:idx val="1"/>
          <c:order val="1"/>
          <c:tx>
            <c:strRef>
              <c:f>기기타입별회원가입!$D$12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기기타입별회원가입!$B$13:$B$16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기기타입별회원가입!$D$13:$D$16</c:f>
              <c:numCache>
                <c:formatCode>0%</c:formatCode>
                <c:ptCount val="4"/>
                <c:pt idx="0">
                  <c:v>0.30703971472795316</c:v>
                </c:pt>
                <c:pt idx="1">
                  <c:v>0.47406659410121571</c:v>
                </c:pt>
                <c:pt idx="2">
                  <c:v>0.70245261270491799</c:v>
                </c:pt>
                <c:pt idx="3">
                  <c:v>0.65598453445359406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15961328"/>
        <c:axId val="415954608"/>
      </c:barChart>
      <c:catAx>
        <c:axId val="41596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5954608"/>
        <c:crosses val="autoZero"/>
        <c:auto val="1"/>
        <c:lblAlgn val="ctr"/>
        <c:lblOffset val="100"/>
        <c:noMultiLvlLbl val="0"/>
      </c:catAx>
      <c:valAx>
        <c:axId val="41595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596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성별연령별회원가입!$H$21</c:f>
              <c:strCache>
                <c:ptCount val="1"/>
                <c:pt idx="0">
                  <c:v>20대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성별연령별회원가입!$I$21:$L$21</c:f>
              <c:numCache>
                <c:formatCode>0%</c:formatCode>
                <c:ptCount val="4"/>
                <c:pt idx="0">
                  <c:v>0.14580698703762252</c:v>
                </c:pt>
                <c:pt idx="1">
                  <c:v>0.11944566010211524</c:v>
                </c:pt>
                <c:pt idx="2">
                  <c:v>0.11989572554326196</c:v>
                </c:pt>
                <c:pt idx="3">
                  <c:v>8.7243142425314335E-2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151-42EE-B74E-01B9F8D06A9A}"/>
            </c:ext>
          </c:extLst>
        </c:ser>
        <c:ser>
          <c:idx val="1"/>
          <c:order val="1"/>
          <c:tx>
            <c:strRef>
              <c:f>성별연령별회원가입!$H$22</c:f>
              <c:strCache>
                <c:ptCount val="1"/>
                <c:pt idx="0">
                  <c:v>30대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4556132867865315E-17"/>
                  <c:y val="1.8159884196182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703680891538323E-2"/>
                  <c:y val="-2.774394702150130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9.5277606686537432E-3"/>
                  <c:y val="-5.548789404300261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성별연령별회원가입!$I$22:$L$22</c:f>
              <c:numCache>
                <c:formatCode>0%</c:formatCode>
                <c:ptCount val="4"/>
                <c:pt idx="0">
                  <c:v>0.2694040467910212</c:v>
                </c:pt>
                <c:pt idx="1">
                  <c:v>0.23417943107221006</c:v>
                </c:pt>
                <c:pt idx="2">
                  <c:v>0.19612154740109847</c:v>
                </c:pt>
                <c:pt idx="3">
                  <c:v>0.15892208251599832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0151-42EE-B74E-01B9F8D06A9A}"/>
            </c:ext>
          </c:extLst>
        </c:ser>
        <c:ser>
          <c:idx val="2"/>
          <c:order val="2"/>
          <c:tx>
            <c:strRef>
              <c:f>성별연령별회원가입!$H$23</c:f>
              <c:strCache>
                <c:ptCount val="1"/>
                <c:pt idx="0">
                  <c:v>40대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3.1759202228845806E-3"/>
                  <c:y val="-5.447965258854613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3.8111042674614973E-2"/>
                  <c:y val="-1.8159884196182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성별연령별회원가입!$I$23:$L$23</c:f>
              <c:numCache>
                <c:formatCode>0%</c:formatCode>
                <c:ptCount val="4"/>
                <c:pt idx="0">
                  <c:v>0.29392586152386974</c:v>
                </c:pt>
                <c:pt idx="1">
                  <c:v>0.31363967906637491</c:v>
                </c:pt>
                <c:pt idx="2">
                  <c:v>0.2810932898193107</c:v>
                </c:pt>
                <c:pt idx="3">
                  <c:v>0.27523555326880406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0151-42EE-B74E-01B9F8D06A9A}"/>
            </c:ext>
          </c:extLst>
        </c:ser>
        <c:ser>
          <c:idx val="3"/>
          <c:order val="3"/>
          <c:tx>
            <c:strRef>
              <c:f>성별연령별회원가입!$H$24</c:f>
              <c:strCache>
                <c:ptCount val="1"/>
                <c:pt idx="0">
                  <c:v>50대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407361783076645E-2"/>
                  <c:y val="-5.548789404300261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9055521337307486E-2"/>
                  <c:y val="-1.21065894641213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5407361783076645E-2"/>
                  <c:y val="-2.42131789282427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2231441560191949E-2"/>
                  <c:y val="-1.8159884196182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성별연령별회원가입!$I$24:$L$24</c:f>
              <c:numCache>
                <c:formatCode>0%</c:formatCode>
                <c:ptCount val="4"/>
                <c:pt idx="0">
                  <c:v>0.20919617451786279</c:v>
                </c:pt>
                <c:pt idx="1">
                  <c:v>0.23307075127644056</c:v>
                </c:pt>
                <c:pt idx="2">
                  <c:v>0.26089508875268647</c:v>
                </c:pt>
                <c:pt idx="3">
                  <c:v>0.29730627820475714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0151-42EE-B74E-01B9F8D06A9A}"/>
            </c:ext>
          </c:extLst>
        </c:ser>
        <c:ser>
          <c:idx val="4"/>
          <c:order val="4"/>
          <c:tx>
            <c:strRef>
              <c:f>성별연령별회원가입!$H$25</c:f>
              <c:strCache>
                <c:ptCount val="1"/>
                <c:pt idx="0">
                  <c:v>60대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1.5879601114422905E-2"/>
                  <c:y val="6.053294732060680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2703680891538323E-2"/>
                  <c:y val="-5.548789404300261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2231441560192064E-2"/>
                  <c:y val="6.053294732060624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성별연령별회원가입!$I$25:$L$25</c:f>
              <c:numCache>
                <c:formatCode>0%</c:formatCode>
                <c:ptCount val="4"/>
                <c:pt idx="0">
                  <c:v>7.6173727473917166E-2</c:v>
                </c:pt>
                <c:pt idx="1">
                  <c:v>9.1932895696571842E-2</c:v>
                </c:pt>
                <c:pt idx="2">
                  <c:v>0.12731831568892779</c:v>
                </c:pt>
                <c:pt idx="3">
                  <c:v>0.16205207361910581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0151-42EE-B74E-01B9F8D06A9A}"/>
            </c:ext>
          </c:extLst>
        </c:ser>
        <c:ser>
          <c:idx val="5"/>
          <c:order val="5"/>
          <c:tx>
            <c:strRef>
              <c:f>성별연령별회원가입!$H$26</c:f>
              <c:strCache>
                <c:ptCount val="1"/>
                <c:pt idx="0">
                  <c:v>70대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9055521337307486E-2"/>
                  <c:y val="-1.2106589464121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270368089153832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5879601114422905E-2"/>
                  <c:y val="-3.02664736603033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5879601114422787E-2"/>
                  <c:y val="-1.8159884196182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0151-42EE-B74E-01B9F8D06A9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성별연령별회원가입!$I$26:$L$26</c:f>
              <c:numCache>
                <c:formatCode>0%</c:formatCode>
                <c:ptCount val="4"/>
                <c:pt idx="0">
                  <c:v>5.4932026557066079E-3</c:v>
                </c:pt>
                <c:pt idx="1">
                  <c:v>7.7315827862873814E-3</c:v>
                </c:pt>
                <c:pt idx="2">
                  <c:v>1.4676032794714638E-2</c:v>
                </c:pt>
                <c:pt idx="3">
                  <c:v>1.9240869966020303E-2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5-0151-42EE-B74E-01B9F8D06A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8821104"/>
        <c:axId val="453357168"/>
      </c:barChart>
      <c:catAx>
        <c:axId val="36882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57168"/>
        <c:crosses val="autoZero"/>
        <c:auto val="1"/>
        <c:lblAlgn val="ctr"/>
        <c:lblOffset val="100"/>
        <c:noMultiLvlLbl val="0"/>
      </c:catAx>
      <c:valAx>
        <c:axId val="453357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6882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연령별출발자수!$B$32</c:f>
              <c:strCache>
                <c:ptCount val="1"/>
                <c:pt idx="0">
                  <c:v>20대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연령별출발자수!$D$31:$G$31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연령별출발자수!$D$32:$G$32</c:f>
              <c:numCache>
                <c:formatCode>0%</c:formatCode>
                <c:ptCount val="4"/>
                <c:pt idx="0">
                  <c:v>8.814662103183718E-2</c:v>
                </c:pt>
                <c:pt idx="1">
                  <c:v>7.6482886845551157E-2</c:v>
                </c:pt>
                <c:pt idx="2">
                  <c:v>6.7726026901201566E-2</c:v>
                </c:pt>
                <c:pt idx="3">
                  <c:v>6.4798874602815457E-2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39D-44F6-9E45-6E2A2AA181A6}"/>
            </c:ext>
          </c:extLst>
        </c:ser>
        <c:ser>
          <c:idx val="1"/>
          <c:order val="1"/>
          <c:tx>
            <c:strRef>
              <c:f>연령별출발자수!$B$33</c:f>
              <c:strCache>
                <c:ptCount val="1"/>
                <c:pt idx="0">
                  <c:v>30대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연령별출발자수!$D$31:$G$31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연령별출발자수!$D$33:$G$33</c:f>
              <c:numCache>
                <c:formatCode>0%</c:formatCode>
                <c:ptCount val="4"/>
                <c:pt idx="0">
                  <c:v>0.12722240088206918</c:v>
                </c:pt>
                <c:pt idx="1">
                  <c:v>0.11323402808423824</c:v>
                </c:pt>
                <c:pt idx="2">
                  <c:v>0.10264145989828874</c:v>
                </c:pt>
                <c:pt idx="3">
                  <c:v>9.5614492439967336E-2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39D-44F6-9E45-6E2A2AA181A6}"/>
            </c:ext>
          </c:extLst>
        </c:ser>
        <c:ser>
          <c:idx val="2"/>
          <c:order val="2"/>
          <c:tx>
            <c:strRef>
              <c:f>연령별출발자수!$B$34</c:f>
              <c:strCache>
                <c:ptCount val="1"/>
                <c:pt idx="0">
                  <c:v>40대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연령별출발자수!$D$31:$G$31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연령별출발자수!$D$34:$G$34</c:f>
              <c:numCache>
                <c:formatCode>0%</c:formatCode>
                <c:ptCount val="4"/>
                <c:pt idx="0">
                  <c:v>0.22649538291909771</c:v>
                </c:pt>
                <c:pt idx="1">
                  <c:v>0.23048560218577654</c:v>
                </c:pt>
                <c:pt idx="2">
                  <c:v>0.2172669230194709</c:v>
                </c:pt>
                <c:pt idx="3">
                  <c:v>0.20572191671667339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39D-44F6-9E45-6E2A2AA181A6}"/>
            </c:ext>
          </c:extLst>
        </c:ser>
        <c:ser>
          <c:idx val="3"/>
          <c:order val="3"/>
          <c:tx>
            <c:strRef>
              <c:f>연령별출발자수!$B$35</c:f>
              <c:strCache>
                <c:ptCount val="1"/>
                <c:pt idx="0">
                  <c:v>50대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연령별출발자수!$D$31:$G$31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연령별출발자수!$D$35:$G$35</c:f>
              <c:numCache>
                <c:formatCode>0%</c:formatCode>
                <c:ptCount val="4"/>
                <c:pt idx="0">
                  <c:v>0.32715234069922361</c:v>
                </c:pt>
                <c:pt idx="1">
                  <c:v>0.32991142589122724</c:v>
                </c:pt>
                <c:pt idx="2">
                  <c:v>0.33398817216225818</c:v>
                </c:pt>
                <c:pt idx="3">
                  <c:v>0.3359074498539148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D39D-44F6-9E45-6E2A2AA181A6}"/>
            </c:ext>
          </c:extLst>
        </c:ser>
        <c:ser>
          <c:idx val="4"/>
          <c:order val="4"/>
          <c:tx>
            <c:strRef>
              <c:f>연령별출발자수!$B$36</c:f>
              <c:strCache>
                <c:ptCount val="1"/>
                <c:pt idx="0">
                  <c:v>60대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연령별출발자수!$D$31:$G$31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연령별출발자수!$D$36:$G$36</c:f>
              <c:numCache>
                <c:formatCode>0%</c:formatCode>
                <c:ptCount val="4"/>
                <c:pt idx="0">
                  <c:v>0.18982576836495613</c:v>
                </c:pt>
                <c:pt idx="1">
                  <c:v>0.20309346220347688</c:v>
                </c:pt>
                <c:pt idx="2">
                  <c:v>0.22410199190202768</c:v>
                </c:pt>
                <c:pt idx="3">
                  <c:v>0.23995356752874977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D39D-44F6-9E45-6E2A2AA181A6}"/>
            </c:ext>
          </c:extLst>
        </c:ser>
        <c:ser>
          <c:idx val="5"/>
          <c:order val="5"/>
          <c:tx>
            <c:strRef>
              <c:f>연령별출발자수!$B$37</c:f>
              <c:strCache>
                <c:ptCount val="1"/>
                <c:pt idx="0">
                  <c:v>70대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384109328568181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6.2560728857121396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2512145771424165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564018221428034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연령별출발자수!$D$31:$G$31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연령별출발자수!$D$37:$G$37</c:f>
              <c:numCache>
                <c:formatCode>0%</c:formatCode>
                <c:ptCount val="4"/>
                <c:pt idx="0">
                  <c:v>4.1157486102816186E-2</c:v>
                </c:pt>
                <c:pt idx="1">
                  <c:v>4.6792594789729934E-2</c:v>
                </c:pt>
                <c:pt idx="2">
                  <c:v>5.4275426116752935E-2</c:v>
                </c:pt>
                <c:pt idx="3">
                  <c:v>5.8003698857879253E-2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D39D-44F6-9E45-6E2A2AA181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3362208"/>
        <c:axId val="453362768"/>
      </c:barChart>
      <c:catAx>
        <c:axId val="453362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62768"/>
        <c:crosses val="autoZero"/>
        <c:auto val="1"/>
        <c:lblAlgn val="ctr"/>
        <c:lblOffset val="100"/>
        <c:noMultiLvlLbl val="0"/>
      </c:catAx>
      <c:valAx>
        <c:axId val="45336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62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29F-4D40-867D-B507400C125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29F-4D40-867D-B507400C125E}"/>
              </c:ext>
            </c:extLst>
          </c:dPt>
          <c:dLbls>
            <c:dLbl>
              <c:idx val="0"/>
              <c:layout>
                <c:manualLayout>
                  <c:x val="-0.19276335885817528"/>
                  <c:y val="0.166608746592054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529F-4D40-867D-B507400C125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14576449799947"/>
                  <c:y val="-0.1148666334654504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529F-4D40-867D-B507400C125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성별연령별회원가입!$C$33:$D$33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성별연령별회원가입!$C$34:$D$34</c:f>
              <c:numCache>
                <c:formatCode>0%</c:formatCode>
                <c:ptCount val="2"/>
                <c:pt idx="0">
                  <c:v>0.32</c:v>
                </c:pt>
                <c:pt idx="1">
                  <c:v>0.68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29F-4D40-867D-B507400C125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지자체별회원현황!$N$7:$N$36</c:f>
              <c:strCache>
                <c:ptCount val="30"/>
                <c:pt idx="0">
                  <c:v>용인</c:v>
                </c:pt>
                <c:pt idx="1">
                  <c:v>성남</c:v>
                </c:pt>
                <c:pt idx="2">
                  <c:v>고양</c:v>
                </c:pt>
                <c:pt idx="3">
                  <c:v>수원</c:v>
                </c:pt>
                <c:pt idx="4">
                  <c:v>화성</c:v>
                </c:pt>
                <c:pt idx="5">
                  <c:v>안양</c:v>
                </c:pt>
                <c:pt idx="6">
                  <c:v>남양주</c:v>
                </c:pt>
                <c:pt idx="7">
                  <c:v>부천</c:v>
                </c:pt>
                <c:pt idx="8">
                  <c:v>기타</c:v>
                </c:pt>
                <c:pt idx="9">
                  <c:v>안산</c:v>
                </c:pt>
                <c:pt idx="10">
                  <c:v>김포</c:v>
                </c:pt>
                <c:pt idx="11">
                  <c:v>하남</c:v>
                </c:pt>
                <c:pt idx="12">
                  <c:v>평택</c:v>
                </c:pt>
                <c:pt idx="13">
                  <c:v>파주</c:v>
                </c:pt>
                <c:pt idx="14">
                  <c:v>군포</c:v>
                </c:pt>
                <c:pt idx="15">
                  <c:v>의정부</c:v>
                </c:pt>
                <c:pt idx="16">
                  <c:v>광명</c:v>
                </c:pt>
                <c:pt idx="17">
                  <c:v>광주</c:v>
                </c:pt>
                <c:pt idx="18">
                  <c:v>의왕</c:v>
                </c:pt>
                <c:pt idx="19">
                  <c:v>구리</c:v>
                </c:pt>
                <c:pt idx="20">
                  <c:v>이천</c:v>
                </c:pt>
                <c:pt idx="21">
                  <c:v>과천</c:v>
                </c:pt>
                <c:pt idx="22">
                  <c:v>오산</c:v>
                </c:pt>
                <c:pt idx="23">
                  <c:v>안성</c:v>
                </c:pt>
                <c:pt idx="24">
                  <c:v>양평</c:v>
                </c:pt>
                <c:pt idx="25">
                  <c:v>포천</c:v>
                </c:pt>
                <c:pt idx="26">
                  <c:v>동두천</c:v>
                </c:pt>
                <c:pt idx="27">
                  <c:v>가평</c:v>
                </c:pt>
                <c:pt idx="28">
                  <c:v>여주</c:v>
                </c:pt>
                <c:pt idx="29">
                  <c:v>연천</c:v>
                </c:pt>
              </c:strCache>
            </c:strRef>
          </c:cat>
          <c:val>
            <c:numRef>
              <c:f>지자체별회원현황!$P$7:$P$36</c:f>
              <c:numCache>
                <c:formatCode>0%</c:formatCode>
                <c:ptCount val="30"/>
                <c:pt idx="0">
                  <c:v>0.10737555381808704</c:v>
                </c:pt>
                <c:pt idx="1">
                  <c:v>0.10242376856919469</c:v>
                </c:pt>
                <c:pt idx="2">
                  <c:v>9.8253844149074801E-2</c:v>
                </c:pt>
                <c:pt idx="3">
                  <c:v>9.5387021110242373E-2</c:v>
                </c:pt>
                <c:pt idx="4">
                  <c:v>6.2027625749283291E-2</c:v>
                </c:pt>
                <c:pt idx="5">
                  <c:v>5.7075840500390933E-2</c:v>
                </c:pt>
                <c:pt idx="6">
                  <c:v>5.1863434975241075E-2</c:v>
                </c:pt>
                <c:pt idx="7">
                  <c:v>5.08209538702111E-2</c:v>
                </c:pt>
                <c:pt idx="8">
                  <c:v>3.6486838676048995E-2</c:v>
                </c:pt>
                <c:pt idx="9">
                  <c:v>3.4141256189731559E-2</c:v>
                </c:pt>
                <c:pt idx="10">
                  <c:v>3.1274433150899138E-2</c:v>
                </c:pt>
                <c:pt idx="11">
                  <c:v>3.0231952045869169E-2</c:v>
                </c:pt>
                <c:pt idx="12">
                  <c:v>2.684388845452176E-2</c:v>
                </c:pt>
                <c:pt idx="13">
                  <c:v>2.684388845452176E-2</c:v>
                </c:pt>
                <c:pt idx="14">
                  <c:v>2.5540787073234296E-2</c:v>
                </c:pt>
                <c:pt idx="15">
                  <c:v>2.5280166796976804E-2</c:v>
                </c:pt>
                <c:pt idx="16">
                  <c:v>2.2413343758144383E-2</c:v>
                </c:pt>
                <c:pt idx="17">
                  <c:v>1.8764659890539485E-2</c:v>
                </c:pt>
                <c:pt idx="18">
                  <c:v>1.5115976022934585E-2</c:v>
                </c:pt>
                <c:pt idx="19">
                  <c:v>1.4855355746677092E-2</c:v>
                </c:pt>
                <c:pt idx="20">
                  <c:v>1.4594735470419598E-2</c:v>
                </c:pt>
                <c:pt idx="21">
                  <c:v>1.0424811050299713E-2</c:v>
                </c:pt>
                <c:pt idx="22">
                  <c:v>9.6429502215272349E-3</c:v>
                </c:pt>
                <c:pt idx="23">
                  <c:v>8.0792285639822783E-3</c:v>
                </c:pt>
                <c:pt idx="24">
                  <c:v>7.2973677352097992E-3</c:v>
                </c:pt>
                <c:pt idx="25">
                  <c:v>6.776127182694814E-3</c:v>
                </c:pt>
                <c:pt idx="26">
                  <c:v>3.6486838676048996E-3</c:v>
                </c:pt>
                <c:pt idx="27">
                  <c:v>2.8668230388324213E-3</c:v>
                </c:pt>
                <c:pt idx="28">
                  <c:v>2.6062027625749283E-3</c:v>
                </c:pt>
                <c:pt idx="29">
                  <c:v>1.0424811050299713E-3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3366688"/>
        <c:axId val="453367248"/>
      </c:barChart>
      <c:catAx>
        <c:axId val="45336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67248"/>
        <c:crosses val="autoZero"/>
        <c:auto val="1"/>
        <c:lblAlgn val="ctr"/>
        <c:lblOffset val="100"/>
        <c:noMultiLvlLbl val="0"/>
      </c:catAx>
      <c:valAx>
        <c:axId val="45336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66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지자체별회원현황!$B$8:$B$32</c:f>
              <c:strCache>
                <c:ptCount val="25"/>
                <c:pt idx="0">
                  <c:v>송파</c:v>
                </c:pt>
                <c:pt idx="1">
                  <c:v>강남</c:v>
                </c:pt>
                <c:pt idx="2">
                  <c:v>서초</c:v>
                </c:pt>
                <c:pt idx="3">
                  <c:v>양천</c:v>
                </c:pt>
                <c:pt idx="4">
                  <c:v>노원</c:v>
                </c:pt>
                <c:pt idx="5">
                  <c:v>강서</c:v>
                </c:pt>
                <c:pt idx="6">
                  <c:v>동작</c:v>
                </c:pt>
                <c:pt idx="7">
                  <c:v>관악</c:v>
                </c:pt>
                <c:pt idx="8">
                  <c:v>마포</c:v>
                </c:pt>
                <c:pt idx="9">
                  <c:v>강동</c:v>
                </c:pt>
                <c:pt idx="10">
                  <c:v>구로</c:v>
                </c:pt>
                <c:pt idx="11">
                  <c:v>은평</c:v>
                </c:pt>
                <c:pt idx="12">
                  <c:v>성북</c:v>
                </c:pt>
                <c:pt idx="13">
                  <c:v>성동</c:v>
                </c:pt>
                <c:pt idx="14">
                  <c:v>영등포</c:v>
                </c:pt>
                <c:pt idx="15">
                  <c:v>광진</c:v>
                </c:pt>
                <c:pt idx="16">
                  <c:v>도봉</c:v>
                </c:pt>
                <c:pt idx="17">
                  <c:v>동대문</c:v>
                </c:pt>
                <c:pt idx="18">
                  <c:v>서대문</c:v>
                </c:pt>
                <c:pt idx="19">
                  <c:v>중랑</c:v>
                </c:pt>
                <c:pt idx="20">
                  <c:v>용산</c:v>
                </c:pt>
                <c:pt idx="21">
                  <c:v>금천</c:v>
                </c:pt>
                <c:pt idx="22">
                  <c:v>중구</c:v>
                </c:pt>
                <c:pt idx="23">
                  <c:v>강북</c:v>
                </c:pt>
                <c:pt idx="24">
                  <c:v>종로</c:v>
                </c:pt>
              </c:strCache>
            </c:strRef>
          </c:cat>
          <c:val>
            <c:numRef>
              <c:f>지자체별회원현황!$D$8:$D$32</c:f>
              <c:numCache>
                <c:formatCode>0%</c:formatCode>
                <c:ptCount val="25"/>
                <c:pt idx="0">
                  <c:v>9.8128190584231417E-2</c:v>
                </c:pt>
                <c:pt idx="1">
                  <c:v>8.3380601247872943E-2</c:v>
                </c:pt>
                <c:pt idx="2">
                  <c:v>6.9200226885989785E-2</c:v>
                </c:pt>
                <c:pt idx="3">
                  <c:v>6.2393647192285878E-2</c:v>
                </c:pt>
                <c:pt idx="4">
                  <c:v>5.8990357345433918E-2</c:v>
                </c:pt>
                <c:pt idx="5">
                  <c:v>5.4452637549631311E-2</c:v>
                </c:pt>
                <c:pt idx="6">
                  <c:v>4.8496880317640385E-2</c:v>
                </c:pt>
                <c:pt idx="7">
                  <c:v>4.1406693136698806E-2</c:v>
                </c:pt>
                <c:pt idx="8">
                  <c:v>4.1406693136698806E-2</c:v>
                </c:pt>
                <c:pt idx="9">
                  <c:v>3.7719795802609188E-2</c:v>
                </c:pt>
                <c:pt idx="10">
                  <c:v>3.6868973340896199E-2</c:v>
                </c:pt>
                <c:pt idx="11">
                  <c:v>3.6585365853658534E-2</c:v>
                </c:pt>
                <c:pt idx="12">
                  <c:v>3.6301758366420876E-2</c:v>
                </c:pt>
                <c:pt idx="13">
                  <c:v>3.5167328417470223E-2</c:v>
                </c:pt>
                <c:pt idx="14">
                  <c:v>3.3749290981281904E-2</c:v>
                </c:pt>
                <c:pt idx="15">
                  <c:v>3.2614861032331251E-2</c:v>
                </c:pt>
                <c:pt idx="16">
                  <c:v>3.0629608621667612E-2</c:v>
                </c:pt>
                <c:pt idx="17">
                  <c:v>2.694271128757799E-2</c:v>
                </c:pt>
                <c:pt idx="18">
                  <c:v>2.6375496313102667E-2</c:v>
                </c:pt>
                <c:pt idx="19">
                  <c:v>2.4673851389676687E-2</c:v>
                </c:pt>
                <c:pt idx="20">
                  <c:v>2.2404991491775383E-2</c:v>
                </c:pt>
                <c:pt idx="21">
                  <c:v>1.8718094157685761E-2</c:v>
                </c:pt>
                <c:pt idx="22">
                  <c:v>1.5314804310833806E-2</c:v>
                </c:pt>
                <c:pt idx="23">
                  <c:v>1.4463981849120816E-2</c:v>
                </c:pt>
                <c:pt idx="24">
                  <c:v>1.3613159387407828E-2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3369488"/>
        <c:axId val="453370048"/>
      </c:barChart>
      <c:catAx>
        <c:axId val="453369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70048"/>
        <c:crosses val="autoZero"/>
        <c:auto val="1"/>
        <c:lblAlgn val="ctr"/>
        <c:lblOffset val="100"/>
        <c:noMultiLvlLbl val="0"/>
      </c:catAx>
      <c:valAx>
        <c:axId val="453370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3369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전국지역별회원현황!$B$30</c:f>
              <c:strCache>
                <c:ptCount val="1"/>
                <c:pt idx="0">
                  <c:v>서울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1.1069620252355532E-16"/>
                  <c:y val="-4.09921785632209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전국지역별회원현황!$D$30:$G$30</c:f>
              <c:numCache>
                <c:formatCode>0%</c:formatCode>
                <c:ptCount val="4"/>
                <c:pt idx="0">
                  <c:v>0.3287009063444109</c:v>
                </c:pt>
                <c:pt idx="1">
                  <c:v>0.32212060967528167</c:v>
                </c:pt>
                <c:pt idx="2">
                  <c:v>0.30771510840108401</c:v>
                </c:pt>
                <c:pt idx="3">
                  <c:v>0.3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4D02-49DB-878A-3DD4170A4753}"/>
            </c:ext>
          </c:extLst>
        </c:ser>
        <c:ser>
          <c:idx val="1"/>
          <c:order val="1"/>
          <c:tx>
            <c:strRef>
              <c:f>전국지역별회원현황!$B$31</c:f>
              <c:strCache>
                <c:ptCount val="1"/>
                <c:pt idx="0">
                  <c:v>경기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1.1069620252355532E-16"/>
                  <c:y val="5.32898321321871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0668273642272012E-2"/>
                      <c:h val="0.10436608662196045"/>
                    </c:manualLayout>
                  </c15:layout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전국지역별회원현황!$D$31:$G$31</c:f>
              <c:numCache>
                <c:formatCode>0%</c:formatCode>
                <c:ptCount val="4"/>
                <c:pt idx="0">
                  <c:v>0.30142817907168362</c:v>
                </c:pt>
                <c:pt idx="1">
                  <c:v>0.30345924453280321</c:v>
                </c:pt>
                <c:pt idx="2">
                  <c:v>0.30267615176151763</c:v>
                </c:pt>
                <c:pt idx="3">
                  <c:v>0.32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4D02-49DB-878A-3DD4170A4753}"/>
            </c:ext>
          </c:extLst>
        </c:ser>
        <c:ser>
          <c:idx val="2"/>
          <c:order val="2"/>
          <c:tx>
            <c:strRef>
              <c:f>전국지역별회원현황!$B$32</c:f>
              <c:strCache>
                <c:ptCount val="1"/>
                <c:pt idx="0">
                  <c:v>인천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전국지역별회원현황!$D$32:$G$32</c:f>
              <c:numCache>
                <c:formatCode>0%</c:formatCode>
                <c:ptCount val="4"/>
                <c:pt idx="0">
                  <c:v>5.6879978028014283E-2</c:v>
                </c:pt>
                <c:pt idx="1">
                  <c:v>5.6858846918489067E-2</c:v>
                </c:pt>
                <c:pt idx="2">
                  <c:v>5.0982384823848238E-2</c:v>
                </c:pt>
                <c:pt idx="3">
                  <c:v>0.05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4D02-49DB-878A-3DD4170A4753}"/>
            </c:ext>
          </c:extLst>
        </c:ser>
        <c:ser>
          <c:idx val="3"/>
          <c:order val="3"/>
          <c:tx>
            <c:strRef>
              <c:f>전국지역별회원현황!$B$33</c:f>
              <c:strCache>
                <c:ptCount val="1"/>
                <c:pt idx="0">
                  <c:v>부산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전국지역별회원현황!$D$33:$G$33</c:f>
              <c:numCache>
                <c:formatCode>0%</c:formatCode>
                <c:ptCount val="4"/>
                <c:pt idx="0">
                  <c:v>4.3202416918429E-2</c:v>
                </c:pt>
                <c:pt idx="1">
                  <c:v>4.3392975480450631E-2</c:v>
                </c:pt>
                <c:pt idx="2">
                  <c:v>4.725609756097561E-2</c:v>
                </c:pt>
                <c:pt idx="3">
                  <c:v>0.04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4D02-49DB-878A-3DD4170A4753}"/>
            </c:ext>
          </c:extLst>
        </c:ser>
        <c:ser>
          <c:idx val="4"/>
          <c:order val="4"/>
          <c:tx>
            <c:strRef>
              <c:f>전국지역별회원현황!$B$34</c:f>
              <c:strCache>
                <c:ptCount val="1"/>
                <c:pt idx="0">
                  <c:v>충남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전국지역별회원현황!$D$34:$G$34</c:f>
              <c:numCache>
                <c:formatCode>0%</c:formatCode>
                <c:ptCount val="4"/>
                <c:pt idx="0">
                  <c:v>3.1584729469925847E-2</c:v>
                </c:pt>
                <c:pt idx="1">
                  <c:v>3.0695825049701791E-2</c:v>
                </c:pt>
                <c:pt idx="2">
                  <c:v>3.785569105691057E-2</c:v>
                </c:pt>
                <c:pt idx="3">
                  <c:v>0.03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4D02-49DB-878A-3DD4170A4753}"/>
            </c:ext>
          </c:extLst>
        </c:ser>
        <c:ser>
          <c:idx val="5"/>
          <c:order val="5"/>
          <c:tx>
            <c:strRef>
              <c:f>전국지역별회원현황!$B$35</c:f>
              <c:strCache>
                <c:ptCount val="1"/>
                <c:pt idx="0">
                  <c:v>대구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전국지역별회원현황!$D$35:$G$35</c:f>
              <c:numCache>
                <c:formatCode>0%</c:formatCode>
                <c:ptCount val="4"/>
                <c:pt idx="0">
                  <c:v>2.8783301290854161E-2</c:v>
                </c:pt>
                <c:pt idx="1">
                  <c:v>3.0245195493704441E-2</c:v>
                </c:pt>
                <c:pt idx="2">
                  <c:v>3.1419376693766939E-2</c:v>
                </c:pt>
                <c:pt idx="3">
                  <c:v>0.03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4D02-49DB-878A-3DD4170A4753}"/>
            </c:ext>
          </c:extLst>
        </c:ser>
        <c:ser>
          <c:idx val="6"/>
          <c:order val="6"/>
          <c:tx>
            <c:strRef>
              <c:f>전국지역별회원현황!$B$36</c:f>
              <c:strCache>
                <c:ptCount val="1"/>
                <c:pt idx="0">
                  <c:v>대전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전국지역별회원현황!$D$36:$G$36</c:f>
              <c:numCache>
                <c:formatCode>0%</c:formatCode>
                <c:ptCount val="4"/>
                <c:pt idx="0">
                  <c:v>2.8206536665751167E-2</c:v>
                </c:pt>
                <c:pt idx="1">
                  <c:v>2.9662027833001987E-2</c:v>
                </c:pt>
                <c:pt idx="2">
                  <c:v>3.0403116531165311E-2</c:v>
                </c:pt>
                <c:pt idx="3">
                  <c:v>0.03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6-4D02-49DB-878A-3DD4170A4753}"/>
            </c:ext>
          </c:extLst>
        </c:ser>
        <c:ser>
          <c:idx val="7"/>
          <c:order val="7"/>
          <c:tx>
            <c:strRef>
              <c:f>전국지역별회원현황!$B$37</c:f>
              <c:strCache>
                <c:ptCount val="1"/>
                <c:pt idx="0">
                  <c:v>광주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전국지역별회원현황!$D$37:$G$37</c:f>
              <c:numCache>
                <c:formatCode>0%</c:formatCode>
                <c:ptCount val="4"/>
                <c:pt idx="0">
                  <c:v>2.7739631969239221E-2</c:v>
                </c:pt>
                <c:pt idx="1">
                  <c:v>2.8071570576540757E-2</c:v>
                </c:pt>
                <c:pt idx="2">
                  <c:v>2.6846205962059621E-2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7-4D02-49DB-878A-3DD4170A4753}"/>
            </c:ext>
          </c:extLst>
        </c:ser>
        <c:ser>
          <c:idx val="8"/>
          <c:order val="8"/>
          <c:tx>
            <c:strRef>
              <c:f>전국지역별회원현황!$B$38</c:f>
              <c:strCache>
                <c:ptCount val="1"/>
                <c:pt idx="0">
                  <c:v>전북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전국지역별회원현황!$D$38:$G$38</c:f>
              <c:numCache>
                <c:formatCode>0%</c:formatCode>
                <c:ptCount val="4"/>
                <c:pt idx="0">
                  <c:v>2.4086789343586927E-2</c:v>
                </c:pt>
                <c:pt idx="1">
                  <c:v>2.393638170974155E-2</c:v>
                </c:pt>
                <c:pt idx="2">
                  <c:v>2.6592140921409213E-2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8-4D02-49DB-878A-3DD4170A4753}"/>
            </c:ext>
          </c:extLst>
        </c:ser>
        <c:ser>
          <c:idx val="9"/>
          <c:order val="9"/>
          <c:tx>
            <c:strRef>
              <c:f>전국지역별회원현황!$B$39</c:f>
              <c:strCache>
                <c:ptCount val="1"/>
                <c:pt idx="0">
                  <c:v>경남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전국지역별회원현황!$D$39:$G$39</c:f>
              <c:numCache>
                <c:formatCode>0%</c:formatCode>
                <c:ptCount val="4"/>
                <c:pt idx="0">
                  <c:v>2.3098049986267508E-2</c:v>
                </c:pt>
                <c:pt idx="1">
                  <c:v>2.3750828363154407E-2</c:v>
                </c:pt>
                <c:pt idx="2">
                  <c:v>2.5448848238482386E-2</c:v>
                </c:pt>
                <c:pt idx="3">
                  <c:v>0.03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9-4D02-49DB-878A-3DD4170A4753}"/>
            </c:ext>
          </c:extLst>
        </c:ser>
        <c:ser>
          <c:idx val="10"/>
          <c:order val="10"/>
          <c:tx>
            <c:strRef>
              <c:f>전국지역별회원현황!$B$40</c:f>
              <c:strCache>
                <c:ptCount val="1"/>
                <c:pt idx="0">
                  <c:v>강원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전국지역별회원현황!$D$40:$G$40</c:f>
              <c:numCache>
                <c:formatCode>0%</c:formatCode>
                <c:ptCount val="4"/>
                <c:pt idx="0">
                  <c:v>2.2466355396868993E-2</c:v>
                </c:pt>
                <c:pt idx="1">
                  <c:v>2.2372432074221339E-2</c:v>
                </c:pt>
                <c:pt idx="2">
                  <c:v>2.5321815718157181E-2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A-4D02-49DB-878A-3DD4170A4753}"/>
            </c:ext>
          </c:extLst>
        </c:ser>
        <c:ser>
          <c:idx val="11"/>
          <c:order val="11"/>
          <c:tx>
            <c:strRef>
              <c:f>전국지역별회원현황!$B$41</c:f>
              <c:strCache>
                <c:ptCount val="1"/>
                <c:pt idx="0">
                  <c:v>충북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전국지역별회원현황!$D$41:$G$41</c:f>
              <c:numCache>
                <c:formatCode>0%</c:formatCode>
                <c:ptCount val="4"/>
                <c:pt idx="0">
                  <c:v>2.1917055753913759E-2</c:v>
                </c:pt>
                <c:pt idx="1">
                  <c:v>2.1895294897282969E-2</c:v>
                </c:pt>
                <c:pt idx="2">
                  <c:v>2.3246951219512195E-2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B-4D02-49DB-878A-3DD4170A4753}"/>
            </c:ext>
          </c:extLst>
        </c:ser>
        <c:ser>
          <c:idx val="12"/>
          <c:order val="12"/>
          <c:tx>
            <c:strRef>
              <c:f>전국지역별회원현황!$B$42</c:f>
              <c:strCache>
                <c:ptCount val="1"/>
                <c:pt idx="0">
                  <c:v>경북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전국지역별회원현황!$D$42:$G$42</c:f>
              <c:numCache>
                <c:formatCode>0%</c:formatCode>
                <c:ptCount val="4"/>
                <c:pt idx="0">
                  <c:v>1.864872287833013E-2</c:v>
                </c:pt>
                <c:pt idx="1">
                  <c:v>2.05168986083499E-2</c:v>
                </c:pt>
                <c:pt idx="2">
                  <c:v>2.0918021680216801E-2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C-4D02-49DB-878A-3DD4170A4753}"/>
            </c:ext>
          </c:extLst>
        </c:ser>
        <c:ser>
          <c:idx val="13"/>
          <c:order val="13"/>
          <c:tx>
            <c:strRef>
              <c:f>전국지역별회원현황!$B$43</c:f>
              <c:strCache>
                <c:ptCount val="1"/>
                <c:pt idx="0">
                  <c:v>전남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전국지역별회원현황!$D$43:$G$43</c:f>
              <c:numCache>
                <c:formatCode>0%</c:formatCode>
                <c:ptCount val="4"/>
                <c:pt idx="0">
                  <c:v>1.4254325734688272E-2</c:v>
                </c:pt>
                <c:pt idx="1">
                  <c:v>1.5719019218025182E-2</c:v>
                </c:pt>
                <c:pt idx="2">
                  <c:v>1.5794376693766939E-2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D-4D02-49DB-878A-3DD4170A4753}"/>
            </c:ext>
          </c:extLst>
        </c:ser>
        <c:ser>
          <c:idx val="14"/>
          <c:order val="14"/>
          <c:tx>
            <c:strRef>
              <c:f>전국지역별회원현황!$B$44</c:f>
              <c:strCache>
                <c:ptCount val="1"/>
                <c:pt idx="0">
                  <c:v>울산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전국지역별회원현황!$D$44:$G$44</c:f>
              <c:numCache>
                <c:formatCode>0%</c:formatCode>
                <c:ptCount val="4"/>
                <c:pt idx="0">
                  <c:v>1.2578961823674815E-2</c:v>
                </c:pt>
                <c:pt idx="1">
                  <c:v>1.4870775347912524E-2</c:v>
                </c:pt>
                <c:pt idx="2">
                  <c:v>1.5497967479674796E-2</c:v>
                </c:pt>
                <c:pt idx="3">
                  <c:v>0.02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E-4D02-49DB-878A-3DD4170A4753}"/>
            </c:ext>
          </c:extLst>
        </c:ser>
        <c:ser>
          <c:idx val="15"/>
          <c:order val="15"/>
          <c:tx>
            <c:strRef>
              <c:f>전국지역별회원현황!$B$45</c:f>
              <c:strCache>
                <c:ptCount val="1"/>
                <c:pt idx="0">
                  <c:v>기타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전국지역별회원현황!$D$45:$G$45</c:f>
              <c:numCache>
                <c:formatCode>0%</c:formatCode>
                <c:ptCount val="4"/>
                <c:pt idx="0">
                  <c:v>6.0148310903597917E-3</c:v>
                </c:pt>
                <c:pt idx="1">
                  <c:v>6.2823061630218691E-3</c:v>
                </c:pt>
                <c:pt idx="2">
                  <c:v>5.6741192411924116E-3</c:v>
                </c:pt>
                <c:pt idx="3">
                  <c:v>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F-4D02-49DB-878A-3DD4170A4753}"/>
            </c:ext>
          </c:extLst>
        </c:ser>
        <c:ser>
          <c:idx val="16"/>
          <c:order val="16"/>
          <c:tx>
            <c:strRef>
              <c:f>전국지역별회원현황!$B$46</c:f>
              <c:strCache>
                <c:ptCount val="1"/>
                <c:pt idx="0">
                  <c:v>제주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전국지역별회원현황!$D$46:$G$46</c:f>
              <c:numCache>
                <c:formatCode>0%</c:formatCode>
                <c:ptCount val="4"/>
                <c:pt idx="0">
                  <c:v>5.3831365009612744E-3</c:v>
                </c:pt>
                <c:pt idx="1">
                  <c:v>5.9377070907886019E-3</c:v>
                </c:pt>
                <c:pt idx="2">
                  <c:v>5.4623983739837401E-3</c:v>
                </c:pt>
                <c:pt idx="3">
                  <c:v>0.01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0-4D02-49DB-878A-3DD4170A4753}"/>
            </c:ext>
          </c:extLst>
        </c:ser>
        <c:ser>
          <c:idx val="17"/>
          <c:order val="17"/>
          <c:tx>
            <c:strRef>
              <c:f>전국지역별회원현황!$B$47</c:f>
              <c:strCache>
                <c:ptCount val="1"/>
                <c:pt idx="0">
                  <c:v>세종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전국지역별회원현황!$D$29:$G$29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전국지역별회원현황!$D$47:$G$47</c:f>
              <c:numCache>
                <c:formatCode>0%</c:formatCode>
                <c:ptCount val="4"/>
                <c:pt idx="0">
                  <c:v>5.026091733040374E-3</c:v>
                </c:pt>
                <c:pt idx="1">
                  <c:v>2.1206096752816436E-4</c:v>
                </c:pt>
                <c:pt idx="2">
                  <c:v>8.8922764227642272E-4</c:v>
                </c:pt>
                <c:pt idx="3">
                  <c:v>0.01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1-4D02-49DB-878A-3DD4170A4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47577216"/>
        <c:axId val="547577776"/>
      </c:lineChart>
      <c:catAx>
        <c:axId val="547577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7577776"/>
        <c:crosses val="autoZero"/>
        <c:auto val="1"/>
        <c:lblAlgn val="ctr"/>
        <c:lblOffset val="100"/>
        <c:noMultiLvlLbl val="0"/>
      </c:catAx>
      <c:valAx>
        <c:axId val="54757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7577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가입경로매체!$C$18</c:f>
              <c:strCache>
                <c:ptCount val="1"/>
                <c:pt idx="0">
                  <c:v>검색엔진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가입경로매체!$E$17:$G$17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가입경로매체!$E$18:$G$18</c:f>
              <c:numCache>
                <c:formatCode>0%</c:formatCode>
                <c:ptCount val="3"/>
                <c:pt idx="0">
                  <c:v>0.36141740712985759</c:v>
                </c:pt>
                <c:pt idx="1">
                  <c:v>0.32206532591641707</c:v>
                </c:pt>
                <c:pt idx="2">
                  <c:v>0.30234657039711194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ADC-403E-ADC8-78138DB14765}"/>
            </c:ext>
          </c:extLst>
        </c:ser>
        <c:ser>
          <c:idx val="1"/>
          <c:order val="1"/>
          <c:tx>
            <c:strRef>
              <c:f>가입경로매체!$C$19</c:f>
              <c:strCache>
                <c:ptCount val="1"/>
                <c:pt idx="0">
                  <c:v>주변인소개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가입경로매체!$E$17:$G$17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가입경로매체!$E$19:$G$19</c:f>
              <c:numCache>
                <c:formatCode>0%</c:formatCode>
                <c:ptCount val="3"/>
                <c:pt idx="0">
                  <c:v>0.36527138422010491</c:v>
                </c:pt>
                <c:pt idx="1">
                  <c:v>0.3854656967622308</c:v>
                </c:pt>
                <c:pt idx="2">
                  <c:v>0.40162454873646208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ADC-403E-ADC8-78138DB14765}"/>
            </c:ext>
          </c:extLst>
        </c:ser>
        <c:ser>
          <c:idx val="2"/>
          <c:order val="2"/>
          <c:tx>
            <c:strRef>
              <c:f>가입경로매체!$C$20</c:f>
              <c:strCache>
                <c:ptCount val="1"/>
                <c:pt idx="0">
                  <c:v>신문 및 대중매체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가입경로매체!$E$17:$G$17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가입경로매체!$E$20:$G$20</c:f>
              <c:numCache>
                <c:formatCode>0%</c:formatCode>
                <c:ptCount val="3"/>
                <c:pt idx="0">
                  <c:v>0.11342468686436141</c:v>
                </c:pt>
                <c:pt idx="1">
                  <c:v>0.1069747539580659</c:v>
                </c:pt>
                <c:pt idx="2">
                  <c:v>0.11762936221419976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8ADC-403E-ADC8-78138DB14765}"/>
            </c:ext>
          </c:extLst>
        </c:ser>
        <c:ser>
          <c:idx val="3"/>
          <c:order val="3"/>
          <c:tx>
            <c:strRef>
              <c:f>가입경로매체!$C$21</c:f>
              <c:strCache>
                <c:ptCount val="1"/>
                <c:pt idx="0">
                  <c:v>인터넷 배너광고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가입경로매체!$E$17:$G$17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가입경로매체!$E$21:$G$21</c:f>
              <c:numCache>
                <c:formatCode>0%</c:formatCode>
                <c:ptCount val="3"/>
                <c:pt idx="0">
                  <c:v>4.9619955036933949E-2</c:v>
                </c:pt>
                <c:pt idx="1">
                  <c:v>5.3344743973755528E-2</c:v>
                </c:pt>
                <c:pt idx="2">
                  <c:v>4.7533092659446448E-2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ADC-403E-ADC8-78138DB14765}"/>
            </c:ext>
          </c:extLst>
        </c:ser>
        <c:ser>
          <c:idx val="4"/>
          <c:order val="4"/>
          <c:tx>
            <c:strRef>
              <c:f>가입경로매체!$C$22</c:f>
              <c:strCache>
                <c:ptCount val="1"/>
                <c:pt idx="0">
                  <c:v>이메일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432789340954273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8ADC-403E-ADC8-78138DB147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6.3806093783403016E-3"/>
                  <c:y val="-1.68655786819085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ADC-403E-ADC8-78138DB147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3806093783401255E-3"/>
                  <c:y val="-8.432789340954292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ADC-403E-ADC8-78138DB147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가입경로매체!$E$17:$G$17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가입경로매체!$E$22:$G$22</c:f>
              <c:numCache>
                <c:formatCode>0%</c:formatCode>
                <c:ptCount val="3"/>
                <c:pt idx="0">
                  <c:v>8.6714484530564188E-3</c:v>
                </c:pt>
                <c:pt idx="1">
                  <c:v>1.205248894594209E-2</c:v>
                </c:pt>
                <c:pt idx="2">
                  <c:v>1.3237063778580024E-2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8ADC-403E-ADC8-78138DB14765}"/>
            </c:ext>
          </c:extLst>
        </c:ser>
        <c:ser>
          <c:idx val="5"/>
          <c:order val="5"/>
          <c:tx>
            <c:strRef>
              <c:f>가입경로매체!$C$23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1903046891700922E-3"/>
                  <c:y val="-2.1081973352385687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ADC-403E-ADC8-78138DB147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1.686557868190854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ADC-403E-ADC8-78138DB147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1.686557868190854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8ADC-403E-ADC8-78138DB147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가입경로매체!$E$17:$G$17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가입경로매체!$E$23:$G$23</c:f>
              <c:numCache>
                <c:formatCode>0%</c:formatCode>
                <c:ptCount val="3"/>
                <c:pt idx="0">
                  <c:v>0.10159511829568568</c:v>
                </c:pt>
                <c:pt idx="1">
                  <c:v>0.12009699044358865</c:v>
                </c:pt>
                <c:pt idx="2">
                  <c:v>0.11762936221419976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8ADC-403E-ADC8-78138DB147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47582816"/>
        <c:axId val="547583376"/>
      </c:barChart>
      <c:catAx>
        <c:axId val="547582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7583376"/>
        <c:crosses val="autoZero"/>
        <c:auto val="1"/>
        <c:lblAlgn val="ctr"/>
        <c:lblOffset val="100"/>
        <c:noMultiLvlLbl val="0"/>
      </c:catAx>
      <c:valAx>
        <c:axId val="547583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7582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지역별연령별여행추이!$C$20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지역별연령별여행추이!$C$21:$C$24</c:f>
              <c:numCache>
                <c:formatCode>0%</c:formatCode>
                <c:ptCount val="4"/>
                <c:pt idx="0">
                  <c:v>3.1045628805532587E-2</c:v>
                </c:pt>
                <c:pt idx="1">
                  <c:v>3.3234494687422782E-2</c:v>
                </c:pt>
                <c:pt idx="2">
                  <c:v>2.5576975291881618E-2</c:v>
                </c:pt>
                <c:pt idx="3">
                  <c:v>2.7787406123627959E-2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지역별연령별여행추이!$D$20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지역별연령별여행추이!$D$21:$D$24</c:f>
              <c:numCache>
                <c:formatCode>0%</c:formatCode>
                <c:ptCount val="4"/>
                <c:pt idx="0">
                  <c:v>0.45095091332782078</c:v>
                </c:pt>
                <c:pt idx="1">
                  <c:v>0.4800469483568075</c:v>
                </c:pt>
                <c:pt idx="2">
                  <c:v>0.47542764051045344</c:v>
                </c:pt>
                <c:pt idx="3">
                  <c:v>0.53622183708838822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지역별연령별여행추이!$E$20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지역별연령별여행추이!$E$21:$E$24</c:f>
              <c:numCache>
                <c:formatCode>0%</c:formatCode>
                <c:ptCount val="4"/>
                <c:pt idx="0">
                  <c:v>5.5175524317823049E-2</c:v>
                </c:pt>
                <c:pt idx="1">
                  <c:v>5.3681739560168029E-2</c:v>
                </c:pt>
                <c:pt idx="2">
                  <c:v>5.0719522128699429E-2</c:v>
                </c:pt>
                <c:pt idx="3">
                  <c:v>3.9052570768341996E-2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지역별연령별여행추이!$F$20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지역별연령별여행추이!$F$21:$F$24</c:f>
              <c:numCache>
                <c:formatCode>0%</c:formatCode>
                <c:ptCount val="4"/>
                <c:pt idx="0">
                  <c:v>9.6294069006990904E-2</c:v>
                </c:pt>
                <c:pt idx="1">
                  <c:v>0.10106251544353842</c:v>
                </c:pt>
                <c:pt idx="2">
                  <c:v>9.9701330437143632E-2</c:v>
                </c:pt>
                <c:pt idx="3">
                  <c:v>5.5748122472559211E-2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지역별연령별여행추이!$G$20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지역별연령별여행추이!$G$21:$G$24</c:f>
              <c:numCache>
                <c:formatCode>0%</c:formatCode>
                <c:ptCount val="4"/>
                <c:pt idx="0">
                  <c:v>2.1874765090581071E-2</c:v>
                </c:pt>
                <c:pt idx="1">
                  <c:v>1.8161601186063751E-2</c:v>
                </c:pt>
                <c:pt idx="2">
                  <c:v>1.7159923975020364E-2</c:v>
                </c:pt>
                <c:pt idx="3">
                  <c:v>2.3396880415944541E-2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지역별연령별여행추이!$H$20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지역별연령별여행추이!$H$21:$H$24</c:f>
              <c:numCache>
                <c:formatCode>0%</c:formatCode>
                <c:ptCount val="4"/>
                <c:pt idx="0">
                  <c:v>0.27369766218146285</c:v>
                </c:pt>
                <c:pt idx="1">
                  <c:v>0.28125772176921177</c:v>
                </c:pt>
                <c:pt idx="2">
                  <c:v>0.27912028237849579</c:v>
                </c:pt>
                <c:pt idx="3">
                  <c:v>0.29214326978625071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지역별연령별여행추이!$I$20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지역별연령별여행추이!$I$21:$I$24</c:f>
              <c:numCache>
                <c:formatCode>0%</c:formatCode>
                <c:ptCount val="4"/>
                <c:pt idx="0">
                  <c:v>6.9758701044877094E-2</c:v>
                </c:pt>
                <c:pt idx="1">
                  <c:v>3.2060785767234992E-2</c:v>
                </c:pt>
                <c:pt idx="2">
                  <c:v>5.1968503937007873E-2</c:v>
                </c:pt>
                <c:pt idx="3">
                  <c:v>2.5245522819179664E-2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지역별연령별여행추이!$J$20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F6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지역별연령별여행추이!$B$21:$B$24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지역별연령별여행추이!$J$21:$J$24</c:f>
              <c:numCache>
                <c:formatCode>0%</c:formatCode>
                <c:ptCount val="4"/>
                <c:pt idx="0">
                  <c:v>1.202736224911674E-3</c:v>
                </c:pt>
                <c:pt idx="1">
                  <c:v>4.9419322955275514E-4</c:v>
                </c:pt>
                <c:pt idx="2">
                  <c:v>3.25821341297855E-4</c:v>
                </c:pt>
                <c:pt idx="3">
                  <c:v>4.0439052570768341E-4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31023984"/>
        <c:axId val="931018384"/>
      </c:barChart>
      <c:catAx>
        <c:axId val="931023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31018384"/>
        <c:crosses val="autoZero"/>
        <c:auto val="1"/>
        <c:lblAlgn val="ctr"/>
        <c:lblOffset val="100"/>
        <c:noMultiLvlLbl val="0"/>
      </c:catAx>
      <c:valAx>
        <c:axId val="931018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31023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지역별연령별여행추이!$C$42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지역별연령별여행추이!$C$43:$C$46</c:f>
              <c:numCache>
                <c:formatCode>0%</c:formatCode>
                <c:ptCount val="4"/>
                <c:pt idx="0">
                  <c:v>0.17043624161073825</c:v>
                </c:pt>
                <c:pt idx="1">
                  <c:v>0.15623565003646578</c:v>
                </c:pt>
                <c:pt idx="2">
                  <c:v>0.13649134784549535</c:v>
                </c:pt>
                <c:pt idx="3">
                  <c:v>0.15154985295265858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지역별연령별여행추이!$D$42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지역별연령별여행추이!$D$43:$D$46</c:f>
              <c:numCache>
                <c:formatCode>0%</c:formatCode>
                <c:ptCount val="4"/>
                <c:pt idx="0">
                  <c:v>0.39275167785234899</c:v>
                </c:pt>
                <c:pt idx="1">
                  <c:v>0.42678479781745493</c:v>
                </c:pt>
                <c:pt idx="2">
                  <c:v>0.45503242916787018</c:v>
                </c:pt>
                <c:pt idx="3">
                  <c:v>0.50235536007079096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지역별연령별여행추이!$E$42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지역별연령별여행추이!$E$43:$E$46</c:f>
              <c:numCache>
                <c:formatCode>0%</c:formatCode>
                <c:ptCount val="4"/>
                <c:pt idx="0">
                  <c:v>0.10855704697986578</c:v>
                </c:pt>
                <c:pt idx="1">
                  <c:v>6.3828637800167468E-2</c:v>
                </c:pt>
                <c:pt idx="2">
                  <c:v>5.9948008297665625E-2</c:v>
                </c:pt>
                <c:pt idx="3">
                  <c:v>5.8350467168102438E-2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지역별연령별여행추이!$F$42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지역별연령별여행추이!$F$43:$F$46</c:f>
              <c:numCache>
                <c:formatCode>0%</c:formatCode>
                <c:ptCount val="4"/>
                <c:pt idx="0">
                  <c:v>0.16379194630872485</c:v>
                </c:pt>
                <c:pt idx="1">
                  <c:v>0.19132384322411605</c:v>
                </c:pt>
                <c:pt idx="2">
                  <c:v>0.1744873040464249</c:v>
                </c:pt>
                <c:pt idx="3">
                  <c:v>0.11016838872550296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지역별연령별여행추이!$G$42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지역별연령별여행추이!$G$43:$G$46</c:f>
              <c:numCache>
                <c:formatCode>0%</c:formatCode>
                <c:ptCount val="4"/>
                <c:pt idx="0">
                  <c:v>3.5369127516778523E-2</c:v>
                </c:pt>
                <c:pt idx="1">
                  <c:v>3.7492234137381487E-2</c:v>
                </c:pt>
                <c:pt idx="2">
                  <c:v>3.4897460809284984E-2</c:v>
                </c:pt>
                <c:pt idx="3">
                  <c:v>3.5031101163365691E-2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지역별연령별여행추이!$H$42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지역별연령별여행추이!$H$43:$H$46</c:f>
              <c:numCache>
                <c:formatCode>0%</c:formatCode>
                <c:ptCount val="4"/>
                <c:pt idx="0">
                  <c:v>9.020134228187919E-2</c:v>
                </c:pt>
                <c:pt idx="1">
                  <c:v>9.6134626293184949E-2</c:v>
                </c:pt>
                <c:pt idx="2">
                  <c:v>0.10421973058845153</c:v>
                </c:pt>
                <c:pt idx="3">
                  <c:v>0.11792416000832834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지역별연령별여행추이!$I$42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지역별연령별여행추이!$I$43:$I$46</c:f>
              <c:numCache>
                <c:formatCode>0%</c:formatCode>
                <c:ptCount val="4"/>
                <c:pt idx="0">
                  <c:v>3.546979865771812E-2</c:v>
                </c:pt>
                <c:pt idx="1">
                  <c:v>2.5445017692660922E-2</c:v>
                </c:pt>
                <c:pt idx="2">
                  <c:v>3.1930257595252476E-2</c:v>
                </c:pt>
                <c:pt idx="3">
                  <c:v>2.2252296801394997E-2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지역별연령별여행추이!$J$42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F6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지역별연령별여행추이!$J$43:$J$46</c:f>
              <c:numCache>
                <c:formatCode>0%</c:formatCode>
                <c:ptCount val="4"/>
                <c:pt idx="0">
                  <c:v>3.4228187919463087E-3</c:v>
                </c:pt>
                <c:pt idx="1">
                  <c:v>2.75519299856838E-3</c:v>
                </c:pt>
                <c:pt idx="2">
                  <c:v>2.9934616495549196E-3</c:v>
                </c:pt>
                <c:pt idx="3">
                  <c:v>2.3683731098560756E-3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31046944"/>
        <c:axId val="931024544"/>
      </c:barChart>
      <c:catAx>
        <c:axId val="93104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31024544"/>
        <c:crosses val="autoZero"/>
        <c:auto val="1"/>
        <c:lblAlgn val="ctr"/>
        <c:lblOffset val="100"/>
        <c:noMultiLvlLbl val="0"/>
      </c:catAx>
      <c:valAx>
        <c:axId val="931024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3104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지역별연령별여행추이!$C$43:$C$46</c:f>
              <c:numCache>
                <c:formatCode>0%</c:formatCode>
                <c:ptCount val="4"/>
                <c:pt idx="0">
                  <c:v>0.16361303566846291</c:v>
                </c:pt>
                <c:pt idx="1">
                  <c:v>0.17009413468501086</c:v>
                </c:pt>
                <c:pt idx="2">
                  <c:v>0.16916660190150515</c:v>
                </c:pt>
                <c:pt idx="3">
                  <c:v>0.17732237084304822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517-4C7A-B7DE-1C2F660F476C}"/>
            </c:ext>
          </c:extLst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지역별연령별여행추이!$D$43:$D$46</c:f>
              <c:numCache>
                <c:formatCode>0%</c:formatCode>
                <c:ptCount val="4"/>
                <c:pt idx="0">
                  <c:v>0.42019502181164997</c:v>
                </c:pt>
                <c:pt idx="1">
                  <c:v>0.4420951001689597</c:v>
                </c:pt>
                <c:pt idx="2">
                  <c:v>0.42786456309422033</c:v>
                </c:pt>
                <c:pt idx="3">
                  <c:v>0.45766351699595043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517-4C7A-B7DE-1C2F660F476C}"/>
            </c:ext>
          </c:extLst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지역별연령별여행추이!$E$43:$E$46</c:f>
              <c:numCache>
                <c:formatCode>0%</c:formatCode>
                <c:ptCount val="4"/>
                <c:pt idx="0">
                  <c:v>7.023351295868617E-2</c:v>
                </c:pt>
                <c:pt idx="1">
                  <c:v>6.0994448467294231E-2</c:v>
                </c:pt>
                <c:pt idx="2">
                  <c:v>6.9583689541721713E-2</c:v>
                </c:pt>
                <c:pt idx="3">
                  <c:v>6.8474659467419319E-2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517-4C7A-B7DE-1C2F660F476C}"/>
            </c:ext>
          </c:extLst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지역별연령별여행추이!$F$43:$F$46</c:f>
              <c:numCache>
                <c:formatCode>0%</c:formatCode>
                <c:ptCount val="4"/>
                <c:pt idx="0">
                  <c:v>9.5996920708237107E-2</c:v>
                </c:pt>
                <c:pt idx="1">
                  <c:v>0.11204441226164615</c:v>
                </c:pt>
                <c:pt idx="2">
                  <c:v>0.1141939327996684</c:v>
                </c:pt>
                <c:pt idx="3">
                  <c:v>8.2218677138299182E-2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517-4C7A-B7DE-1C2F660F476C}"/>
            </c:ext>
          </c:extLst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지역별연령별여행추이!$G$43:$G$46</c:f>
              <c:numCache>
                <c:formatCode>0%</c:formatCode>
                <c:ptCount val="4"/>
                <c:pt idx="0">
                  <c:v>4.3315370798049785E-2</c:v>
                </c:pt>
                <c:pt idx="1">
                  <c:v>3.9729664494327785E-2</c:v>
                </c:pt>
                <c:pt idx="2">
                  <c:v>3.7771042200979252E-2</c:v>
                </c:pt>
                <c:pt idx="3">
                  <c:v>4.7275739354522027E-2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1517-4C7A-B7DE-1C2F660F476C}"/>
            </c:ext>
          </c:extLst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지역별연령별여행추이!$H$43:$H$46</c:f>
              <c:numCache>
                <c:formatCode>0%</c:formatCode>
                <c:ptCount val="4"/>
                <c:pt idx="0">
                  <c:v>0.15789068514241725</c:v>
                </c:pt>
                <c:pt idx="1">
                  <c:v>0.13972966449432778</c:v>
                </c:pt>
                <c:pt idx="2">
                  <c:v>0.14914121395818761</c:v>
                </c:pt>
                <c:pt idx="3">
                  <c:v>0.13605963921953615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517-4C7A-B7DE-1C2F660F476C}"/>
            </c:ext>
          </c:extLst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지역별연령별여행추이!$I$43:$I$46</c:f>
              <c:numCache>
                <c:formatCode>0%</c:formatCode>
                <c:ptCount val="4"/>
                <c:pt idx="0">
                  <c:v>4.2981780857069538E-2</c:v>
                </c:pt>
                <c:pt idx="1">
                  <c:v>2.9326574945691526E-2</c:v>
                </c:pt>
                <c:pt idx="2">
                  <c:v>2.445532499158053E-2</c:v>
                </c:pt>
                <c:pt idx="3">
                  <c:v>2.2794207878267272E-2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1517-4C7A-B7DE-1C2F660F476C}"/>
            </c:ext>
          </c:extLst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788934248765947E-2"/>
                  <c:y val="-1.41238329007403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517-4C7A-B7DE-1C2F660F476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1.42151721828202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517-4C7A-B7DE-1C2F660F476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5.8615271511558782E-17"/>
                  <c:y val="-1.50051245970398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517-4C7A-B7DE-1C2F660F476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1972335621914794E-3"/>
                  <c:y val="-1.516331364354050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517-4C7A-B7DE-1C2F660F476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지역별연령별여행추이!$J$43:$J$46</c:f>
              <c:numCache>
                <c:formatCode>0%</c:formatCode>
                <c:ptCount val="4"/>
                <c:pt idx="0">
                  <c:v>5.7736720554272519E-3</c:v>
                </c:pt>
                <c:pt idx="1">
                  <c:v>5.986000482741974E-3</c:v>
                </c:pt>
                <c:pt idx="2">
                  <c:v>7.8236315121369918E-3</c:v>
                </c:pt>
                <c:pt idx="3">
                  <c:v>8.1911891029574184E-3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1517-4C7A-B7DE-1C2F660F47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7786336"/>
        <c:axId val="637786896"/>
      </c:barChart>
      <c:catAx>
        <c:axId val="63778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pPr>
            <a:endParaRPr lang="ko-KR"/>
          </a:p>
        </c:txPr>
        <c:crossAx val="637786896"/>
        <c:crosses val="autoZero"/>
        <c:auto val="1"/>
        <c:lblAlgn val="ctr"/>
        <c:lblOffset val="100"/>
        <c:noMultiLvlLbl val="0"/>
      </c:catAx>
      <c:valAx>
        <c:axId val="63778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pPr>
            <a:endParaRPr lang="ko-KR"/>
          </a:p>
        </c:txPr>
        <c:crossAx val="63778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나눔고딕" panose="020D0604000000000000" pitchFamily="50" charset="-127"/>
          <a:ea typeface="나눔고딕" panose="020D0604000000000000" pitchFamily="50" charset="-127"/>
        </a:defRPr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지역별연령별여행추이!$C$23:$C$26</c:f>
              <c:numCache>
                <c:formatCode>0%</c:formatCode>
                <c:ptCount val="4"/>
                <c:pt idx="0">
                  <c:v>0.21222381831862644</c:v>
                </c:pt>
                <c:pt idx="1">
                  <c:v>0.22379557291666666</c:v>
                </c:pt>
                <c:pt idx="2">
                  <c:v>0.23776894614225025</c:v>
                </c:pt>
                <c:pt idx="3">
                  <c:v>0.25608714954068912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지역별연령별여행추이!$D$23:$D$26</c:f>
              <c:numCache>
                <c:formatCode>0%</c:formatCode>
                <c:ptCount val="4"/>
                <c:pt idx="0">
                  <c:v>0.43053560435050275</c:v>
                </c:pt>
                <c:pt idx="1">
                  <c:v>0.43466796875000002</c:v>
                </c:pt>
                <c:pt idx="2">
                  <c:v>0.42205700973002602</c:v>
                </c:pt>
                <c:pt idx="3">
                  <c:v>0.44848546938496736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지역별연령별여행추이!$E$23:$E$26</c:f>
              <c:numCache>
                <c:formatCode>0%</c:formatCode>
                <c:ptCount val="4"/>
                <c:pt idx="0">
                  <c:v>9.0464464053628846E-2</c:v>
                </c:pt>
                <c:pt idx="1">
                  <c:v>6.7936197916666663E-2</c:v>
                </c:pt>
                <c:pt idx="2">
                  <c:v>6.5883239687542824E-2</c:v>
                </c:pt>
                <c:pt idx="3">
                  <c:v>6.1161766212478229E-2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지역별연령별여행추이!$F$23:$F$26</c:f>
              <c:numCache>
                <c:formatCode>0%</c:formatCode>
                <c:ptCount val="4"/>
                <c:pt idx="0">
                  <c:v>0.12647923934605651</c:v>
                </c:pt>
                <c:pt idx="1">
                  <c:v>0.14635416666666667</c:v>
                </c:pt>
                <c:pt idx="2">
                  <c:v>0.14283267096066876</c:v>
                </c:pt>
                <c:pt idx="3">
                  <c:v>0.10326810777584264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지역별연령별여행추이!$G$23:$G$26</c:f>
              <c:numCache>
                <c:formatCode>0%</c:formatCode>
                <c:ptCount val="4"/>
                <c:pt idx="0">
                  <c:v>3.4988713318284424E-2</c:v>
                </c:pt>
                <c:pt idx="1">
                  <c:v>3.7695312500000001E-2</c:v>
                </c:pt>
                <c:pt idx="2">
                  <c:v>3.9605317253665888E-2</c:v>
                </c:pt>
                <c:pt idx="3">
                  <c:v>4.0876959327937709E-2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지역별연령별여행추이!$H$23:$H$26</c:f>
              <c:numCache>
                <c:formatCode>0%</c:formatCode>
                <c:ptCount val="4"/>
                <c:pt idx="0">
                  <c:v>5.8211915999726381E-2</c:v>
                </c:pt>
                <c:pt idx="1">
                  <c:v>5.133463541666667E-2</c:v>
                </c:pt>
                <c:pt idx="2">
                  <c:v>5.5262436617788131E-2</c:v>
                </c:pt>
                <c:pt idx="3">
                  <c:v>5.4878257009186214E-2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지역별연령별여행추이!$I$23:$I$26</c:f>
              <c:numCache>
                <c:formatCode>0%</c:formatCode>
                <c:ptCount val="4"/>
                <c:pt idx="0">
                  <c:v>4.210274300567754E-2</c:v>
                </c:pt>
                <c:pt idx="1">
                  <c:v>3.2519531249999997E-2</c:v>
                </c:pt>
                <c:pt idx="2">
                  <c:v>2.7853912566808279E-2</c:v>
                </c:pt>
                <c:pt idx="3">
                  <c:v>2.8822183519448145E-2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지역별연령별여행추이!$B$23:$B$26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지역별연령별여행추이!$J$23:$J$26</c:f>
              <c:numCache>
                <c:formatCode>0%</c:formatCode>
                <c:ptCount val="4"/>
                <c:pt idx="0">
                  <c:v>4.9935016074970926E-3</c:v>
                </c:pt>
                <c:pt idx="1">
                  <c:v>5.696614583333333E-3</c:v>
                </c:pt>
                <c:pt idx="2">
                  <c:v>8.7364670412498294E-3</c:v>
                </c:pt>
                <c:pt idx="3">
                  <c:v>6.4201072294505345E-3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7793056"/>
        <c:axId val="637793616"/>
      </c:barChart>
      <c:catAx>
        <c:axId val="637793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pPr>
            <a:endParaRPr lang="ko-KR"/>
          </a:p>
        </c:txPr>
        <c:crossAx val="637793616"/>
        <c:crosses val="autoZero"/>
        <c:auto val="1"/>
        <c:lblAlgn val="ctr"/>
        <c:lblOffset val="100"/>
        <c:noMultiLvlLbl val="0"/>
      </c:catAx>
      <c:valAx>
        <c:axId val="63779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pPr>
            <a:endParaRPr lang="ko-KR"/>
          </a:p>
        </c:txPr>
        <c:crossAx val="637793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나눔고딕" panose="020D0604000000000000" pitchFamily="50" charset="-127"/>
          <a:ea typeface="나눔고딕" panose="020D0604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지역별연령별여행추이!$C$65:$C$68</c:f>
              <c:numCache>
                <c:formatCode>0%</c:formatCode>
                <c:ptCount val="4"/>
                <c:pt idx="0">
                  <c:v>0.19591830937908311</c:v>
                </c:pt>
                <c:pt idx="1">
                  <c:v>0.18165519219736087</c:v>
                </c:pt>
                <c:pt idx="2">
                  <c:v>0.16687325689494886</c:v>
                </c:pt>
                <c:pt idx="3">
                  <c:v>0.17782458064355325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지역별연령별여행추이!$D$65:$D$68</c:f>
              <c:numCache>
                <c:formatCode>0%</c:formatCode>
                <c:ptCount val="4"/>
                <c:pt idx="0">
                  <c:v>0.37928194057831049</c:v>
                </c:pt>
                <c:pt idx="1">
                  <c:v>0.42050344234079173</c:v>
                </c:pt>
                <c:pt idx="2">
                  <c:v>0.43847584086195801</c:v>
                </c:pt>
                <c:pt idx="3">
                  <c:v>0.47906333341641533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지역별연령별여행추이!$E$65:$E$68</c:f>
              <c:numCache>
                <c:formatCode>0%</c:formatCode>
                <c:ptCount val="4"/>
                <c:pt idx="0">
                  <c:v>0.11938305970573197</c:v>
                </c:pt>
                <c:pt idx="1">
                  <c:v>7.1129757123733026E-2</c:v>
                </c:pt>
                <c:pt idx="2">
                  <c:v>7.5862315558627921E-2</c:v>
                </c:pt>
                <c:pt idx="3">
                  <c:v>7.2979237805637948E-2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지역별연령별여행추이!$F$65:$F$68</c:f>
              <c:numCache>
                <c:formatCode>0%</c:formatCode>
                <c:ptCount val="4"/>
                <c:pt idx="0">
                  <c:v>0.15328353121626995</c:v>
                </c:pt>
                <c:pt idx="1">
                  <c:v>0.18077070185503921</c:v>
                </c:pt>
                <c:pt idx="2">
                  <c:v>0.16642034754833018</c:v>
                </c:pt>
                <c:pt idx="3">
                  <c:v>0.10469579521946112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지역별연령별여행추이!$G$65:$G$68</c:f>
              <c:numCache>
                <c:formatCode>0%</c:formatCode>
                <c:ptCount val="4"/>
                <c:pt idx="0">
                  <c:v>2.6685792194512298E-2</c:v>
                </c:pt>
                <c:pt idx="1">
                  <c:v>3.0251960221839739E-2</c:v>
                </c:pt>
                <c:pt idx="2">
                  <c:v>2.9462944864246384E-2</c:v>
                </c:pt>
                <c:pt idx="3">
                  <c:v>3.1018668527703696E-2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지역별연령별여행추이!$H$65:$H$68</c:f>
              <c:numCache>
                <c:formatCode>0%</c:formatCode>
                <c:ptCount val="4"/>
                <c:pt idx="0">
                  <c:v>7.4163494858830878E-2</c:v>
                </c:pt>
                <c:pt idx="1">
                  <c:v>7.7823197552113213E-2</c:v>
                </c:pt>
                <c:pt idx="2">
                  <c:v>8.7494934566518079E-2</c:v>
                </c:pt>
                <c:pt idx="3">
                  <c:v>9.8364946038234341E-2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지역별연령별여행추이!$I$65:$I$68</c:f>
              <c:numCache>
                <c:formatCode>0%</c:formatCode>
                <c:ptCount val="4"/>
                <c:pt idx="0">
                  <c:v>4.6213713571550304E-2</c:v>
                </c:pt>
                <c:pt idx="1">
                  <c:v>3.2893478676611208E-2</c:v>
                </c:pt>
                <c:pt idx="2">
                  <c:v>3.0046959548044146E-2</c:v>
                </c:pt>
                <c:pt idx="3">
                  <c:v>3.1467311383066222E-2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788934248765918E-2"/>
                  <c:y val="-1.389299625408294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6.7141904806020947E-2"/>
                  <c:y val="-1.268842815352398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지역별연령별여행추이!$B$65:$B$68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지역별연령별여행추이!$J$65:$J$68</c:f>
              <c:numCache>
                <c:formatCode>0%</c:formatCode>
                <c:ptCount val="4"/>
                <c:pt idx="0">
                  <c:v>5.0701584957109583E-3</c:v>
                </c:pt>
                <c:pt idx="1">
                  <c:v>4.9722700325109965E-3</c:v>
                </c:pt>
                <c:pt idx="2">
                  <c:v>5.3634001573264044E-3</c:v>
                </c:pt>
                <c:pt idx="3">
                  <c:v>4.5861269659280678E-3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53576032"/>
        <c:axId val="553576592"/>
      </c:barChart>
      <c:catAx>
        <c:axId val="553576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76592"/>
        <c:crosses val="autoZero"/>
        <c:auto val="1"/>
        <c:lblAlgn val="ctr"/>
        <c:lblOffset val="100"/>
        <c:noMultiLvlLbl val="0"/>
      </c:catAx>
      <c:valAx>
        <c:axId val="553576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76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지역별연령별여행추이!$C$86:$C$89</c:f>
              <c:numCache>
                <c:formatCode>0%</c:formatCode>
                <c:ptCount val="4"/>
                <c:pt idx="0">
                  <c:v>0.28976303052345914</c:v>
                </c:pt>
                <c:pt idx="1">
                  <c:v>0.28228817800361861</c:v>
                </c:pt>
                <c:pt idx="2">
                  <c:v>0.26792725173210163</c:v>
                </c:pt>
                <c:pt idx="3">
                  <c:v>0.2856995185918072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지역별연령별여행추이!$D$86:$D$89</c:f>
              <c:numCache>
                <c:formatCode>0%</c:formatCode>
                <c:ptCount val="4"/>
                <c:pt idx="0">
                  <c:v>0.27294854936630947</c:v>
                </c:pt>
                <c:pt idx="1">
                  <c:v>0.32661970204411594</c:v>
                </c:pt>
                <c:pt idx="2">
                  <c:v>0.33312644341801384</c:v>
                </c:pt>
                <c:pt idx="3">
                  <c:v>0.3570616379692253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지역별연령별여행추이!$E$86:$E$89</c:f>
              <c:numCache>
                <c:formatCode>0%</c:formatCode>
                <c:ptCount val="4"/>
                <c:pt idx="0">
                  <c:v>0.18759850413600798</c:v>
                </c:pt>
                <c:pt idx="1">
                  <c:v>9.8687300304115183E-2</c:v>
                </c:pt>
                <c:pt idx="2">
                  <c:v>0.11515588914549653</c:v>
                </c:pt>
                <c:pt idx="3">
                  <c:v>0.13017218464809946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지역별연령별여행추이!$F$86:$F$89</c:f>
              <c:numCache>
                <c:formatCode>0%</c:formatCode>
                <c:ptCount val="4"/>
                <c:pt idx="0">
                  <c:v>0.13355528821494186</c:v>
                </c:pt>
                <c:pt idx="1">
                  <c:v>0.16614697617122839</c:v>
                </c:pt>
                <c:pt idx="2">
                  <c:v>0.16209584295612009</c:v>
                </c:pt>
                <c:pt idx="3">
                  <c:v>0.10433710387193951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지역별연령별여행추이!$G$86:$G$89</c:f>
              <c:numCache>
                <c:formatCode>0%</c:formatCode>
                <c:ptCount val="4"/>
                <c:pt idx="0">
                  <c:v>3.0821885870426842E-2</c:v>
                </c:pt>
                <c:pt idx="1">
                  <c:v>3.8264618701158715E-2</c:v>
                </c:pt>
                <c:pt idx="2">
                  <c:v>3.7016454965357964E-2</c:v>
                </c:pt>
                <c:pt idx="3">
                  <c:v>3.8874449924687672E-2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지역별연령별여행추이!$H$86:$H$89</c:f>
              <c:numCache>
                <c:formatCode>0%</c:formatCode>
                <c:ptCount val="4"/>
                <c:pt idx="0">
                  <c:v>3.2034244467448174E-2</c:v>
                </c:pt>
                <c:pt idx="1">
                  <c:v>3.4299572698925973E-2</c:v>
                </c:pt>
                <c:pt idx="2">
                  <c:v>3.4540993071593536E-2</c:v>
                </c:pt>
                <c:pt idx="3">
                  <c:v>3.620898431731593E-2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지역별연령별여행추이!$I$86:$I$89</c:f>
              <c:numCache>
                <c:formatCode>0%</c:formatCode>
                <c:ptCount val="4"/>
                <c:pt idx="0">
                  <c:v>4.4446931333874229E-2</c:v>
                </c:pt>
                <c:pt idx="1">
                  <c:v>4.209877968972553E-2</c:v>
                </c:pt>
                <c:pt idx="2">
                  <c:v>3.872690531177829E-2</c:v>
                </c:pt>
                <c:pt idx="3">
                  <c:v>3.6873504828849053E-2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7141904806021016E-2"/>
                  <c:y val="-1.289366281548863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4.7958503432872196E-2"/>
                  <c:y val="-1.289366281548863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5.4352970557255152E-2"/>
                  <c:y val="-1.289366281548863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6.7141904806021072E-2"/>
                  <c:y val="-1.651877872308743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지역별연령별여행추이!$B$86:$B$89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지역별연령별여행추이!$J$86:$J$89</c:f>
              <c:numCache>
                <c:formatCode>0%</c:formatCode>
                <c:ptCount val="4"/>
                <c:pt idx="0">
                  <c:v>8.8315660875322912E-3</c:v>
                </c:pt>
                <c:pt idx="1">
                  <c:v>1.1594872387111675E-2</c:v>
                </c:pt>
                <c:pt idx="2">
                  <c:v>1.1410219399538107E-2</c:v>
                </c:pt>
                <c:pt idx="3">
                  <c:v>1.0772615848075843E-2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53582752"/>
        <c:axId val="553583312"/>
      </c:barChart>
      <c:catAx>
        <c:axId val="55358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83312"/>
        <c:crosses val="autoZero"/>
        <c:auto val="1"/>
        <c:lblAlgn val="ctr"/>
        <c:lblOffset val="100"/>
        <c:noMultiLvlLbl val="0"/>
      </c:catAx>
      <c:valAx>
        <c:axId val="55358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8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지역별연령별여행추이!$C$108:$C$111</c:f>
              <c:numCache>
                <c:formatCode>0%</c:formatCode>
                <c:ptCount val="4"/>
                <c:pt idx="0">
                  <c:v>0.3104781389911121</c:v>
                </c:pt>
                <c:pt idx="1">
                  <c:v>0.32125926699383939</c:v>
                </c:pt>
                <c:pt idx="2">
                  <c:v>0.30349267003553382</c:v>
                </c:pt>
                <c:pt idx="3">
                  <c:v>0.30592466273827817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지역별연령별여행추이!$D$108:$D$111</c:f>
              <c:numCache>
                <c:formatCode>0%</c:formatCode>
                <c:ptCount val="4"/>
                <c:pt idx="0">
                  <c:v>0.22182513849955493</c:v>
                </c:pt>
                <c:pt idx="1">
                  <c:v>0.27711183042706483</c:v>
                </c:pt>
                <c:pt idx="2">
                  <c:v>0.27230684070496225</c:v>
                </c:pt>
                <c:pt idx="3">
                  <c:v>0.29447718101541526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지역별연령별여행추이!$E$108:$E$111</c:f>
              <c:numCache>
                <c:formatCode>0%</c:formatCode>
                <c:ptCount val="4"/>
                <c:pt idx="0">
                  <c:v>0.20903136666179539</c:v>
                </c:pt>
                <c:pt idx="1">
                  <c:v>9.5510076224287352E-2</c:v>
                </c:pt>
                <c:pt idx="2">
                  <c:v>0.13088584540113923</c:v>
                </c:pt>
                <c:pt idx="3">
                  <c:v>0.1492140408935114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지역별연령별여행추이!$F$108:$F$111</c:f>
              <c:numCache>
                <c:formatCode>0%</c:formatCode>
                <c:ptCount val="4"/>
                <c:pt idx="0">
                  <c:v>0.1225970161151041</c:v>
                </c:pt>
                <c:pt idx="1">
                  <c:v>0.14806306776652398</c:v>
                </c:pt>
                <c:pt idx="2">
                  <c:v>0.14084959734299948</c:v>
                </c:pt>
                <c:pt idx="3">
                  <c:v>9.3867661708342473E-2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지역별연령별여행추이!$G$108:$G$111</c:f>
              <c:numCache>
                <c:formatCode>0%</c:formatCode>
                <c:ptCount val="4"/>
                <c:pt idx="0">
                  <c:v>4.758804851802155E-2</c:v>
                </c:pt>
                <c:pt idx="1">
                  <c:v>5.9507152552991542E-2</c:v>
                </c:pt>
                <c:pt idx="2">
                  <c:v>5.8112958234380299E-2</c:v>
                </c:pt>
                <c:pt idx="3">
                  <c:v>6.3940432572981917E-2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3.1972335621914209E-3"/>
                  <c:y val="1.26553687329351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지역별연령별여행추이!$H$108:$H$111</c:f>
              <c:numCache>
                <c:formatCode>0%</c:formatCode>
                <c:ptCount val="4"/>
                <c:pt idx="0">
                  <c:v>3.6893358664027313E-2</c:v>
                </c:pt>
                <c:pt idx="1">
                  <c:v>3.9386029027879292E-2</c:v>
                </c:pt>
                <c:pt idx="2">
                  <c:v>3.933717836544471E-2</c:v>
                </c:pt>
                <c:pt idx="3">
                  <c:v>3.7862799061238961E-2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지역별연령별여행추이!$I$108:$I$111</c:f>
              <c:numCache>
                <c:formatCode>0%</c:formatCode>
                <c:ptCount val="4"/>
                <c:pt idx="0">
                  <c:v>3.8899443344714429E-2</c:v>
                </c:pt>
                <c:pt idx="1">
                  <c:v>4.0680797744596431E-2</c:v>
                </c:pt>
                <c:pt idx="2">
                  <c:v>3.6569469492705745E-2</c:v>
                </c:pt>
                <c:pt idx="3">
                  <c:v>3.1818258564506055E-2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3944671243829588E-3"/>
                  <c:y val="-1.71359007234486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6.3944671243829588E-3"/>
                  <c:y val="-1.687382497724691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1972335621914209E-3"/>
                  <c:y val="-1.687382497724691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2.1092281221558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지역별연령별여행추이!$B$108:$B$111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지역별연령별여행추이!$J$108:$J$111</c:f>
              <c:numCache>
                <c:formatCode>0%</c:formatCode>
                <c:ptCount val="4"/>
                <c:pt idx="0">
                  <c:v>1.2687489205670179E-2</c:v>
                </c:pt>
                <c:pt idx="1">
                  <c:v>1.8481779262817168E-2</c:v>
                </c:pt>
                <c:pt idx="2">
                  <c:v>1.844544042283449E-2</c:v>
                </c:pt>
                <c:pt idx="3">
                  <c:v>2.2894963445725766E-2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53589472"/>
        <c:axId val="553590032"/>
      </c:barChart>
      <c:catAx>
        <c:axId val="553589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90032"/>
        <c:crosses val="autoZero"/>
        <c:auto val="1"/>
        <c:lblAlgn val="ctr"/>
        <c:lblOffset val="100"/>
        <c:noMultiLvlLbl val="0"/>
      </c:catAx>
      <c:valAx>
        <c:axId val="553590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3589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지역별연령별여행추이!$C$129:$C$132</c:f>
              <c:numCache>
                <c:formatCode>0%</c:formatCode>
                <c:ptCount val="4"/>
                <c:pt idx="0">
                  <c:v>0.21034282393957002</c:v>
                </c:pt>
                <c:pt idx="1">
                  <c:v>0.21051584142652444</c:v>
                </c:pt>
                <c:pt idx="2">
                  <c:v>0.20633601489262682</c:v>
                </c:pt>
                <c:pt idx="3">
                  <c:v>0.21115450710826433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지역별연령별여행추이!$D$129:$D$132</c:f>
              <c:numCache>
                <c:formatCode>0%</c:formatCode>
                <c:ptCount val="4"/>
                <c:pt idx="0">
                  <c:v>0.2629549416301305</c:v>
                </c:pt>
                <c:pt idx="1">
                  <c:v>0.31889826460754656</c:v>
                </c:pt>
                <c:pt idx="2">
                  <c:v>0.31304434545575427</c:v>
                </c:pt>
                <c:pt idx="3">
                  <c:v>0.36119356350570225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지역별연령별여행추이!$E$129:$E$132</c:f>
              <c:numCache>
                <c:formatCode>0%</c:formatCode>
                <c:ptCount val="4"/>
                <c:pt idx="0">
                  <c:v>0.19697850087158628</c:v>
                </c:pt>
                <c:pt idx="1">
                  <c:v>8.7685081993313166E-2</c:v>
                </c:pt>
                <c:pt idx="2">
                  <c:v>0.12346253573565587</c:v>
                </c:pt>
                <c:pt idx="3">
                  <c:v>0.14004061865333542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지역별연령별여행추이!$F$129:$F$132</c:f>
              <c:numCache>
                <c:formatCode>0%</c:formatCode>
                <c:ptCount val="4"/>
                <c:pt idx="0">
                  <c:v>0.19354497913475252</c:v>
                </c:pt>
                <c:pt idx="1">
                  <c:v>0.22508358541633497</c:v>
                </c:pt>
                <c:pt idx="2">
                  <c:v>0.20916162489196197</c:v>
                </c:pt>
                <c:pt idx="3">
                  <c:v>0.14375878768942352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지역별연령별여행추이!$G$129:$G$132</c:f>
              <c:numCache>
                <c:formatCode>0%</c:formatCode>
                <c:ptCount val="4"/>
                <c:pt idx="0">
                  <c:v>3.9089324388569012E-2</c:v>
                </c:pt>
                <c:pt idx="1">
                  <c:v>4.449928355357427E-2</c:v>
                </c:pt>
                <c:pt idx="2">
                  <c:v>4.7636460341732599E-2</c:v>
                </c:pt>
                <c:pt idx="3">
                  <c:v>4.8086236525542884E-2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지역별연령별여행추이!$H$129:$H$132</c:f>
              <c:numCache>
                <c:formatCode>0%</c:formatCode>
                <c:ptCount val="4"/>
                <c:pt idx="0">
                  <c:v>3.5074745127040306E-2</c:v>
                </c:pt>
                <c:pt idx="1">
                  <c:v>3.7852252825983125E-2</c:v>
                </c:pt>
                <c:pt idx="2">
                  <c:v>3.7663719167608536E-2</c:v>
                </c:pt>
                <c:pt idx="3">
                  <c:v>3.5556944227464457E-2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지역별연령별여행추이!$I$129:$I$132</c:f>
              <c:numCache>
                <c:formatCode>0%</c:formatCode>
                <c:ptCount val="4"/>
                <c:pt idx="0">
                  <c:v>5.2929058158575883E-2</c:v>
                </c:pt>
                <c:pt idx="1">
                  <c:v>5.7952555325585096E-2</c:v>
                </c:pt>
                <c:pt idx="2">
                  <c:v>4.7403763047669703E-2</c:v>
                </c:pt>
                <c:pt idx="3">
                  <c:v>4.1743477581627872E-2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972327572859774E-3"/>
                  <c:y val="-1.27778640441973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6.3944655145719547E-3"/>
                  <c:y val="-1.70371520589297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3.1972327572859774E-3"/>
                  <c:y val="-1.703715205892976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6.3944655145719547E-3"/>
                  <c:y val="-1.70371520589297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지역별연령별여행추이!$B$129:$B$132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지역별연령별여행추이!$J$129:$J$132</c:f>
              <c:numCache>
                <c:formatCode>0%</c:formatCode>
                <c:ptCount val="4"/>
                <c:pt idx="0">
                  <c:v>9.0856267497754998E-3</c:v>
                </c:pt>
                <c:pt idx="1">
                  <c:v>1.7513134851138354E-2</c:v>
                </c:pt>
                <c:pt idx="2">
                  <c:v>1.5291536466990227E-2</c:v>
                </c:pt>
                <c:pt idx="3">
                  <c:v>1.8465864708639274E-2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87685888"/>
        <c:axId val="487686448"/>
      </c:barChart>
      <c:catAx>
        <c:axId val="487685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7686448"/>
        <c:crosses val="autoZero"/>
        <c:auto val="1"/>
        <c:lblAlgn val="ctr"/>
        <c:lblOffset val="100"/>
        <c:noMultiLvlLbl val="0"/>
      </c:catAx>
      <c:valAx>
        <c:axId val="48768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7685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년도별선행예약시점!$D$8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년도별선행예약시점!$C$9:$C$310</c:f>
              <c:numCache>
                <c:formatCode>General</c:formatCode>
                <c:ptCount val="30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253</c:v>
                </c:pt>
                <c:pt idx="251">
                  <c:v>254</c:v>
                </c:pt>
                <c:pt idx="252">
                  <c:v>256</c:v>
                </c:pt>
                <c:pt idx="253">
                  <c:v>257</c:v>
                </c:pt>
                <c:pt idx="254">
                  <c:v>258</c:v>
                </c:pt>
                <c:pt idx="255">
                  <c:v>259</c:v>
                </c:pt>
                <c:pt idx="256">
                  <c:v>260</c:v>
                </c:pt>
                <c:pt idx="257">
                  <c:v>264</c:v>
                </c:pt>
                <c:pt idx="258">
                  <c:v>265</c:v>
                </c:pt>
                <c:pt idx="259">
                  <c:v>266</c:v>
                </c:pt>
                <c:pt idx="260">
                  <c:v>270</c:v>
                </c:pt>
                <c:pt idx="261">
                  <c:v>271</c:v>
                </c:pt>
                <c:pt idx="262">
                  <c:v>272</c:v>
                </c:pt>
                <c:pt idx="263">
                  <c:v>274</c:v>
                </c:pt>
                <c:pt idx="264">
                  <c:v>276</c:v>
                </c:pt>
                <c:pt idx="265">
                  <c:v>277</c:v>
                </c:pt>
                <c:pt idx="266">
                  <c:v>278</c:v>
                </c:pt>
                <c:pt idx="267">
                  <c:v>280</c:v>
                </c:pt>
                <c:pt idx="268">
                  <c:v>281</c:v>
                </c:pt>
                <c:pt idx="269">
                  <c:v>283</c:v>
                </c:pt>
                <c:pt idx="270">
                  <c:v>285</c:v>
                </c:pt>
                <c:pt idx="271">
                  <c:v>286</c:v>
                </c:pt>
                <c:pt idx="272">
                  <c:v>287</c:v>
                </c:pt>
                <c:pt idx="273">
                  <c:v>292</c:v>
                </c:pt>
                <c:pt idx="274">
                  <c:v>295</c:v>
                </c:pt>
                <c:pt idx="275">
                  <c:v>297</c:v>
                </c:pt>
                <c:pt idx="276">
                  <c:v>298</c:v>
                </c:pt>
                <c:pt idx="277">
                  <c:v>309</c:v>
                </c:pt>
                <c:pt idx="278">
                  <c:v>313</c:v>
                </c:pt>
                <c:pt idx="279">
                  <c:v>318</c:v>
                </c:pt>
                <c:pt idx="280">
                  <c:v>320</c:v>
                </c:pt>
                <c:pt idx="281">
                  <c:v>333</c:v>
                </c:pt>
                <c:pt idx="282">
                  <c:v>351</c:v>
                </c:pt>
                <c:pt idx="283">
                  <c:v>354</c:v>
                </c:pt>
                <c:pt idx="284">
                  <c:v>356</c:v>
                </c:pt>
                <c:pt idx="285">
                  <c:v>358</c:v>
                </c:pt>
                <c:pt idx="286">
                  <c:v>363</c:v>
                </c:pt>
                <c:pt idx="287">
                  <c:v>377</c:v>
                </c:pt>
                <c:pt idx="288">
                  <c:v>386</c:v>
                </c:pt>
                <c:pt idx="289">
                  <c:v>392</c:v>
                </c:pt>
                <c:pt idx="290">
                  <c:v>402</c:v>
                </c:pt>
                <c:pt idx="291">
                  <c:v>428</c:v>
                </c:pt>
                <c:pt idx="292">
                  <c:v>440</c:v>
                </c:pt>
                <c:pt idx="293">
                  <c:v>456</c:v>
                </c:pt>
                <c:pt idx="294">
                  <c:v>486</c:v>
                </c:pt>
                <c:pt idx="295">
                  <c:v>490</c:v>
                </c:pt>
                <c:pt idx="296">
                  <c:v>515</c:v>
                </c:pt>
                <c:pt idx="297">
                  <c:v>525</c:v>
                </c:pt>
                <c:pt idx="298">
                  <c:v>564</c:v>
                </c:pt>
                <c:pt idx="299">
                  <c:v>569</c:v>
                </c:pt>
                <c:pt idx="300">
                  <c:v>612</c:v>
                </c:pt>
                <c:pt idx="301">
                  <c:v>789</c:v>
                </c:pt>
              </c:numCache>
            </c:numRef>
          </c:cat>
          <c:val>
            <c:numRef>
              <c:f>년도별선행예약시점!$D$9:$D$310</c:f>
              <c:numCache>
                <c:formatCode>General</c:formatCode>
                <c:ptCount val="302"/>
                <c:pt idx="0">
                  <c:v>3</c:v>
                </c:pt>
                <c:pt idx="1">
                  <c:v>64</c:v>
                </c:pt>
                <c:pt idx="2">
                  <c:v>105</c:v>
                </c:pt>
                <c:pt idx="3">
                  <c:v>192</c:v>
                </c:pt>
                <c:pt idx="4">
                  <c:v>339</c:v>
                </c:pt>
                <c:pt idx="5">
                  <c:v>440</c:v>
                </c:pt>
                <c:pt idx="6">
                  <c:v>553</c:v>
                </c:pt>
                <c:pt idx="7">
                  <c:v>659</c:v>
                </c:pt>
                <c:pt idx="8">
                  <c:v>900</c:v>
                </c:pt>
                <c:pt idx="9">
                  <c:v>897</c:v>
                </c:pt>
                <c:pt idx="10">
                  <c:v>854</c:v>
                </c:pt>
                <c:pt idx="11">
                  <c:v>1009</c:v>
                </c:pt>
                <c:pt idx="12">
                  <c:v>1025</c:v>
                </c:pt>
                <c:pt idx="13">
                  <c:v>977</c:v>
                </c:pt>
                <c:pt idx="14">
                  <c:v>1144</c:v>
                </c:pt>
                <c:pt idx="15">
                  <c:v>1291</c:v>
                </c:pt>
                <c:pt idx="16">
                  <c:v>1291</c:v>
                </c:pt>
                <c:pt idx="17">
                  <c:v>1271</c:v>
                </c:pt>
                <c:pt idx="18">
                  <c:v>1344</c:v>
                </c:pt>
                <c:pt idx="19">
                  <c:v>1304</c:v>
                </c:pt>
                <c:pt idx="20">
                  <c:v>1200</c:v>
                </c:pt>
                <c:pt idx="21">
                  <c:v>1278</c:v>
                </c:pt>
                <c:pt idx="22">
                  <c:v>1470</c:v>
                </c:pt>
                <c:pt idx="23">
                  <c:v>1410</c:v>
                </c:pt>
                <c:pt idx="24">
                  <c:v>1247</c:v>
                </c:pt>
                <c:pt idx="25">
                  <c:v>1339</c:v>
                </c:pt>
                <c:pt idx="26">
                  <c:v>1254</c:v>
                </c:pt>
                <c:pt idx="27">
                  <c:v>1214</c:v>
                </c:pt>
                <c:pt idx="28">
                  <c:v>1230</c:v>
                </c:pt>
                <c:pt idx="29">
                  <c:v>1221</c:v>
                </c:pt>
                <c:pt idx="30">
                  <c:v>1299</c:v>
                </c:pt>
                <c:pt idx="31">
                  <c:v>1459</c:v>
                </c:pt>
                <c:pt idx="32">
                  <c:v>1151</c:v>
                </c:pt>
                <c:pt idx="33">
                  <c:v>1270</c:v>
                </c:pt>
                <c:pt idx="34">
                  <c:v>1093</c:v>
                </c:pt>
                <c:pt idx="35">
                  <c:v>1183</c:v>
                </c:pt>
                <c:pt idx="36">
                  <c:v>1240</c:v>
                </c:pt>
                <c:pt idx="37">
                  <c:v>1254</c:v>
                </c:pt>
                <c:pt idx="38">
                  <c:v>1010</c:v>
                </c:pt>
                <c:pt idx="39">
                  <c:v>1119</c:v>
                </c:pt>
                <c:pt idx="40">
                  <c:v>924</c:v>
                </c:pt>
                <c:pt idx="41">
                  <c:v>839</c:v>
                </c:pt>
                <c:pt idx="42">
                  <c:v>974</c:v>
                </c:pt>
                <c:pt idx="43">
                  <c:v>944</c:v>
                </c:pt>
                <c:pt idx="44">
                  <c:v>984</c:v>
                </c:pt>
                <c:pt idx="45">
                  <c:v>830</c:v>
                </c:pt>
                <c:pt idx="46">
                  <c:v>944</c:v>
                </c:pt>
                <c:pt idx="47">
                  <c:v>819</c:v>
                </c:pt>
                <c:pt idx="48">
                  <c:v>771</c:v>
                </c:pt>
                <c:pt idx="49">
                  <c:v>825</c:v>
                </c:pt>
                <c:pt idx="50">
                  <c:v>855</c:v>
                </c:pt>
                <c:pt idx="51">
                  <c:v>853</c:v>
                </c:pt>
                <c:pt idx="52">
                  <c:v>826</c:v>
                </c:pt>
                <c:pt idx="53">
                  <c:v>880</c:v>
                </c:pt>
                <c:pt idx="54">
                  <c:v>759</c:v>
                </c:pt>
                <c:pt idx="55">
                  <c:v>724</c:v>
                </c:pt>
                <c:pt idx="56">
                  <c:v>678</c:v>
                </c:pt>
                <c:pt idx="57">
                  <c:v>774</c:v>
                </c:pt>
                <c:pt idx="58">
                  <c:v>726</c:v>
                </c:pt>
                <c:pt idx="59">
                  <c:v>702</c:v>
                </c:pt>
                <c:pt idx="60">
                  <c:v>675</c:v>
                </c:pt>
                <c:pt idx="61">
                  <c:v>744</c:v>
                </c:pt>
                <c:pt idx="62">
                  <c:v>733</c:v>
                </c:pt>
                <c:pt idx="63">
                  <c:v>621</c:v>
                </c:pt>
                <c:pt idx="64">
                  <c:v>742</c:v>
                </c:pt>
                <c:pt idx="65">
                  <c:v>699</c:v>
                </c:pt>
                <c:pt idx="66">
                  <c:v>725</c:v>
                </c:pt>
                <c:pt idx="67">
                  <c:v>606</c:v>
                </c:pt>
                <c:pt idx="68">
                  <c:v>641</c:v>
                </c:pt>
                <c:pt idx="69">
                  <c:v>604</c:v>
                </c:pt>
                <c:pt idx="70">
                  <c:v>598</c:v>
                </c:pt>
                <c:pt idx="71">
                  <c:v>605</c:v>
                </c:pt>
                <c:pt idx="72">
                  <c:v>680</c:v>
                </c:pt>
                <c:pt idx="73">
                  <c:v>613</c:v>
                </c:pt>
                <c:pt idx="74">
                  <c:v>658</c:v>
                </c:pt>
                <c:pt idx="75">
                  <c:v>530</c:v>
                </c:pt>
                <c:pt idx="76">
                  <c:v>541</c:v>
                </c:pt>
                <c:pt idx="77">
                  <c:v>544</c:v>
                </c:pt>
                <c:pt idx="78">
                  <c:v>513</c:v>
                </c:pt>
                <c:pt idx="79">
                  <c:v>558</c:v>
                </c:pt>
                <c:pt idx="80">
                  <c:v>598</c:v>
                </c:pt>
                <c:pt idx="81">
                  <c:v>593</c:v>
                </c:pt>
                <c:pt idx="82">
                  <c:v>484</c:v>
                </c:pt>
                <c:pt idx="83">
                  <c:v>413</c:v>
                </c:pt>
                <c:pt idx="84">
                  <c:v>478</c:v>
                </c:pt>
                <c:pt idx="85">
                  <c:v>526</c:v>
                </c:pt>
                <c:pt idx="86">
                  <c:v>487</c:v>
                </c:pt>
                <c:pt idx="87">
                  <c:v>433</c:v>
                </c:pt>
                <c:pt idx="88">
                  <c:v>412</c:v>
                </c:pt>
                <c:pt idx="89">
                  <c:v>359</c:v>
                </c:pt>
                <c:pt idx="90">
                  <c:v>412</c:v>
                </c:pt>
                <c:pt idx="91">
                  <c:v>409</c:v>
                </c:pt>
                <c:pt idx="92">
                  <c:v>398</c:v>
                </c:pt>
                <c:pt idx="93">
                  <c:v>379</c:v>
                </c:pt>
                <c:pt idx="94">
                  <c:v>410</c:v>
                </c:pt>
                <c:pt idx="95">
                  <c:v>469</c:v>
                </c:pt>
                <c:pt idx="96">
                  <c:v>348</c:v>
                </c:pt>
                <c:pt idx="97">
                  <c:v>326</c:v>
                </c:pt>
                <c:pt idx="98">
                  <c:v>303</c:v>
                </c:pt>
                <c:pt idx="99">
                  <c:v>338</c:v>
                </c:pt>
                <c:pt idx="100">
                  <c:v>287</c:v>
                </c:pt>
                <c:pt idx="101">
                  <c:v>320</c:v>
                </c:pt>
                <c:pt idx="102">
                  <c:v>246</c:v>
                </c:pt>
                <c:pt idx="103">
                  <c:v>268</c:v>
                </c:pt>
                <c:pt idx="104">
                  <c:v>309</c:v>
                </c:pt>
                <c:pt idx="105">
                  <c:v>332</c:v>
                </c:pt>
                <c:pt idx="106">
                  <c:v>305</c:v>
                </c:pt>
                <c:pt idx="107">
                  <c:v>274</c:v>
                </c:pt>
                <c:pt idx="108">
                  <c:v>326</c:v>
                </c:pt>
                <c:pt idx="109">
                  <c:v>292</c:v>
                </c:pt>
                <c:pt idx="110">
                  <c:v>290</c:v>
                </c:pt>
                <c:pt idx="111">
                  <c:v>361</c:v>
                </c:pt>
                <c:pt idx="112">
                  <c:v>195</c:v>
                </c:pt>
                <c:pt idx="113">
                  <c:v>332</c:v>
                </c:pt>
                <c:pt idx="114">
                  <c:v>255</c:v>
                </c:pt>
                <c:pt idx="115">
                  <c:v>283</c:v>
                </c:pt>
                <c:pt idx="116">
                  <c:v>274</c:v>
                </c:pt>
                <c:pt idx="117">
                  <c:v>245</c:v>
                </c:pt>
                <c:pt idx="118">
                  <c:v>242</c:v>
                </c:pt>
                <c:pt idx="119">
                  <c:v>231</c:v>
                </c:pt>
                <c:pt idx="120">
                  <c:v>264</c:v>
                </c:pt>
                <c:pt idx="121">
                  <c:v>223</c:v>
                </c:pt>
                <c:pt idx="122">
                  <c:v>197</c:v>
                </c:pt>
                <c:pt idx="123">
                  <c:v>245</c:v>
                </c:pt>
                <c:pt idx="124">
                  <c:v>169</c:v>
                </c:pt>
                <c:pt idx="125">
                  <c:v>217</c:v>
                </c:pt>
                <c:pt idx="126">
                  <c:v>288</c:v>
                </c:pt>
                <c:pt idx="127">
                  <c:v>266</c:v>
                </c:pt>
                <c:pt idx="128">
                  <c:v>254</c:v>
                </c:pt>
                <c:pt idx="129">
                  <c:v>235</c:v>
                </c:pt>
                <c:pt idx="130">
                  <c:v>229</c:v>
                </c:pt>
                <c:pt idx="131">
                  <c:v>180</c:v>
                </c:pt>
                <c:pt idx="132">
                  <c:v>208</c:v>
                </c:pt>
                <c:pt idx="133">
                  <c:v>125</c:v>
                </c:pt>
                <c:pt idx="134">
                  <c:v>145</c:v>
                </c:pt>
                <c:pt idx="135">
                  <c:v>216</c:v>
                </c:pt>
                <c:pt idx="136">
                  <c:v>151</c:v>
                </c:pt>
                <c:pt idx="137">
                  <c:v>133</c:v>
                </c:pt>
                <c:pt idx="138">
                  <c:v>149</c:v>
                </c:pt>
                <c:pt idx="139">
                  <c:v>171</c:v>
                </c:pt>
                <c:pt idx="140">
                  <c:v>135</c:v>
                </c:pt>
                <c:pt idx="141">
                  <c:v>149</c:v>
                </c:pt>
                <c:pt idx="142">
                  <c:v>122</c:v>
                </c:pt>
                <c:pt idx="143">
                  <c:v>117</c:v>
                </c:pt>
                <c:pt idx="144">
                  <c:v>122</c:v>
                </c:pt>
                <c:pt idx="145">
                  <c:v>134</c:v>
                </c:pt>
                <c:pt idx="146">
                  <c:v>136</c:v>
                </c:pt>
                <c:pt idx="147">
                  <c:v>99</c:v>
                </c:pt>
                <c:pt idx="148">
                  <c:v>146</c:v>
                </c:pt>
                <c:pt idx="149">
                  <c:v>72</c:v>
                </c:pt>
                <c:pt idx="150">
                  <c:v>147</c:v>
                </c:pt>
                <c:pt idx="151">
                  <c:v>112</c:v>
                </c:pt>
                <c:pt idx="152">
                  <c:v>121</c:v>
                </c:pt>
                <c:pt idx="153">
                  <c:v>89</c:v>
                </c:pt>
                <c:pt idx="154">
                  <c:v>94</c:v>
                </c:pt>
                <c:pt idx="155">
                  <c:v>66</c:v>
                </c:pt>
                <c:pt idx="156">
                  <c:v>51</c:v>
                </c:pt>
                <c:pt idx="157">
                  <c:v>114</c:v>
                </c:pt>
                <c:pt idx="158">
                  <c:v>75</c:v>
                </c:pt>
                <c:pt idx="159">
                  <c:v>115</c:v>
                </c:pt>
                <c:pt idx="160">
                  <c:v>57</c:v>
                </c:pt>
                <c:pt idx="161">
                  <c:v>53</c:v>
                </c:pt>
                <c:pt idx="162">
                  <c:v>78</c:v>
                </c:pt>
                <c:pt idx="163">
                  <c:v>94</c:v>
                </c:pt>
                <c:pt idx="164">
                  <c:v>71</c:v>
                </c:pt>
                <c:pt idx="165">
                  <c:v>57</c:v>
                </c:pt>
                <c:pt idx="166">
                  <c:v>50</c:v>
                </c:pt>
                <c:pt idx="167">
                  <c:v>36</c:v>
                </c:pt>
                <c:pt idx="168">
                  <c:v>45</c:v>
                </c:pt>
                <c:pt idx="169">
                  <c:v>58</c:v>
                </c:pt>
                <c:pt idx="170">
                  <c:v>58</c:v>
                </c:pt>
                <c:pt idx="171">
                  <c:v>56</c:v>
                </c:pt>
                <c:pt idx="172">
                  <c:v>61</c:v>
                </c:pt>
                <c:pt idx="173">
                  <c:v>51</c:v>
                </c:pt>
                <c:pt idx="174">
                  <c:v>33</c:v>
                </c:pt>
                <c:pt idx="175">
                  <c:v>55</c:v>
                </c:pt>
                <c:pt idx="176">
                  <c:v>39</c:v>
                </c:pt>
                <c:pt idx="177">
                  <c:v>33</c:v>
                </c:pt>
                <c:pt idx="178">
                  <c:v>40</c:v>
                </c:pt>
                <c:pt idx="179">
                  <c:v>20</c:v>
                </c:pt>
                <c:pt idx="180">
                  <c:v>42</c:v>
                </c:pt>
                <c:pt idx="181">
                  <c:v>5</c:v>
                </c:pt>
                <c:pt idx="182">
                  <c:v>18</c:v>
                </c:pt>
                <c:pt idx="183">
                  <c:v>24</c:v>
                </c:pt>
                <c:pt idx="184">
                  <c:v>36</c:v>
                </c:pt>
                <c:pt idx="185">
                  <c:v>26</c:v>
                </c:pt>
                <c:pt idx="186">
                  <c:v>13</c:v>
                </c:pt>
                <c:pt idx="187">
                  <c:v>14</c:v>
                </c:pt>
                <c:pt idx="188">
                  <c:v>36</c:v>
                </c:pt>
                <c:pt idx="189">
                  <c:v>30</c:v>
                </c:pt>
                <c:pt idx="190">
                  <c:v>34</c:v>
                </c:pt>
                <c:pt idx="191">
                  <c:v>22</c:v>
                </c:pt>
                <c:pt idx="192">
                  <c:v>27</c:v>
                </c:pt>
                <c:pt idx="193">
                  <c:v>24</c:v>
                </c:pt>
                <c:pt idx="194">
                  <c:v>21</c:v>
                </c:pt>
                <c:pt idx="195">
                  <c:v>7</c:v>
                </c:pt>
                <c:pt idx="196">
                  <c:v>26</c:v>
                </c:pt>
                <c:pt idx="197">
                  <c:v>20</c:v>
                </c:pt>
                <c:pt idx="198">
                  <c:v>13</c:v>
                </c:pt>
                <c:pt idx="199">
                  <c:v>41</c:v>
                </c:pt>
                <c:pt idx="200">
                  <c:v>13</c:v>
                </c:pt>
                <c:pt idx="201">
                  <c:v>4</c:v>
                </c:pt>
                <c:pt idx="202">
                  <c:v>21</c:v>
                </c:pt>
                <c:pt idx="203">
                  <c:v>9</c:v>
                </c:pt>
                <c:pt idx="204">
                  <c:v>14</c:v>
                </c:pt>
                <c:pt idx="205">
                  <c:v>39</c:v>
                </c:pt>
                <c:pt idx="206">
                  <c:v>26</c:v>
                </c:pt>
                <c:pt idx="207">
                  <c:v>23</c:v>
                </c:pt>
                <c:pt idx="208">
                  <c:v>21</c:v>
                </c:pt>
                <c:pt idx="209">
                  <c:v>2</c:v>
                </c:pt>
                <c:pt idx="210">
                  <c:v>14</c:v>
                </c:pt>
                <c:pt idx="211">
                  <c:v>13</c:v>
                </c:pt>
                <c:pt idx="212">
                  <c:v>6</c:v>
                </c:pt>
                <c:pt idx="213">
                  <c:v>6</c:v>
                </c:pt>
                <c:pt idx="214">
                  <c:v>8</c:v>
                </c:pt>
                <c:pt idx="215">
                  <c:v>2</c:v>
                </c:pt>
                <c:pt idx="216">
                  <c:v>8</c:v>
                </c:pt>
                <c:pt idx="217">
                  <c:v>16</c:v>
                </c:pt>
                <c:pt idx="218">
                  <c:v>18</c:v>
                </c:pt>
                <c:pt idx="219">
                  <c:v>14</c:v>
                </c:pt>
                <c:pt idx="220">
                  <c:v>6</c:v>
                </c:pt>
                <c:pt idx="221">
                  <c:v>16</c:v>
                </c:pt>
                <c:pt idx="222">
                  <c:v>7</c:v>
                </c:pt>
                <c:pt idx="223">
                  <c:v>7</c:v>
                </c:pt>
                <c:pt idx="224">
                  <c:v>17</c:v>
                </c:pt>
                <c:pt idx="225">
                  <c:v>18</c:v>
                </c:pt>
                <c:pt idx="226">
                  <c:v>8</c:v>
                </c:pt>
                <c:pt idx="227">
                  <c:v>1</c:v>
                </c:pt>
                <c:pt idx="228">
                  <c:v>3</c:v>
                </c:pt>
                <c:pt idx="229">
                  <c:v>7</c:v>
                </c:pt>
                <c:pt idx="230">
                  <c:v>4</c:v>
                </c:pt>
                <c:pt idx="231">
                  <c:v>8</c:v>
                </c:pt>
                <c:pt idx="232">
                  <c:v>3</c:v>
                </c:pt>
                <c:pt idx="233">
                  <c:v>3</c:v>
                </c:pt>
                <c:pt idx="234">
                  <c:v>3</c:v>
                </c:pt>
                <c:pt idx="235">
                  <c:v>10</c:v>
                </c:pt>
                <c:pt idx="236">
                  <c:v>2</c:v>
                </c:pt>
                <c:pt idx="237">
                  <c:v>8</c:v>
                </c:pt>
                <c:pt idx="238">
                  <c:v>6</c:v>
                </c:pt>
                <c:pt idx="239">
                  <c:v>2</c:v>
                </c:pt>
                <c:pt idx="240">
                  <c:v>4</c:v>
                </c:pt>
                <c:pt idx="241">
                  <c:v>1</c:v>
                </c:pt>
                <c:pt idx="242">
                  <c:v>4</c:v>
                </c:pt>
                <c:pt idx="243">
                  <c:v>4</c:v>
                </c:pt>
                <c:pt idx="244">
                  <c:v>9</c:v>
                </c:pt>
                <c:pt idx="245">
                  <c:v>12</c:v>
                </c:pt>
                <c:pt idx="246">
                  <c:v>2</c:v>
                </c:pt>
                <c:pt idx="247">
                  <c:v>8</c:v>
                </c:pt>
                <c:pt idx="248">
                  <c:v>23</c:v>
                </c:pt>
                <c:pt idx="249">
                  <c:v>2</c:v>
                </c:pt>
                <c:pt idx="250">
                  <c:v>11</c:v>
                </c:pt>
                <c:pt idx="251">
                  <c:v>4</c:v>
                </c:pt>
                <c:pt idx="252">
                  <c:v>12</c:v>
                </c:pt>
                <c:pt idx="253">
                  <c:v>4</c:v>
                </c:pt>
                <c:pt idx="254">
                  <c:v>2</c:v>
                </c:pt>
                <c:pt idx="255">
                  <c:v>12</c:v>
                </c:pt>
                <c:pt idx="256">
                  <c:v>3</c:v>
                </c:pt>
                <c:pt idx="257">
                  <c:v>4</c:v>
                </c:pt>
                <c:pt idx="258">
                  <c:v>2</c:v>
                </c:pt>
                <c:pt idx="259">
                  <c:v>4</c:v>
                </c:pt>
                <c:pt idx="260">
                  <c:v>8</c:v>
                </c:pt>
                <c:pt idx="261">
                  <c:v>8</c:v>
                </c:pt>
                <c:pt idx="262">
                  <c:v>2</c:v>
                </c:pt>
                <c:pt idx="263">
                  <c:v>4</c:v>
                </c:pt>
                <c:pt idx="264">
                  <c:v>2</c:v>
                </c:pt>
                <c:pt idx="265">
                  <c:v>1</c:v>
                </c:pt>
                <c:pt idx="266">
                  <c:v>2</c:v>
                </c:pt>
                <c:pt idx="267">
                  <c:v>16</c:v>
                </c:pt>
                <c:pt idx="268">
                  <c:v>2</c:v>
                </c:pt>
                <c:pt idx="269">
                  <c:v>1</c:v>
                </c:pt>
                <c:pt idx="270">
                  <c:v>4</c:v>
                </c:pt>
                <c:pt idx="271">
                  <c:v>16</c:v>
                </c:pt>
                <c:pt idx="272">
                  <c:v>9</c:v>
                </c:pt>
                <c:pt idx="273">
                  <c:v>2</c:v>
                </c:pt>
                <c:pt idx="274">
                  <c:v>12</c:v>
                </c:pt>
                <c:pt idx="275">
                  <c:v>3</c:v>
                </c:pt>
                <c:pt idx="276">
                  <c:v>4</c:v>
                </c:pt>
                <c:pt idx="277">
                  <c:v>4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2</c:v>
                </c:pt>
                <c:pt idx="282">
                  <c:v>14</c:v>
                </c:pt>
                <c:pt idx="283">
                  <c:v>2</c:v>
                </c:pt>
                <c:pt idx="284">
                  <c:v>2</c:v>
                </c:pt>
                <c:pt idx="285">
                  <c:v>1</c:v>
                </c:pt>
                <c:pt idx="286">
                  <c:v>7</c:v>
                </c:pt>
                <c:pt idx="287">
                  <c:v>6</c:v>
                </c:pt>
                <c:pt idx="288">
                  <c:v>2</c:v>
                </c:pt>
                <c:pt idx="289">
                  <c:v>2</c:v>
                </c:pt>
                <c:pt idx="290">
                  <c:v>1</c:v>
                </c:pt>
                <c:pt idx="291">
                  <c:v>2</c:v>
                </c:pt>
                <c:pt idx="292">
                  <c:v>2</c:v>
                </c:pt>
                <c:pt idx="293">
                  <c:v>3</c:v>
                </c:pt>
                <c:pt idx="294">
                  <c:v>2</c:v>
                </c:pt>
                <c:pt idx="295">
                  <c:v>3</c:v>
                </c:pt>
                <c:pt idx="296">
                  <c:v>2</c:v>
                </c:pt>
                <c:pt idx="297">
                  <c:v>2</c:v>
                </c:pt>
                <c:pt idx="298">
                  <c:v>2</c:v>
                </c:pt>
                <c:pt idx="299">
                  <c:v>3</c:v>
                </c:pt>
                <c:pt idx="300">
                  <c:v>2</c:v>
                </c:pt>
                <c:pt idx="301">
                  <c:v>2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년도별선행예약시점!$G$8</c:f>
              <c:strCache>
                <c:ptCount val="1"/>
                <c:pt idx="0">
                  <c:v>2017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년도별선행예약시점!$F$9:$F$365</c:f>
              <c:numCache>
                <c:formatCode>General</c:formatCode>
                <c:ptCount val="35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285</c:v>
                </c:pt>
                <c:pt idx="284">
                  <c:v>286</c:v>
                </c:pt>
                <c:pt idx="285">
                  <c:v>287</c:v>
                </c:pt>
                <c:pt idx="286">
                  <c:v>288</c:v>
                </c:pt>
                <c:pt idx="287">
                  <c:v>289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304</c:v>
                </c:pt>
                <c:pt idx="303">
                  <c:v>305</c:v>
                </c:pt>
                <c:pt idx="304">
                  <c:v>306</c:v>
                </c:pt>
                <c:pt idx="305">
                  <c:v>307</c:v>
                </c:pt>
                <c:pt idx="306">
                  <c:v>308</c:v>
                </c:pt>
                <c:pt idx="307">
                  <c:v>310</c:v>
                </c:pt>
                <c:pt idx="308">
                  <c:v>311</c:v>
                </c:pt>
                <c:pt idx="309">
                  <c:v>312</c:v>
                </c:pt>
                <c:pt idx="310">
                  <c:v>313</c:v>
                </c:pt>
                <c:pt idx="311">
                  <c:v>314</c:v>
                </c:pt>
                <c:pt idx="312">
                  <c:v>316</c:v>
                </c:pt>
                <c:pt idx="313">
                  <c:v>317</c:v>
                </c:pt>
                <c:pt idx="314">
                  <c:v>319</c:v>
                </c:pt>
                <c:pt idx="315">
                  <c:v>320</c:v>
                </c:pt>
                <c:pt idx="316">
                  <c:v>321</c:v>
                </c:pt>
                <c:pt idx="317">
                  <c:v>323</c:v>
                </c:pt>
                <c:pt idx="318">
                  <c:v>324</c:v>
                </c:pt>
                <c:pt idx="319">
                  <c:v>325</c:v>
                </c:pt>
                <c:pt idx="320">
                  <c:v>326</c:v>
                </c:pt>
                <c:pt idx="321">
                  <c:v>327</c:v>
                </c:pt>
                <c:pt idx="322">
                  <c:v>328</c:v>
                </c:pt>
                <c:pt idx="323">
                  <c:v>329</c:v>
                </c:pt>
                <c:pt idx="324">
                  <c:v>330</c:v>
                </c:pt>
                <c:pt idx="325">
                  <c:v>333</c:v>
                </c:pt>
                <c:pt idx="326">
                  <c:v>334</c:v>
                </c:pt>
                <c:pt idx="327">
                  <c:v>335</c:v>
                </c:pt>
                <c:pt idx="328">
                  <c:v>337</c:v>
                </c:pt>
                <c:pt idx="329">
                  <c:v>338</c:v>
                </c:pt>
                <c:pt idx="330">
                  <c:v>339</c:v>
                </c:pt>
                <c:pt idx="331">
                  <c:v>340</c:v>
                </c:pt>
                <c:pt idx="332">
                  <c:v>342</c:v>
                </c:pt>
                <c:pt idx="333">
                  <c:v>345</c:v>
                </c:pt>
                <c:pt idx="334">
                  <c:v>347</c:v>
                </c:pt>
                <c:pt idx="335">
                  <c:v>350</c:v>
                </c:pt>
                <c:pt idx="336">
                  <c:v>353</c:v>
                </c:pt>
                <c:pt idx="337">
                  <c:v>354</c:v>
                </c:pt>
                <c:pt idx="338">
                  <c:v>355</c:v>
                </c:pt>
                <c:pt idx="339">
                  <c:v>362</c:v>
                </c:pt>
                <c:pt idx="340">
                  <c:v>365</c:v>
                </c:pt>
                <c:pt idx="341">
                  <c:v>369</c:v>
                </c:pt>
                <c:pt idx="342">
                  <c:v>372</c:v>
                </c:pt>
                <c:pt idx="343">
                  <c:v>373</c:v>
                </c:pt>
                <c:pt idx="344">
                  <c:v>402</c:v>
                </c:pt>
                <c:pt idx="345">
                  <c:v>414</c:v>
                </c:pt>
                <c:pt idx="346">
                  <c:v>415</c:v>
                </c:pt>
                <c:pt idx="347">
                  <c:v>420</c:v>
                </c:pt>
                <c:pt idx="348">
                  <c:v>423</c:v>
                </c:pt>
                <c:pt idx="349">
                  <c:v>427</c:v>
                </c:pt>
                <c:pt idx="350">
                  <c:v>457</c:v>
                </c:pt>
                <c:pt idx="351">
                  <c:v>461</c:v>
                </c:pt>
                <c:pt idx="352">
                  <c:v>497</c:v>
                </c:pt>
                <c:pt idx="353">
                  <c:v>502</c:v>
                </c:pt>
                <c:pt idx="354">
                  <c:v>508</c:v>
                </c:pt>
                <c:pt idx="355">
                  <c:v>520</c:v>
                </c:pt>
                <c:pt idx="356">
                  <c:v>537</c:v>
                </c:pt>
              </c:numCache>
            </c:numRef>
          </c:cat>
          <c:val>
            <c:numRef>
              <c:f>년도별선행예약시점!$G$9:$G$365</c:f>
              <c:numCache>
                <c:formatCode>General</c:formatCode>
                <c:ptCount val="357"/>
                <c:pt idx="0">
                  <c:v>47</c:v>
                </c:pt>
                <c:pt idx="1">
                  <c:v>101</c:v>
                </c:pt>
                <c:pt idx="2">
                  <c:v>192</c:v>
                </c:pt>
                <c:pt idx="3">
                  <c:v>224</c:v>
                </c:pt>
                <c:pt idx="4">
                  <c:v>385</c:v>
                </c:pt>
                <c:pt idx="5">
                  <c:v>474</c:v>
                </c:pt>
                <c:pt idx="6">
                  <c:v>556</c:v>
                </c:pt>
                <c:pt idx="7">
                  <c:v>730</c:v>
                </c:pt>
                <c:pt idx="8">
                  <c:v>751</c:v>
                </c:pt>
                <c:pt idx="9">
                  <c:v>795</c:v>
                </c:pt>
                <c:pt idx="10">
                  <c:v>917</c:v>
                </c:pt>
                <c:pt idx="11">
                  <c:v>1015</c:v>
                </c:pt>
                <c:pt idx="12">
                  <c:v>1051</c:v>
                </c:pt>
                <c:pt idx="13">
                  <c:v>1140</c:v>
                </c:pt>
                <c:pt idx="14">
                  <c:v>1163</c:v>
                </c:pt>
                <c:pt idx="15">
                  <c:v>1264</c:v>
                </c:pt>
                <c:pt idx="16">
                  <c:v>1211</c:v>
                </c:pt>
                <c:pt idx="17">
                  <c:v>1274</c:v>
                </c:pt>
                <c:pt idx="18">
                  <c:v>1359</c:v>
                </c:pt>
                <c:pt idx="19">
                  <c:v>1401</c:v>
                </c:pt>
                <c:pt idx="20">
                  <c:v>1344</c:v>
                </c:pt>
                <c:pt idx="21">
                  <c:v>1278</c:v>
                </c:pt>
                <c:pt idx="22">
                  <c:v>1313</c:v>
                </c:pt>
                <c:pt idx="23">
                  <c:v>1433</c:v>
                </c:pt>
                <c:pt idx="24">
                  <c:v>1389</c:v>
                </c:pt>
                <c:pt idx="25">
                  <c:v>1459</c:v>
                </c:pt>
                <c:pt idx="26">
                  <c:v>1376</c:v>
                </c:pt>
                <c:pt idx="27">
                  <c:v>1328</c:v>
                </c:pt>
                <c:pt idx="28">
                  <c:v>1453</c:v>
                </c:pt>
                <c:pt idx="29">
                  <c:v>1350</c:v>
                </c:pt>
                <c:pt idx="30">
                  <c:v>1529</c:v>
                </c:pt>
                <c:pt idx="31">
                  <c:v>1393</c:v>
                </c:pt>
                <c:pt idx="32">
                  <c:v>1276</c:v>
                </c:pt>
                <c:pt idx="33">
                  <c:v>1389</c:v>
                </c:pt>
                <c:pt idx="34">
                  <c:v>1214</c:v>
                </c:pt>
                <c:pt idx="35">
                  <c:v>1154</c:v>
                </c:pt>
                <c:pt idx="36">
                  <c:v>1279</c:v>
                </c:pt>
                <c:pt idx="37">
                  <c:v>1262</c:v>
                </c:pt>
                <c:pt idx="38">
                  <c:v>1400</c:v>
                </c:pt>
                <c:pt idx="39">
                  <c:v>1172</c:v>
                </c:pt>
                <c:pt idx="40">
                  <c:v>1081</c:v>
                </c:pt>
                <c:pt idx="41">
                  <c:v>1044</c:v>
                </c:pt>
                <c:pt idx="42">
                  <c:v>1148</c:v>
                </c:pt>
                <c:pt idx="43">
                  <c:v>1275</c:v>
                </c:pt>
                <c:pt idx="44">
                  <c:v>1167</c:v>
                </c:pt>
                <c:pt idx="45">
                  <c:v>1328</c:v>
                </c:pt>
                <c:pt idx="46">
                  <c:v>1096</c:v>
                </c:pt>
                <c:pt idx="47">
                  <c:v>1066</c:v>
                </c:pt>
                <c:pt idx="48">
                  <c:v>1082</c:v>
                </c:pt>
                <c:pt idx="49">
                  <c:v>1112</c:v>
                </c:pt>
                <c:pt idx="50">
                  <c:v>1033</c:v>
                </c:pt>
                <c:pt idx="51">
                  <c:v>1106</c:v>
                </c:pt>
                <c:pt idx="52">
                  <c:v>1066</c:v>
                </c:pt>
                <c:pt idx="53">
                  <c:v>1080</c:v>
                </c:pt>
                <c:pt idx="54">
                  <c:v>943</c:v>
                </c:pt>
                <c:pt idx="55">
                  <c:v>1005</c:v>
                </c:pt>
                <c:pt idx="56">
                  <c:v>1003</c:v>
                </c:pt>
                <c:pt idx="57">
                  <c:v>943</c:v>
                </c:pt>
                <c:pt idx="58">
                  <c:v>973</c:v>
                </c:pt>
                <c:pt idx="59">
                  <c:v>909</c:v>
                </c:pt>
                <c:pt idx="60">
                  <c:v>823</c:v>
                </c:pt>
                <c:pt idx="61">
                  <c:v>843</c:v>
                </c:pt>
                <c:pt idx="62">
                  <c:v>871</c:v>
                </c:pt>
                <c:pt idx="63">
                  <c:v>805</c:v>
                </c:pt>
                <c:pt idx="64">
                  <c:v>871</c:v>
                </c:pt>
                <c:pt idx="65">
                  <c:v>929</c:v>
                </c:pt>
                <c:pt idx="66">
                  <c:v>840</c:v>
                </c:pt>
                <c:pt idx="67">
                  <c:v>794</c:v>
                </c:pt>
                <c:pt idx="68">
                  <c:v>924</c:v>
                </c:pt>
                <c:pt idx="69">
                  <c:v>752</c:v>
                </c:pt>
                <c:pt idx="70">
                  <c:v>938</c:v>
                </c:pt>
                <c:pt idx="71">
                  <c:v>763</c:v>
                </c:pt>
                <c:pt idx="72">
                  <c:v>732</c:v>
                </c:pt>
                <c:pt idx="73">
                  <c:v>753</c:v>
                </c:pt>
                <c:pt idx="74">
                  <c:v>733</c:v>
                </c:pt>
                <c:pt idx="75">
                  <c:v>771</c:v>
                </c:pt>
                <c:pt idx="76">
                  <c:v>757</c:v>
                </c:pt>
                <c:pt idx="77">
                  <c:v>831</c:v>
                </c:pt>
                <c:pt idx="78">
                  <c:v>727</c:v>
                </c:pt>
                <c:pt idx="79">
                  <c:v>794</c:v>
                </c:pt>
                <c:pt idx="80">
                  <c:v>787</c:v>
                </c:pt>
                <c:pt idx="81">
                  <c:v>839</c:v>
                </c:pt>
                <c:pt idx="82">
                  <c:v>600</c:v>
                </c:pt>
                <c:pt idx="83">
                  <c:v>661</c:v>
                </c:pt>
                <c:pt idx="84">
                  <c:v>635</c:v>
                </c:pt>
                <c:pt idx="85">
                  <c:v>619</c:v>
                </c:pt>
                <c:pt idx="86">
                  <c:v>635</c:v>
                </c:pt>
                <c:pt idx="87">
                  <c:v>729</c:v>
                </c:pt>
                <c:pt idx="88">
                  <c:v>613</c:v>
                </c:pt>
                <c:pt idx="89">
                  <c:v>621</c:v>
                </c:pt>
                <c:pt idx="90">
                  <c:v>487</c:v>
                </c:pt>
                <c:pt idx="91">
                  <c:v>698</c:v>
                </c:pt>
                <c:pt idx="92">
                  <c:v>590</c:v>
                </c:pt>
                <c:pt idx="93">
                  <c:v>683</c:v>
                </c:pt>
                <c:pt idx="94">
                  <c:v>558</c:v>
                </c:pt>
                <c:pt idx="95">
                  <c:v>478</c:v>
                </c:pt>
                <c:pt idx="96">
                  <c:v>519</c:v>
                </c:pt>
                <c:pt idx="97">
                  <c:v>540</c:v>
                </c:pt>
                <c:pt idx="98">
                  <c:v>578</c:v>
                </c:pt>
                <c:pt idx="99">
                  <c:v>561</c:v>
                </c:pt>
                <c:pt idx="100">
                  <c:v>512</c:v>
                </c:pt>
                <c:pt idx="101">
                  <c:v>443</c:v>
                </c:pt>
                <c:pt idx="102">
                  <c:v>569</c:v>
                </c:pt>
                <c:pt idx="103">
                  <c:v>413</c:v>
                </c:pt>
                <c:pt idx="104">
                  <c:v>439</c:v>
                </c:pt>
                <c:pt idx="105">
                  <c:v>572</c:v>
                </c:pt>
                <c:pt idx="106">
                  <c:v>466</c:v>
                </c:pt>
                <c:pt idx="107">
                  <c:v>477</c:v>
                </c:pt>
                <c:pt idx="108">
                  <c:v>535</c:v>
                </c:pt>
                <c:pt idx="109">
                  <c:v>463</c:v>
                </c:pt>
                <c:pt idx="110">
                  <c:v>359</c:v>
                </c:pt>
                <c:pt idx="111">
                  <c:v>423</c:v>
                </c:pt>
                <c:pt idx="112">
                  <c:v>491</c:v>
                </c:pt>
                <c:pt idx="113">
                  <c:v>501</c:v>
                </c:pt>
                <c:pt idx="114">
                  <c:v>403</c:v>
                </c:pt>
                <c:pt idx="115">
                  <c:v>453</c:v>
                </c:pt>
                <c:pt idx="116">
                  <c:v>338</c:v>
                </c:pt>
                <c:pt idx="117">
                  <c:v>284</c:v>
                </c:pt>
                <c:pt idx="118">
                  <c:v>414</c:v>
                </c:pt>
                <c:pt idx="119">
                  <c:v>439</c:v>
                </c:pt>
                <c:pt idx="120">
                  <c:v>322</c:v>
                </c:pt>
                <c:pt idx="121">
                  <c:v>394</c:v>
                </c:pt>
                <c:pt idx="122">
                  <c:v>415</c:v>
                </c:pt>
                <c:pt idx="123">
                  <c:v>293</c:v>
                </c:pt>
                <c:pt idx="124">
                  <c:v>333</c:v>
                </c:pt>
                <c:pt idx="125">
                  <c:v>345</c:v>
                </c:pt>
                <c:pt idx="126">
                  <c:v>329</c:v>
                </c:pt>
                <c:pt idx="127">
                  <c:v>390</c:v>
                </c:pt>
                <c:pt idx="128">
                  <c:v>377</c:v>
                </c:pt>
                <c:pt idx="129">
                  <c:v>301</c:v>
                </c:pt>
                <c:pt idx="130">
                  <c:v>290</c:v>
                </c:pt>
                <c:pt idx="131">
                  <c:v>259</c:v>
                </c:pt>
                <c:pt idx="132">
                  <c:v>225</c:v>
                </c:pt>
                <c:pt idx="133">
                  <c:v>270</c:v>
                </c:pt>
                <c:pt idx="134">
                  <c:v>294</c:v>
                </c:pt>
                <c:pt idx="135">
                  <c:v>330</c:v>
                </c:pt>
                <c:pt idx="136">
                  <c:v>266</c:v>
                </c:pt>
                <c:pt idx="137">
                  <c:v>329</c:v>
                </c:pt>
                <c:pt idx="138">
                  <c:v>216</c:v>
                </c:pt>
                <c:pt idx="139">
                  <c:v>274</c:v>
                </c:pt>
                <c:pt idx="140">
                  <c:v>232</c:v>
                </c:pt>
                <c:pt idx="141">
                  <c:v>293</c:v>
                </c:pt>
                <c:pt idx="142">
                  <c:v>296</c:v>
                </c:pt>
                <c:pt idx="143">
                  <c:v>246</c:v>
                </c:pt>
                <c:pt idx="144">
                  <c:v>124</c:v>
                </c:pt>
                <c:pt idx="145">
                  <c:v>180</c:v>
                </c:pt>
                <c:pt idx="146">
                  <c:v>224</c:v>
                </c:pt>
                <c:pt idx="147">
                  <c:v>258</c:v>
                </c:pt>
                <c:pt idx="148">
                  <c:v>197</c:v>
                </c:pt>
                <c:pt idx="149">
                  <c:v>289</c:v>
                </c:pt>
                <c:pt idx="150">
                  <c:v>214</c:v>
                </c:pt>
                <c:pt idx="151">
                  <c:v>170</c:v>
                </c:pt>
                <c:pt idx="152">
                  <c:v>141</c:v>
                </c:pt>
                <c:pt idx="153">
                  <c:v>145</c:v>
                </c:pt>
                <c:pt idx="154">
                  <c:v>147</c:v>
                </c:pt>
                <c:pt idx="155">
                  <c:v>163</c:v>
                </c:pt>
                <c:pt idx="156">
                  <c:v>152</c:v>
                </c:pt>
                <c:pt idx="157">
                  <c:v>178</c:v>
                </c:pt>
                <c:pt idx="158">
                  <c:v>148</c:v>
                </c:pt>
                <c:pt idx="159">
                  <c:v>80</c:v>
                </c:pt>
                <c:pt idx="160">
                  <c:v>119</c:v>
                </c:pt>
                <c:pt idx="161">
                  <c:v>133</c:v>
                </c:pt>
                <c:pt idx="162">
                  <c:v>163</c:v>
                </c:pt>
                <c:pt idx="163">
                  <c:v>118</c:v>
                </c:pt>
                <c:pt idx="164">
                  <c:v>147</c:v>
                </c:pt>
                <c:pt idx="165">
                  <c:v>127</c:v>
                </c:pt>
                <c:pt idx="166">
                  <c:v>120</c:v>
                </c:pt>
                <c:pt idx="167">
                  <c:v>140</c:v>
                </c:pt>
                <c:pt idx="168">
                  <c:v>122</c:v>
                </c:pt>
                <c:pt idx="169">
                  <c:v>94</c:v>
                </c:pt>
                <c:pt idx="170">
                  <c:v>112</c:v>
                </c:pt>
                <c:pt idx="171">
                  <c:v>117</c:v>
                </c:pt>
                <c:pt idx="172">
                  <c:v>108</c:v>
                </c:pt>
                <c:pt idx="173">
                  <c:v>128</c:v>
                </c:pt>
                <c:pt idx="174">
                  <c:v>95</c:v>
                </c:pt>
                <c:pt idx="175">
                  <c:v>83</c:v>
                </c:pt>
                <c:pt idx="176">
                  <c:v>107</c:v>
                </c:pt>
                <c:pt idx="177">
                  <c:v>90</c:v>
                </c:pt>
                <c:pt idx="178">
                  <c:v>67</c:v>
                </c:pt>
                <c:pt idx="179">
                  <c:v>113</c:v>
                </c:pt>
                <c:pt idx="180">
                  <c:v>112</c:v>
                </c:pt>
                <c:pt idx="181">
                  <c:v>109</c:v>
                </c:pt>
                <c:pt idx="182">
                  <c:v>140</c:v>
                </c:pt>
                <c:pt idx="183">
                  <c:v>92</c:v>
                </c:pt>
                <c:pt idx="184">
                  <c:v>124</c:v>
                </c:pt>
                <c:pt idx="185">
                  <c:v>84</c:v>
                </c:pt>
                <c:pt idx="186">
                  <c:v>72</c:v>
                </c:pt>
                <c:pt idx="187">
                  <c:v>64</c:v>
                </c:pt>
                <c:pt idx="188">
                  <c:v>66</c:v>
                </c:pt>
                <c:pt idx="189">
                  <c:v>62</c:v>
                </c:pt>
                <c:pt idx="190">
                  <c:v>92</c:v>
                </c:pt>
                <c:pt idx="191">
                  <c:v>72</c:v>
                </c:pt>
                <c:pt idx="192">
                  <c:v>70</c:v>
                </c:pt>
                <c:pt idx="193">
                  <c:v>38</c:v>
                </c:pt>
                <c:pt idx="194">
                  <c:v>85</c:v>
                </c:pt>
                <c:pt idx="195">
                  <c:v>81</c:v>
                </c:pt>
                <c:pt idx="196">
                  <c:v>47</c:v>
                </c:pt>
                <c:pt idx="197">
                  <c:v>88</c:v>
                </c:pt>
                <c:pt idx="198">
                  <c:v>88</c:v>
                </c:pt>
                <c:pt idx="199">
                  <c:v>45</c:v>
                </c:pt>
                <c:pt idx="200">
                  <c:v>52</c:v>
                </c:pt>
                <c:pt idx="201">
                  <c:v>67</c:v>
                </c:pt>
                <c:pt idx="202">
                  <c:v>62</c:v>
                </c:pt>
                <c:pt idx="203">
                  <c:v>51</c:v>
                </c:pt>
                <c:pt idx="204">
                  <c:v>50</c:v>
                </c:pt>
                <c:pt idx="205">
                  <c:v>71</c:v>
                </c:pt>
                <c:pt idx="206">
                  <c:v>64</c:v>
                </c:pt>
                <c:pt idx="207">
                  <c:v>30</c:v>
                </c:pt>
                <c:pt idx="208">
                  <c:v>37</c:v>
                </c:pt>
                <c:pt idx="209">
                  <c:v>62</c:v>
                </c:pt>
                <c:pt idx="210">
                  <c:v>50</c:v>
                </c:pt>
                <c:pt idx="211">
                  <c:v>27</c:v>
                </c:pt>
                <c:pt idx="212">
                  <c:v>50</c:v>
                </c:pt>
                <c:pt idx="213">
                  <c:v>31</c:v>
                </c:pt>
                <c:pt idx="214">
                  <c:v>39</c:v>
                </c:pt>
                <c:pt idx="215">
                  <c:v>71</c:v>
                </c:pt>
                <c:pt idx="216">
                  <c:v>50</c:v>
                </c:pt>
                <c:pt idx="217">
                  <c:v>53</c:v>
                </c:pt>
                <c:pt idx="218">
                  <c:v>30</c:v>
                </c:pt>
                <c:pt idx="219">
                  <c:v>48</c:v>
                </c:pt>
                <c:pt idx="220">
                  <c:v>48</c:v>
                </c:pt>
                <c:pt idx="221">
                  <c:v>47</c:v>
                </c:pt>
                <c:pt idx="222">
                  <c:v>39</c:v>
                </c:pt>
                <c:pt idx="223">
                  <c:v>40</c:v>
                </c:pt>
                <c:pt idx="224">
                  <c:v>75</c:v>
                </c:pt>
                <c:pt idx="225">
                  <c:v>27</c:v>
                </c:pt>
                <c:pt idx="226">
                  <c:v>30</c:v>
                </c:pt>
                <c:pt idx="227">
                  <c:v>63</c:v>
                </c:pt>
                <c:pt idx="228">
                  <c:v>45</c:v>
                </c:pt>
                <c:pt idx="229">
                  <c:v>27</c:v>
                </c:pt>
                <c:pt idx="230">
                  <c:v>39</c:v>
                </c:pt>
                <c:pt idx="231">
                  <c:v>38</c:v>
                </c:pt>
                <c:pt idx="232">
                  <c:v>53</c:v>
                </c:pt>
                <c:pt idx="233">
                  <c:v>24</c:v>
                </c:pt>
                <c:pt idx="234">
                  <c:v>32</c:v>
                </c:pt>
                <c:pt idx="235">
                  <c:v>52</c:v>
                </c:pt>
                <c:pt idx="236">
                  <c:v>46</c:v>
                </c:pt>
                <c:pt idx="237">
                  <c:v>56</c:v>
                </c:pt>
                <c:pt idx="238">
                  <c:v>53</c:v>
                </c:pt>
                <c:pt idx="239">
                  <c:v>72</c:v>
                </c:pt>
                <c:pt idx="240">
                  <c:v>51</c:v>
                </c:pt>
                <c:pt idx="241">
                  <c:v>38</c:v>
                </c:pt>
                <c:pt idx="242">
                  <c:v>53</c:v>
                </c:pt>
                <c:pt idx="243">
                  <c:v>36</c:v>
                </c:pt>
                <c:pt idx="244">
                  <c:v>59</c:v>
                </c:pt>
                <c:pt idx="245">
                  <c:v>56</c:v>
                </c:pt>
                <c:pt idx="246">
                  <c:v>37</c:v>
                </c:pt>
                <c:pt idx="247">
                  <c:v>31</c:v>
                </c:pt>
                <c:pt idx="248">
                  <c:v>15</c:v>
                </c:pt>
                <c:pt idx="249">
                  <c:v>30</c:v>
                </c:pt>
                <c:pt idx="250">
                  <c:v>36</c:v>
                </c:pt>
                <c:pt idx="251">
                  <c:v>34</c:v>
                </c:pt>
                <c:pt idx="252">
                  <c:v>26</c:v>
                </c:pt>
                <c:pt idx="253">
                  <c:v>17</c:v>
                </c:pt>
                <c:pt idx="254">
                  <c:v>28</c:v>
                </c:pt>
                <c:pt idx="255">
                  <c:v>23</c:v>
                </c:pt>
                <c:pt idx="256">
                  <c:v>14</c:v>
                </c:pt>
                <c:pt idx="257">
                  <c:v>34</c:v>
                </c:pt>
                <c:pt idx="258">
                  <c:v>32</c:v>
                </c:pt>
                <c:pt idx="259">
                  <c:v>57</c:v>
                </c:pt>
                <c:pt idx="260">
                  <c:v>27</c:v>
                </c:pt>
                <c:pt idx="261">
                  <c:v>18</c:v>
                </c:pt>
                <c:pt idx="262">
                  <c:v>19</c:v>
                </c:pt>
                <c:pt idx="263">
                  <c:v>38</c:v>
                </c:pt>
                <c:pt idx="264">
                  <c:v>18</c:v>
                </c:pt>
                <c:pt idx="265">
                  <c:v>18</c:v>
                </c:pt>
                <c:pt idx="266">
                  <c:v>29</c:v>
                </c:pt>
                <c:pt idx="267">
                  <c:v>10</c:v>
                </c:pt>
                <c:pt idx="268">
                  <c:v>22</c:v>
                </c:pt>
                <c:pt idx="269">
                  <c:v>45</c:v>
                </c:pt>
                <c:pt idx="270">
                  <c:v>15</c:v>
                </c:pt>
                <c:pt idx="271">
                  <c:v>39</c:v>
                </c:pt>
                <c:pt idx="272">
                  <c:v>17</c:v>
                </c:pt>
                <c:pt idx="273">
                  <c:v>11</c:v>
                </c:pt>
                <c:pt idx="274">
                  <c:v>27</c:v>
                </c:pt>
                <c:pt idx="275">
                  <c:v>25</c:v>
                </c:pt>
                <c:pt idx="276">
                  <c:v>20</c:v>
                </c:pt>
                <c:pt idx="277">
                  <c:v>4</c:v>
                </c:pt>
                <c:pt idx="278">
                  <c:v>25</c:v>
                </c:pt>
                <c:pt idx="279">
                  <c:v>14</c:v>
                </c:pt>
                <c:pt idx="280">
                  <c:v>17</c:v>
                </c:pt>
                <c:pt idx="281">
                  <c:v>22</c:v>
                </c:pt>
                <c:pt idx="282">
                  <c:v>5</c:v>
                </c:pt>
                <c:pt idx="283">
                  <c:v>11</c:v>
                </c:pt>
                <c:pt idx="284">
                  <c:v>16</c:v>
                </c:pt>
                <c:pt idx="285">
                  <c:v>6</c:v>
                </c:pt>
                <c:pt idx="286">
                  <c:v>26</c:v>
                </c:pt>
                <c:pt idx="287">
                  <c:v>4</c:v>
                </c:pt>
                <c:pt idx="288">
                  <c:v>6</c:v>
                </c:pt>
                <c:pt idx="289">
                  <c:v>18</c:v>
                </c:pt>
                <c:pt idx="290">
                  <c:v>5</c:v>
                </c:pt>
                <c:pt idx="291">
                  <c:v>14</c:v>
                </c:pt>
                <c:pt idx="292">
                  <c:v>9</c:v>
                </c:pt>
                <c:pt idx="293">
                  <c:v>11</c:v>
                </c:pt>
                <c:pt idx="294">
                  <c:v>8</c:v>
                </c:pt>
                <c:pt idx="295">
                  <c:v>4</c:v>
                </c:pt>
                <c:pt idx="296">
                  <c:v>6</c:v>
                </c:pt>
                <c:pt idx="297">
                  <c:v>5</c:v>
                </c:pt>
                <c:pt idx="298">
                  <c:v>16</c:v>
                </c:pt>
                <c:pt idx="299">
                  <c:v>10</c:v>
                </c:pt>
                <c:pt idx="300">
                  <c:v>13</c:v>
                </c:pt>
                <c:pt idx="301">
                  <c:v>14</c:v>
                </c:pt>
                <c:pt idx="302">
                  <c:v>4</c:v>
                </c:pt>
                <c:pt idx="303">
                  <c:v>8</c:v>
                </c:pt>
                <c:pt idx="304">
                  <c:v>7</c:v>
                </c:pt>
                <c:pt idx="305">
                  <c:v>4</c:v>
                </c:pt>
                <c:pt idx="306">
                  <c:v>4</c:v>
                </c:pt>
                <c:pt idx="307">
                  <c:v>6</c:v>
                </c:pt>
                <c:pt idx="308">
                  <c:v>13</c:v>
                </c:pt>
                <c:pt idx="309">
                  <c:v>10</c:v>
                </c:pt>
                <c:pt idx="310">
                  <c:v>12</c:v>
                </c:pt>
                <c:pt idx="311">
                  <c:v>5</c:v>
                </c:pt>
                <c:pt idx="312">
                  <c:v>5</c:v>
                </c:pt>
                <c:pt idx="313">
                  <c:v>4</c:v>
                </c:pt>
                <c:pt idx="314">
                  <c:v>4</c:v>
                </c:pt>
                <c:pt idx="315">
                  <c:v>2</c:v>
                </c:pt>
                <c:pt idx="316">
                  <c:v>3</c:v>
                </c:pt>
                <c:pt idx="317">
                  <c:v>4</c:v>
                </c:pt>
                <c:pt idx="318">
                  <c:v>11</c:v>
                </c:pt>
                <c:pt idx="319">
                  <c:v>2</c:v>
                </c:pt>
                <c:pt idx="320">
                  <c:v>3</c:v>
                </c:pt>
                <c:pt idx="321">
                  <c:v>4</c:v>
                </c:pt>
                <c:pt idx="322">
                  <c:v>8</c:v>
                </c:pt>
                <c:pt idx="323">
                  <c:v>2</c:v>
                </c:pt>
                <c:pt idx="324">
                  <c:v>7</c:v>
                </c:pt>
                <c:pt idx="325">
                  <c:v>5</c:v>
                </c:pt>
                <c:pt idx="326">
                  <c:v>2</c:v>
                </c:pt>
                <c:pt idx="327">
                  <c:v>2</c:v>
                </c:pt>
                <c:pt idx="328">
                  <c:v>1</c:v>
                </c:pt>
                <c:pt idx="329">
                  <c:v>4</c:v>
                </c:pt>
                <c:pt idx="330">
                  <c:v>12</c:v>
                </c:pt>
                <c:pt idx="331">
                  <c:v>4</c:v>
                </c:pt>
                <c:pt idx="332">
                  <c:v>2</c:v>
                </c:pt>
                <c:pt idx="333">
                  <c:v>3</c:v>
                </c:pt>
                <c:pt idx="334">
                  <c:v>4</c:v>
                </c:pt>
                <c:pt idx="335">
                  <c:v>1</c:v>
                </c:pt>
                <c:pt idx="336">
                  <c:v>3</c:v>
                </c:pt>
                <c:pt idx="337">
                  <c:v>2</c:v>
                </c:pt>
                <c:pt idx="338">
                  <c:v>6</c:v>
                </c:pt>
                <c:pt idx="339">
                  <c:v>16</c:v>
                </c:pt>
                <c:pt idx="340">
                  <c:v>2</c:v>
                </c:pt>
                <c:pt idx="341">
                  <c:v>2</c:v>
                </c:pt>
                <c:pt idx="342">
                  <c:v>2</c:v>
                </c:pt>
                <c:pt idx="343">
                  <c:v>10</c:v>
                </c:pt>
                <c:pt idx="344">
                  <c:v>5</c:v>
                </c:pt>
                <c:pt idx="345">
                  <c:v>4</c:v>
                </c:pt>
                <c:pt idx="346">
                  <c:v>2</c:v>
                </c:pt>
                <c:pt idx="347">
                  <c:v>2</c:v>
                </c:pt>
                <c:pt idx="348">
                  <c:v>6</c:v>
                </c:pt>
                <c:pt idx="349">
                  <c:v>4</c:v>
                </c:pt>
                <c:pt idx="350">
                  <c:v>2</c:v>
                </c:pt>
                <c:pt idx="351">
                  <c:v>2</c:v>
                </c:pt>
                <c:pt idx="352">
                  <c:v>2</c:v>
                </c:pt>
                <c:pt idx="353">
                  <c:v>2</c:v>
                </c:pt>
                <c:pt idx="354">
                  <c:v>3</c:v>
                </c:pt>
                <c:pt idx="355">
                  <c:v>3</c:v>
                </c:pt>
                <c:pt idx="356">
                  <c:v>12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년도별선행예약시점!$J$8</c:f>
              <c:strCache>
                <c:ptCount val="1"/>
                <c:pt idx="0">
                  <c:v>2018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년도별선행예약시점!$I$9:$I$339</c:f>
              <c:numCache>
                <c:formatCode>General</c:formatCode>
                <c:ptCount val="3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266</c:v>
                </c:pt>
                <c:pt idx="265">
                  <c:v>267</c:v>
                </c:pt>
                <c:pt idx="266">
                  <c:v>268</c:v>
                </c:pt>
                <c:pt idx="267">
                  <c:v>269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274</c:v>
                </c:pt>
                <c:pt idx="272">
                  <c:v>275</c:v>
                </c:pt>
                <c:pt idx="273">
                  <c:v>277</c:v>
                </c:pt>
                <c:pt idx="274">
                  <c:v>279</c:v>
                </c:pt>
                <c:pt idx="275">
                  <c:v>280</c:v>
                </c:pt>
                <c:pt idx="276">
                  <c:v>281</c:v>
                </c:pt>
                <c:pt idx="277">
                  <c:v>284</c:v>
                </c:pt>
                <c:pt idx="278">
                  <c:v>286</c:v>
                </c:pt>
                <c:pt idx="279">
                  <c:v>287</c:v>
                </c:pt>
                <c:pt idx="280">
                  <c:v>288</c:v>
                </c:pt>
                <c:pt idx="281">
                  <c:v>289</c:v>
                </c:pt>
                <c:pt idx="282">
                  <c:v>290</c:v>
                </c:pt>
                <c:pt idx="283">
                  <c:v>291</c:v>
                </c:pt>
                <c:pt idx="284">
                  <c:v>292</c:v>
                </c:pt>
                <c:pt idx="285">
                  <c:v>294</c:v>
                </c:pt>
                <c:pt idx="286">
                  <c:v>295</c:v>
                </c:pt>
                <c:pt idx="287">
                  <c:v>296</c:v>
                </c:pt>
                <c:pt idx="288">
                  <c:v>297</c:v>
                </c:pt>
                <c:pt idx="289">
                  <c:v>298</c:v>
                </c:pt>
                <c:pt idx="290">
                  <c:v>299</c:v>
                </c:pt>
                <c:pt idx="291">
                  <c:v>303</c:v>
                </c:pt>
                <c:pt idx="292">
                  <c:v>309</c:v>
                </c:pt>
                <c:pt idx="293">
                  <c:v>310</c:v>
                </c:pt>
                <c:pt idx="294">
                  <c:v>311</c:v>
                </c:pt>
                <c:pt idx="295">
                  <c:v>312</c:v>
                </c:pt>
                <c:pt idx="296">
                  <c:v>313</c:v>
                </c:pt>
                <c:pt idx="297">
                  <c:v>314</c:v>
                </c:pt>
                <c:pt idx="298">
                  <c:v>315</c:v>
                </c:pt>
                <c:pt idx="299">
                  <c:v>316</c:v>
                </c:pt>
                <c:pt idx="300">
                  <c:v>317</c:v>
                </c:pt>
                <c:pt idx="301">
                  <c:v>318</c:v>
                </c:pt>
                <c:pt idx="302">
                  <c:v>324</c:v>
                </c:pt>
                <c:pt idx="303">
                  <c:v>325</c:v>
                </c:pt>
                <c:pt idx="304">
                  <c:v>326</c:v>
                </c:pt>
                <c:pt idx="305">
                  <c:v>332</c:v>
                </c:pt>
                <c:pt idx="306">
                  <c:v>334</c:v>
                </c:pt>
                <c:pt idx="307">
                  <c:v>339</c:v>
                </c:pt>
                <c:pt idx="308">
                  <c:v>340</c:v>
                </c:pt>
                <c:pt idx="309">
                  <c:v>346</c:v>
                </c:pt>
                <c:pt idx="310">
                  <c:v>348</c:v>
                </c:pt>
                <c:pt idx="311">
                  <c:v>350</c:v>
                </c:pt>
                <c:pt idx="312">
                  <c:v>358</c:v>
                </c:pt>
                <c:pt idx="313">
                  <c:v>361</c:v>
                </c:pt>
                <c:pt idx="314">
                  <c:v>370</c:v>
                </c:pt>
                <c:pt idx="315">
                  <c:v>381</c:v>
                </c:pt>
                <c:pt idx="316">
                  <c:v>382</c:v>
                </c:pt>
                <c:pt idx="317">
                  <c:v>383</c:v>
                </c:pt>
                <c:pt idx="318">
                  <c:v>385</c:v>
                </c:pt>
                <c:pt idx="319">
                  <c:v>397</c:v>
                </c:pt>
                <c:pt idx="320">
                  <c:v>400</c:v>
                </c:pt>
                <c:pt idx="321">
                  <c:v>415</c:v>
                </c:pt>
                <c:pt idx="322">
                  <c:v>417</c:v>
                </c:pt>
                <c:pt idx="323">
                  <c:v>425</c:v>
                </c:pt>
                <c:pt idx="324">
                  <c:v>445</c:v>
                </c:pt>
                <c:pt idx="325">
                  <c:v>448</c:v>
                </c:pt>
                <c:pt idx="326">
                  <c:v>495</c:v>
                </c:pt>
                <c:pt idx="327">
                  <c:v>556</c:v>
                </c:pt>
                <c:pt idx="328">
                  <c:v>593</c:v>
                </c:pt>
                <c:pt idx="329">
                  <c:v>659</c:v>
                </c:pt>
                <c:pt idx="330">
                  <c:v>1660</c:v>
                </c:pt>
              </c:numCache>
            </c:numRef>
          </c:cat>
          <c:val>
            <c:numRef>
              <c:f>년도별선행예약시점!$J$9:$J$339</c:f>
              <c:numCache>
                <c:formatCode>General</c:formatCode>
                <c:ptCount val="331"/>
                <c:pt idx="0">
                  <c:v>47</c:v>
                </c:pt>
                <c:pt idx="1">
                  <c:v>113</c:v>
                </c:pt>
                <c:pt idx="2">
                  <c:v>182</c:v>
                </c:pt>
                <c:pt idx="3">
                  <c:v>293</c:v>
                </c:pt>
                <c:pt idx="4">
                  <c:v>449</c:v>
                </c:pt>
                <c:pt idx="5">
                  <c:v>526</c:v>
                </c:pt>
                <c:pt idx="6">
                  <c:v>634</c:v>
                </c:pt>
                <c:pt idx="7">
                  <c:v>762</c:v>
                </c:pt>
                <c:pt idx="8">
                  <c:v>817</c:v>
                </c:pt>
                <c:pt idx="9">
                  <c:v>944</c:v>
                </c:pt>
                <c:pt idx="10">
                  <c:v>1044</c:v>
                </c:pt>
                <c:pt idx="11">
                  <c:v>1022</c:v>
                </c:pt>
                <c:pt idx="12">
                  <c:v>1157</c:v>
                </c:pt>
                <c:pt idx="13">
                  <c:v>1135</c:v>
                </c:pt>
                <c:pt idx="14">
                  <c:v>1266</c:v>
                </c:pt>
                <c:pt idx="15">
                  <c:v>1458</c:v>
                </c:pt>
                <c:pt idx="16">
                  <c:v>1348</c:v>
                </c:pt>
                <c:pt idx="17">
                  <c:v>1420</c:v>
                </c:pt>
                <c:pt idx="18">
                  <c:v>1418</c:v>
                </c:pt>
                <c:pt idx="19">
                  <c:v>1334</c:v>
                </c:pt>
                <c:pt idx="20">
                  <c:v>1373</c:v>
                </c:pt>
                <c:pt idx="21">
                  <c:v>1450</c:v>
                </c:pt>
                <c:pt idx="22">
                  <c:v>1599</c:v>
                </c:pt>
                <c:pt idx="23">
                  <c:v>1491</c:v>
                </c:pt>
                <c:pt idx="24">
                  <c:v>1423</c:v>
                </c:pt>
                <c:pt idx="25">
                  <c:v>1415</c:v>
                </c:pt>
                <c:pt idx="26">
                  <c:v>1485</c:v>
                </c:pt>
                <c:pt idx="27">
                  <c:v>1435</c:v>
                </c:pt>
                <c:pt idx="28">
                  <c:v>1301</c:v>
                </c:pt>
                <c:pt idx="29">
                  <c:v>1316</c:v>
                </c:pt>
                <c:pt idx="30">
                  <c:v>1337</c:v>
                </c:pt>
                <c:pt idx="31">
                  <c:v>1498</c:v>
                </c:pt>
                <c:pt idx="32">
                  <c:v>1200</c:v>
                </c:pt>
                <c:pt idx="33">
                  <c:v>1302</c:v>
                </c:pt>
                <c:pt idx="34">
                  <c:v>1202</c:v>
                </c:pt>
                <c:pt idx="35">
                  <c:v>1289</c:v>
                </c:pt>
                <c:pt idx="36">
                  <c:v>1454</c:v>
                </c:pt>
                <c:pt idx="37">
                  <c:v>1328</c:v>
                </c:pt>
                <c:pt idx="38">
                  <c:v>1362</c:v>
                </c:pt>
                <c:pt idx="39">
                  <c:v>1252</c:v>
                </c:pt>
                <c:pt idx="40">
                  <c:v>1203</c:v>
                </c:pt>
                <c:pt idx="41">
                  <c:v>1311</c:v>
                </c:pt>
                <c:pt idx="42">
                  <c:v>1186</c:v>
                </c:pt>
                <c:pt idx="43">
                  <c:v>1169</c:v>
                </c:pt>
                <c:pt idx="44">
                  <c:v>1129</c:v>
                </c:pt>
                <c:pt idx="45">
                  <c:v>1199</c:v>
                </c:pt>
                <c:pt idx="46">
                  <c:v>1158</c:v>
                </c:pt>
                <c:pt idx="47">
                  <c:v>1028</c:v>
                </c:pt>
                <c:pt idx="48">
                  <c:v>1150</c:v>
                </c:pt>
                <c:pt idx="49">
                  <c:v>1096</c:v>
                </c:pt>
                <c:pt idx="50">
                  <c:v>1114</c:v>
                </c:pt>
                <c:pt idx="51">
                  <c:v>1086</c:v>
                </c:pt>
                <c:pt idx="52">
                  <c:v>1096</c:v>
                </c:pt>
                <c:pt idx="53">
                  <c:v>1015</c:v>
                </c:pt>
                <c:pt idx="54">
                  <c:v>1077</c:v>
                </c:pt>
                <c:pt idx="55">
                  <c:v>1053</c:v>
                </c:pt>
                <c:pt idx="56">
                  <c:v>943</c:v>
                </c:pt>
                <c:pt idx="57">
                  <c:v>947</c:v>
                </c:pt>
                <c:pt idx="58">
                  <c:v>881</c:v>
                </c:pt>
                <c:pt idx="59">
                  <c:v>898</c:v>
                </c:pt>
                <c:pt idx="60">
                  <c:v>799</c:v>
                </c:pt>
                <c:pt idx="61">
                  <c:v>903</c:v>
                </c:pt>
                <c:pt idx="62">
                  <c:v>862</c:v>
                </c:pt>
                <c:pt idx="63">
                  <c:v>959</c:v>
                </c:pt>
                <c:pt idx="64">
                  <c:v>1019</c:v>
                </c:pt>
                <c:pt idx="65">
                  <c:v>845</c:v>
                </c:pt>
                <c:pt idx="66">
                  <c:v>1033</c:v>
                </c:pt>
                <c:pt idx="67">
                  <c:v>746</c:v>
                </c:pt>
                <c:pt idx="68">
                  <c:v>805</c:v>
                </c:pt>
                <c:pt idx="69">
                  <c:v>815</c:v>
                </c:pt>
                <c:pt idx="70">
                  <c:v>843</c:v>
                </c:pt>
                <c:pt idx="71">
                  <c:v>891</c:v>
                </c:pt>
                <c:pt idx="72">
                  <c:v>758</c:v>
                </c:pt>
                <c:pt idx="73">
                  <c:v>798</c:v>
                </c:pt>
                <c:pt idx="74">
                  <c:v>719</c:v>
                </c:pt>
                <c:pt idx="75">
                  <c:v>727</c:v>
                </c:pt>
                <c:pt idx="76">
                  <c:v>781</c:v>
                </c:pt>
                <c:pt idx="77">
                  <c:v>825</c:v>
                </c:pt>
                <c:pt idx="78">
                  <c:v>693</c:v>
                </c:pt>
                <c:pt idx="79">
                  <c:v>846</c:v>
                </c:pt>
                <c:pt idx="80">
                  <c:v>671</c:v>
                </c:pt>
                <c:pt idx="81">
                  <c:v>603</c:v>
                </c:pt>
                <c:pt idx="82">
                  <c:v>646</c:v>
                </c:pt>
                <c:pt idx="83">
                  <c:v>571</c:v>
                </c:pt>
                <c:pt idx="84">
                  <c:v>736</c:v>
                </c:pt>
                <c:pt idx="85">
                  <c:v>780</c:v>
                </c:pt>
                <c:pt idx="86">
                  <c:v>655</c:v>
                </c:pt>
                <c:pt idx="87">
                  <c:v>628</c:v>
                </c:pt>
                <c:pt idx="88">
                  <c:v>551</c:v>
                </c:pt>
                <c:pt idx="89">
                  <c:v>462</c:v>
                </c:pt>
                <c:pt idx="90">
                  <c:v>535</c:v>
                </c:pt>
                <c:pt idx="91">
                  <c:v>547</c:v>
                </c:pt>
                <c:pt idx="92">
                  <c:v>623</c:v>
                </c:pt>
                <c:pt idx="93">
                  <c:v>551</c:v>
                </c:pt>
                <c:pt idx="94">
                  <c:v>606</c:v>
                </c:pt>
                <c:pt idx="95">
                  <c:v>646</c:v>
                </c:pt>
                <c:pt idx="96">
                  <c:v>522</c:v>
                </c:pt>
                <c:pt idx="97">
                  <c:v>529</c:v>
                </c:pt>
                <c:pt idx="98">
                  <c:v>548</c:v>
                </c:pt>
                <c:pt idx="99">
                  <c:v>570</c:v>
                </c:pt>
                <c:pt idx="100">
                  <c:v>505</c:v>
                </c:pt>
                <c:pt idx="101">
                  <c:v>524</c:v>
                </c:pt>
                <c:pt idx="102">
                  <c:v>460</c:v>
                </c:pt>
                <c:pt idx="103">
                  <c:v>539</c:v>
                </c:pt>
                <c:pt idx="104">
                  <c:v>468</c:v>
                </c:pt>
                <c:pt idx="105">
                  <c:v>473</c:v>
                </c:pt>
                <c:pt idx="106">
                  <c:v>491</c:v>
                </c:pt>
                <c:pt idx="107">
                  <c:v>411</c:v>
                </c:pt>
                <c:pt idx="108">
                  <c:v>468</c:v>
                </c:pt>
                <c:pt idx="109">
                  <c:v>483</c:v>
                </c:pt>
                <c:pt idx="110">
                  <c:v>428</c:v>
                </c:pt>
                <c:pt idx="111">
                  <c:v>447</c:v>
                </c:pt>
                <c:pt idx="112">
                  <c:v>452</c:v>
                </c:pt>
                <c:pt idx="113">
                  <c:v>416</c:v>
                </c:pt>
                <c:pt idx="114">
                  <c:v>426</c:v>
                </c:pt>
                <c:pt idx="115">
                  <c:v>425</c:v>
                </c:pt>
                <c:pt idx="116">
                  <c:v>438</c:v>
                </c:pt>
                <c:pt idx="117">
                  <c:v>361</c:v>
                </c:pt>
                <c:pt idx="118">
                  <c:v>349</c:v>
                </c:pt>
                <c:pt idx="119">
                  <c:v>418</c:v>
                </c:pt>
                <c:pt idx="120">
                  <c:v>395</c:v>
                </c:pt>
                <c:pt idx="121">
                  <c:v>347</c:v>
                </c:pt>
                <c:pt idx="122">
                  <c:v>348</c:v>
                </c:pt>
                <c:pt idx="123">
                  <c:v>463</c:v>
                </c:pt>
                <c:pt idx="124">
                  <c:v>332</c:v>
                </c:pt>
                <c:pt idx="125">
                  <c:v>314</c:v>
                </c:pt>
                <c:pt idx="126">
                  <c:v>376</c:v>
                </c:pt>
                <c:pt idx="127">
                  <c:v>465</c:v>
                </c:pt>
                <c:pt idx="128">
                  <c:v>462</c:v>
                </c:pt>
                <c:pt idx="129">
                  <c:v>420</c:v>
                </c:pt>
                <c:pt idx="130">
                  <c:v>343</c:v>
                </c:pt>
                <c:pt idx="131">
                  <c:v>326</c:v>
                </c:pt>
                <c:pt idx="132">
                  <c:v>272</c:v>
                </c:pt>
                <c:pt idx="133">
                  <c:v>330</c:v>
                </c:pt>
                <c:pt idx="134">
                  <c:v>336</c:v>
                </c:pt>
                <c:pt idx="135">
                  <c:v>316</c:v>
                </c:pt>
                <c:pt idx="136">
                  <c:v>309</c:v>
                </c:pt>
                <c:pt idx="137">
                  <c:v>282</c:v>
                </c:pt>
                <c:pt idx="138">
                  <c:v>265</c:v>
                </c:pt>
                <c:pt idx="139">
                  <c:v>232</c:v>
                </c:pt>
                <c:pt idx="140">
                  <c:v>325</c:v>
                </c:pt>
                <c:pt idx="141">
                  <c:v>273</c:v>
                </c:pt>
                <c:pt idx="142">
                  <c:v>234</c:v>
                </c:pt>
                <c:pt idx="143">
                  <c:v>335</c:v>
                </c:pt>
                <c:pt idx="144">
                  <c:v>192</c:v>
                </c:pt>
                <c:pt idx="145">
                  <c:v>280</c:v>
                </c:pt>
                <c:pt idx="146">
                  <c:v>219</c:v>
                </c:pt>
                <c:pt idx="147">
                  <c:v>346</c:v>
                </c:pt>
                <c:pt idx="148">
                  <c:v>249</c:v>
                </c:pt>
                <c:pt idx="149">
                  <c:v>299</c:v>
                </c:pt>
                <c:pt idx="150">
                  <c:v>226</c:v>
                </c:pt>
                <c:pt idx="151">
                  <c:v>196</c:v>
                </c:pt>
                <c:pt idx="152">
                  <c:v>194</c:v>
                </c:pt>
                <c:pt idx="153">
                  <c:v>221</c:v>
                </c:pt>
                <c:pt idx="154">
                  <c:v>189</c:v>
                </c:pt>
                <c:pt idx="155">
                  <c:v>191</c:v>
                </c:pt>
                <c:pt idx="156">
                  <c:v>179</c:v>
                </c:pt>
                <c:pt idx="157">
                  <c:v>278</c:v>
                </c:pt>
                <c:pt idx="158">
                  <c:v>174</c:v>
                </c:pt>
                <c:pt idx="159">
                  <c:v>144</c:v>
                </c:pt>
                <c:pt idx="160">
                  <c:v>228</c:v>
                </c:pt>
                <c:pt idx="161">
                  <c:v>238</c:v>
                </c:pt>
                <c:pt idx="162">
                  <c:v>152</c:v>
                </c:pt>
                <c:pt idx="163">
                  <c:v>121</c:v>
                </c:pt>
                <c:pt idx="164">
                  <c:v>136</c:v>
                </c:pt>
                <c:pt idx="165">
                  <c:v>184</c:v>
                </c:pt>
                <c:pt idx="166">
                  <c:v>135</c:v>
                </c:pt>
                <c:pt idx="167">
                  <c:v>235</c:v>
                </c:pt>
                <c:pt idx="168">
                  <c:v>140</c:v>
                </c:pt>
                <c:pt idx="169">
                  <c:v>169</c:v>
                </c:pt>
                <c:pt idx="170">
                  <c:v>131</c:v>
                </c:pt>
                <c:pt idx="171">
                  <c:v>175</c:v>
                </c:pt>
                <c:pt idx="172">
                  <c:v>162</c:v>
                </c:pt>
                <c:pt idx="173">
                  <c:v>170</c:v>
                </c:pt>
                <c:pt idx="174">
                  <c:v>142</c:v>
                </c:pt>
                <c:pt idx="175">
                  <c:v>148</c:v>
                </c:pt>
                <c:pt idx="176">
                  <c:v>147</c:v>
                </c:pt>
                <c:pt idx="177">
                  <c:v>133</c:v>
                </c:pt>
                <c:pt idx="178">
                  <c:v>110</c:v>
                </c:pt>
                <c:pt idx="179">
                  <c:v>136</c:v>
                </c:pt>
                <c:pt idx="180">
                  <c:v>97</c:v>
                </c:pt>
                <c:pt idx="181">
                  <c:v>120</c:v>
                </c:pt>
                <c:pt idx="182">
                  <c:v>147</c:v>
                </c:pt>
                <c:pt idx="183">
                  <c:v>79</c:v>
                </c:pt>
                <c:pt idx="184">
                  <c:v>123</c:v>
                </c:pt>
                <c:pt idx="185">
                  <c:v>165</c:v>
                </c:pt>
                <c:pt idx="186">
                  <c:v>98</c:v>
                </c:pt>
                <c:pt idx="187">
                  <c:v>69</c:v>
                </c:pt>
                <c:pt idx="188">
                  <c:v>66</c:v>
                </c:pt>
                <c:pt idx="189">
                  <c:v>142</c:v>
                </c:pt>
                <c:pt idx="190">
                  <c:v>38</c:v>
                </c:pt>
                <c:pt idx="191">
                  <c:v>114</c:v>
                </c:pt>
                <c:pt idx="192">
                  <c:v>142</c:v>
                </c:pt>
                <c:pt idx="193">
                  <c:v>81</c:v>
                </c:pt>
                <c:pt idx="194">
                  <c:v>114</c:v>
                </c:pt>
                <c:pt idx="195">
                  <c:v>108</c:v>
                </c:pt>
                <c:pt idx="196">
                  <c:v>70</c:v>
                </c:pt>
                <c:pt idx="197">
                  <c:v>102</c:v>
                </c:pt>
                <c:pt idx="198">
                  <c:v>81</c:v>
                </c:pt>
                <c:pt idx="199">
                  <c:v>71</c:v>
                </c:pt>
                <c:pt idx="200">
                  <c:v>48</c:v>
                </c:pt>
                <c:pt idx="201">
                  <c:v>75</c:v>
                </c:pt>
                <c:pt idx="202">
                  <c:v>72</c:v>
                </c:pt>
                <c:pt idx="203">
                  <c:v>63</c:v>
                </c:pt>
                <c:pt idx="204">
                  <c:v>74</c:v>
                </c:pt>
                <c:pt idx="205">
                  <c:v>73</c:v>
                </c:pt>
                <c:pt idx="206">
                  <c:v>61</c:v>
                </c:pt>
                <c:pt idx="207">
                  <c:v>57</c:v>
                </c:pt>
                <c:pt idx="208">
                  <c:v>30</c:v>
                </c:pt>
                <c:pt idx="209">
                  <c:v>73</c:v>
                </c:pt>
                <c:pt idx="210">
                  <c:v>86</c:v>
                </c:pt>
                <c:pt idx="211">
                  <c:v>71</c:v>
                </c:pt>
                <c:pt idx="212">
                  <c:v>48</c:v>
                </c:pt>
                <c:pt idx="213">
                  <c:v>69</c:v>
                </c:pt>
                <c:pt idx="214">
                  <c:v>54</c:v>
                </c:pt>
                <c:pt idx="215">
                  <c:v>70</c:v>
                </c:pt>
                <c:pt idx="216">
                  <c:v>41</c:v>
                </c:pt>
                <c:pt idx="217">
                  <c:v>44</c:v>
                </c:pt>
                <c:pt idx="218">
                  <c:v>92</c:v>
                </c:pt>
                <c:pt idx="219">
                  <c:v>42</c:v>
                </c:pt>
                <c:pt idx="220">
                  <c:v>67</c:v>
                </c:pt>
                <c:pt idx="221">
                  <c:v>56</c:v>
                </c:pt>
                <c:pt idx="222">
                  <c:v>48</c:v>
                </c:pt>
                <c:pt idx="223">
                  <c:v>34</c:v>
                </c:pt>
                <c:pt idx="224">
                  <c:v>35</c:v>
                </c:pt>
                <c:pt idx="225">
                  <c:v>20</c:v>
                </c:pt>
                <c:pt idx="226">
                  <c:v>45</c:v>
                </c:pt>
                <c:pt idx="227">
                  <c:v>43</c:v>
                </c:pt>
                <c:pt idx="228">
                  <c:v>35</c:v>
                </c:pt>
                <c:pt idx="229">
                  <c:v>19</c:v>
                </c:pt>
                <c:pt idx="230">
                  <c:v>37</c:v>
                </c:pt>
                <c:pt idx="231">
                  <c:v>43</c:v>
                </c:pt>
                <c:pt idx="232">
                  <c:v>37</c:v>
                </c:pt>
                <c:pt idx="233">
                  <c:v>9</c:v>
                </c:pt>
                <c:pt idx="234">
                  <c:v>10</c:v>
                </c:pt>
                <c:pt idx="235">
                  <c:v>62</c:v>
                </c:pt>
                <c:pt idx="236">
                  <c:v>29</c:v>
                </c:pt>
                <c:pt idx="237">
                  <c:v>8</c:v>
                </c:pt>
                <c:pt idx="238">
                  <c:v>26</c:v>
                </c:pt>
                <c:pt idx="239">
                  <c:v>22</c:v>
                </c:pt>
                <c:pt idx="240">
                  <c:v>18</c:v>
                </c:pt>
                <c:pt idx="241">
                  <c:v>16</c:v>
                </c:pt>
                <c:pt idx="242">
                  <c:v>12</c:v>
                </c:pt>
                <c:pt idx="243">
                  <c:v>22</c:v>
                </c:pt>
                <c:pt idx="244">
                  <c:v>10</c:v>
                </c:pt>
                <c:pt idx="245">
                  <c:v>20</c:v>
                </c:pt>
                <c:pt idx="246">
                  <c:v>15</c:v>
                </c:pt>
                <c:pt idx="247">
                  <c:v>17</c:v>
                </c:pt>
                <c:pt idx="248">
                  <c:v>25</c:v>
                </c:pt>
                <c:pt idx="249">
                  <c:v>18</c:v>
                </c:pt>
                <c:pt idx="250">
                  <c:v>14</c:v>
                </c:pt>
                <c:pt idx="251">
                  <c:v>10</c:v>
                </c:pt>
                <c:pt idx="252">
                  <c:v>12</c:v>
                </c:pt>
                <c:pt idx="253">
                  <c:v>20</c:v>
                </c:pt>
                <c:pt idx="254">
                  <c:v>14</c:v>
                </c:pt>
                <c:pt idx="255">
                  <c:v>23</c:v>
                </c:pt>
                <c:pt idx="256">
                  <c:v>8</c:v>
                </c:pt>
                <c:pt idx="257">
                  <c:v>22</c:v>
                </c:pt>
                <c:pt idx="258">
                  <c:v>18</c:v>
                </c:pt>
                <c:pt idx="259">
                  <c:v>2</c:v>
                </c:pt>
                <c:pt idx="260">
                  <c:v>2</c:v>
                </c:pt>
                <c:pt idx="261">
                  <c:v>5</c:v>
                </c:pt>
                <c:pt idx="262">
                  <c:v>9</c:v>
                </c:pt>
                <c:pt idx="263">
                  <c:v>9</c:v>
                </c:pt>
                <c:pt idx="264">
                  <c:v>7</c:v>
                </c:pt>
                <c:pt idx="265">
                  <c:v>12</c:v>
                </c:pt>
                <c:pt idx="266">
                  <c:v>7</c:v>
                </c:pt>
                <c:pt idx="267">
                  <c:v>25</c:v>
                </c:pt>
                <c:pt idx="268">
                  <c:v>8</c:v>
                </c:pt>
                <c:pt idx="269">
                  <c:v>2</c:v>
                </c:pt>
                <c:pt idx="270">
                  <c:v>2</c:v>
                </c:pt>
                <c:pt idx="271">
                  <c:v>18</c:v>
                </c:pt>
                <c:pt idx="272">
                  <c:v>8</c:v>
                </c:pt>
                <c:pt idx="273">
                  <c:v>18</c:v>
                </c:pt>
                <c:pt idx="274">
                  <c:v>5</c:v>
                </c:pt>
                <c:pt idx="275">
                  <c:v>1</c:v>
                </c:pt>
                <c:pt idx="276">
                  <c:v>6</c:v>
                </c:pt>
                <c:pt idx="277">
                  <c:v>27</c:v>
                </c:pt>
                <c:pt idx="278">
                  <c:v>6</c:v>
                </c:pt>
                <c:pt idx="279">
                  <c:v>3</c:v>
                </c:pt>
                <c:pt idx="280">
                  <c:v>8</c:v>
                </c:pt>
                <c:pt idx="281">
                  <c:v>9</c:v>
                </c:pt>
                <c:pt idx="282">
                  <c:v>8</c:v>
                </c:pt>
                <c:pt idx="283">
                  <c:v>2</c:v>
                </c:pt>
                <c:pt idx="284">
                  <c:v>2</c:v>
                </c:pt>
                <c:pt idx="285">
                  <c:v>6</c:v>
                </c:pt>
                <c:pt idx="286">
                  <c:v>2</c:v>
                </c:pt>
                <c:pt idx="287">
                  <c:v>6</c:v>
                </c:pt>
                <c:pt idx="288">
                  <c:v>2</c:v>
                </c:pt>
                <c:pt idx="289">
                  <c:v>10</c:v>
                </c:pt>
                <c:pt idx="290">
                  <c:v>4</c:v>
                </c:pt>
                <c:pt idx="291">
                  <c:v>6</c:v>
                </c:pt>
                <c:pt idx="292">
                  <c:v>10</c:v>
                </c:pt>
                <c:pt idx="293">
                  <c:v>9</c:v>
                </c:pt>
                <c:pt idx="294">
                  <c:v>14</c:v>
                </c:pt>
                <c:pt idx="295">
                  <c:v>8</c:v>
                </c:pt>
                <c:pt idx="296">
                  <c:v>4</c:v>
                </c:pt>
                <c:pt idx="297">
                  <c:v>6</c:v>
                </c:pt>
                <c:pt idx="298">
                  <c:v>1</c:v>
                </c:pt>
                <c:pt idx="299">
                  <c:v>8</c:v>
                </c:pt>
                <c:pt idx="300">
                  <c:v>2</c:v>
                </c:pt>
                <c:pt idx="301">
                  <c:v>2</c:v>
                </c:pt>
                <c:pt idx="302">
                  <c:v>1</c:v>
                </c:pt>
                <c:pt idx="303">
                  <c:v>2</c:v>
                </c:pt>
                <c:pt idx="304">
                  <c:v>4</c:v>
                </c:pt>
                <c:pt idx="305">
                  <c:v>4</c:v>
                </c:pt>
                <c:pt idx="306">
                  <c:v>2</c:v>
                </c:pt>
                <c:pt idx="307">
                  <c:v>2</c:v>
                </c:pt>
                <c:pt idx="308">
                  <c:v>3</c:v>
                </c:pt>
                <c:pt idx="309">
                  <c:v>2</c:v>
                </c:pt>
                <c:pt idx="310">
                  <c:v>4</c:v>
                </c:pt>
                <c:pt idx="311">
                  <c:v>4</c:v>
                </c:pt>
                <c:pt idx="312">
                  <c:v>9</c:v>
                </c:pt>
                <c:pt idx="313">
                  <c:v>2</c:v>
                </c:pt>
                <c:pt idx="314">
                  <c:v>2</c:v>
                </c:pt>
                <c:pt idx="315">
                  <c:v>2</c:v>
                </c:pt>
                <c:pt idx="316">
                  <c:v>2</c:v>
                </c:pt>
                <c:pt idx="317">
                  <c:v>10</c:v>
                </c:pt>
                <c:pt idx="318">
                  <c:v>2</c:v>
                </c:pt>
                <c:pt idx="319">
                  <c:v>2</c:v>
                </c:pt>
                <c:pt idx="320">
                  <c:v>2</c:v>
                </c:pt>
                <c:pt idx="321">
                  <c:v>2</c:v>
                </c:pt>
                <c:pt idx="322">
                  <c:v>2</c:v>
                </c:pt>
                <c:pt idx="323">
                  <c:v>2</c:v>
                </c:pt>
                <c:pt idx="324">
                  <c:v>1</c:v>
                </c:pt>
                <c:pt idx="325">
                  <c:v>3</c:v>
                </c:pt>
                <c:pt idx="326">
                  <c:v>10</c:v>
                </c:pt>
                <c:pt idx="327">
                  <c:v>2</c:v>
                </c:pt>
                <c:pt idx="328">
                  <c:v>2</c:v>
                </c:pt>
                <c:pt idx="329">
                  <c:v>2</c:v>
                </c:pt>
                <c:pt idx="330">
                  <c:v>2</c:v>
                </c:pt>
              </c:numCache>
            </c:numRef>
          </c:val>
          <c:smooth val="0"/>
        </c:ser>
        <c:ser>
          <c:idx val="0"/>
          <c:order val="3"/>
          <c:tx>
            <c:strRef>
              <c:f>년도별선행예약시점!$M$8</c:f>
              <c:strCache>
                <c:ptCount val="1"/>
                <c:pt idx="0">
                  <c:v>2019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년도별선행예약시점!$L$9:$L$347</c:f>
              <c:numCache>
                <c:formatCode>General</c:formatCode>
                <c:ptCount val="33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279</c:v>
                </c:pt>
                <c:pt idx="278">
                  <c:v>280</c:v>
                </c:pt>
                <c:pt idx="279">
                  <c:v>281</c:v>
                </c:pt>
                <c:pt idx="280">
                  <c:v>282</c:v>
                </c:pt>
                <c:pt idx="281">
                  <c:v>283</c:v>
                </c:pt>
                <c:pt idx="282">
                  <c:v>285</c:v>
                </c:pt>
                <c:pt idx="283">
                  <c:v>287</c:v>
                </c:pt>
                <c:pt idx="284">
                  <c:v>288</c:v>
                </c:pt>
                <c:pt idx="285">
                  <c:v>289</c:v>
                </c:pt>
                <c:pt idx="286">
                  <c:v>290</c:v>
                </c:pt>
                <c:pt idx="287">
                  <c:v>291</c:v>
                </c:pt>
                <c:pt idx="288">
                  <c:v>292</c:v>
                </c:pt>
                <c:pt idx="289">
                  <c:v>293</c:v>
                </c:pt>
                <c:pt idx="290">
                  <c:v>294</c:v>
                </c:pt>
                <c:pt idx="291">
                  <c:v>295</c:v>
                </c:pt>
                <c:pt idx="292">
                  <c:v>296</c:v>
                </c:pt>
                <c:pt idx="293">
                  <c:v>298</c:v>
                </c:pt>
                <c:pt idx="294">
                  <c:v>300</c:v>
                </c:pt>
                <c:pt idx="295">
                  <c:v>301</c:v>
                </c:pt>
                <c:pt idx="296">
                  <c:v>302</c:v>
                </c:pt>
                <c:pt idx="297">
                  <c:v>303</c:v>
                </c:pt>
                <c:pt idx="298">
                  <c:v>304</c:v>
                </c:pt>
                <c:pt idx="299">
                  <c:v>305</c:v>
                </c:pt>
                <c:pt idx="300">
                  <c:v>307</c:v>
                </c:pt>
                <c:pt idx="301">
                  <c:v>308</c:v>
                </c:pt>
                <c:pt idx="302">
                  <c:v>312</c:v>
                </c:pt>
                <c:pt idx="303">
                  <c:v>314</c:v>
                </c:pt>
                <c:pt idx="304">
                  <c:v>319</c:v>
                </c:pt>
                <c:pt idx="305">
                  <c:v>320</c:v>
                </c:pt>
                <c:pt idx="306">
                  <c:v>321</c:v>
                </c:pt>
                <c:pt idx="307">
                  <c:v>322</c:v>
                </c:pt>
                <c:pt idx="308">
                  <c:v>324</c:v>
                </c:pt>
                <c:pt idx="309">
                  <c:v>327</c:v>
                </c:pt>
                <c:pt idx="310">
                  <c:v>328</c:v>
                </c:pt>
                <c:pt idx="311">
                  <c:v>329</c:v>
                </c:pt>
                <c:pt idx="312">
                  <c:v>331</c:v>
                </c:pt>
                <c:pt idx="313">
                  <c:v>333</c:v>
                </c:pt>
                <c:pt idx="314">
                  <c:v>335</c:v>
                </c:pt>
                <c:pt idx="315">
                  <c:v>339</c:v>
                </c:pt>
                <c:pt idx="316">
                  <c:v>343</c:v>
                </c:pt>
                <c:pt idx="317">
                  <c:v>346</c:v>
                </c:pt>
                <c:pt idx="318">
                  <c:v>347</c:v>
                </c:pt>
                <c:pt idx="319">
                  <c:v>348</c:v>
                </c:pt>
                <c:pt idx="320">
                  <c:v>354</c:v>
                </c:pt>
                <c:pt idx="321">
                  <c:v>363</c:v>
                </c:pt>
                <c:pt idx="322">
                  <c:v>371</c:v>
                </c:pt>
                <c:pt idx="323">
                  <c:v>374</c:v>
                </c:pt>
                <c:pt idx="324">
                  <c:v>375</c:v>
                </c:pt>
                <c:pt idx="325">
                  <c:v>376</c:v>
                </c:pt>
                <c:pt idx="326">
                  <c:v>378</c:v>
                </c:pt>
                <c:pt idx="327">
                  <c:v>385</c:v>
                </c:pt>
                <c:pt idx="328">
                  <c:v>386</c:v>
                </c:pt>
                <c:pt idx="329">
                  <c:v>393</c:v>
                </c:pt>
                <c:pt idx="330">
                  <c:v>397</c:v>
                </c:pt>
                <c:pt idx="331">
                  <c:v>400</c:v>
                </c:pt>
                <c:pt idx="332">
                  <c:v>433</c:v>
                </c:pt>
                <c:pt idx="333">
                  <c:v>435</c:v>
                </c:pt>
                <c:pt idx="334">
                  <c:v>464</c:v>
                </c:pt>
                <c:pt idx="335">
                  <c:v>468</c:v>
                </c:pt>
                <c:pt idx="336">
                  <c:v>473</c:v>
                </c:pt>
                <c:pt idx="337">
                  <c:v>525</c:v>
                </c:pt>
                <c:pt idx="338">
                  <c:v>528</c:v>
                </c:pt>
              </c:numCache>
            </c:numRef>
          </c:cat>
          <c:val>
            <c:numRef>
              <c:f>년도별선행예약시점!$M$9:$M$347</c:f>
              <c:numCache>
                <c:formatCode>General</c:formatCode>
                <c:ptCount val="339"/>
                <c:pt idx="0">
                  <c:v>27</c:v>
                </c:pt>
                <c:pt idx="1">
                  <c:v>79</c:v>
                </c:pt>
                <c:pt idx="2">
                  <c:v>139</c:v>
                </c:pt>
                <c:pt idx="3">
                  <c:v>207</c:v>
                </c:pt>
                <c:pt idx="4">
                  <c:v>337</c:v>
                </c:pt>
                <c:pt idx="5">
                  <c:v>450</c:v>
                </c:pt>
                <c:pt idx="6">
                  <c:v>580</c:v>
                </c:pt>
                <c:pt idx="7">
                  <c:v>604</c:v>
                </c:pt>
                <c:pt idx="8">
                  <c:v>724</c:v>
                </c:pt>
                <c:pt idx="9">
                  <c:v>929</c:v>
                </c:pt>
                <c:pt idx="10">
                  <c:v>983</c:v>
                </c:pt>
                <c:pt idx="11">
                  <c:v>898</c:v>
                </c:pt>
                <c:pt idx="12">
                  <c:v>971</c:v>
                </c:pt>
                <c:pt idx="13">
                  <c:v>1069</c:v>
                </c:pt>
                <c:pt idx="14">
                  <c:v>1227</c:v>
                </c:pt>
                <c:pt idx="15">
                  <c:v>1205</c:v>
                </c:pt>
                <c:pt idx="16">
                  <c:v>1253</c:v>
                </c:pt>
                <c:pt idx="17">
                  <c:v>1375</c:v>
                </c:pt>
                <c:pt idx="18">
                  <c:v>1236</c:v>
                </c:pt>
                <c:pt idx="19">
                  <c:v>1322</c:v>
                </c:pt>
                <c:pt idx="20">
                  <c:v>1436</c:v>
                </c:pt>
                <c:pt idx="21">
                  <c:v>1460</c:v>
                </c:pt>
                <c:pt idx="22">
                  <c:v>1370</c:v>
                </c:pt>
                <c:pt idx="23">
                  <c:v>1370</c:v>
                </c:pt>
                <c:pt idx="24">
                  <c:v>1518</c:v>
                </c:pt>
                <c:pt idx="25">
                  <c:v>1400</c:v>
                </c:pt>
                <c:pt idx="26">
                  <c:v>1397</c:v>
                </c:pt>
                <c:pt idx="27">
                  <c:v>1467</c:v>
                </c:pt>
                <c:pt idx="28">
                  <c:v>1555</c:v>
                </c:pt>
                <c:pt idx="29">
                  <c:v>1327</c:v>
                </c:pt>
                <c:pt idx="30">
                  <c:v>1470</c:v>
                </c:pt>
                <c:pt idx="31">
                  <c:v>1339</c:v>
                </c:pt>
                <c:pt idx="32">
                  <c:v>1416</c:v>
                </c:pt>
                <c:pt idx="33">
                  <c:v>1268</c:v>
                </c:pt>
                <c:pt idx="34">
                  <c:v>1300</c:v>
                </c:pt>
                <c:pt idx="35">
                  <c:v>1455</c:v>
                </c:pt>
                <c:pt idx="36">
                  <c:v>1402</c:v>
                </c:pt>
                <c:pt idx="37">
                  <c:v>1416</c:v>
                </c:pt>
                <c:pt idx="38">
                  <c:v>1262</c:v>
                </c:pt>
                <c:pt idx="39">
                  <c:v>1115</c:v>
                </c:pt>
                <c:pt idx="40">
                  <c:v>1257</c:v>
                </c:pt>
                <c:pt idx="41">
                  <c:v>1218</c:v>
                </c:pt>
                <c:pt idx="42">
                  <c:v>1295</c:v>
                </c:pt>
                <c:pt idx="43">
                  <c:v>1212</c:v>
                </c:pt>
                <c:pt idx="44">
                  <c:v>1234</c:v>
                </c:pt>
                <c:pt idx="45">
                  <c:v>1061</c:v>
                </c:pt>
                <c:pt idx="46">
                  <c:v>1077</c:v>
                </c:pt>
                <c:pt idx="47">
                  <c:v>1110</c:v>
                </c:pt>
                <c:pt idx="48">
                  <c:v>1173</c:v>
                </c:pt>
                <c:pt idx="49">
                  <c:v>1084</c:v>
                </c:pt>
                <c:pt idx="50">
                  <c:v>1190</c:v>
                </c:pt>
                <c:pt idx="51">
                  <c:v>967</c:v>
                </c:pt>
                <c:pt idx="52">
                  <c:v>1077</c:v>
                </c:pt>
                <c:pt idx="53">
                  <c:v>1039</c:v>
                </c:pt>
                <c:pt idx="54">
                  <c:v>992</c:v>
                </c:pt>
                <c:pt idx="55">
                  <c:v>902</c:v>
                </c:pt>
                <c:pt idx="56">
                  <c:v>997</c:v>
                </c:pt>
                <c:pt idx="57">
                  <c:v>872</c:v>
                </c:pt>
                <c:pt idx="58">
                  <c:v>918</c:v>
                </c:pt>
                <c:pt idx="59">
                  <c:v>988</c:v>
                </c:pt>
                <c:pt idx="60">
                  <c:v>938</c:v>
                </c:pt>
                <c:pt idx="61">
                  <c:v>928</c:v>
                </c:pt>
                <c:pt idx="62">
                  <c:v>862</c:v>
                </c:pt>
                <c:pt idx="63">
                  <c:v>841</c:v>
                </c:pt>
                <c:pt idx="64">
                  <c:v>986</c:v>
                </c:pt>
                <c:pt idx="65">
                  <c:v>973</c:v>
                </c:pt>
                <c:pt idx="66">
                  <c:v>976</c:v>
                </c:pt>
                <c:pt idx="67">
                  <c:v>820</c:v>
                </c:pt>
                <c:pt idx="68">
                  <c:v>790</c:v>
                </c:pt>
                <c:pt idx="69">
                  <c:v>785</c:v>
                </c:pt>
                <c:pt idx="70">
                  <c:v>941</c:v>
                </c:pt>
                <c:pt idx="71">
                  <c:v>836</c:v>
                </c:pt>
                <c:pt idx="72">
                  <c:v>745</c:v>
                </c:pt>
                <c:pt idx="73">
                  <c:v>797</c:v>
                </c:pt>
                <c:pt idx="74">
                  <c:v>760</c:v>
                </c:pt>
                <c:pt idx="75">
                  <c:v>766</c:v>
                </c:pt>
                <c:pt idx="76">
                  <c:v>643</c:v>
                </c:pt>
                <c:pt idx="77">
                  <c:v>781</c:v>
                </c:pt>
                <c:pt idx="78">
                  <c:v>721</c:v>
                </c:pt>
                <c:pt idx="79">
                  <c:v>679</c:v>
                </c:pt>
                <c:pt idx="80">
                  <c:v>651</c:v>
                </c:pt>
                <c:pt idx="81">
                  <c:v>775</c:v>
                </c:pt>
                <c:pt idx="82">
                  <c:v>560</c:v>
                </c:pt>
                <c:pt idx="83">
                  <c:v>612</c:v>
                </c:pt>
                <c:pt idx="84">
                  <c:v>755</c:v>
                </c:pt>
                <c:pt idx="85">
                  <c:v>692</c:v>
                </c:pt>
                <c:pt idx="86">
                  <c:v>625</c:v>
                </c:pt>
                <c:pt idx="87">
                  <c:v>613</c:v>
                </c:pt>
                <c:pt idx="88">
                  <c:v>608</c:v>
                </c:pt>
                <c:pt idx="89">
                  <c:v>550</c:v>
                </c:pt>
                <c:pt idx="90">
                  <c:v>535</c:v>
                </c:pt>
                <c:pt idx="91">
                  <c:v>607</c:v>
                </c:pt>
                <c:pt idx="92">
                  <c:v>614</c:v>
                </c:pt>
                <c:pt idx="93">
                  <c:v>593</c:v>
                </c:pt>
                <c:pt idx="94">
                  <c:v>585</c:v>
                </c:pt>
                <c:pt idx="95">
                  <c:v>587</c:v>
                </c:pt>
                <c:pt idx="96">
                  <c:v>555</c:v>
                </c:pt>
                <c:pt idx="97">
                  <c:v>537</c:v>
                </c:pt>
                <c:pt idx="98">
                  <c:v>596</c:v>
                </c:pt>
                <c:pt idx="99">
                  <c:v>579</c:v>
                </c:pt>
                <c:pt idx="100">
                  <c:v>552</c:v>
                </c:pt>
                <c:pt idx="101">
                  <c:v>482</c:v>
                </c:pt>
                <c:pt idx="102">
                  <c:v>418</c:v>
                </c:pt>
                <c:pt idx="103">
                  <c:v>414</c:v>
                </c:pt>
                <c:pt idx="104">
                  <c:v>490</c:v>
                </c:pt>
                <c:pt idx="105">
                  <c:v>493</c:v>
                </c:pt>
                <c:pt idx="106">
                  <c:v>594</c:v>
                </c:pt>
                <c:pt idx="107">
                  <c:v>478</c:v>
                </c:pt>
                <c:pt idx="108">
                  <c:v>411</c:v>
                </c:pt>
                <c:pt idx="109">
                  <c:v>395</c:v>
                </c:pt>
                <c:pt idx="110">
                  <c:v>379</c:v>
                </c:pt>
                <c:pt idx="111">
                  <c:v>429</c:v>
                </c:pt>
                <c:pt idx="112">
                  <c:v>505</c:v>
                </c:pt>
                <c:pt idx="113">
                  <c:v>472</c:v>
                </c:pt>
                <c:pt idx="114">
                  <c:v>443</c:v>
                </c:pt>
                <c:pt idx="115">
                  <c:v>457</c:v>
                </c:pt>
                <c:pt idx="116">
                  <c:v>370</c:v>
                </c:pt>
                <c:pt idx="117">
                  <c:v>487</c:v>
                </c:pt>
                <c:pt idx="118">
                  <c:v>364</c:v>
                </c:pt>
                <c:pt idx="119">
                  <c:v>411</c:v>
                </c:pt>
                <c:pt idx="120">
                  <c:v>373</c:v>
                </c:pt>
                <c:pt idx="121">
                  <c:v>347</c:v>
                </c:pt>
                <c:pt idx="122">
                  <c:v>303</c:v>
                </c:pt>
                <c:pt idx="123">
                  <c:v>354</c:v>
                </c:pt>
                <c:pt idx="124">
                  <c:v>410</c:v>
                </c:pt>
                <c:pt idx="125">
                  <c:v>345</c:v>
                </c:pt>
                <c:pt idx="126">
                  <c:v>390</c:v>
                </c:pt>
                <c:pt idx="127">
                  <c:v>342</c:v>
                </c:pt>
                <c:pt idx="128">
                  <c:v>355</c:v>
                </c:pt>
                <c:pt idx="129">
                  <c:v>364</c:v>
                </c:pt>
                <c:pt idx="130">
                  <c:v>286</c:v>
                </c:pt>
                <c:pt idx="131">
                  <c:v>247</c:v>
                </c:pt>
                <c:pt idx="132">
                  <c:v>270</c:v>
                </c:pt>
                <c:pt idx="133">
                  <c:v>355</c:v>
                </c:pt>
                <c:pt idx="134">
                  <c:v>433</c:v>
                </c:pt>
                <c:pt idx="135">
                  <c:v>268</c:v>
                </c:pt>
                <c:pt idx="136">
                  <c:v>336</c:v>
                </c:pt>
                <c:pt idx="137">
                  <c:v>279</c:v>
                </c:pt>
                <c:pt idx="138">
                  <c:v>317</c:v>
                </c:pt>
                <c:pt idx="139">
                  <c:v>278</c:v>
                </c:pt>
                <c:pt idx="140">
                  <c:v>350</c:v>
                </c:pt>
                <c:pt idx="141">
                  <c:v>277</c:v>
                </c:pt>
                <c:pt idx="142">
                  <c:v>299</c:v>
                </c:pt>
                <c:pt idx="143">
                  <c:v>335</c:v>
                </c:pt>
                <c:pt idx="144">
                  <c:v>287</c:v>
                </c:pt>
                <c:pt idx="145">
                  <c:v>261</c:v>
                </c:pt>
                <c:pt idx="146">
                  <c:v>245</c:v>
                </c:pt>
                <c:pt idx="147">
                  <c:v>354</c:v>
                </c:pt>
                <c:pt idx="148">
                  <c:v>342</c:v>
                </c:pt>
                <c:pt idx="149">
                  <c:v>262</c:v>
                </c:pt>
                <c:pt idx="150">
                  <c:v>268</c:v>
                </c:pt>
                <c:pt idx="151">
                  <c:v>280</c:v>
                </c:pt>
                <c:pt idx="152">
                  <c:v>236</c:v>
                </c:pt>
                <c:pt idx="153">
                  <c:v>195</c:v>
                </c:pt>
                <c:pt idx="154">
                  <c:v>205</c:v>
                </c:pt>
                <c:pt idx="155">
                  <c:v>199</c:v>
                </c:pt>
                <c:pt idx="156">
                  <c:v>239</c:v>
                </c:pt>
                <c:pt idx="157">
                  <c:v>206</c:v>
                </c:pt>
                <c:pt idx="158">
                  <c:v>244</c:v>
                </c:pt>
                <c:pt idx="159">
                  <c:v>160</c:v>
                </c:pt>
                <c:pt idx="160">
                  <c:v>176</c:v>
                </c:pt>
                <c:pt idx="161">
                  <c:v>142</c:v>
                </c:pt>
                <c:pt idx="162">
                  <c:v>241</c:v>
                </c:pt>
                <c:pt idx="163">
                  <c:v>190</c:v>
                </c:pt>
                <c:pt idx="164">
                  <c:v>233</c:v>
                </c:pt>
                <c:pt idx="165">
                  <c:v>167</c:v>
                </c:pt>
                <c:pt idx="166">
                  <c:v>182</c:v>
                </c:pt>
                <c:pt idx="167">
                  <c:v>180</c:v>
                </c:pt>
                <c:pt idx="168">
                  <c:v>180</c:v>
                </c:pt>
                <c:pt idx="169">
                  <c:v>179</c:v>
                </c:pt>
                <c:pt idx="170">
                  <c:v>144</c:v>
                </c:pt>
                <c:pt idx="171">
                  <c:v>279</c:v>
                </c:pt>
                <c:pt idx="172">
                  <c:v>182</c:v>
                </c:pt>
                <c:pt idx="173">
                  <c:v>144</c:v>
                </c:pt>
                <c:pt idx="174">
                  <c:v>168</c:v>
                </c:pt>
                <c:pt idx="175">
                  <c:v>180</c:v>
                </c:pt>
                <c:pt idx="176">
                  <c:v>182</c:v>
                </c:pt>
                <c:pt idx="177">
                  <c:v>156</c:v>
                </c:pt>
                <c:pt idx="178">
                  <c:v>111</c:v>
                </c:pt>
                <c:pt idx="179">
                  <c:v>131</c:v>
                </c:pt>
                <c:pt idx="180">
                  <c:v>110</c:v>
                </c:pt>
                <c:pt idx="181">
                  <c:v>114</c:v>
                </c:pt>
                <c:pt idx="182">
                  <c:v>178</c:v>
                </c:pt>
                <c:pt idx="183">
                  <c:v>117</c:v>
                </c:pt>
                <c:pt idx="184">
                  <c:v>167</c:v>
                </c:pt>
                <c:pt idx="185">
                  <c:v>137</c:v>
                </c:pt>
                <c:pt idx="186">
                  <c:v>142</c:v>
                </c:pt>
                <c:pt idx="187">
                  <c:v>94</c:v>
                </c:pt>
                <c:pt idx="188">
                  <c:v>106</c:v>
                </c:pt>
                <c:pt idx="189">
                  <c:v>138</c:v>
                </c:pt>
                <c:pt idx="190">
                  <c:v>121</c:v>
                </c:pt>
                <c:pt idx="191">
                  <c:v>105</c:v>
                </c:pt>
                <c:pt idx="192">
                  <c:v>95</c:v>
                </c:pt>
                <c:pt idx="193">
                  <c:v>72</c:v>
                </c:pt>
                <c:pt idx="194">
                  <c:v>96</c:v>
                </c:pt>
                <c:pt idx="195">
                  <c:v>63</c:v>
                </c:pt>
                <c:pt idx="196">
                  <c:v>105</c:v>
                </c:pt>
                <c:pt idx="197">
                  <c:v>111</c:v>
                </c:pt>
                <c:pt idx="198">
                  <c:v>88</c:v>
                </c:pt>
                <c:pt idx="199">
                  <c:v>76</c:v>
                </c:pt>
                <c:pt idx="200">
                  <c:v>79</c:v>
                </c:pt>
                <c:pt idx="201">
                  <c:v>77</c:v>
                </c:pt>
                <c:pt idx="202">
                  <c:v>132</c:v>
                </c:pt>
                <c:pt idx="203">
                  <c:v>77</c:v>
                </c:pt>
                <c:pt idx="204">
                  <c:v>58</c:v>
                </c:pt>
                <c:pt idx="205">
                  <c:v>88</c:v>
                </c:pt>
                <c:pt idx="206">
                  <c:v>98</c:v>
                </c:pt>
                <c:pt idx="207">
                  <c:v>40</c:v>
                </c:pt>
                <c:pt idx="208">
                  <c:v>54</c:v>
                </c:pt>
                <c:pt idx="209">
                  <c:v>67</c:v>
                </c:pt>
                <c:pt idx="210">
                  <c:v>100</c:v>
                </c:pt>
                <c:pt idx="211">
                  <c:v>45</c:v>
                </c:pt>
                <c:pt idx="212">
                  <c:v>45</c:v>
                </c:pt>
                <c:pt idx="213">
                  <c:v>66</c:v>
                </c:pt>
                <c:pt idx="214">
                  <c:v>39</c:v>
                </c:pt>
                <c:pt idx="215">
                  <c:v>47</c:v>
                </c:pt>
                <c:pt idx="216">
                  <c:v>39</c:v>
                </c:pt>
                <c:pt idx="217">
                  <c:v>60</c:v>
                </c:pt>
                <c:pt idx="218">
                  <c:v>64</c:v>
                </c:pt>
                <c:pt idx="219">
                  <c:v>49</c:v>
                </c:pt>
                <c:pt idx="220">
                  <c:v>31</c:v>
                </c:pt>
                <c:pt idx="221">
                  <c:v>17</c:v>
                </c:pt>
                <c:pt idx="222">
                  <c:v>32</c:v>
                </c:pt>
                <c:pt idx="223">
                  <c:v>45</c:v>
                </c:pt>
                <c:pt idx="224">
                  <c:v>67</c:v>
                </c:pt>
                <c:pt idx="225">
                  <c:v>39</c:v>
                </c:pt>
                <c:pt idx="226">
                  <c:v>51</c:v>
                </c:pt>
                <c:pt idx="227">
                  <c:v>39</c:v>
                </c:pt>
                <c:pt idx="228">
                  <c:v>32</c:v>
                </c:pt>
                <c:pt idx="229">
                  <c:v>62</c:v>
                </c:pt>
                <c:pt idx="230">
                  <c:v>38</c:v>
                </c:pt>
                <c:pt idx="231">
                  <c:v>44</c:v>
                </c:pt>
                <c:pt idx="232">
                  <c:v>31</c:v>
                </c:pt>
                <c:pt idx="233">
                  <c:v>22</c:v>
                </c:pt>
                <c:pt idx="234">
                  <c:v>22</c:v>
                </c:pt>
                <c:pt idx="235">
                  <c:v>38</c:v>
                </c:pt>
                <c:pt idx="236">
                  <c:v>41</c:v>
                </c:pt>
                <c:pt idx="237">
                  <c:v>30</c:v>
                </c:pt>
                <c:pt idx="238">
                  <c:v>30</c:v>
                </c:pt>
                <c:pt idx="239">
                  <c:v>15</c:v>
                </c:pt>
                <c:pt idx="240">
                  <c:v>15</c:v>
                </c:pt>
                <c:pt idx="241">
                  <c:v>35</c:v>
                </c:pt>
                <c:pt idx="242">
                  <c:v>19</c:v>
                </c:pt>
                <c:pt idx="243">
                  <c:v>36</c:v>
                </c:pt>
                <c:pt idx="244">
                  <c:v>13</c:v>
                </c:pt>
                <c:pt idx="245">
                  <c:v>11</c:v>
                </c:pt>
                <c:pt idx="246">
                  <c:v>28</c:v>
                </c:pt>
                <c:pt idx="247">
                  <c:v>26</c:v>
                </c:pt>
                <c:pt idx="248">
                  <c:v>11</c:v>
                </c:pt>
                <c:pt idx="249">
                  <c:v>29</c:v>
                </c:pt>
                <c:pt idx="250">
                  <c:v>16</c:v>
                </c:pt>
                <c:pt idx="251">
                  <c:v>23</c:v>
                </c:pt>
                <c:pt idx="252">
                  <c:v>12</c:v>
                </c:pt>
                <c:pt idx="253">
                  <c:v>16</c:v>
                </c:pt>
                <c:pt idx="254">
                  <c:v>7</c:v>
                </c:pt>
                <c:pt idx="255">
                  <c:v>25</c:v>
                </c:pt>
                <c:pt idx="256">
                  <c:v>14</c:v>
                </c:pt>
                <c:pt idx="257">
                  <c:v>30</c:v>
                </c:pt>
                <c:pt idx="258">
                  <c:v>34</c:v>
                </c:pt>
                <c:pt idx="259">
                  <c:v>16</c:v>
                </c:pt>
                <c:pt idx="260">
                  <c:v>12</c:v>
                </c:pt>
                <c:pt idx="261">
                  <c:v>12</c:v>
                </c:pt>
                <c:pt idx="262">
                  <c:v>27</c:v>
                </c:pt>
                <c:pt idx="263">
                  <c:v>23</c:v>
                </c:pt>
                <c:pt idx="264">
                  <c:v>19</c:v>
                </c:pt>
                <c:pt idx="265">
                  <c:v>14</c:v>
                </c:pt>
                <c:pt idx="266">
                  <c:v>14</c:v>
                </c:pt>
                <c:pt idx="267">
                  <c:v>10</c:v>
                </c:pt>
                <c:pt idx="268">
                  <c:v>9</c:v>
                </c:pt>
                <c:pt idx="269">
                  <c:v>4</c:v>
                </c:pt>
                <c:pt idx="270">
                  <c:v>8</c:v>
                </c:pt>
                <c:pt idx="271">
                  <c:v>7</c:v>
                </c:pt>
                <c:pt idx="272">
                  <c:v>10</c:v>
                </c:pt>
                <c:pt idx="273">
                  <c:v>8</c:v>
                </c:pt>
                <c:pt idx="274">
                  <c:v>4</c:v>
                </c:pt>
                <c:pt idx="275">
                  <c:v>16</c:v>
                </c:pt>
                <c:pt idx="276">
                  <c:v>12</c:v>
                </c:pt>
                <c:pt idx="277">
                  <c:v>16</c:v>
                </c:pt>
                <c:pt idx="278">
                  <c:v>14</c:v>
                </c:pt>
                <c:pt idx="279">
                  <c:v>6</c:v>
                </c:pt>
                <c:pt idx="280">
                  <c:v>11</c:v>
                </c:pt>
                <c:pt idx="281">
                  <c:v>2</c:v>
                </c:pt>
                <c:pt idx="282">
                  <c:v>6</c:v>
                </c:pt>
                <c:pt idx="283">
                  <c:v>3</c:v>
                </c:pt>
                <c:pt idx="284">
                  <c:v>6</c:v>
                </c:pt>
                <c:pt idx="285">
                  <c:v>2</c:v>
                </c:pt>
                <c:pt idx="286">
                  <c:v>4</c:v>
                </c:pt>
                <c:pt idx="287">
                  <c:v>8</c:v>
                </c:pt>
                <c:pt idx="288">
                  <c:v>6</c:v>
                </c:pt>
                <c:pt idx="289">
                  <c:v>2</c:v>
                </c:pt>
                <c:pt idx="290">
                  <c:v>2</c:v>
                </c:pt>
                <c:pt idx="291">
                  <c:v>6</c:v>
                </c:pt>
                <c:pt idx="292">
                  <c:v>4</c:v>
                </c:pt>
                <c:pt idx="293">
                  <c:v>5</c:v>
                </c:pt>
                <c:pt idx="294">
                  <c:v>4</c:v>
                </c:pt>
                <c:pt idx="295">
                  <c:v>2</c:v>
                </c:pt>
                <c:pt idx="296">
                  <c:v>2</c:v>
                </c:pt>
                <c:pt idx="297">
                  <c:v>6</c:v>
                </c:pt>
                <c:pt idx="298">
                  <c:v>5</c:v>
                </c:pt>
                <c:pt idx="299">
                  <c:v>3</c:v>
                </c:pt>
                <c:pt idx="300">
                  <c:v>4</c:v>
                </c:pt>
                <c:pt idx="301">
                  <c:v>8</c:v>
                </c:pt>
                <c:pt idx="302">
                  <c:v>2</c:v>
                </c:pt>
                <c:pt idx="303">
                  <c:v>2</c:v>
                </c:pt>
                <c:pt idx="304">
                  <c:v>4</c:v>
                </c:pt>
                <c:pt idx="305">
                  <c:v>8</c:v>
                </c:pt>
                <c:pt idx="306">
                  <c:v>2</c:v>
                </c:pt>
                <c:pt idx="307">
                  <c:v>2</c:v>
                </c:pt>
                <c:pt idx="308">
                  <c:v>16</c:v>
                </c:pt>
                <c:pt idx="309">
                  <c:v>6</c:v>
                </c:pt>
                <c:pt idx="310">
                  <c:v>6</c:v>
                </c:pt>
                <c:pt idx="311">
                  <c:v>2</c:v>
                </c:pt>
                <c:pt idx="312">
                  <c:v>2</c:v>
                </c:pt>
                <c:pt idx="313">
                  <c:v>4</c:v>
                </c:pt>
                <c:pt idx="314">
                  <c:v>2</c:v>
                </c:pt>
                <c:pt idx="315">
                  <c:v>1</c:v>
                </c:pt>
                <c:pt idx="316">
                  <c:v>2</c:v>
                </c:pt>
                <c:pt idx="317">
                  <c:v>2</c:v>
                </c:pt>
                <c:pt idx="318">
                  <c:v>2</c:v>
                </c:pt>
                <c:pt idx="319">
                  <c:v>4</c:v>
                </c:pt>
                <c:pt idx="320">
                  <c:v>2</c:v>
                </c:pt>
                <c:pt idx="321">
                  <c:v>2</c:v>
                </c:pt>
                <c:pt idx="322">
                  <c:v>4</c:v>
                </c:pt>
                <c:pt idx="323">
                  <c:v>10</c:v>
                </c:pt>
                <c:pt idx="324">
                  <c:v>2</c:v>
                </c:pt>
                <c:pt idx="325">
                  <c:v>4</c:v>
                </c:pt>
                <c:pt idx="326">
                  <c:v>2</c:v>
                </c:pt>
                <c:pt idx="327">
                  <c:v>6</c:v>
                </c:pt>
                <c:pt idx="328">
                  <c:v>3</c:v>
                </c:pt>
                <c:pt idx="329">
                  <c:v>2</c:v>
                </c:pt>
                <c:pt idx="330">
                  <c:v>2</c:v>
                </c:pt>
                <c:pt idx="331">
                  <c:v>2</c:v>
                </c:pt>
                <c:pt idx="332">
                  <c:v>2</c:v>
                </c:pt>
                <c:pt idx="333">
                  <c:v>1</c:v>
                </c:pt>
                <c:pt idx="334">
                  <c:v>2</c:v>
                </c:pt>
                <c:pt idx="335">
                  <c:v>2</c:v>
                </c:pt>
                <c:pt idx="336">
                  <c:v>2</c:v>
                </c:pt>
                <c:pt idx="337">
                  <c:v>6</c:v>
                </c:pt>
                <c:pt idx="338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7690368"/>
        <c:axId val="487690928"/>
      </c:lineChart>
      <c:catAx>
        <c:axId val="487690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7690928"/>
        <c:crosses val="autoZero"/>
        <c:auto val="1"/>
        <c:lblAlgn val="ctr"/>
        <c:lblOffset val="100"/>
        <c:tickLblSkip val="20"/>
        <c:noMultiLvlLbl val="0"/>
      </c:catAx>
      <c:valAx>
        <c:axId val="48769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7690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'19년연령별선행예약'!$H$14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'19년연령별선행예약'!$H$15:$H$20</c:f>
              <c:numCache>
                <c:formatCode>0%</c:formatCode>
                <c:ptCount val="6"/>
                <c:pt idx="0">
                  <c:v>0.31650328991540216</c:v>
                </c:pt>
                <c:pt idx="1">
                  <c:v>0.3280719870187343</c:v>
                </c:pt>
                <c:pt idx="2">
                  <c:v>0.28247853592408495</c:v>
                </c:pt>
                <c:pt idx="3">
                  <c:v>0.20096661500879934</c:v>
                </c:pt>
                <c:pt idx="4">
                  <c:v>0.17624059266227657</c:v>
                </c:pt>
                <c:pt idx="5">
                  <c:v>0.22375690607734808</c:v>
                </c:pt>
              </c:numCache>
            </c:numRef>
          </c:val>
        </c:ser>
        <c:ser>
          <c:idx val="1"/>
          <c:order val="1"/>
          <c:tx>
            <c:strRef>
              <c:f>'19년연령별선행예약'!$I$14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556420233463035E-2"/>
                  <c:y val="2.5518328489204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8824631511543771E-2"/>
                  <c:y val="1.02586015748972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'19년연령별선행예약'!$I$15:$I$20</c:f>
              <c:numCache>
                <c:formatCode>0%</c:formatCode>
                <c:ptCount val="6"/>
                <c:pt idx="0">
                  <c:v>0.31381764468913659</c:v>
                </c:pt>
                <c:pt idx="1">
                  <c:v>0.29089836259035257</c:v>
                </c:pt>
                <c:pt idx="2">
                  <c:v>0.31105964753727972</c:v>
                </c:pt>
                <c:pt idx="3">
                  <c:v>0.2749862099760973</c:v>
                </c:pt>
                <c:pt idx="4">
                  <c:v>0.26114181561618061</c:v>
                </c:pt>
                <c:pt idx="5">
                  <c:v>0.31659860677396107</c:v>
                </c:pt>
              </c:numCache>
            </c:numRef>
          </c:val>
        </c:ser>
        <c:ser>
          <c:idx val="2"/>
          <c:order val="2"/>
          <c:tx>
            <c:strRef>
              <c:f>'19년연령별선행예약'!$J$14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2748771705145989E-3"/>
                  <c:y val="-5.129300787448641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4123157557718419E-3"/>
                  <c:y val="-1.0258601574897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7.843596463143249E-3"/>
                  <c:y val="-5.129300787448688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7255912218915089E-2"/>
                  <c:y val="1.02586015748972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7.843596463143249E-3"/>
                  <c:y val="-1.02586015748972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1.2549754341029083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'19년연령별선행예약'!$J$15:$J$20</c:f>
              <c:numCache>
                <c:formatCode>0%</c:formatCode>
                <c:ptCount val="6"/>
                <c:pt idx="0">
                  <c:v>0.17000134282261314</c:v>
                </c:pt>
                <c:pt idx="1">
                  <c:v>0.16477356542262869</c:v>
                </c:pt>
                <c:pt idx="2">
                  <c:v>0.188544961590601</c:v>
                </c:pt>
                <c:pt idx="3">
                  <c:v>0.19545060544771611</c:v>
                </c:pt>
                <c:pt idx="4">
                  <c:v>0.19534924741298212</c:v>
                </c:pt>
                <c:pt idx="5">
                  <c:v>0.20093682440547683</c:v>
                </c:pt>
              </c:numCache>
            </c:numRef>
          </c:val>
        </c:ser>
        <c:ser>
          <c:idx val="3"/>
          <c:order val="3"/>
          <c:tx>
            <c:strRef>
              <c:f>'19년연령별선행예약'!$K$14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7.8435964631431345E-3"/>
                  <c:y val="-5.12930078744864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'19년연령별선행예약'!$K$15:$K$20</c:f>
              <c:numCache>
                <c:formatCode>0%</c:formatCode>
                <c:ptCount val="6"/>
                <c:pt idx="0">
                  <c:v>9.1983348999597148E-2</c:v>
                </c:pt>
                <c:pt idx="1">
                  <c:v>9.4851748045434434E-2</c:v>
                </c:pt>
                <c:pt idx="2">
                  <c:v>0.1030840488025305</c:v>
                </c:pt>
                <c:pt idx="3">
                  <c:v>0.13422289931969214</c:v>
                </c:pt>
                <c:pt idx="4">
                  <c:v>0.1386406396989652</c:v>
                </c:pt>
                <c:pt idx="5">
                  <c:v>0.11121787172711986</c:v>
                </c:pt>
              </c:numCache>
            </c:numRef>
          </c:val>
        </c:ser>
        <c:ser>
          <c:idx val="4"/>
          <c:order val="4"/>
          <c:tx>
            <c:strRef>
              <c:f>'19년연령별선행예약'!$L$14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4.7061578778859496E-3"/>
                  <c:y val="5.12930078744864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'19년연령별선행예약'!$L$15:$L$20</c:f>
              <c:numCache>
                <c:formatCode>0%</c:formatCode>
                <c:ptCount val="6"/>
                <c:pt idx="0">
                  <c:v>6.0561299852289516E-2</c:v>
                </c:pt>
                <c:pt idx="1">
                  <c:v>6.6528986576191176E-2</c:v>
                </c:pt>
                <c:pt idx="2">
                  <c:v>5.8461364663352916E-2</c:v>
                </c:pt>
                <c:pt idx="3">
                  <c:v>9.1644558850568672E-2</c:v>
                </c:pt>
                <c:pt idx="4">
                  <c:v>9.7806914393226724E-2</c:v>
                </c:pt>
                <c:pt idx="5">
                  <c:v>6.7018976699495553E-2</c:v>
                </c:pt>
              </c:numCache>
            </c:numRef>
          </c:val>
        </c:ser>
        <c:ser>
          <c:idx val="5"/>
          <c:order val="5"/>
          <c:tx>
            <c:strRef>
              <c:f>'19년연령별선행예약'!$M$14</c:f>
              <c:strCache>
                <c:ptCount val="1"/>
                <c:pt idx="0">
                  <c:v>150~179일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3.1374385852571845E-3"/>
                  <c:y val="5.1293007874486417E-3"/>
                </c:manualLayout>
              </c:layout>
              <c:tx>
                <c:rich>
                  <a:bodyPr/>
                  <a:lstStyle/>
                  <a:p>
                    <a:fld id="{C5C57402-5036-46D1-AE95-6A9070849823}" type="VALUE">
                      <a:rPr lang="en-US" altLang="ko-KR" b="0" dirty="0">
                        <a:solidFill>
                          <a:schemeClr val="tx1"/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'19년연령별선행예약'!$M$15:$M$20</c:f>
              <c:numCache>
                <c:formatCode>0%</c:formatCode>
                <c:ptCount val="6"/>
                <c:pt idx="0">
                  <c:v>2.7259299046595943E-2</c:v>
                </c:pt>
                <c:pt idx="1">
                  <c:v>2.9945419678418645E-2</c:v>
                </c:pt>
                <c:pt idx="2">
                  <c:v>3.2026660641662902E-2</c:v>
                </c:pt>
                <c:pt idx="3">
                  <c:v>5.5238895747419296E-2</c:v>
                </c:pt>
                <c:pt idx="4">
                  <c:v>6.6909689557855132E-2</c:v>
                </c:pt>
                <c:pt idx="5">
                  <c:v>3.711265914004324E-2</c:v>
                </c:pt>
              </c:numCache>
            </c:numRef>
          </c:val>
        </c:ser>
        <c:ser>
          <c:idx val="6"/>
          <c:order val="6"/>
          <c:tx>
            <c:strRef>
              <c:f>'19년연령별선행예약'!$N$14</c:f>
              <c:strCache>
                <c:ptCount val="1"/>
                <c:pt idx="0">
                  <c:v>180일~ 이전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6.274877170514598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6.274877170514598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0981035048400549E-2"/>
                  <c:y val="1.53879023623459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1.2549754341029198E-2"/>
                  <c:y val="2.5646503937243208E-2"/>
                </c:manualLayout>
              </c:layout>
              <c:tx>
                <c:rich>
                  <a:bodyPr/>
                  <a:lstStyle/>
                  <a:p>
                    <a:fld id="{384767B2-21D4-4A40-AE0B-A2D9F104713D}" type="VALUE">
                      <a:rPr lang="en-US" altLang="ko-KR" b="0">
                        <a:solidFill>
                          <a:schemeClr val="tx1"/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'19년연령별선행예약'!$G$15:$G$20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'19년연령별선행예약'!$N$15:$N$20</c:f>
              <c:numCache>
                <c:formatCode>0%</c:formatCode>
                <c:ptCount val="6"/>
                <c:pt idx="0">
                  <c:v>1.9873774674365515E-2</c:v>
                </c:pt>
                <c:pt idx="1">
                  <c:v>2.4929930668240154E-2</c:v>
                </c:pt>
                <c:pt idx="2">
                  <c:v>2.4344780840488026E-2</c:v>
                </c:pt>
                <c:pt idx="3">
                  <c:v>4.7490215649707124E-2</c:v>
                </c:pt>
                <c:pt idx="4">
                  <c:v>6.3911100658513645E-2</c:v>
                </c:pt>
                <c:pt idx="5">
                  <c:v>4.335815517655537E-2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0633328"/>
        <c:axId val="550633888"/>
      </c:barChart>
      <c:catAx>
        <c:axId val="550633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33888"/>
        <c:crosses val="autoZero"/>
        <c:auto val="1"/>
        <c:lblAlgn val="ctr"/>
        <c:lblOffset val="100"/>
        <c:noMultiLvlLbl val="0"/>
      </c:catAx>
      <c:valAx>
        <c:axId val="55063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33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년선행예약시점지역별!$C$13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년선행예약시점지역별!$B$15:$B$18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년선행예약시점지역별!$C$15:$C$18</c:f>
              <c:numCache>
                <c:formatCode>0%</c:formatCode>
                <c:ptCount val="4"/>
                <c:pt idx="0">
                  <c:v>0.42208703790360319</c:v>
                </c:pt>
                <c:pt idx="1">
                  <c:v>0.30136687735467199</c:v>
                </c:pt>
                <c:pt idx="2">
                  <c:v>0.33415539952416873</c:v>
                </c:pt>
                <c:pt idx="3">
                  <c:v>0.30629727512986421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1CC-48AE-A2CA-7C9800C449E8}"/>
            </c:ext>
          </c:extLst>
        </c:ser>
        <c:ser>
          <c:idx val="1"/>
          <c:order val="1"/>
          <c:tx>
            <c:strRef>
              <c:f>년선행예약시점지역별!$D$13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907031942534770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4.1319025421586698E-2"/>
                  <c:y val="2.04583392902808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8140638850695414E-2"/>
                  <c:y val="1.53437544677106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년선행예약시점지역별!$B$15:$B$18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년선행예약시점지역별!$D$15:$D$18</c:f>
              <c:numCache>
                <c:formatCode>0%</c:formatCode>
                <c:ptCount val="4"/>
                <c:pt idx="0">
                  <c:v>0.34394010294805805</c:v>
                </c:pt>
                <c:pt idx="1">
                  <c:v>0.33639505557804278</c:v>
                </c:pt>
                <c:pt idx="2">
                  <c:v>0.32252074508210993</c:v>
                </c:pt>
                <c:pt idx="3">
                  <c:v>0.32051398888180077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1CC-48AE-A2CA-7C9800C449E8}"/>
            </c:ext>
          </c:extLst>
        </c:ser>
        <c:ser>
          <c:idx val="2"/>
          <c:order val="2"/>
          <c:tx>
            <c:strRef>
              <c:f>년선행예약시점지역별!$E$13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년선행예약시점지역별!$B$15:$B$18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년선행예약시점지역별!$E$15:$E$18</c:f>
              <c:numCache>
                <c:formatCode>0%</c:formatCode>
                <c:ptCount val="4"/>
                <c:pt idx="0">
                  <c:v>0.14553111839026672</c:v>
                </c:pt>
                <c:pt idx="1">
                  <c:v>0.18647445278201574</c:v>
                </c:pt>
                <c:pt idx="2">
                  <c:v>0.17724714211106599</c:v>
                </c:pt>
                <c:pt idx="3">
                  <c:v>0.18800692609131506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C1CC-48AE-A2CA-7C9800C449E8}"/>
            </c:ext>
          </c:extLst>
        </c:ser>
        <c:ser>
          <c:idx val="3"/>
          <c:order val="3"/>
          <c:tx>
            <c:strRef>
              <c:f>년선행예약시점지역별!$F$13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년선행예약시점지역별!$B$15:$B$18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년선행예약시점지역별!$F$15:$F$18</c:f>
              <c:numCache>
                <c:formatCode>0%</c:formatCode>
                <c:ptCount val="4"/>
                <c:pt idx="0">
                  <c:v>6.0879737950397757E-2</c:v>
                </c:pt>
                <c:pt idx="1">
                  <c:v>9.1976211974966526E-2</c:v>
                </c:pt>
                <c:pt idx="2">
                  <c:v>8.8463993500841415E-2</c:v>
                </c:pt>
                <c:pt idx="3">
                  <c:v>0.102281357270877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C1CC-48AE-A2CA-7C9800C449E8}"/>
            </c:ext>
          </c:extLst>
        </c:ser>
        <c:ser>
          <c:idx val="4"/>
          <c:order val="4"/>
          <c:tx>
            <c:strRef>
              <c:f>년선행예약시점지역별!$G$13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6.3567731417824526E-3"/>
                  <c:y val="-9.376630521742810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년선행예약시점지역별!$B$15:$B$18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년선행예약시점지역별!$G$15:$G$18</c:f>
              <c:numCache>
                <c:formatCode>0%</c:formatCode>
                <c:ptCount val="4"/>
                <c:pt idx="0">
                  <c:v>1.9840898455779129E-2</c:v>
                </c:pt>
                <c:pt idx="1">
                  <c:v>3.9107014976492202E-2</c:v>
                </c:pt>
                <c:pt idx="2">
                  <c:v>4.6799744675912497E-2</c:v>
                </c:pt>
                <c:pt idx="3">
                  <c:v>4.5748655791488201E-2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1CC-48AE-A2CA-7C9800C449E8}"/>
            </c:ext>
          </c:extLst>
        </c:ser>
        <c:ser>
          <c:idx val="5"/>
          <c:order val="5"/>
          <c:tx>
            <c:strRef>
              <c:f>년선행예약시점지역별!$H$13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2248705996238991E-2"/>
                  <c:y val="3.068750893542131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2713546283565139E-2"/>
                  <c:y val="2.5572924112851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년선행예약시점지역별!$B$15:$B$18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년선행예약시점지역별!$H$15:$H$18</c:f>
              <c:numCache>
                <c:formatCode>0%</c:formatCode>
                <c:ptCount val="4"/>
                <c:pt idx="0">
                  <c:v>7.72110435189518E-3</c:v>
                </c:pt>
                <c:pt idx="1">
                  <c:v>4.4680387333810752E-2</c:v>
                </c:pt>
                <c:pt idx="2">
                  <c:v>3.0812975105901468E-2</c:v>
                </c:pt>
                <c:pt idx="3">
                  <c:v>3.7151796834654756E-2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C1CC-48AE-A2CA-7C9800C449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0638928"/>
        <c:axId val="550639488"/>
      </c:barChart>
      <c:catAx>
        <c:axId val="550638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39488"/>
        <c:crosses val="autoZero"/>
        <c:auto val="1"/>
        <c:lblAlgn val="ctr"/>
        <c:lblOffset val="100"/>
        <c:noMultiLvlLbl val="0"/>
      </c:catAx>
      <c:valAx>
        <c:axId val="550639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3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년선행예약시점지역별!$C$13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년선행예약시점지역별!$B$45:$B$48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년선행예약시점지역별!$C$45:$C$48</c:f>
              <c:numCache>
                <c:formatCode>0%</c:formatCode>
                <c:ptCount val="4"/>
                <c:pt idx="0">
                  <c:v>0.41247484909456739</c:v>
                </c:pt>
                <c:pt idx="1">
                  <c:v>0.30656934306569344</c:v>
                </c:pt>
                <c:pt idx="2">
                  <c:v>0.33525924814286784</c:v>
                </c:pt>
                <c:pt idx="3">
                  <c:v>0.31774247305854902</c:v>
                </c:pt>
              </c:numCache>
            </c:numRef>
          </c:val>
        </c:ser>
        <c:ser>
          <c:idx val="1"/>
          <c:order val="1"/>
          <c:tx>
            <c:strRef>
              <c:f>년선행예약시점지역별!$D$13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0355237365965116E-2"/>
                  <c:y val="1.02291696451404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년선행예약시점지역별!$B$45:$B$48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년선행예약시점지역별!$D$45:$D$48</c:f>
              <c:numCache>
                <c:formatCode>0%</c:formatCode>
                <c:ptCount val="4"/>
                <c:pt idx="0">
                  <c:v>0.41247484909456739</c:v>
                </c:pt>
                <c:pt idx="1">
                  <c:v>0.40535832780358327</c:v>
                </c:pt>
                <c:pt idx="2">
                  <c:v>0.36317250694079689</c:v>
                </c:pt>
                <c:pt idx="3">
                  <c:v>0.4118431285412732</c:v>
                </c:pt>
              </c:numCache>
            </c:numRef>
          </c:val>
        </c:ser>
        <c:ser>
          <c:idx val="2"/>
          <c:order val="2"/>
          <c:tx>
            <c:strRef>
              <c:f>년선행예약시점지역별!$E$13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년선행예약시점지역별!$B$45:$B$48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년선행예약시점지역별!$E$45:$E$48</c:f>
              <c:numCache>
                <c:formatCode>0%</c:formatCode>
                <c:ptCount val="4"/>
                <c:pt idx="0">
                  <c:v>0.13480885311871227</c:v>
                </c:pt>
                <c:pt idx="1">
                  <c:v>0.17493364299933642</c:v>
                </c:pt>
                <c:pt idx="2">
                  <c:v>0.19591806107901252</c:v>
                </c:pt>
                <c:pt idx="3">
                  <c:v>0.1667592489723364</c:v>
                </c:pt>
              </c:numCache>
            </c:numRef>
          </c:val>
        </c:ser>
        <c:ser>
          <c:idx val="3"/>
          <c:order val="3"/>
          <c:tx>
            <c:strRef>
              <c:f>년선행예약시점지역별!$F$13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6.2944046707456396E-3"/>
                  <c:y val="-9.376630521742810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년선행예약시점지역별!$B$45:$B$48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년선행예약시점지역별!$F$45:$F$48</c:f>
              <c:numCache>
                <c:formatCode>0%</c:formatCode>
                <c:ptCount val="4"/>
                <c:pt idx="0">
                  <c:v>3.2903302165936794E-2</c:v>
                </c:pt>
                <c:pt idx="1">
                  <c:v>7.1167883211678828E-2</c:v>
                </c:pt>
                <c:pt idx="2">
                  <c:v>6.2954903579200125E-2</c:v>
                </c:pt>
                <c:pt idx="3">
                  <c:v>6.8881235418286862E-2</c:v>
                </c:pt>
              </c:numCache>
            </c:numRef>
          </c:val>
        </c:ser>
        <c:ser>
          <c:idx val="4"/>
          <c:order val="4"/>
          <c:tx>
            <c:strRef>
              <c:f>년선행예약시점지역별!$G$13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5736011676864097E-2"/>
                  <c:y val="-9.376630521742810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년선행예약시점지역별!$B$45:$B$48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년선행예약시점지역별!$G$45:$G$48</c:f>
              <c:numCache>
                <c:formatCode>0%</c:formatCode>
                <c:ptCount val="4"/>
                <c:pt idx="0">
                  <c:v>4.734288081429755E-3</c:v>
                </c:pt>
                <c:pt idx="1">
                  <c:v>1.7252820172528202E-2</c:v>
                </c:pt>
                <c:pt idx="2">
                  <c:v>2.9939221130036768E-2</c:v>
                </c:pt>
                <c:pt idx="3">
                  <c:v>2.477502499722253E-2</c:v>
                </c:pt>
              </c:numCache>
            </c:numRef>
          </c:val>
        </c:ser>
        <c:ser>
          <c:idx val="5"/>
          <c:order val="5"/>
          <c:tx>
            <c:strRef>
              <c:f>년선행예약시점지역별!$H$13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177618682982527E-2"/>
                  <c:y val="5.11458482257021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25888093414912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2030416347609622E-2"/>
                  <c:y val="2.04583392902808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1539608589823862E-16"/>
                  <c:y val="1.53437544677105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년선행예약시점지역별!$B$45:$B$48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년선행예약시점지역별!$H$45:$H$48</c:f>
              <c:numCache>
                <c:formatCode>0%</c:formatCode>
                <c:ptCount val="4"/>
                <c:pt idx="0">
                  <c:v>2.6038584447863654E-3</c:v>
                </c:pt>
                <c:pt idx="1">
                  <c:v>2.4717982747179828E-2</c:v>
                </c:pt>
                <c:pt idx="2">
                  <c:v>1.2756059128085841E-2</c:v>
                </c:pt>
                <c:pt idx="3">
                  <c:v>9.998889012331964E-3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0644528"/>
        <c:axId val="550645088"/>
      </c:barChart>
      <c:catAx>
        <c:axId val="55064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45088"/>
        <c:crosses val="autoZero"/>
        <c:auto val="1"/>
        <c:lblAlgn val="ctr"/>
        <c:lblOffset val="100"/>
        <c:noMultiLvlLbl val="0"/>
      </c:catAx>
      <c:valAx>
        <c:axId val="55064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4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2338145231846E-2"/>
          <c:y val="6.0185185185185182E-2"/>
          <c:w val="0.70553958880139978"/>
          <c:h val="0.820494313210848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년선행예약시점지역별!$C$13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년선행예약시점지역별!$B$60:$B$63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년선행예약시점지역별!$C$60:$C$63</c:f>
              <c:numCache>
                <c:formatCode>0%</c:formatCode>
                <c:ptCount val="4"/>
                <c:pt idx="0">
                  <c:v>0.3876968870147588</c:v>
                </c:pt>
                <c:pt idx="1">
                  <c:v>0.37166473317865428</c:v>
                </c:pt>
                <c:pt idx="2">
                  <c:v>0.30151216305062462</c:v>
                </c:pt>
                <c:pt idx="3">
                  <c:v>0.30950589415600704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98F-46FF-B9F5-BF3E5662AF21}"/>
            </c:ext>
          </c:extLst>
        </c:ser>
        <c:ser>
          <c:idx val="1"/>
          <c:order val="1"/>
          <c:tx>
            <c:strRef>
              <c:f>년선행예약시점지역별!$D$13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년선행예약시점지역별!$B$60:$B$63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년선행예약시점지역별!$D$60:$D$63</c:f>
              <c:numCache>
                <c:formatCode>0%</c:formatCode>
                <c:ptCount val="4"/>
                <c:pt idx="0">
                  <c:v>0.35495473148952</c:v>
                </c:pt>
                <c:pt idx="1">
                  <c:v>0.34396751740139209</c:v>
                </c:pt>
                <c:pt idx="2">
                  <c:v>0.33188691650230112</c:v>
                </c:pt>
                <c:pt idx="3">
                  <c:v>0.38136443441183848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98F-46FF-B9F5-BF3E5662AF21}"/>
            </c:ext>
          </c:extLst>
        </c:ser>
        <c:ser>
          <c:idx val="2"/>
          <c:order val="2"/>
          <c:tx>
            <c:strRef>
              <c:f>년선행예약시점지역별!$E$13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년선행예약시점지역별!$B$60:$B$63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년선행예약시점지역별!$E$60:$E$63</c:f>
              <c:numCache>
                <c:formatCode>0%</c:formatCode>
                <c:ptCount val="4"/>
                <c:pt idx="0">
                  <c:v>0.16519905742279548</c:v>
                </c:pt>
                <c:pt idx="1">
                  <c:v>0.18184454756380511</c:v>
                </c:pt>
                <c:pt idx="2">
                  <c:v>0.2131492439184747</c:v>
                </c:pt>
                <c:pt idx="3">
                  <c:v>0.14547278655630799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98F-46FF-B9F5-BF3E5662AF21}"/>
            </c:ext>
          </c:extLst>
        </c:ser>
        <c:ser>
          <c:idx val="3"/>
          <c:order val="3"/>
          <c:tx>
            <c:strRef>
              <c:f>년선행예약시점지역별!$F$13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043272854997833E-2"/>
                  <c:y val="-2.5572924112851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9564909282496691E-2"/>
                  <c:y val="-6.13750178708426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6086545709995666E-2"/>
                  <c:y val="-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6.5216364274989164E-3"/>
                  <c:y val="-1.02291696451405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년선행예약시점지역별!$B$60:$B$63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년선행예약시점지역별!$F$60:$F$63</c:f>
              <c:numCache>
                <c:formatCode>0%</c:formatCode>
                <c:ptCount val="4"/>
                <c:pt idx="0">
                  <c:v>5.3702095994046878E-2</c:v>
                </c:pt>
                <c:pt idx="1">
                  <c:v>4.7708816705336429E-2</c:v>
                </c:pt>
                <c:pt idx="2">
                  <c:v>8.7836949375410908E-2</c:v>
                </c:pt>
                <c:pt idx="3">
                  <c:v>8.9039377978429896E-2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98F-46FF-B9F5-BF3E5662AF21}"/>
            </c:ext>
          </c:extLst>
        </c:ser>
        <c:ser>
          <c:idx val="4"/>
          <c:order val="4"/>
          <c:tx>
            <c:strRef>
              <c:f>년선행예약시점지역별!$G$13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년선행예약시점지역별!$B$60:$B$63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년선행예약시점지역별!$G$60:$G$63</c:f>
              <c:numCache>
                <c:formatCode>0%</c:formatCode>
                <c:ptCount val="4"/>
                <c:pt idx="0">
                  <c:v>2.4804663276696018E-2</c:v>
                </c:pt>
                <c:pt idx="1">
                  <c:v>3.1902552204176336E-2</c:v>
                </c:pt>
                <c:pt idx="2">
                  <c:v>4.3523997370151217E-2</c:v>
                </c:pt>
                <c:pt idx="3">
                  <c:v>4.2262352646099823E-2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98F-46FF-B9F5-BF3E5662AF21}"/>
            </c:ext>
          </c:extLst>
        </c:ser>
        <c:ser>
          <c:idx val="5"/>
          <c:order val="5"/>
          <c:tx>
            <c:strRef>
              <c:f>년선행예약시점지역별!$H$13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04327285499780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956490928249675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4.891227320624175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년선행예약시점지역별!$B$60:$B$63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년선행예약시점지역별!$H$60:$H$63</c:f>
              <c:numCache>
                <c:formatCode>0%</c:formatCode>
                <c:ptCount val="4"/>
                <c:pt idx="0">
                  <c:v>1.3642564802182811E-2</c:v>
                </c:pt>
                <c:pt idx="1">
                  <c:v>2.2911832946635732E-2</c:v>
                </c:pt>
                <c:pt idx="2">
                  <c:v>2.2090729783037475E-2</c:v>
                </c:pt>
                <c:pt idx="3">
                  <c:v>3.2355154251316777E-2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298F-46FF-B9F5-BF3E5662AF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0650128"/>
        <c:axId val="550650688"/>
      </c:barChart>
      <c:catAx>
        <c:axId val="55065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50688"/>
        <c:crosses val="autoZero"/>
        <c:auto val="1"/>
        <c:lblAlgn val="ctr"/>
        <c:lblOffset val="100"/>
        <c:noMultiLvlLbl val="0"/>
      </c:catAx>
      <c:valAx>
        <c:axId val="55065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50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년선행예약시점지역별!$C$13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년선행예약시점지역별!$B$30:$B$33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년선행예약시점지역별!$C$30:$C$33</c:f>
              <c:numCache>
                <c:formatCode>0%</c:formatCode>
                <c:ptCount val="4"/>
                <c:pt idx="0">
                  <c:v>0.23146638433033351</c:v>
                </c:pt>
                <c:pt idx="1">
                  <c:v>0.16974774935377485</c:v>
                </c:pt>
                <c:pt idx="2">
                  <c:v>0.16552833188782884</c:v>
                </c:pt>
                <c:pt idx="3">
                  <c:v>0.15393631568665755</c:v>
                </c:pt>
              </c:numCache>
            </c:numRef>
          </c:val>
        </c:ser>
        <c:ser>
          <c:idx val="1"/>
          <c:order val="1"/>
          <c:tx>
            <c:strRef>
              <c:f>년선행예약시점지역별!$D$13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년선행예약시점지역별!$B$30:$B$33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년선행예약시점지역별!$D$30:$D$33</c:f>
              <c:numCache>
                <c:formatCode>0%</c:formatCode>
                <c:ptCount val="4"/>
                <c:pt idx="0">
                  <c:v>0.26204340921122288</c:v>
                </c:pt>
                <c:pt idx="1">
                  <c:v>0.24139406364203583</c:v>
                </c:pt>
                <c:pt idx="2">
                  <c:v>0.2365929459381324</c:v>
                </c:pt>
                <c:pt idx="3">
                  <c:v>0.23774174643485055</c:v>
                </c:pt>
              </c:numCache>
            </c:numRef>
          </c:val>
        </c:ser>
        <c:ser>
          <c:idx val="2"/>
          <c:order val="2"/>
          <c:tx>
            <c:strRef>
              <c:f>년선행예약시점지역별!$E$13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년선행예약시점지역별!$B$30:$B$33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년선행예약시점지역별!$E$30:$E$33</c:f>
              <c:numCache>
                <c:formatCode>0%</c:formatCode>
                <c:ptCount val="4"/>
                <c:pt idx="0">
                  <c:v>0.2179777660137639</c:v>
                </c:pt>
                <c:pt idx="1">
                  <c:v>0.20809341296015688</c:v>
                </c:pt>
                <c:pt idx="2">
                  <c:v>0.19239664642960394</c:v>
                </c:pt>
                <c:pt idx="3">
                  <c:v>0.20165515281748922</c:v>
                </c:pt>
              </c:numCache>
            </c:numRef>
          </c:val>
        </c:ser>
        <c:ser>
          <c:idx val="3"/>
          <c:order val="3"/>
          <c:tx>
            <c:strRef>
              <c:f>년선행예약시점지역별!$F$13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년선행예약시점지역별!$B$30:$B$33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년선행예약시점지역별!$F$30:$F$33</c:f>
              <c:numCache>
                <c:formatCode>0%</c:formatCode>
                <c:ptCount val="4"/>
                <c:pt idx="0">
                  <c:v>0.14125992588671255</c:v>
                </c:pt>
                <c:pt idx="1">
                  <c:v>0.16406096800071307</c:v>
                </c:pt>
                <c:pt idx="2">
                  <c:v>0.15504842440011565</c:v>
                </c:pt>
                <c:pt idx="3">
                  <c:v>0.1495498055373031</c:v>
                </c:pt>
              </c:numCache>
            </c:numRef>
          </c:val>
        </c:ser>
        <c:ser>
          <c:idx val="4"/>
          <c:order val="4"/>
          <c:tx>
            <c:strRef>
              <c:f>년선행예약시점지역별!$G$13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년선행예약시점지역별!$B$30:$B$33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년선행예약시점지역별!$G$30:$G$33</c:f>
              <c:numCache>
                <c:formatCode>0%</c:formatCode>
                <c:ptCount val="4"/>
                <c:pt idx="0">
                  <c:v>9.0333509793541558E-2</c:v>
                </c:pt>
                <c:pt idx="1">
                  <c:v>0.10976022818433015</c:v>
                </c:pt>
                <c:pt idx="2">
                  <c:v>0.1183326105810928</c:v>
                </c:pt>
                <c:pt idx="3">
                  <c:v>0.11600277042746275</c:v>
                </c:pt>
              </c:numCache>
            </c:numRef>
          </c:val>
        </c:ser>
        <c:ser>
          <c:idx val="5"/>
          <c:order val="5"/>
          <c:tx>
            <c:strRef>
              <c:f>년선행예약시점지역별!$H$13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895506351249487E-2"/>
                  <c:y val="2.04583392902808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3.270786621607074E-2"/>
                  <c:y val="3.58020937579914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9624719729642384E-2"/>
                  <c:y val="5.11458482257021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27078662160707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년선행예약시점지역별!$B$30:$B$33</c:f>
              <c:strCache>
                <c:ptCount val="4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</c:strCache>
            </c:strRef>
          </c:cat>
          <c:val>
            <c:numRef>
              <c:f>년선행예약시점지역별!$H$30:$H$33</c:f>
              <c:numCache>
                <c:formatCode>0%</c:formatCode>
                <c:ptCount val="4"/>
                <c:pt idx="0">
                  <c:v>5.6919004764425622E-2</c:v>
                </c:pt>
                <c:pt idx="1">
                  <c:v>0.10694357785898921</c:v>
                </c:pt>
                <c:pt idx="2">
                  <c:v>0.13210104076322637</c:v>
                </c:pt>
                <c:pt idx="3">
                  <c:v>0.14111420909623684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0655728"/>
        <c:axId val="550656288"/>
      </c:barChart>
      <c:catAx>
        <c:axId val="550655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56288"/>
        <c:crosses val="autoZero"/>
        <c:auto val="1"/>
        <c:lblAlgn val="ctr"/>
        <c:lblOffset val="100"/>
        <c:noMultiLvlLbl val="0"/>
      </c:catAx>
      <c:valAx>
        <c:axId val="550656288"/>
        <c:scaling>
          <c:orientation val="minMax"/>
          <c:max val="0.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55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전체예약취소시점!$G$8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전체예약취소시점!$F$9:$F$344</c:f>
              <c:numCache>
                <c:formatCode>General</c:formatCode>
                <c:ptCount val="33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228</c:v>
                </c:pt>
                <c:pt idx="227">
                  <c:v>229</c:v>
                </c:pt>
                <c:pt idx="228">
                  <c:v>230</c:v>
                </c:pt>
                <c:pt idx="229">
                  <c:v>231</c:v>
                </c:pt>
                <c:pt idx="230">
                  <c:v>232</c:v>
                </c:pt>
                <c:pt idx="231">
                  <c:v>233</c:v>
                </c:pt>
                <c:pt idx="232">
                  <c:v>236</c:v>
                </c:pt>
                <c:pt idx="233">
                  <c:v>237</c:v>
                </c:pt>
                <c:pt idx="234">
                  <c:v>238</c:v>
                </c:pt>
                <c:pt idx="235">
                  <c:v>239</c:v>
                </c:pt>
                <c:pt idx="236">
                  <c:v>240</c:v>
                </c:pt>
                <c:pt idx="237">
                  <c:v>242</c:v>
                </c:pt>
                <c:pt idx="238">
                  <c:v>243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254</c:v>
                </c:pt>
                <c:pt idx="246">
                  <c:v>255</c:v>
                </c:pt>
                <c:pt idx="247">
                  <c:v>256</c:v>
                </c:pt>
                <c:pt idx="248">
                  <c:v>257</c:v>
                </c:pt>
                <c:pt idx="249">
                  <c:v>258</c:v>
                </c:pt>
                <c:pt idx="250">
                  <c:v>259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294</c:v>
                </c:pt>
                <c:pt idx="286">
                  <c:v>295</c:v>
                </c:pt>
                <c:pt idx="287">
                  <c:v>296</c:v>
                </c:pt>
                <c:pt idx="288">
                  <c:v>297</c:v>
                </c:pt>
                <c:pt idx="289">
                  <c:v>298</c:v>
                </c:pt>
                <c:pt idx="290">
                  <c:v>299</c:v>
                </c:pt>
                <c:pt idx="291">
                  <c:v>300</c:v>
                </c:pt>
                <c:pt idx="292">
                  <c:v>301</c:v>
                </c:pt>
                <c:pt idx="293">
                  <c:v>302</c:v>
                </c:pt>
                <c:pt idx="294">
                  <c:v>303</c:v>
                </c:pt>
                <c:pt idx="295">
                  <c:v>304</c:v>
                </c:pt>
                <c:pt idx="296">
                  <c:v>305</c:v>
                </c:pt>
                <c:pt idx="297">
                  <c:v>306</c:v>
                </c:pt>
                <c:pt idx="298">
                  <c:v>307</c:v>
                </c:pt>
                <c:pt idx="299">
                  <c:v>308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323</c:v>
                </c:pt>
                <c:pt idx="313">
                  <c:v>324</c:v>
                </c:pt>
                <c:pt idx="314">
                  <c:v>325</c:v>
                </c:pt>
                <c:pt idx="315">
                  <c:v>327</c:v>
                </c:pt>
                <c:pt idx="316">
                  <c:v>328</c:v>
                </c:pt>
                <c:pt idx="317">
                  <c:v>329</c:v>
                </c:pt>
                <c:pt idx="318">
                  <c:v>330</c:v>
                </c:pt>
                <c:pt idx="319">
                  <c:v>331</c:v>
                </c:pt>
                <c:pt idx="320">
                  <c:v>332</c:v>
                </c:pt>
                <c:pt idx="321">
                  <c:v>333</c:v>
                </c:pt>
                <c:pt idx="322">
                  <c:v>334</c:v>
                </c:pt>
                <c:pt idx="323">
                  <c:v>336</c:v>
                </c:pt>
                <c:pt idx="324">
                  <c:v>338</c:v>
                </c:pt>
                <c:pt idx="325">
                  <c:v>339</c:v>
                </c:pt>
                <c:pt idx="326">
                  <c:v>341</c:v>
                </c:pt>
                <c:pt idx="327">
                  <c:v>343</c:v>
                </c:pt>
                <c:pt idx="328">
                  <c:v>344</c:v>
                </c:pt>
                <c:pt idx="329">
                  <c:v>346</c:v>
                </c:pt>
                <c:pt idx="330">
                  <c:v>350</c:v>
                </c:pt>
                <c:pt idx="331">
                  <c:v>351</c:v>
                </c:pt>
                <c:pt idx="332">
                  <c:v>352</c:v>
                </c:pt>
                <c:pt idx="333">
                  <c:v>353</c:v>
                </c:pt>
                <c:pt idx="334">
                  <c:v>357</c:v>
                </c:pt>
                <c:pt idx="335">
                  <c:v>371</c:v>
                </c:pt>
              </c:numCache>
            </c:numRef>
          </c:cat>
          <c:val>
            <c:numRef>
              <c:f>전체예약취소시점!$G$9:$G$344</c:f>
              <c:numCache>
                <c:formatCode>General</c:formatCode>
                <c:ptCount val="336"/>
                <c:pt idx="0">
                  <c:v>451</c:v>
                </c:pt>
                <c:pt idx="1">
                  <c:v>1245</c:v>
                </c:pt>
                <c:pt idx="2">
                  <c:v>1484</c:v>
                </c:pt>
                <c:pt idx="3">
                  <c:v>2374</c:v>
                </c:pt>
                <c:pt idx="4">
                  <c:v>3349</c:v>
                </c:pt>
                <c:pt idx="5">
                  <c:v>3623</c:v>
                </c:pt>
                <c:pt idx="6">
                  <c:v>4187</c:v>
                </c:pt>
                <c:pt idx="7">
                  <c:v>5349</c:v>
                </c:pt>
                <c:pt idx="8">
                  <c:v>5956</c:v>
                </c:pt>
                <c:pt idx="9">
                  <c:v>5679</c:v>
                </c:pt>
                <c:pt idx="10">
                  <c:v>5411</c:v>
                </c:pt>
                <c:pt idx="11">
                  <c:v>5304</c:v>
                </c:pt>
                <c:pt idx="12">
                  <c:v>4453</c:v>
                </c:pt>
                <c:pt idx="13">
                  <c:v>4253</c:v>
                </c:pt>
                <c:pt idx="14">
                  <c:v>4271</c:v>
                </c:pt>
                <c:pt idx="15">
                  <c:v>4675</c:v>
                </c:pt>
                <c:pt idx="16">
                  <c:v>4090</c:v>
                </c:pt>
                <c:pt idx="17">
                  <c:v>3991</c:v>
                </c:pt>
                <c:pt idx="18">
                  <c:v>3536</c:v>
                </c:pt>
                <c:pt idx="19">
                  <c:v>3469</c:v>
                </c:pt>
                <c:pt idx="20">
                  <c:v>3225</c:v>
                </c:pt>
                <c:pt idx="21">
                  <c:v>3201</c:v>
                </c:pt>
                <c:pt idx="22">
                  <c:v>3475</c:v>
                </c:pt>
                <c:pt idx="23">
                  <c:v>3267</c:v>
                </c:pt>
                <c:pt idx="24">
                  <c:v>2977</c:v>
                </c:pt>
                <c:pt idx="25">
                  <c:v>2875</c:v>
                </c:pt>
                <c:pt idx="26">
                  <c:v>2582</c:v>
                </c:pt>
                <c:pt idx="27">
                  <c:v>2400</c:v>
                </c:pt>
                <c:pt idx="28">
                  <c:v>2577</c:v>
                </c:pt>
                <c:pt idx="29">
                  <c:v>2814</c:v>
                </c:pt>
                <c:pt idx="30">
                  <c:v>3395</c:v>
                </c:pt>
                <c:pt idx="31">
                  <c:v>3254</c:v>
                </c:pt>
                <c:pt idx="32">
                  <c:v>2939</c:v>
                </c:pt>
                <c:pt idx="33">
                  <c:v>2794</c:v>
                </c:pt>
                <c:pt idx="34">
                  <c:v>2366</c:v>
                </c:pt>
                <c:pt idx="35">
                  <c:v>2501</c:v>
                </c:pt>
                <c:pt idx="36">
                  <c:v>2549</c:v>
                </c:pt>
                <c:pt idx="37">
                  <c:v>2376</c:v>
                </c:pt>
                <c:pt idx="38">
                  <c:v>2242</c:v>
                </c:pt>
                <c:pt idx="39">
                  <c:v>2013</c:v>
                </c:pt>
                <c:pt idx="40">
                  <c:v>1808</c:v>
                </c:pt>
                <c:pt idx="41">
                  <c:v>1878</c:v>
                </c:pt>
                <c:pt idx="42">
                  <c:v>1841</c:v>
                </c:pt>
                <c:pt idx="43">
                  <c:v>1863</c:v>
                </c:pt>
                <c:pt idx="44">
                  <c:v>2131</c:v>
                </c:pt>
                <c:pt idx="45">
                  <c:v>1754</c:v>
                </c:pt>
                <c:pt idx="46">
                  <c:v>1512</c:v>
                </c:pt>
                <c:pt idx="47">
                  <c:v>1466</c:v>
                </c:pt>
                <c:pt idx="48">
                  <c:v>1439</c:v>
                </c:pt>
                <c:pt idx="49">
                  <c:v>1418</c:v>
                </c:pt>
                <c:pt idx="50">
                  <c:v>1669</c:v>
                </c:pt>
                <c:pt idx="51">
                  <c:v>1464</c:v>
                </c:pt>
                <c:pt idx="52">
                  <c:v>1411</c:v>
                </c:pt>
                <c:pt idx="53">
                  <c:v>1407</c:v>
                </c:pt>
                <c:pt idx="54">
                  <c:v>1220</c:v>
                </c:pt>
                <c:pt idx="55">
                  <c:v>1212</c:v>
                </c:pt>
                <c:pt idx="56">
                  <c:v>984</c:v>
                </c:pt>
                <c:pt idx="57">
                  <c:v>1274</c:v>
                </c:pt>
                <c:pt idx="58">
                  <c:v>1124</c:v>
                </c:pt>
                <c:pt idx="59">
                  <c:v>1201</c:v>
                </c:pt>
                <c:pt idx="60">
                  <c:v>1067</c:v>
                </c:pt>
                <c:pt idx="61">
                  <c:v>945</c:v>
                </c:pt>
                <c:pt idx="62">
                  <c:v>804</c:v>
                </c:pt>
                <c:pt idx="63">
                  <c:v>999</c:v>
                </c:pt>
                <c:pt idx="64">
                  <c:v>944</c:v>
                </c:pt>
                <c:pt idx="65">
                  <c:v>944</c:v>
                </c:pt>
                <c:pt idx="66">
                  <c:v>999</c:v>
                </c:pt>
                <c:pt idx="67">
                  <c:v>987</c:v>
                </c:pt>
                <c:pt idx="68">
                  <c:v>815</c:v>
                </c:pt>
                <c:pt idx="69">
                  <c:v>775</c:v>
                </c:pt>
                <c:pt idx="70">
                  <c:v>742</c:v>
                </c:pt>
                <c:pt idx="71">
                  <c:v>800</c:v>
                </c:pt>
                <c:pt idx="72">
                  <c:v>757</c:v>
                </c:pt>
                <c:pt idx="73">
                  <c:v>676</c:v>
                </c:pt>
                <c:pt idx="74">
                  <c:v>635</c:v>
                </c:pt>
                <c:pt idx="75">
                  <c:v>747</c:v>
                </c:pt>
                <c:pt idx="76">
                  <c:v>463</c:v>
                </c:pt>
                <c:pt idx="77">
                  <c:v>580</c:v>
                </c:pt>
                <c:pt idx="78">
                  <c:v>659</c:v>
                </c:pt>
                <c:pt idx="79">
                  <c:v>748</c:v>
                </c:pt>
                <c:pt idx="80">
                  <c:v>628</c:v>
                </c:pt>
                <c:pt idx="81">
                  <c:v>615</c:v>
                </c:pt>
                <c:pt idx="82">
                  <c:v>547</c:v>
                </c:pt>
                <c:pt idx="83">
                  <c:v>445</c:v>
                </c:pt>
                <c:pt idx="84">
                  <c:v>582</c:v>
                </c:pt>
                <c:pt idx="85">
                  <c:v>445</c:v>
                </c:pt>
                <c:pt idx="86">
                  <c:v>558</c:v>
                </c:pt>
                <c:pt idx="87">
                  <c:v>546</c:v>
                </c:pt>
                <c:pt idx="88">
                  <c:v>539</c:v>
                </c:pt>
                <c:pt idx="89">
                  <c:v>475</c:v>
                </c:pt>
                <c:pt idx="90">
                  <c:v>497</c:v>
                </c:pt>
                <c:pt idx="91">
                  <c:v>420</c:v>
                </c:pt>
                <c:pt idx="92">
                  <c:v>411</c:v>
                </c:pt>
                <c:pt idx="93">
                  <c:v>417</c:v>
                </c:pt>
                <c:pt idx="94">
                  <c:v>361</c:v>
                </c:pt>
                <c:pt idx="95">
                  <c:v>367</c:v>
                </c:pt>
                <c:pt idx="96">
                  <c:v>334</c:v>
                </c:pt>
                <c:pt idx="97">
                  <c:v>319</c:v>
                </c:pt>
                <c:pt idx="98">
                  <c:v>325</c:v>
                </c:pt>
                <c:pt idx="99">
                  <c:v>406</c:v>
                </c:pt>
                <c:pt idx="100">
                  <c:v>418</c:v>
                </c:pt>
                <c:pt idx="101">
                  <c:v>378</c:v>
                </c:pt>
                <c:pt idx="102">
                  <c:v>349</c:v>
                </c:pt>
                <c:pt idx="103">
                  <c:v>256</c:v>
                </c:pt>
                <c:pt idx="104">
                  <c:v>205</c:v>
                </c:pt>
                <c:pt idx="105">
                  <c:v>279</c:v>
                </c:pt>
                <c:pt idx="106">
                  <c:v>259</c:v>
                </c:pt>
                <c:pt idx="107">
                  <c:v>249</c:v>
                </c:pt>
                <c:pt idx="108">
                  <c:v>290</c:v>
                </c:pt>
                <c:pt idx="109">
                  <c:v>267</c:v>
                </c:pt>
                <c:pt idx="110">
                  <c:v>284</c:v>
                </c:pt>
                <c:pt idx="111">
                  <c:v>205</c:v>
                </c:pt>
                <c:pt idx="112">
                  <c:v>289</c:v>
                </c:pt>
                <c:pt idx="113">
                  <c:v>329</c:v>
                </c:pt>
                <c:pt idx="114">
                  <c:v>242</c:v>
                </c:pt>
                <c:pt idx="115">
                  <c:v>228</c:v>
                </c:pt>
                <c:pt idx="116">
                  <c:v>169</c:v>
                </c:pt>
                <c:pt idx="117">
                  <c:v>204</c:v>
                </c:pt>
                <c:pt idx="118">
                  <c:v>229</c:v>
                </c:pt>
                <c:pt idx="119">
                  <c:v>162</c:v>
                </c:pt>
                <c:pt idx="120">
                  <c:v>223</c:v>
                </c:pt>
                <c:pt idx="121">
                  <c:v>237</c:v>
                </c:pt>
                <c:pt idx="122">
                  <c:v>231</c:v>
                </c:pt>
                <c:pt idx="123">
                  <c:v>223</c:v>
                </c:pt>
                <c:pt idx="124">
                  <c:v>177</c:v>
                </c:pt>
                <c:pt idx="125">
                  <c:v>191</c:v>
                </c:pt>
                <c:pt idx="126">
                  <c:v>289</c:v>
                </c:pt>
                <c:pt idx="127">
                  <c:v>209</c:v>
                </c:pt>
                <c:pt idx="128">
                  <c:v>156</c:v>
                </c:pt>
                <c:pt idx="129">
                  <c:v>211</c:v>
                </c:pt>
                <c:pt idx="130">
                  <c:v>177</c:v>
                </c:pt>
                <c:pt idx="131">
                  <c:v>183</c:v>
                </c:pt>
                <c:pt idx="132">
                  <c:v>148</c:v>
                </c:pt>
                <c:pt idx="133">
                  <c:v>128</c:v>
                </c:pt>
                <c:pt idx="134">
                  <c:v>176</c:v>
                </c:pt>
                <c:pt idx="135">
                  <c:v>165</c:v>
                </c:pt>
                <c:pt idx="136">
                  <c:v>135</c:v>
                </c:pt>
                <c:pt idx="137">
                  <c:v>159</c:v>
                </c:pt>
                <c:pt idx="138">
                  <c:v>135</c:v>
                </c:pt>
                <c:pt idx="139">
                  <c:v>143</c:v>
                </c:pt>
                <c:pt idx="140">
                  <c:v>196</c:v>
                </c:pt>
                <c:pt idx="141">
                  <c:v>177</c:v>
                </c:pt>
                <c:pt idx="142">
                  <c:v>116</c:v>
                </c:pt>
                <c:pt idx="143">
                  <c:v>100</c:v>
                </c:pt>
                <c:pt idx="144">
                  <c:v>100</c:v>
                </c:pt>
                <c:pt idx="145">
                  <c:v>113</c:v>
                </c:pt>
                <c:pt idx="146">
                  <c:v>107</c:v>
                </c:pt>
                <c:pt idx="147">
                  <c:v>153</c:v>
                </c:pt>
                <c:pt idx="148">
                  <c:v>119</c:v>
                </c:pt>
                <c:pt idx="149">
                  <c:v>121</c:v>
                </c:pt>
                <c:pt idx="150">
                  <c:v>70</c:v>
                </c:pt>
                <c:pt idx="151">
                  <c:v>93</c:v>
                </c:pt>
                <c:pt idx="152">
                  <c:v>64</c:v>
                </c:pt>
                <c:pt idx="153">
                  <c:v>115</c:v>
                </c:pt>
                <c:pt idx="154">
                  <c:v>67</c:v>
                </c:pt>
                <c:pt idx="155">
                  <c:v>117</c:v>
                </c:pt>
                <c:pt idx="156">
                  <c:v>57</c:v>
                </c:pt>
                <c:pt idx="157">
                  <c:v>89</c:v>
                </c:pt>
                <c:pt idx="158">
                  <c:v>66</c:v>
                </c:pt>
                <c:pt idx="159">
                  <c:v>113</c:v>
                </c:pt>
                <c:pt idx="160">
                  <c:v>65</c:v>
                </c:pt>
                <c:pt idx="161">
                  <c:v>39</c:v>
                </c:pt>
                <c:pt idx="162">
                  <c:v>59</c:v>
                </c:pt>
                <c:pt idx="163">
                  <c:v>76</c:v>
                </c:pt>
                <c:pt idx="164">
                  <c:v>51</c:v>
                </c:pt>
                <c:pt idx="165">
                  <c:v>64</c:v>
                </c:pt>
                <c:pt idx="166">
                  <c:v>45</c:v>
                </c:pt>
                <c:pt idx="167">
                  <c:v>74</c:v>
                </c:pt>
                <c:pt idx="168">
                  <c:v>63</c:v>
                </c:pt>
                <c:pt idx="169">
                  <c:v>73</c:v>
                </c:pt>
                <c:pt idx="170">
                  <c:v>57</c:v>
                </c:pt>
                <c:pt idx="171">
                  <c:v>36</c:v>
                </c:pt>
                <c:pt idx="172">
                  <c:v>29</c:v>
                </c:pt>
                <c:pt idx="173">
                  <c:v>49</c:v>
                </c:pt>
                <c:pt idx="174">
                  <c:v>53</c:v>
                </c:pt>
                <c:pt idx="175">
                  <c:v>76</c:v>
                </c:pt>
                <c:pt idx="176">
                  <c:v>46</c:v>
                </c:pt>
                <c:pt idx="177">
                  <c:v>50</c:v>
                </c:pt>
                <c:pt idx="178">
                  <c:v>51</c:v>
                </c:pt>
                <c:pt idx="179">
                  <c:v>26</c:v>
                </c:pt>
                <c:pt idx="180">
                  <c:v>29</c:v>
                </c:pt>
                <c:pt idx="181">
                  <c:v>33</c:v>
                </c:pt>
                <c:pt idx="182">
                  <c:v>38</c:v>
                </c:pt>
                <c:pt idx="183">
                  <c:v>51</c:v>
                </c:pt>
                <c:pt idx="184">
                  <c:v>44</c:v>
                </c:pt>
                <c:pt idx="185">
                  <c:v>26</c:v>
                </c:pt>
                <c:pt idx="186">
                  <c:v>30</c:v>
                </c:pt>
                <c:pt idx="187">
                  <c:v>59</c:v>
                </c:pt>
                <c:pt idx="188">
                  <c:v>36</c:v>
                </c:pt>
                <c:pt idx="189">
                  <c:v>25</c:v>
                </c:pt>
                <c:pt idx="190">
                  <c:v>25</c:v>
                </c:pt>
                <c:pt idx="191">
                  <c:v>11</c:v>
                </c:pt>
                <c:pt idx="192">
                  <c:v>18</c:v>
                </c:pt>
                <c:pt idx="193">
                  <c:v>25</c:v>
                </c:pt>
                <c:pt idx="194">
                  <c:v>23</c:v>
                </c:pt>
                <c:pt idx="195">
                  <c:v>8</c:v>
                </c:pt>
                <c:pt idx="196">
                  <c:v>15</c:v>
                </c:pt>
                <c:pt idx="197">
                  <c:v>13</c:v>
                </c:pt>
                <c:pt idx="198">
                  <c:v>13</c:v>
                </c:pt>
                <c:pt idx="199">
                  <c:v>12</c:v>
                </c:pt>
                <c:pt idx="200">
                  <c:v>12</c:v>
                </c:pt>
                <c:pt idx="201">
                  <c:v>24</c:v>
                </c:pt>
                <c:pt idx="202">
                  <c:v>19</c:v>
                </c:pt>
                <c:pt idx="203">
                  <c:v>11</c:v>
                </c:pt>
                <c:pt idx="204">
                  <c:v>29</c:v>
                </c:pt>
                <c:pt idx="205">
                  <c:v>7</c:v>
                </c:pt>
                <c:pt idx="206">
                  <c:v>10</c:v>
                </c:pt>
                <c:pt idx="207">
                  <c:v>24</c:v>
                </c:pt>
                <c:pt idx="208">
                  <c:v>26</c:v>
                </c:pt>
                <c:pt idx="209">
                  <c:v>16</c:v>
                </c:pt>
                <c:pt idx="210">
                  <c:v>13</c:v>
                </c:pt>
                <c:pt idx="211">
                  <c:v>6</c:v>
                </c:pt>
                <c:pt idx="212">
                  <c:v>21</c:v>
                </c:pt>
                <c:pt idx="213">
                  <c:v>7</c:v>
                </c:pt>
                <c:pt idx="214">
                  <c:v>4</c:v>
                </c:pt>
                <c:pt idx="215">
                  <c:v>10</c:v>
                </c:pt>
                <c:pt idx="216">
                  <c:v>28</c:v>
                </c:pt>
                <c:pt idx="217">
                  <c:v>25</c:v>
                </c:pt>
                <c:pt idx="218">
                  <c:v>17</c:v>
                </c:pt>
                <c:pt idx="219">
                  <c:v>12</c:v>
                </c:pt>
                <c:pt idx="220">
                  <c:v>11</c:v>
                </c:pt>
                <c:pt idx="221">
                  <c:v>8</c:v>
                </c:pt>
                <c:pt idx="222">
                  <c:v>14</c:v>
                </c:pt>
                <c:pt idx="223">
                  <c:v>6</c:v>
                </c:pt>
                <c:pt idx="224">
                  <c:v>1</c:v>
                </c:pt>
                <c:pt idx="225">
                  <c:v>4</c:v>
                </c:pt>
                <c:pt idx="226">
                  <c:v>4</c:v>
                </c:pt>
                <c:pt idx="227">
                  <c:v>4</c:v>
                </c:pt>
                <c:pt idx="228">
                  <c:v>7</c:v>
                </c:pt>
                <c:pt idx="229">
                  <c:v>6</c:v>
                </c:pt>
                <c:pt idx="230">
                  <c:v>10</c:v>
                </c:pt>
                <c:pt idx="231">
                  <c:v>3</c:v>
                </c:pt>
                <c:pt idx="232">
                  <c:v>3</c:v>
                </c:pt>
                <c:pt idx="233">
                  <c:v>14</c:v>
                </c:pt>
                <c:pt idx="234">
                  <c:v>2</c:v>
                </c:pt>
                <c:pt idx="235">
                  <c:v>4</c:v>
                </c:pt>
                <c:pt idx="236">
                  <c:v>4</c:v>
                </c:pt>
                <c:pt idx="237">
                  <c:v>7</c:v>
                </c:pt>
                <c:pt idx="238">
                  <c:v>3</c:v>
                </c:pt>
                <c:pt idx="239">
                  <c:v>12</c:v>
                </c:pt>
                <c:pt idx="240">
                  <c:v>4</c:v>
                </c:pt>
                <c:pt idx="241">
                  <c:v>5</c:v>
                </c:pt>
                <c:pt idx="242">
                  <c:v>8</c:v>
                </c:pt>
                <c:pt idx="243">
                  <c:v>4</c:v>
                </c:pt>
                <c:pt idx="244">
                  <c:v>2</c:v>
                </c:pt>
                <c:pt idx="245">
                  <c:v>4</c:v>
                </c:pt>
                <c:pt idx="246">
                  <c:v>1</c:v>
                </c:pt>
                <c:pt idx="247">
                  <c:v>3</c:v>
                </c:pt>
                <c:pt idx="248">
                  <c:v>2</c:v>
                </c:pt>
                <c:pt idx="249">
                  <c:v>4</c:v>
                </c:pt>
                <c:pt idx="250">
                  <c:v>2</c:v>
                </c:pt>
                <c:pt idx="251">
                  <c:v>9</c:v>
                </c:pt>
                <c:pt idx="252">
                  <c:v>8</c:v>
                </c:pt>
                <c:pt idx="253">
                  <c:v>20</c:v>
                </c:pt>
                <c:pt idx="254">
                  <c:v>7</c:v>
                </c:pt>
                <c:pt idx="255">
                  <c:v>5</c:v>
                </c:pt>
                <c:pt idx="256">
                  <c:v>6</c:v>
                </c:pt>
                <c:pt idx="257">
                  <c:v>12</c:v>
                </c:pt>
                <c:pt idx="258">
                  <c:v>8</c:v>
                </c:pt>
                <c:pt idx="259">
                  <c:v>29</c:v>
                </c:pt>
                <c:pt idx="260">
                  <c:v>20</c:v>
                </c:pt>
                <c:pt idx="261">
                  <c:v>18</c:v>
                </c:pt>
                <c:pt idx="262">
                  <c:v>11</c:v>
                </c:pt>
                <c:pt idx="263">
                  <c:v>15</c:v>
                </c:pt>
                <c:pt idx="264">
                  <c:v>26</c:v>
                </c:pt>
                <c:pt idx="265">
                  <c:v>11</c:v>
                </c:pt>
                <c:pt idx="266">
                  <c:v>23</c:v>
                </c:pt>
                <c:pt idx="267">
                  <c:v>46</c:v>
                </c:pt>
                <c:pt idx="268">
                  <c:v>35</c:v>
                </c:pt>
                <c:pt idx="269">
                  <c:v>14</c:v>
                </c:pt>
                <c:pt idx="270">
                  <c:v>10</c:v>
                </c:pt>
                <c:pt idx="271">
                  <c:v>10</c:v>
                </c:pt>
                <c:pt idx="272">
                  <c:v>20</c:v>
                </c:pt>
                <c:pt idx="273">
                  <c:v>25</c:v>
                </c:pt>
                <c:pt idx="274">
                  <c:v>20</c:v>
                </c:pt>
                <c:pt idx="275">
                  <c:v>28</c:v>
                </c:pt>
                <c:pt idx="276">
                  <c:v>10</c:v>
                </c:pt>
                <c:pt idx="277">
                  <c:v>22</c:v>
                </c:pt>
                <c:pt idx="278">
                  <c:v>12</c:v>
                </c:pt>
                <c:pt idx="279">
                  <c:v>24</c:v>
                </c:pt>
                <c:pt idx="280">
                  <c:v>13</c:v>
                </c:pt>
                <c:pt idx="281">
                  <c:v>46</c:v>
                </c:pt>
                <c:pt idx="282">
                  <c:v>11</c:v>
                </c:pt>
                <c:pt idx="283">
                  <c:v>10</c:v>
                </c:pt>
                <c:pt idx="284">
                  <c:v>21</c:v>
                </c:pt>
                <c:pt idx="285">
                  <c:v>12</c:v>
                </c:pt>
                <c:pt idx="286">
                  <c:v>5</c:v>
                </c:pt>
                <c:pt idx="287">
                  <c:v>17</c:v>
                </c:pt>
                <c:pt idx="288">
                  <c:v>31</c:v>
                </c:pt>
                <c:pt idx="289">
                  <c:v>13</c:v>
                </c:pt>
                <c:pt idx="290">
                  <c:v>5</c:v>
                </c:pt>
                <c:pt idx="291">
                  <c:v>12</c:v>
                </c:pt>
                <c:pt idx="292">
                  <c:v>13</c:v>
                </c:pt>
                <c:pt idx="293">
                  <c:v>33</c:v>
                </c:pt>
                <c:pt idx="294">
                  <c:v>29</c:v>
                </c:pt>
                <c:pt idx="295">
                  <c:v>19</c:v>
                </c:pt>
                <c:pt idx="296">
                  <c:v>9</c:v>
                </c:pt>
                <c:pt idx="297">
                  <c:v>14</c:v>
                </c:pt>
                <c:pt idx="298">
                  <c:v>6</c:v>
                </c:pt>
                <c:pt idx="299">
                  <c:v>6</c:v>
                </c:pt>
                <c:pt idx="300">
                  <c:v>1</c:v>
                </c:pt>
                <c:pt idx="301">
                  <c:v>5</c:v>
                </c:pt>
                <c:pt idx="302">
                  <c:v>5</c:v>
                </c:pt>
                <c:pt idx="303">
                  <c:v>15</c:v>
                </c:pt>
                <c:pt idx="304">
                  <c:v>6</c:v>
                </c:pt>
                <c:pt idx="305">
                  <c:v>5</c:v>
                </c:pt>
                <c:pt idx="306">
                  <c:v>12</c:v>
                </c:pt>
                <c:pt idx="307">
                  <c:v>3</c:v>
                </c:pt>
                <c:pt idx="308">
                  <c:v>2</c:v>
                </c:pt>
                <c:pt idx="309">
                  <c:v>3</c:v>
                </c:pt>
                <c:pt idx="310">
                  <c:v>8</c:v>
                </c:pt>
                <c:pt idx="311">
                  <c:v>3</c:v>
                </c:pt>
                <c:pt idx="312">
                  <c:v>5</c:v>
                </c:pt>
                <c:pt idx="313">
                  <c:v>19</c:v>
                </c:pt>
                <c:pt idx="314">
                  <c:v>1</c:v>
                </c:pt>
                <c:pt idx="315">
                  <c:v>11</c:v>
                </c:pt>
                <c:pt idx="316">
                  <c:v>8</c:v>
                </c:pt>
                <c:pt idx="317">
                  <c:v>3</c:v>
                </c:pt>
                <c:pt idx="318">
                  <c:v>7</c:v>
                </c:pt>
                <c:pt idx="319">
                  <c:v>3</c:v>
                </c:pt>
                <c:pt idx="320">
                  <c:v>1</c:v>
                </c:pt>
                <c:pt idx="321">
                  <c:v>10</c:v>
                </c:pt>
                <c:pt idx="322">
                  <c:v>22</c:v>
                </c:pt>
                <c:pt idx="323">
                  <c:v>2</c:v>
                </c:pt>
                <c:pt idx="324">
                  <c:v>8</c:v>
                </c:pt>
                <c:pt idx="325">
                  <c:v>2</c:v>
                </c:pt>
                <c:pt idx="326">
                  <c:v>4</c:v>
                </c:pt>
                <c:pt idx="327">
                  <c:v>4</c:v>
                </c:pt>
                <c:pt idx="328">
                  <c:v>2</c:v>
                </c:pt>
                <c:pt idx="329">
                  <c:v>1</c:v>
                </c:pt>
                <c:pt idx="330">
                  <c:v>2</c:v>
                </c:pt>
                <c:pt idx="331">
                  <c:v>4</c:v>
                </c:pt>
                <c:pt idx="332">
                  <c:v>2</c:v>
                </c:pt>
                <c:pt idx="333">
                  <c:v>4</c:v>
                </c:pt>
                <c:pt idx="334">
                  <c:v>4</c:v>
                </c:pt>
                <c:pt idx="335">
                  <c:v>4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전체예약취소시점!$K$8</c:f>
              <c:strCache>
                <c:ptCount val="1"/>
                <c:pt idx="0">
                  <c:v>2017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전체예약취소시점!$J$9:$J$311</c:f>
              <c:numCache>
                <c:formatCode>General</c:formatCode>
                <c:ptCount val="30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282</c:v>
                </c:pt>
                <c:pt idx="280">
                  <c:v>284</c:v>
                </c:pt>
                <c:pt idx="281">
                  <c:v>286</c:v>
                </c:pt>
                <c:pt idx="282">
                  <c:v>287</c:v>
                </c:pt>
                <c:pt idx="283">
                  <c:v>288</c:v>
                </c:pt>
                <c:pt idx="284">
                  <c:v>289</c:v>
                </c:pt>
                <c:pt idx="285">
                  <c:v>291</c:v>
                </c:pt>
                <c:pt idx="286">
                  <c:v>292</c:v>
                </c:pt>
                <c:pt idx="287">
                  <c:v>295</c:v>
                </c:pt>
                <c:pt idx="288">
                  <c:v>296</c:v>
                </c:pt>
                <c:pt idx="289">
                  <c:v>297</c:v>
                </c:pt>
                <c:pt idx="290">
                  <c:v>299</c:v>
                </c:pt>
                <c:pt idx="291">
                  <c:v>303</c:v>
                </c:pt>
                <c:pt idx="292">
                  <c:v>305</c:v>
                </c:pt>
                <c:pt idx="293">
                  <c:v>309</c:v>
                </c:pt>
                <c:pt idx="294">
                  <c:v>310</c:v>
                </c:pt>
                <c:pt idx="295">
                  <c:v>312</c:v>
                </c:pt>
                <c:pt idx="296">
                  <c:v>313</c:v>
                </c:pt>
                <c:pt idx="297">
                  <c:v>317</c:v>
                </c:pt>
                <c:pt idx="298">
                  <c:v>319</c:v>
                </c:pt>
                <c:pt idx="299">
                  <c:v>321</c:v>
                </c:pt>
                <c:pt idx="300">
                  <c:v>323</c:v>
                </c:pt>
                <c:pt idx="301">
                  <c:v>326</c:v>
                </c:pt>
                <c:pt idx="302">
                  <c:v>332</c:v>
                </c:pt>
              </c:numCache>
            </c:numRef>
          </c:cat>
          <c:val>
            <c:numRef>
              <c:f>전체예약취소시점!$K$9:$K$311</c:f>
              <c:numCache>
                <c:formatCode>General</c:formatCode>
                <c:ptCount val="303"/>
                <c:pt idx="0">
                  <c:v>510</c:v>
                </c:pt>
                <c:pt idx="1">
                  <c:v>1358</c:v>
                </c:pt>
                <c:pt idx="2">
                  <c:v>1603</c:v>
                </c:pt>
                <c:pt idx="3">
                  <c:v>2315</c:v>
                </c:pt>
                <c:pt idx="4">
                  <c:v>2957</c:v>
                </c:pt>
                <c:pt idx="5">
                  <c:v>3082</c:v>
                </c:pt>
                <c:pt idx="6">
                  <c:v>4056</c:v>
                </c:pt>
                <c:pt idx="7">
                  <c:v>4933</c:v>
                </c:pt>
                <c:pt idx="8">
                  <c:v>6051</c:v>
                </c:pt>
                <c:pt idx="9">
                  <c:v>6238</c:v>
                </c:pt>
                <c:pt idx="10">
                  <c:v>6240</c:v>
                </c:pt>
                <c:pt idx="11">
                  <c:v>5781</c:v>
                </c:pt>
                <c:pt idx="12">
                  <c:v>5605</c:v>
                </c:pt>
                <c:pt idx="13">
                  <c:v>5057</c:v>
                </c:pt>
                <c:pt idx="14">
                  <c:v>5604</c:v>
                </c:pt>
                <c:pt idx="15">
                  <c:v>6084</c:v>
                </c:pt>
                <c:pt idx="16">
                  <c:v>5698</c:v>
                </c:pt>
                <c:pt idx="17">
                  <c:v>4932</c:v>
                </c:pt>
                <c:pt idx="18">
                  <c:v>4920</c:v>
                </c:pt>
                <c:pt idx="19">
                  <c:v>4450</c:v>
                </c:pt>
                <c:pt idx="20">
                  <c:v>4482</c:v>
                </c:pt>
                <c:pt idx="21">
                  <c:v>4268</c:v>
                </c:pt>
                <c:pt idx="22">
                  <c:v>4377</c:v>
                </c:pt>
                <c:pt idx="23">
                  <c:v>4505</c:v>
                </c:pt>
                <c:pt idx="24">
                  <c:v>4014</c:v>
                </c:pt>
                <c:pt idx="25">
                  <c:v>3995</c:v>
                </c:pt>
                <c:pt idx="26">
                  <c:v>3932</c:v>
                </c:pt>
                <c:pt idx="27">
                  <c:v>3389</c:v>
                </c:pt>
                <c:pt idx="28">
                  <c:v>3710</c:v>
                </c:pt>
                <c:pt idx="29">
                  <c:v>3871</c:v>
                </c:pt>
                <c:pt idx="30">
                  <c:v>4427</c:v>
                </c:pt>
                <c:pt idx="31">
                  <c:v>4460</c:v>
                </c:pt>
                <c:pt idx="32">
                  <c:v>4629</c:v>
                </c:pt>
                <c:pt idx="33">
                  <c:v>3988</c:v>
                </c:pt>
                <c:pt idx="34">
                  <c:v>3644</c:v>
                </c:pt>
                <c:pt idx="35">
                  <c:v>3607</c:v>
                </c:pt>
                <c:pt idx="36">
                  <c:v>3918</c:v>
                </c:pt>
                <c:pt idx="37">
                  <c:v>3674</c:v>
                </c:pt>
                <c:pt idx="38">
                  <c:v>3531</c:v>
                </c:pt>
                <c:pt idx="39">
                  <c:v>3161</c:v>
                </c:pt>
                <c:pt idx="40">
                  <c:v>3171</c:v>
                </c:pt>
                <c:pt idx="41">
                  <c:v>3040</c:v>
                </c:pt>
                <c:pt idx="42">
                  <c:v>2892</c:v>
                </c:pt>
                <c:pt idx="43">
                  <c:v>3013</c:v>
                </c:pt>
                <c:pt idx="44">
                  <c:v>3118</c:v>
                </c:pt>
                <c:pt idx="45">
                  <c:v>2713</c:v>
                </c:pt>
                <c:pt idx="46">
                  <c:v>2654</c:v>
                </c:pt>
                <c:pt idx="47">
                  <c:v>2667</c:v>
                </c:pt>
                <c:pt idx="48">
                  <c:v>2205</c:v>
                </c:pt>
                <c:pt idx="49">
                  <c:v>2368</c:v>
                </c:pt>
                <c:pt idx="50">
                  <c:v>2339</c:v>
                </c:pt>
                <c:pt idx="51">
                  <c:v>2514</c:v>
                </c:pt>
                <c:pt idx="52">
                  <c:v>2154</c:v>
                </c:pt>
                <c:pt idx="53">
                  <c:v>2146</c:v>
                </c:pt>
                <c:pt idx="54">
                  <c:v>1880</c:v>
                </c:pt>
                <c:pt idx="55">
                  <c:v>1810</c:v>
                </c:pt>
                <c:pt idx="56">
                  <c:v>2020</c:v>
                </c:pt>
                <c:pt idx="57">
                  <c:v>2157</c:v>
                </c:pt>
                <c:pt idx="58">
                  <c:v>2253</c:v>
                </c:pt>
                <c:pt idx="59">
                  <c:v>1720</c:v>
                </c:pt>
                <c:pt idx="60">
                  <c:v>1799</c:v>
                </c:pt>
                <c:pt idx="61">
                  <c:v>1710</c:v>
                </c:pt>
                <c:pt idx="62">
                  <c:v>1575</c:v>
                </c:pt>
                <c:pt idx="63">
                  <c:v>1378</c:v>
                </c:pt>
                <c:pt idx="64">
                  <c:v>1891</c:v>
                </c:pt>
                <c:pt idx="65">
                  <c:v>1805</c:v>
                </c:pt>
                <c:pt idx="66">
                  <c:v>1745</c:v>
                </c:pt>
                <c:pt idx="67">
                  <c:v>1633</c:v>
                </c:pt>
                <c:pt idx="68">
                  <c:v>1460</c:v>
                </c:pt>
                <c:pt idx="69">
                  <c:v>1477</c:v>
                </c:pt>
                <c:pt idx="70">
                  <c:v>1618</c:v>
                </c:pt>
                <c:pt idx="71">
                  <c:v>1518</c:v>
                </c:pt>
                <c:pt idx="72">
                  <c:v>1673</c:v>
                </c:pt>
                <c:pt idx="73">
                  <c:v>1629</c:v>
                </c:pt>
                <c:pt idx="74">
                  <c:v>1344</c:v>
                </c:pt>
                <c:pt idx="75">
                  <c:v>1257</c:v>
                </c:pt>
                <c:pt idx="76">
                  <c:v>1252</c:v>
                </c:pt>
                <c:pt idx="77">
                  <c:v>1103</c:v>
                </c:pt>
                <c:pt idx="78">
                  <c:v>1498</c:v>
                </c:pt>
                <c:pt idx="79">
                  <c:v>1259</c:v>
                </c:pt>
                <c:pt idx="80">
                  <c:v>1340</c:v>
                </c:pt>
                <c:pt idx="81">
                  <c:v>1193</c:v>
                </c:pt>
                <c:pt idx="82">
                  <c:v>1208</c:v>
                </c:pt>
                <c:pt idx="83">
                  <c:v>1062</c:v>
                </c:pt>
                <c:pt idx="84">
                  <c:v>1033</c:v>
                </c:pt>
                <c:pt idx="85">
                  <c:v>1102</c:v>
                </c:pt>
                <c:pt idx="86">
                  <c:v>1197</c:v>
                </c:pt>
                <c:pt idx="87">
                  <c:v>1129</c:v>
                </c:pt>
                <c:pt idx="88">
                  <c:v>1258</c:v>
                </c:pt>
                <c:pt idx="89">
                  <c:v>897</c:v>
                </c:pt>
                <c:pt idx="90">
                  <c:v>895</c:v>
                </c:pt>
                <c:pt idx="91">
                  <c:v>892</c:v>
                </c:pt>
                <c:pt idx="92">
                  <c:v>974</c:v>
                </c:pt>
                <c:pt idx="93">
                  <c:v>948</c:v>
                </c:pt>
                <c:pt idx="94">
                  <c:v>787</c:v>
                </c:pt>
                <c:pt idx="95">
                  <c:v>696</c:v>
                </c:pt>
                <c:pt idx="96">
                  <c:v>850</c:v>
                </c:pt>
                <c:pt idx="97">
                  <c:v>665</c:v>
                </c:pt>
                <c:pt idx="98">
                  <c:v>741</c:v>
                </c:pt>
                <c:pt idx="99">
                  <c:v>767</c:v>
                </c:pt>
                <c:pt idx="100">
                  <c:v>872</c:v>
                </c:pt>
                <c:pt idx="101">
                  <c:v>807</c:v>
                </c:pt>
                <c:pt idx="102">
                  <c:v>756</c:v>
                </c:pt>
                <c:pt idx="103">
                  <c:v>562</c:v>
                </c:pt>
                <c:pt idx="104">
                  <c:v>712</c:v>
                </c:pt>
                <c:pt idx="105">
                  <c:v>695</c:v>
                </c:pt>
                <c:pt idx="106">
                  <c:v>719</c:v>
                </c:pt>
                <c:pt idx="107">
                  <c:v>688</c:v>
                </c:pt>
                <c:pt idx="108">
                  <c:v>688</c:v>
                </c:pt>
                <c:pt idx="109">
                  <c:v>632</c:v>
                </c:pt>
                <c:pt idx="110">
                  <c:v>588</c:v>
                </c:pt>
                <c:pt idx="111">
                  <c:v>519</c:v>
                </c:pt>
                <c:pt idx="112">
                  <c:v>608</c:v>
                </c:pt>
                <c:pt idx="113">
                  <c:v>698</c:v>
                </c:pt>
                <c:pt idx="114">
                  <c:v>632</c:v>
                </c:pt>
                <c:pt idx="115">
                  <c:v>463</c:v>
                </c:pt>
                <c:pt idx="116">
                  <c:v>564</c:v>
                </c:pt>
                <c:pt idx="117">
                  <c:v>434</c:v>
                </c:pt>
                <c:pt idx="118">
                  <c:v>517</c:v>
                </c:pt>
                <c:pt idx="119">
                  <c:v>566</c:v>
                </c:pt>
                <c:pt idx="120">
                  <c:v>435</c:v>
                </c:pt>
                <c:pt idx="121">
                  <c:v>467</c:v>
                </c:pt>
                <c:pt idx="122">
                  <c:v>388</c:v>
                </c:pt>
                <c:pt idx="123">
                  <c:v>474</c:v>
                </c:pt>
                <c:pt idx="124">
                  <c:v>362</c:v>
                </c:pt>
                <c:pt idx="125">
                  <c:v>283</c:v>
                </c:pt>
                <c:pt idx="126">
                  <c:v>432</c:v>
                </c:pt>
                <c:pt idx="127">
                  <c:v>402</c:v>
                </c:pt>
                <c:pt idx="128">
                  <c:v>358</c:v>
                </c:pt>
                <c:pt idx="129">
                  <c:v>455</c:v>
                </c:pt>
                <c:pt idx="130">
                  <c:v>434</c:v>
                </c:pt>
                <c:pt idx="131">
                  <c:v>390</c:v>
                </c:pt>
                <c:pt idx="132">
                  <c:v>349</c:v>
                </c:pt>
                <c:pt idx="133">
                  <c:v>359</c:v>
                </c:pt>
                <c:pt idx="134">
                  <c:v>332</c:v>
                </c:pt>
                <c:pt idx="135">
                  <c:v>360</c:v>
                </c:pt>
                <c:pt idx="136">
                  <c:v>351</c:v>
                </c:pt>
                <c:pt idx="137">
                  <c:v>304</c:v>
                </c:pt>
                <c:pt idx="138">
                  <c:v>238</c:v>
                </c:pt>
                <c:pt idx="139">
                  <c:v>259</c:v>
                </c:pt>
                <c:pt idx="140">
                  <c:v>296</c:v>
                </c:pt>
                <c:pt idx="141">
                  <c:v>317</c:v>
                </c:pt>
                <c:pt idx="142">
                  <c:v>346</c:v>
                </c:pt>
                <c:pt idx="143">
                  <c:v>341</c:v>
                </c:pt>
                <c:pt idx="144">
                  <c:v>340</c:v>
                </c:pt>
                <c:pt idx="145">
                  <c:v>281</c:v>
                </c:pt>
                <c:pt idx="146">
                  <c:v>222</c:v>
                </c:pt>
                <c:pt idx="147">
                  <c:v>281</c:v>
                </c:pt>
                <c:pt idx="148">
                  <c:v>223</c:v>
                </c:pt>
                <c:pt idx="149">
                  <c:v>185</c:v>
                </c:pt>
                <c:pt idx="150">
                  <c:v>185</c:v>
                </c:pt>
                <c:pt idx="151">
                  <c:v>253</c:v>
                </c:pt>
                <c:pt idx="152">
                  <c:v>182</c:v>
                </c:pt>
                <c:pt idx="153">
                  <c:v>136</c:v>
                </c:pt>
                <c:pt idx="154">
                  <c:v>174</c:v>
                </c:pt>
                <c:pt idx="155">
                  <c:v>183</c:v>
                </c:pt>
                <c:pt idx="156">
                  <c:v>187</c:v>
                </c:pt>
                <c:pt idx="157">
                  <c:v>163</c:v>
                </c:pt>
                <c:pt idx="158">
                  <c:v>205</c:v>
                </c:pt>
                <c:pt idx="159">
                  <c:v>222</c:v>
                </c:pt>
                <c:pt idx="160">
                  <c:v>167</c:v>
                </c:pt>
                <c:pt idx="161">
                  <c:v>173</c:v>
                </c:pt>
                <c:pt idx="162">
                  <c:v>206</c:v>
                </c:pt>
                <c:pt idx="163">
                  <c:v>144</c:v>
                </c:pt>
                <c:pt idx="164">
                  <c:v>165</c:v>
                </c:pt>
                <c:pt idx="165">
                  <c:v>127</c:v>
                </c:pt>
                <c:pt idx="166">
                  <c:v>185</c:v>
                </c:pt>
                <c:pt idx="167">
                  <c:v>159</c:v>
                </c:pt>
                <c:pt idx="168">
                  <c:v>171</c:v>
                </c:pt>
                <c:pt idx="169">
                  <c:v>83</c:v>
                </c:pt>
                <c:pt idx="170">
                  <c:v>141</c:v>
                </c:pt>
                <c:pt idx="171">
                  <c:v>195</c:v>
                </c:pt>
                <c:pt idx="172">
                  <c:v>176</c:v>
                </c:pt>
                <c:pt idx="173">
                  <c:v>140</c:v>
                </c:pt>
                <c:pt idx="174">
                  <c:v>138</c:v>
                </c:pt>
                <c:pt idx="175">
                  <c:v>149</c:v>
                </c:pt>
                <c:pt idx="176">
                  <c:v>124</c:v>
                </c:pt>
                <c:pt idx="177">
                  <c:v>148</c:v>
                </c:pt>
                <c:pt idx="178">
                  <c:v>135</c:v>
                </c:pt>
                <c:pt idx="179">
                  <c:v>179</c:v>
                </c:pt>
                <c:pt idx="180">
                  <c:v>99</c:v>
                </c:pt>
                <c:pt idx="181">
                  <c:v>117</c:v>
                </c:pt>
                <c:pt idx="182">
                  <c:v>165</c:v>
                </c:pt>
                <c:pt idx="183">
                  <c:v>136</c:v>
                </c:pt>
                <c:pt idx="184">
                  <c:v>135</c:v>
                </c:pt>
                <c:pt idx="185">
                  <c:v>111</c:v>
                </c:pt>
                <c:pt idx="186">
                  <c:v>113</c:v>
                </c:pt>
                <c:pt idx="187">
                  <c:v>96</c:v>
                </c:pt>
                <c:pt idx="188">
                  <c:v>113</c:v>
                </c:pt>
                <c:pt idx="189">
                  <c:v>128</c:v>
                </c:pt>
                <c:pt idx="190">
                  <c:v>165</c:v>
                </c:pt>
                <c:pt idx="191">
                  <c:v>112</c:v>
                </c:pt>
                <c:pt idx="192">
                  <c:v>175</c:v>
                </c:pt>
                <c:pt idx="193">
                  <c:v>130</c:v>
                </c:pt>
                <c:pt idx="194">
                  <c:v>98</c:v>
                </c:pt>
                <c:pt idx="195">
                  <c:v>115</c:v>
                </c:pt>
                <c:pt idx="196">
                  <c:v>101</c:v>
                </c:pt>
                <c:pt idx="197">
                  <c:v>138</c:v>
                </c:pt>
                <c:pt idx="198">
                  <c:v>140</c:v>
                </c:pt>
                <c:pt idx="199">
                  <c:v>112</c:v>
                </c:pt>
                <c:pt idx="200">
                  <c:v>109</c:v>
                </c:pt>
                <c:pt idx="201">
                  <c:v>72</c:v>
                </c:pt>
                <c:pt idx="202">
                  <c:v>120</c:v>
                </c:pt>
                <c:pt idx="203">
                  <c:v>126</c:v>
                </c:pt>
                <c:pt idx="204">
                  <c:v>161</c:v>
                </c:pt>
                <c:pt idx="205">
                  <c:v>129</c:v>
                </c:pt>
                <c:pt idx="206">
                  <c:v>75</c:v>
                </c:pt>
                <c:pt idx="207">
                  <c:v>149</c:v>
                </c:pt>
                <c:pt idx="208">
                  <c:v>80</c:v>
                </c:pt>
                <c:pt idx="209">
                  <c:v>120</c:v>
                </c:pt>
                <c:pt idx="210">
                  <c:v>125</c:v>
                </c:pt>
                <c:pt idx="211">
                  <c:v>143</c:v>
                </c:pt>
                <c:pt idx="212">
                  <c:v>105</c:v>
                </c:pt>
                <c:pt idx="213">
                  <c:v>79</c:v>
                </c:pt>
                <c:pt idx="214">
                  <c:v>72</c:v>
                </c:pt>
                <c:pt idx="215">
                  <c:v>99</c:v>
                </c:pt>
                <c:pt idx="216">
                  <c:v>71</c:v>
                </c:pt>
                <c:pt idx="217">
                  <c:v>134</c:v>
                </c:pt>
                <c:pt idx="218">
                  <c:v>81</c:v>
                </c:pt>
                <c:pt idx="219">
                  <c:v>109</c:v>
                </c:pt>
                <c:pt idx="220">
                  <c:v>112</c:v>
                </c:pt>
                <c:pt idx="221">
                  <c:v>129</c:v>
                </c:pt>
                <c:pt idx="222">
                  <c:v>133</c:v>
                </c:pt>
                <c:pt idx="223">
                  <c:v>167</c:v>
                </c:pt>
                <c:pt idx="224">
                  <c:v>122</c:v>
                </c:pt>
                <c:pt idx="225">
                  <c:v>114</c:v>
                </c:pt>
                <c:pt idx="226">
                  <c:v>131</c:v>
                </c:pt>
                <c:pt idx="227">
                  <c:v>117</c:v>
                </c:pt>
                <c:pt idx="228">
                  <c:v>124</c:v>
                </c:pt>
                <c:pt idx="229">
                  <c:v>168</c:v>
                </c:pt>
                <c:pt idx="230">
                  <c:v>194</c:v>
                </c:pt>
                <c:pt idx="231">
                  <c:v>130</c:v>
                </c:pt>
                <c:pt idx="232">
                  <c:v>217</c:v>
                </c:pt>
                <c:pt idx="233">
                  <c:v>123</c:v>
                </c:pt>
                <c:pt idx="234">
                  <c:v>125</c:v>
                </c:pt>
                <c:pt idx="235">
                  <c:v>136</c:v>
                </c:pt>
                <c:pt idx="236">
                  <c:v>126</c:v>
                </c:pt>
                <c:pt idx="237">
                  <c:v>130</c:v>
                </c:pt>
                <c:pt idx="238">
                  <c:v>139</c:v>
                </c:pt>
                <c:pt idx="239">
                  <c:v>171</c:v>
                </c:pt>
                <c:pt idx="240">
                  <c:v>172</c:v>
                </c:pt>
                <c:pt idx="241">
                  <c:v>84</c:v>
                </c:pt>
                <c:pt idx="242">
                  <c:v>101</c:v>
                </c:pt>
                <c:pt idx="243">
                  <c:v>88</c:v>
                </c:pt>
                <c:pt idx="244">
                  <c:v>95</c:v>
                </c:pt>
                <c:pt idx="245">
                  <c:v>57</c:v>
                </c:pt>
                <c:pt idx="246">
                  <c:v>71</c:v>
                </c:pt>
                <c:pt idx="247">
                  <c:v>69</c:v>
                </c:pt>
                <c:pt idx="248">
                  <c:v>60</c:v>
                </c:pt>
                <c:pt idx="249">
                  <c:v>63</c:v>
                </c:pt>
                <c:pt idx="250">
                  <c:v>41</c:v>
                </c:pt>
                <c:pt idx="251">
                  <c:v>49</c:v>
                </c:pt>
                <c:pt idx="252">
                  <c:v>113</c:v>
                </c:pt>
                <c:pt idx="253">
                  <c:v>84</c:v>
                </c:pt>
                <c:pt idx="254">
                  <c:v>81</c:v>
                </c:pt>
                <c:pt idx="255">
                  <c:v>73</c:v>
                </c:pt>
                <c:pt idx="256">
                  <c:v>65</c:v>
                </c:pt>
                <c:pt idx="257">
                  <c:v>81</c:v>
                </c:pt>
                <c:pt idx="258">
                  <c:v>50</c:v>
                </c:pt>
                <c:pt idx="259">
                  <c:v>59</c:v>
                </c:pt>
                <c:pt idx="260">
                  <c:v>88</c:v>
                </c:pt>
                <c:pt idx="261">
                  <c:v>68</c:v>
                </c:pt>
                <c:pt idx="262">
                  <c:v>89</c:v>
                </c:pt>
                <c:pt idx="263">
                  <c:v>95</c:v>
                </c:pt>
                <c:pt idx="264">
                  <c:v>97</c:v>
                </c:pt>
                <c:pt idx="265">
                  <c:v>74</c:v>
                </c:pt>
                <c:pt idx="266">
                  <c:v>56</c:v>
                </c:pt>
                <c:pt idx="267">
                  <c:v>60</c:v>
                </c:pt>
                <c:pt idx="268">
                  <c:v>52</c:v>
                </c:pt>
                <c:pt idx="269">
                  <c:v>32</c:v>
                </c:pt>
                <c:pt idx="270">
                  <c:v>39</c:v>
                </c:pt>
                <c:pt idx="271">
                  <c:v>53</c:v>
                </c:pt>
                <c:pt idx="272">
                  <c:v>21</c:v>
                </c:pt>
                <c:pt idx="273">
                  <c:v>13</c:v>
                </c:pt>
                <c:pt idx="274">
                  <c:v>11</c:v>
                </c:pt>
                <c:pt idx="275">
                  <c:v>1</c:v>
                </c:pt>
                <c:pt idx="276">
                  <c:v>4</c:v>
                </c:pt>
                <c:pt idx="277">
                  <c:v>16</c:v>
                </c:pt>
                <c:pt idx="278">
                  <c:v>5</c:v>
                </c:pt>
                <c:pt idx="279">
                  <c:v>1</c:v>
                </c:pt>
                <c:pt idx="280">
                  <c:v>4</c:v>
                </c:pt>
                <c:pt idx="281">
                  <c:v>6</c:v>
                </c:pt>
                <c:pt idx="282">
                  <c:v>20</c:v>
                </c:pt>
                <c:pt idx="283">
                  <c:v>1</c:v>
                </c:pt>
                <c:pt idx="284">
                  <c:v>4</c:v>
                </c:pt>
                <c:pt idx="285">
                  <c:v>4</c:v>
                </c:pt>
                <c:pt idx="286">
                  <c:v>4</c:v>
                </c:pt>
                <c:pt idx="287">
                  <c:v>10</c:v>
                </c:pt>
                <c:pt idx="288">
                  <c:v>4</c:v>
                </c:pt>
                <c:pt idx="289">
                  <c:v>5</c:v>
                </c:pt>
                <c:pt idx="290">
                  <c:v>6</c:v>
                </c:pt>
                <c:pt idx="291">
                  <c:v>2</c:v>
                </c:pt>
                <c:pt idx="292">
                  <c:v>2</c:v>
                </c:pt>
                <c:pt idx="293">
                  <c:v>6</c:v>
                </c:pt>
                <c:pt idx="294">
                  <c:v>10</c:v>
                </c:pt>
                <c:pt idx="295">
                  <c:v>4</c:v>
                </c:pt>
                <c:pt idx="296">
                  <c:v>3</c:v>
                </c:pt>
                <c:pt idx="297">
                  <c:v>7</c:v>
                </c:pt>
                <c:pt idx="298">
                  <c:v>4</c:v>
                </c:pt>
                <c:pt idx="299">
                  <c:v>1</c:v>
                </c:pt>
                <c:pt idx="300">
                  <c:v>1</c:v>
                </c:pt>
                <c:pt idx="301">
                  <c:v>2</c:v>
                </c:pt>
                <c:pt idx="302">
                  <c:v>3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전체예약취소시점!$O$8</c:f>
              <c:strCache>
                <c:ptCount val="1"/>
                <c:pt idx="0">
                  <c:v>2018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전체예약취소시점!$N$9:$N$317</c:f>
              <c:numCache>
                <c:formatCode>General</c:formatCode>
                <c:ptCount val="30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299</c:v>
                </c:pt>
                <c:pt idx="296">
                  <c:v>300</c:v>
                </c:pt>
                <c:pt idx="297">
                  <c:v>302</c:v>
                </c:pt>
                <c:pt idx="298">
                  <c:v>304</c:v>
                </c:pt>
                <c:pt idx="299">
                  <c:v>309</c:v>
                </c:pt>
                <c:pt idx="300">
                  <c:v>310</c:v>
                </c:pt>
                <c:pt idx="301">
                  <c:v>316</c:v>
                </c:pt>
                <c:pt idx="302">
                  <c:v>319</c:v>
                </c:pt>
                <c:pt idx="303">
                  <c:v>320</c:v>
                </c:pt>
                <c:pt idx="304">
                  <c:v>324</c:v>
                </c:pt>
                <c:pt idx="305">
                  <c:v>325</c:v>
                </c:pt>
                <c:pt idx="306">
                  <c:v>329</c:v>
                </c:pt>
                <c:pt idx="307">
                  <c:v>330</c:v>
                </c:pt>
                <c:pt idx="308">
                  <c:v>343</c:v>
                </c:pt>
              </c:numCache>
            </c:numRef>
          </c:cat>
          <c:val>
            <c:numRef>
              <c:f>전체예약취소시점!$O$9:$O$317</c:f>
              <c:numCache>
                <c:formatCode>General</c:formatCode>
                <c:ptCount val="309"/>
                <c:pt idx="0">
                  <c:v>357</c:v>
                </c:pt>
                <c:pt idx="1">
                  <c:v>1162</c:v>
                </c:pt>
                <c:pt idx="2">
                  <c:v>1423</c:v>
                </c:pt>
                <c:pt idx="3">
                  <c:v>2016</c:v>
                </c:pt>
                <c:pt idx="4">
                  <c:v>2436</c:v>
                </c:pt>
                <c:pt idx="5">
                  <c:v>2851</c:v>
                </c:pt>
                <c:pt idx="6">
                  <c:v>3241</c:v>
                </c:pt>
                <c:pt idx="7">
                  <c:v>4079</c:v>
                </c:pt>
                <c:pt idx="8">
                  <c:v>5283</c:v>
                </c:pt>
                <c:pt idx="9">
                  <c:v>5135</c:v>
                </c:pt>
                <c:pt idx="10">
                  <c:v>5335</c:v>
                </c:pt>
                <c:pt idx="11">
                  <c:v>5091</c:v>
                </c:pt>
                <c:pt idx="12">
                  <c:v>4839</c:v>
                </c:pt>
                <c:pt idx="13">
                  <c:v>4564</c:v>
                </c:pt>
                <c:pt idx="14">
                  <c:v>4832</c:v>
                </c:pt>
                <c:pt idx="15">
                  <c:v>4933</c:v>
                </c:pt>
                <c:pt idx="16">
                  <c:v>4531</c:v>
                </c:pt>
                <c:pt idx="17">
                  <c:v>4074</c:v>
                </c:pt>
                <c:pt idx="18">
                  <c:v>4020</c:v>
                </c:pt>
                <c:pt idx="19">
                  <c:v>3766</c:v>
                </c:pt>
                <c:pt idx="20">
                  <c:v>3369</c:v>
                </c:pt>
                <c:pt idx="21">
                  <c:v>3032</c:v>
                </c:pt>
                <c:pt idx="22">
                  <c:v>3346</c:v>
                </c:pt>
                <c:pt idx="23">
                  <c:v>3233</c:v>
                </c:pt>
                <c:pt idx="24">
                  <c:v>3264</c:v>
                </c:pt>
                <c:pt idx="25">
                  <c:v>2916</c:v>
                </c:pt>
                <c:pt idx="26">
                  <c:v>3000</c:v>
                </c:pt>
                <c:pt idx="27">
                  <c:v>2758</c:v>
                </c:pt>
                <c:pt idx="28">
                  <c:v>2766</c:v>
                </c:pt>
                <c:pt idx="29">
                  <c:v>2893</c:v>
                </c:pt>
                <c:pt idx="30">
                  <c:v>3282</c:v>
                </c:pt>
                <c:pt idx="31">
                  <c:v>3171</c:v>
                </c:pt>
                <c:pt idx="32">
                  <c:v>3118</c:v>
                </c:pt>
                <c:pt idx="33">
                  <c:v>3237</c:v>
                </c:pt>
                <c:pt idx="34">
                  <c:v>2877</c:v>
                </c:pt>
                <c:pt idx="35">
                  <c:v>2696</c:v>
                </c:pt>
                <c:pt idx="36">
                  <c:v>2877</c:v>
                </c:pt>
                <c:pt idx="37">
                  <c:v>2738</c:v>
                </c:pt>
                <c:pt idx="38">
                  <c:v>2573</c:v>
                </c:pt>
                <c:pt idx="39">
                  <c:v>2366</c:v>
                </c:pt>
                <c:pt idx="40">
                  <c:v>2371</c:v>
                </c:pt>
                <c:pt idx="41">
                  <c:v>2079</c:v>
                </c:pt>
                <c:pt idx="42">
                  <c:v>2234</c:v>
                </c:pt>
                <c:pt idx="43">
                  <c:v>2304</c:v>
                </c:pt>
                <c:pt idx="44">
                  <c:v>2213</c:v>
                </c:pt>
                <c:pt idx="45">
                  <c:v>2074</c:v>
                </c:pt>
                <c:pt idx="46">
                  <c:v>1968</c:v>
                </c:pt>
                <c:pt idx="47">
                  <c:v>2049</c:v>
                </c:pt>
                <c:pt idx="48">
                  <c:v>1683</c:v>
                </c:pt>
                <c:pt idx="49">
                  <c:v>1684</c:v>
                </c:pt>
                <c:pt idx="50">
                  <c:v>1908</c:v>
                </c:pt>
                <c:pt idx="51">
                  <c:v>1703</c:v>
                </c:pt>
                <c:pt idx="52">
                  <c:v>1625</c:v>
                </c:pt>
                <c:pt idx="53">
                  <c:v>1611</c:v>
                </c:pt>
                <c:pt idx="54">
                  <c:v>1385</c:v>
                </c:pt>
                <c:pt idx="55">
                  <c:v>1546</c:v>
                </c:pt>
                <c:pt idx="56">
                  <c:v>1380</c:v>
                </c:pt>
                <c:pt idx="57">
                  <c:v>1487</c:v>
                </c:pt>
                <c:pt idx="58">
                  <c:v>1564</c:v>
                </c:pt>
                <c:pt idx="59">
                  <c:v>1446</c:v>
                </c:pt>
                <c:pt idx="60">
                  <c:v>1479</c:v>
                </c:pt>
                <c:pt idx="61">
                  <c:v>1240</c:v>
                </c:pt>
                <c:pt idx="62">
                  <c:v>1276</c:v>
                </c:pt>
                <c:pt idx="63">
                  <c:v>1245</c:v>
                </c:pt>
                <c:pt idx="64">
                  <c:v>1163</c:v>
                </c:pt>
                <c:pt idx="65">
                  <c:v>1437</c:v>
                </c:pt>
                <c:pt idx="66">
                  <c:v>1261</c:v>
                </c:pt>
                <c:pt idx="67">
                  <c:v>1059</c:v>
                </c:pt>
                <c:pt idx="68">
                  <c:v>1141</c:v>
                </c:pt>
                <c:pt idx="69">
                  <c:v>1131</c:v>
                </c:pt>
                <c:pt idx="70">
                  <c:v>1208</c:v>
                </c:pt>
                <c:pt idx="71">
                  <c:v>1161</c:v>
                </c:pt>
                <c:pt idx="72">
                  <c:v>1022</c:v>
                </c:pt>
                <c:pt idx="73">
                  <c:v>1080</c:v>
                </c:pt>
                <c:pt idx="74">
                  <c:v>988</c:v>
                </c:pt>
                <c:pt idx="75">
                  <c:v>959</c:v>
                </c:pt>
                <c:pt idx="76">
                  <c:v>906</c:v>
                </c:pt>
                <c:pt idx="77">
                  <c:v>929</c:v>
                </c:pt>
                <c:pt idx="78">
                  <c:v>896</c:v>
                </c:pt>
                <c:pt idx="79">
                  <c:v>954</c:v>
                </c:pt>
                <c:pt idx="80">
                  <c:v>871</c:v>
                </c:pt>
                <c:pt idx="81">
                  <c:v>936</c:v>
                </c:pt>
                <c:pt idx="82">
                  <c:v>831</c:v>
                </c:pt>
                <c:pt idx="83">
                  <c:v>765</c:v>
                </c:pt>
                <c:pt idx="84">
                  <c:v>723</c:v>
                </c:pt>
                <c:pt idx="85">
                  <c:v>882</c:v>
                </c:pt>
                <c:pt idx="86">
                  <c:v>750</c:v>
                </c:pt>
                <c:pt idx="87">
                  <c:v>736</c:v>
                </c:pt>
                <c:pt idx="88">
                  <c:v>705</c:v>
                </c:pt>
                <c:pt idx="89">
                  <c:v>747</c:v>
                </c:pt>
                <c:pt idx="90">
                  <c:v>615</c:v>
                </c:pt>
                <c:pt idx="91">
                  <c:v>811</c:v>
                </c:pt>
                <c:pt idx="92">
                  <c:v>780</c:v>
                </c:pt>
                <c:pt idx="93">
                  <c:v>695</c:v>
                </c:pt>
                <c:pt idx="94">
                  <c:v>672</c:v>
                </c:pt>
                <c:pt idx="95">
                  <c:v>624</c:v>
                </c:pt>
                <c:pt idx="96">
                  <c:v>562</c:v>
                </c:pt>
                <c:pt idx="97">
                  <c:v>484</c:v>
                </c:pt>
                <c:pt idx="98">
                  <c:v>520</c:v>
                </c:pt>
                <c:pt idx="99">
                  <c:v>620</c:v>
                </c:pt>
                <c:pt idx="100">
                  <c:v>615</c:v>
                </c:pt>
                <c:pt idx="101">
                  <c:v>556</c:v>
                </c:pt>
                <c:pt idx="102">
                  <c:v>537</c:v>
                </c:pt>
                <c:pt idx="103">
                  <c:v>502</c:v>
                </c:pt>
                <c:pt idx="104">
                  <c:v>525</c:v>
                </c:pt>
                <c:pt idx="105">
                  <c:v>518</c:v>
                </c:pt>
                <c:pt idx="106">
                  <c:v>514</c:v>
                </c:pt>
                <c:pt idx="107">
                  <c:v>544</c:v>
                </c:pt>
                <c:pt idx="108">
                  <c:v>439</c:v>
                </c:pt>
                <c:pt idx="109">
                  <c:v>405</c:v>
                </c:pt>
                <c:pt idx="110">
                  <c:v>530</c:v>
                </c:pt>
                <c:pt idx="111">
                  <c:v>387</c:v>
                </c:pt>
                <c:pt idx="112">
                  <c:v>431</c:v>
                </c:pt>
                <c:pt idx="113">
                  <c:v>489</c:v>
                </c:pt>
                <c:pt idx="114">
                  <c:v>519</c:v>
                </c:pt>
                <c:pt idx="115">
                  <c:v>518</c:v>
                </c:pt>
                <c:pt idx="116">
                  <c:v>429</c:v>
                </c:pt>
                <c:pt idx="117">
                  <c:v>398</c:v>
                </c:pt>
                <c:pt idx="118">
                  <c:v>437</c:v>
                </c:pt>
                <c:pt idx="119">
                  <c:v>382</c:v>
                </c:pt>
                <c:pt idx="120">
                  <c:v>432</c:v>
                </c:pt>
                <c:pt idx="121">
                  <c:v>378</c:v>
                </c:pt>
                <c:pt idx="122">
                  <c:v>435</c:v>
                </c:pt>
                <c:pt idx="123">
                  <c:v>335</c:v>
                </c:pt>
                <c:pt idx="124">
                  <c:v>300</c:v>
                </c:pt>
                <c:pt idx="125">
                  <c:v>358</c:v>
                </c:pt>
                <c:pt idx="126">
                  <c:v>375</c:v>
                </c:pt>
                <c:pt idx="127">
                  <c:v>448</c:v>
                </c:pt>
                <c:pt idx="128">
                  <c:v>354</c:v>
                </c:pt>
                <c:pt idx="129">
                  <c:v>291</c:v>
                </c:pt>
                <c:pt idx="130">
                  <c:v>315</c:v>
                </c:pt>
                <c:pt idx="131">
                  <c:v>313</c:v>
                </c:pt>
                <c:pt idx="132">
                  <c:v>259</c:v>
                </c:pt>
                <c:pt idx="133">
                  <c:v>250</c:v>
                </c:pt>
                <c:pt idx="134">
                  <c:v>316</c:v>
                </c:pt>
                <c:pt idx="135">
                  <c:v>261</c:v>
                </c:pt>
                <c:pt idx="136">
                  <c:v>282</c:v>
                </c:pt>
                <c:pt idx="137">
                  <c:v>398</c:v>
                </c:pt>
                <c:pt idx="138">
                  <c:v>286</c:v>
                </c:pt>
                <c:pt idx="139">
                  <c:v>273</c:v>
                </c:pt>
                <c:pt idx="140">
                  <c:v>246</c:v>
                </c:pt>
                <c:pt idx="141">
                  <c:v>419</c:v>
                </c:pt>
                <c:pt idx="142">
                  <c:v>270</c:v>
                </c:pt>
                <c:pt idx="143">
                  <c:v>273</c:v>
                </c:pt>
                <c:pt idx="144">
                  <c:v>258</c:v>
                </c:pt>
                <c:pt idx="145">
                  <c:v>264</c:v>
                </c:pt>
                <c:pt idx="146">
                  <c:v>191</c:v>
                </c:pt>
                <c:pt idx="147">
                  <c:v>230</c:v>
                </c:pt>
                <c:pt idx="148">
                  <c:v>240</c:v>
                </c:pt>
                <c:pt idx="149">
                  <c:v>216</c:v>
                </c:pt>
                <c:pt idx="150">
                  <c:v>166</c:v>
                </c:pt>
                <c:pt idx="151">
                  <c:v>214</c:v>
                </c:pt>
                <c:pt idx="152">
                  <c:v>220</c:v>
                </c:pt>
                <c:pt idx="153">
                  <c:v>128</c:v>
                </c:pt>
                <c:pt idx="154">
                  <c:v>176</c:v>
                </c:pt>
                <c:pt idx="155">
                  <c:v>183</c:v>
                </c:pt>
                <c:pt idx="156">
                  <c:v>161</c:v>
                </c:pt>
                <c:pt idx="157">
                  <c:v>149</c:v>
                </c:pt>
                <c:pt idx="158">
                  <c:v>158</c:v>
                </c:pt>
                <c:pt idx="159">
                  <c:v>131</c:v>
                </c:pt>
                <c:pt idx="160">
                  <c:v>190</c:v>
                </c:pt>
                <c:pt idx="161">
                  <c:v>144</c:v>
                </c:pt>
                <c:pt idx="162">
                  <c:v>178</c:v>
                </c:pt>
                <c:pt idx="163">
                  <c:v>150</c:v>
                </c:pt>
                <c:pt idx="164">
                  <c:v>142</c:v>
                </c:pt>
                <c:pt idx="165">
                  <c:v>150</c:v>
                </c:pt>
                <c:pt idx="166">
                  <c:v>106</c:v>
                </c:pt>
                <c:pt idx="167">
                  <c:v>141</c:v>
                </c:pt>
                <c:pt idx="168">
                  <c:v>130</c:v>
                </c:pt>
                <c:pt idx="169">
                  <c:v>179</c:v>
                </c:pt>
                <c:pt idx="170">
                  <c:v>100</c:v>
                </c:pt>
                <c:pt idx="171">
                  <c:v>146</c:v>
                </c:pt>
                <c:pt idx="172">
                  <c:v>148</c:v>
                </c:pt>
                <c:pt idx="173">
                  <c:v>132</c:v>
                </c:pt>
                <c:pt idx="174">
                  <c:v>105</c:v>
                </c:pt>
                <c:pt idx="175">
                  <c:v>76</c:v>
                </c:pt>
                <c:pt idx="176">
                  <c:v>73</c:v>
                </c:pt>
                <c:pt idx="177">
                  <c:v>115</c:v>
                </c:pt>
                <c:pt idx="178">
                  <c:v>123</c:v>
                </c:pt>
                <c:pt idx="179">
                  <c:v>117</c:v>
                </c:pt>
                <c:pt idx="180">
                  <c:v>110</c:v>
                </c:pt>
                <c:pt idx="181">
                  <c:v>126</c:v>
                </c:pt>
                <c:pt idx="182">
                  <c:v>86</c:v>
                </c:pt>
                <c:pt idx="183">
                  <c:v>89</c:v>
                </c:pt>
                <c:pt idx="184">
                  <c:v>93</c:v>
                </c:pt>
                <c:pt idx="185">
                  <c:v>81</c:v>
                </c:pt>
                <c:pt idx="186">
                  <c:v>128</c:v>
                </c:pt>
                <c:pt idx="187">
                  <c:v>115</c:v>
                </c:pt>
                <c:pt idx="188">
                  <c:v>64</c:v>
                </c:pt>
                <c:pt idx="189">
                  <c:v>123</c:v>
                </c:pt>
                <c:pt idx="190">
                  <c:v>71</c:v>
                </c:pt>
                <c:pt idx="191">
                  <c:v>80</c:v>
                </c:pt>
                <c:pt idx="192">
                  <c:v>41</c:v>
                </c:pt>
                <c:pt idx="193">
                  <c:v>65</c:v>
                </c:pt>
                <c:pt idx="194">
                  <c:v>94</c:v>
                </c:pt>
                <c:pt idx="195">
                  <c:v>88</c:v>
                </c:pt>
                <c:pt idx="196">
                  <c:v>96</c:v>
                </c:pt>
                <c:pt idx="197">
                  <c:v>61</c:v>
                </c:pt>
                <c:pt idx="198">
                  <c:v>62</c:v>
                </c:pt>
                <c:pt idx="199">
                  <c:v>58</c:v>
                </c:pt>
                <c:pt idx="200">
                  <c:v>41</c:v>
                </c:pt>
                <c:pt idx="201">
                  <c:v>39</c:v>
                </c:pt>
                <c:pt idx="202">
                  <c:v>30</c:v>
                </c:pt>
                <c:pt idx="203">
                  <c:v>81</c:v>
                </c:pt>
                <c:pt idx="204">
                  <c:v>48</c:v>
                </c:pt>
                <c:pt idx="205">
                  <c:v>40</c:v>
                </c:pt>
                <c:pt idx="206">
                  <c:v>30</c:v>
                </c:pt>
                <c:pt idx="207">
                  <c:v>65</c:v>
                </c:pt>
                <c:pt idx="208">
                  <c:v>73</c:v>
                </c:pt>
                <c:pt idx="209">
                  <c:v>40</c:v>
                </c:pt>
                <c:pt idx="210">
                  <c:v>77</c:v>
                </c:pt>
                <c:pt idx="211">
                  <c:v>32</c:v>
                </c:pt>
                <c:pt idx="212">
                  <c:v>22</c:v>
                </c:pt>
                <c:pt idx="213">
                  <c:v>31</c:v>
                </c:pt>
                <c:pt idx="214">
                  <c:v>46</c:v>
                </c:pt>
                <c:pt idx="215">
                  <c:v>35</c:v>
                </c:pt>
                <c:pt idx="216">
                  <c:v>19</c:v>
                </c:pt>
                <c:pt idx="217">
                  <c:v>20</c:v>
                </c:pt>
                <c:pt idx="218">
                  <c:v>30</c:v>
                </c:pt>
                <c:pt idx="219">
                  <c:v>84</c:v>
                </c:pt>
                <c:pt idx="220">
                  <c:v>28</c:v>
                </c:pt>
                <c:pt idx="221">
                  <c:v>58</c:v>
                </c:pt>
                <c:pt idx="222">
                  <c:v>25</c:v>
                </c:pt>
                <c:pt idx="223">
                  <c:v>13</c:v>
                </c:pt>
                <c:pt idx="224">
                  <c:v>38</c:v>
                </c:pt>
                <c:pt idx="225">
                  <c:v>11</c:v>
                </c:pt>
                <c:pt idx="226">
                  <c:v>29</c:v>
                </c:pt>
                <c:pt idx="227">
                  <c:v>30</c:v>
                </c:pt>
                <c:pt idx="228">
                  <c:v>24</c:v>
                </c:pt>
                <c:pt idx="229">
                  <c:v>24</c:v>
                </c:pt>
                <c:pt idx="230">
                  <c:v>22</c:v>
                </c:pt>
                <c:pt idx="231">
                  <c:v>24</c:v>
                </c:pt>
                <c:pt idx="232">
                  <c:v>24</c:v>
                </c:pt>
                <c:pt idx="233">
                  <c:v>23</c:v>
                </c:pt>
                <c:pt idx="234">
                  <c:v>26</c:v>
                </c:pt>
                <c:pt idx="235">
                  <c:v>8</c:v>
                </c:pt>
                <c:pt idx="236">
                  <c:v>11</c:v>
                </c:pt>
                <c:pt idx="237">
                  <c:v>12</c:v>
                </c:pt>
                <c:pt idx="238">
                  <c:v>31</c:v>
                </c:pt>
                <c:pt idx="239">
                  <c:v>8</c:v>
                </c:pt>
                <c:pt idx="240">
                  <c:v>5</c:v>
                </c:pt>
                <c:pt idx="241">
                  <c:v>22</c:v>
                </c:pt>
                <c:pt idx="242">
                  <c:v>8</c:v>
                </c:pt>
                <c:pt idx="243">
                  <c:v>12</c:v>
                </c:pt>
                <c:pt idx="244">
                  <c:v>7</c:v>
                </c:pt>
                <c:pt idx="245">
                  <c:v>17</c:v>
                </c:pt>
                <c:pt idx="246">
                  <c:v>18</c:v>
                </c:pt>
                <c:pt idx="247">
                  <c:v>16</c:v>
                </c:pt>
                <c:pt idx="248">
                  <c:v>17</c:v>
                </c:pt>
                <c:pt idx="249">
                  <c:v>19</c:v>
                </c:pt>
                <c:pt idx="250">
                  <c:v>12</c:v>
                </c:pt>
                <c:pt idx="251">
                  <c:v>6</c:v>
                </c:pt>
                <c:pt idx="252">
                  <c:v>15</c:v>
                </c:pt>
                <c:pt idx="253">
                  <c:v>10</c:v>
                </c:pt>
                <c:pt idx="254">
                  <c:v>20</c:v>
                </c:pt>
                <c:pt idx="255">
                  <c:v>9</c:v>
                </c:pt>
                <c:pt idx="256">
                  <c:v>12</c:v>
                </c:pt>
                <c:pt idx="257">
                  <c:v>17</c:v>
                </c:pt>
                <c:pt idx="258">
                  <c:v>21</c:v>
                </c:pt>
                <c:pt idx="259">
                  <c:v>15</c:v>
                </c:pt>
                <c:pt idx="260">
                  <c:v>14</c:v>
                </c:pt>
                <c:pt idx="261">
                  <c:v>12</c:v>
                </c:pt>
                <c:pt idx="262">
                  <c:v>9</c:v>
                </c:pt>
                <c:pt idx="263">
                  <c:v>20</c:v>
                </c:pt>
                <c:pt idx="264">
                  <c:v>19</c:v>
                </c:pt>
                <c:pt idx="265">
                  <c:v>9</c:v>
                </c:pt>
                <c:pt idx="266">
                  <c:v>3</c:v>
                </c:pt>
                <c:pt idx="267">
                  <c:v>11</c:v>
                </c:pt>
                <c:pt idx="268">
                  <c:v>5</c:v>
                </c:pt>
                <c:pt idx="269">
                  <c:v>2</c:v>
                </c:pt>
                <c:pt idx="270">
                  <c:v>18</c:v>
                </c:pt>
                <c:pt idx="271">
                  <c:v>2</c:v>
                </c:pt>
                <c:pt idx="272">
                  <c:v>11</c:v>
                </c:pt>
                <c:pt idx="273">
                  <c:v>6</c:v>
                </c:pt>
                <c:pt idx="274">
                  <c:v>16</c:v>
                </c:pt>
                <c:pt idx="275">
                  <c:v>2</c:v>
                </c:pt>
                <c:pt idx="276">
                  <c:v>8</c:v>
                </c:pt>
                <c:pt idx="277">
                  <c:v>4</c:v>
                </c:pt>
                <c:pt idx="278">
                  <c:v>11</c:v>
                </c:pt>
                <c:pt idx="279">
                  <c:v>13</c:v>
                </c:pt>
                <c:pt idx="280">
                  <c:v>7</c:v>
                </c:pt>
                <c:pt idx="281">
                  <c:v>8</c:v>
                </c:pt>
                <c:pt idx="282">
                  <c:v>8</c:v>
                </c:pt>
                <c:pt idx="283">
                  <c:v>2</c:v>
                </c:pt>
                <c:pt idx="284">
                  <c:v>5</c:v>
                </c:pt>
                <c:pt idx="285">
                  <c:v>15</c:v>
                </c:pt>
                <c:pt idx="286">
                  <c:v>11</c:v>
                </c:pt>
                <c:pt idx="287">
                  <c:v>2</c:v>
                </c:pt>
                <c:pt idx="288">
                  <c:v>3</c:v>
                </c:pt>
                <c:pt idx="289">
                  <c:v>6</c:v>
                </c:pt>
                <c:pt idx="290">
                  <c:v>12</c:v>
                </c:pt>
                <c:pt idx="291">
                  <c:v>3</c:v>
                </c:pt>
                <c:pt idx="292">
                  <c:v>2</c:v>
                </c:pt>
                <c:pt idx="293">
                  <c:v>8</c:v>
                </c:pt>
                <c:pt idx="294">
                  <c:v>3</c:v>
                </c:pt>
                <c:pt idx="295">
                  <c:v>2</c:v>
                </c:pt>
                <c:pt idx="296">
                  <c:v>9</c:v>
                </c:pt>
                <c:pt idx="297">
                  <c:v>8</c:v>
                </c:pt>
                <c:pt idx="298">
                  <c:v>2</c:v>
                </c:pt>
                <c:pt idx="299">
                  <c:v>2</c:v>
                </c:pt>
                <c:pt idx="300">
                  <c:v>2</c:v>
                </c:pt>
                <c:pt idx="301">
                  <c:v>4</c:v>
                </c:pt>
                <c:pt idx="302">
                  <c:v>1</c:v>
                </c:pt>
                <c:pt idx="303">
                  <c:v>1</c:v>
                </c:pt>
                <c:pt idx="304">
                  <c:v>2</c:v>
                </c:pt>
                <c:pt idx="305">
                  <c:v>1</c:v>
                </c:pt>
                <c:pt idx="306">
                  <c:v>1</c:v>
                </c:pt>
                <c:pt idx="307">
                  <c:v>2</c:v>
                </c:pt>
                <c:pt idx="308">
                  <c:v>6</c:v>
                </c:pt>
              </c:numCache>
            </c:numRef>
          </c:val>
          <c:smooth val="0"/>
        </c:ser>
        <c:ser>
          <c:idx val="0"/>
          <c:order val="3"/>
          <c:tx>
            <c:strRef>
              <c:f>전체예약취소시점!$S$8</c:f>
              <c:strCache>
                <c:ptCount val="1"/>
                <c:pt idx="0">
                  <c:v>2019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전체예약취소시점!$R$9:$R$333</c:f>
              <c:numCache>
                <c:formatCode>General</c:formatCode>
                <c:ptCount val="3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308</c:v>
                </c:pt>
                <c:pt idx="303">
                  <c:v>309</c:v>
                </c:pt>
                <c:pt idx="304">
                  <c:v>310</c:v>
                </c:pt>
                <c:pt idx="305">
                  <c:v>312</c:v>
                </c:pt>
                <c:pt idx="306">
                  <c:v>314</c:v>
                </c:pt>
                <c:pt idx="307">
                  <c:v>316</c:v>
                </c:pt>
                <c:pt idx="308">
                  <c:v>318</c:v>
                </c:pt>
                <c:pt idx="309">
                  <c:v>320</c:v>
                </c:pt>
                <c:pt idx="310">
                  <c:v>321</c:v>
                </c:pt>
                <c:pt idx="311">
                  <c:v>324</c:v>
                </c:pt>
                <c:pt idx="312">
                  <c:v>325</c:v>
                </c:pt>
                <c:pt idx="313">
                  <c:v>326</c:v>
                </c:pt>
                <c:pt idx="314">
                  <c:v>328</c:v>
                </c:pt>
                <c:pt idx="315">
                  <c:v>329</c:v>
                </c:pt>
                <c:pt idx="316">
                  <c:v>330</c:v>
                </c:pt>
                <c:pt idx="317">
                  <c:v>331</c:v>
                </c:pt>
                <c:pt idx="318">
                  <c:v>332</c:v>
                </c:pt>
                <c:pt idx="319">
                  <c:v>334</c:v>
                </c:pt>
                <c:pt idx="320">
                  <c:v>344</c:v>
                </c:pt>
                <c:pt idx="321">
                  <c:v>350</c:v>
                </c:pt>
                <c:pt idx="322">
                  <c:v>353</c:v>
                </c:pt>
                <c:pt idx="323">
                  <c:v>362</c:v>
                </c:pt>
                <c:pt idx="324">
                  <c:v>370</c:v>
                </c:pt>
              </c:numCache>
            </c:numRef>
          </c:cat>
          <c:val>
            <c:numRef>
              <c:f>전체예약취소시점!$S$9:$S$333</c:f>
              <c:numCache>
                <c:formatCode>General</c:formatCode>
                <c:ptCount val="325"/>
                <c:pt idx="0">
                  <c:v>227</c:v>
                </c:pt>
                <c:pt idx="1">
                  <c:v>741</c:v>
                </c:pt>
                <c:pt idx="2">
                  <c:v>1038</c:v>
                </c:pt>
                <c:pt idx="3">
                  <c:v>1354</c:v>
                </c:pt>
                <c:pt idx="4">
                  <c:v>1795</c:v>
                </c:pt>
                <c:pt idx="5">
                  <c:v>2038</c:v>
                </c:pt>
                <c:pt idx="6">
                  <c:v>2339</c:v>
                </c:pt>
                <c:pt idx="7">
                  <c:v>2990</c:v>
                </c:pt>
                <c:pt idx="8">
                  <c:v>3459</c:v>
                </c:pt>
                <c:pt idx="9">
                  <c:v>3664</c:v>
                </c:pt>
                <c:pt idx="10">
                  <c:v>3681</c:v>
                </c:pt>
                <c:pt idx="11">
                  <c:v>3628</c:v>
                </c:pt>
                <c:pt idx="12">
                  <c:v>3713</c:v>
                </c:pt>
                <c:pt idx="13">
                  <c:v>3645</c:v>
                </c:pt>
                <c:pt idx="14">
                  <c:v>3755</c:v>
                </c:pt>
                <c:pt idx="15">
                  <c:v>3667</c:v>
                </c:pt>
                <c:pt idx="16">
                  <c:v>3579</c:v>
                </c:pt>
                <c:pt idx="17">
                  <c:v>3066</c:v>
                </c:pt>
                <c:pt idx="18">
                  <c:v>2817</c:v>
                </c:pt>
                <c:pt idx="19">
                  <c:v>2568</c:v>
                </c:pt>
                <c:pt idx="20">
                  <c:v>2337</c:v>
                </c:pt>
                <c:pt idx="21">
                  <c:v>2428</c:v>
                </c:pt>
                <c:pt idx="22">
                  <c:v>2424</c:v>
                </c:pt>
                <c:pt idx="23">
                  <c:v>2382</c:v>
                </c:pt>
                <c:pt idx="24">
                  <c:v>2130</c:v>
                </c:pt>
                <c:pt idx="25">
                  <c:v>2014</c:v>
                </c:pt>
                <c:pt idx="26">
                  <c:v>2092</c:v>
                </c:pt>
                <c:pt idx="27">
                  <c:v>2023</c:v>
                </c:pt>
                <c:pt idx="28">
                  <c:v>1857</c:v>
                </c:pt>
                <c:pt idx="29">
                  <c:v>2184</c:v>
                </c:pt>
                <c:pt idx="30">
                  <c:v>2244</c:v>
                </c:pt>
                <c:pt idx="31">
                  <c:v>2147</c:v>
                </c:pt>
                <c:pt idx="32">
                  <c:v>2258</c:v>
                </c:pt>
                <c:pt idx="33">
                  <c:v>2080</c:v>
                </c:pt>
                <c:pt idx="34">
                  <c:v>1973</c:v>
                </c:pt>
                <c:pt idx="35">
                  <c:v>1803</c:v>
                </c:pt>
                <c:pt idx="36">
                  <c:v>1886</c:v>
                </c:pt>
                <c:pt idx="37">
                  <c:v>1840</c:v>
                </c:pt>
                <c:pt idx="38">
                  <c:v>1783</c:v>
                </c:pt>
                <c:pt idx="39">
                  <c:v>1668</c:v>
                </c:pt>
                <c:pt idx="40">
                  <c:v>1591</c:v>
                </c:pt>
                <c:pt idx="41">
                  <c:v>1430</c:v>
                </c:pt>
                <c:pt idx="42">
                  <c:v>1390</c:v>
                </c:pt>
                <c:pt idx="43">
                  <c:v>1423</c:v>
                </c:pt>
                <c:pt idx="44">
                  <c:v>1527</c:v>
                </c:pt>
                <c:pt idx="45">
                  <c:v>1377</c:v>
                </c:pt>
                <c:pt idx="46">
                  <c:v>1216</c:v>
                </c:pt>
                <c:pt idx="47">
                  <c:v>1185</c:v>
                </c:pt>
                <c:pt idx="48">
                  <c:v>1017</c:v>
                </c:pt>
                <c:pt idx="49">
                  <c:v>1121</c:v>
                </c:pt>
                <c:pt idx="50">
                  <c:v>1167</c:v>
                </c:pt>
                <c:pt idx="51">
                  <c:v>1141</c:v>
                </c:pt>
                <c:pt idx="52">
                  <c:v>1070</c:v>
                </c:pt>
                <c:pt idx="53">
                  <c:v>1101</c:v>
                </c:pt>
                <c:pt idx="54">
                  <c:v>1006</c:v>
                </c:pt>
                <c:pt idx="55">
                  <c:v>1021</c:v>
                </c:pt>
                <c:pt idx="56">
                  <c:v>903</c:v>
                </c:pt>
                <c:pt idx="57">
                  <c:v>1001</c:v>
                </c:pt>
                <c:pt idx="58">
                  <c:v>1050</c:v>
                </c:pt>
                <c:pt idx="59">
                  <c:v>891</c:v>
                </c:pt>
                <c:pt idx="60">
                  <c:v>859</c:v>
                </c:pt>
                <c:pt idx="61">
                  <c:v>817</c:v>
                </c:pt>
                <c:pt idx="62">
                  <c:v>851</c:v>
                </c:pt>
                <c:pt idx="63">
                  <c:v>836</c:v>
                </c:pt>
                <c:pt idx="64">
                  <c:v>847</c:v>
                </c:pt>
                <c:pt idx="65">
                  <c:v>893</c:v>
                </c:pt>
                <c:pt idx="66">
                  <c:v>831</c:v>
                </c:pt>
                <c:pt idx="67">
                  <c:v>766</c:v>
                </c:pt>
                <c:pt idx="68">
                  <c:v>745</c:v>
                </c:pt>
                <c:pt idx="69">
                  <c:v>666</c:v>
                </c:pt>
                <c:pt idx="70">
                  <c:v>666</c:v>
                </c:pt>
                <c:pt idx="71">
                  <c:v>742</c:v>
                </c:pt>
                <c:pt idx="72">
                  <c:v>694</c:v>
                </c:pt>
                <c:pt idx="73">
                  <c:v>663</c:v>
                </c:pt>
                <c:pt idx="74">
                  <c:v>650</c:v>
                </c:pt>
                <c:pt idx="75">
                  <c:v>578</c:v>
                </c:pt>
                <c:pt idx="76">
                  <c:v>582</c:v>
                </c:pt>
                <c:pt idx="77">
                  <c:v>604</c:v>
                </c:pt>
                <c:pt idx="78">
                  <c:v>627</c:v>
                </c:pt>
                <c:pt idx="79">
                  <c:v>627</c:v>
                </c:pt>
                <c:pt idx="80">
                  <c:v>523</c:v>
                </c:pt>
                <c:pt idx="81">
                  <c:v>491</c:v>
                </c:pt>
                <c:pt idx="82">
                  <c:v>454</c:v>
                </c:pt>
                <c:pt idx="83">
                  <c:v>555</c:v>
                </c:pt>
                <c:pt idx="84">
                  <c:v>516</c:v>
                </c:pt>
                <c:pt idx="85">
                  <c:v>495</c:v>
                </c:pt>
                <c:pt idx="86">
                  <c:v>550</c:v>
                </c:pt>
                <c:pt idx="87">
                  <c:v>580</c:v>
                </c:pt>
                <c:pt idx="88">
                  <c:v>449</c:v>
                </c:pt>
                <c:pt idx="89">
                  <c:v>488</c:v>
                </c:pt>
                <c:pt idx="90">
                  <c:v>399</c:v>
                </c:pt>
                <c:pt idx="91">
                  <c:v>462</c:v>
                </c:pt>
                <c:pt idx="92">
                  <c:v>496</c:v>
                </c:pt>
                <c:pt idx="93">
                  <c:v>508</c:v>
                </c:pt>
                <c:pt idx="94">
                  <c:v>363</c:v>
                </c:pt>
                <c:pt idx="95">
                  <c:v>378</c:v>
                </c:pt>
                <c:pt idx="96">
                  <c:v>376</c:v>
                </c:pt>
                <c:pt idx="97">
                  <c:v>419</c:v>
                </c:pt>
                <c:pt idx="98">
                  <c:v>381</c:v>
                </c:pt>
                <c:pt idx="99">
                  <c:v>379</c:v>
                </c:pt>
                <c:pt idx="100">
                  <c:v>353</c:v>
                </c:pt>
                <c:pt idx="101">
                  <c:v>418</c:v>
                </c:pt>
                <c:pt idx="102">
                  <c:v>323</c:v>
                </c:pt>
                <c:pt idx="103">
                  <c:v>384</c:v>
                </c:pt>
                <c:pt idx="104">
                  <c:v>399</c:v>
                </c:pt>
                <c:pt idx="105">
                  <c:v>317</c:v>
                </c:pt>
                <c:pt idx="106">
                  <c:v>327</c:v>
                </c:pt>
                <c:pt idx="107">
                  <c:v>339</c:v>
                </c:pt>
                <c:pt idx="108">
                  <c:v>337</c:v>
                </c:pt>
                <c:pt idx="109">
                  <c:v>305</c:v>
                </c:pt>
                <c:pt idx="110">
                  <c:v>322</c:v>
                </c:pt>
                <c:pt idx="111">
                  <c:v>291</c:v>
                </c:pt>
                <c:pt idx="112">
                  <c:v>309</c:v>
                </c:pt>
                <c:pt idx="113">
                  <c:v>305</c:v>
                </c:pt>
                <c:pt idx="114">
                  <c:v>323</c:v>
                </c:pt>
                <c:pt idx="115">
                  <c:v>300</c:v>
                </c:pt>
                <c:pt idx="116">
                  <c:v>321</c:v>
                </c:pt>
                <c:pt idx="117">
                  <c:v>263</c:v>
                </c:pt>
                <c:pt idx="118">
                  <c:v>221</c:v>
                </c:pt>
                <c:pt idx="119">
                  <c:v>253</c:v>
                </c:pt>
                <c:pt idx="120">
                  <c:v>255</c:v>
                </c:pt>
                <c:pt idx="121">
                  <c:v>263</c:v>
                </c:pt>
                <c:pt idx="122">
                  <c:v>300</c:v>
                </c:pt>
                <c:pt idx="123">
                  <c:v>208</c:v>
                </c:pt>
                <c:pt idx="124">
                  <c:v>299</c:v>
                </c:pt>
                <c:pt idx="125">
                  <c:v>218</c:v>
                </c:pt>
                <c:pt idx="126">
                  <c:v>236</c:v>
                </c:pt>
                <c:pt idx="127">
                  <c:v>260</c:v>
                </c:pt>
                <c:pt idx="128">
                  <c:v>252</c:v>
                </c:pt>
                <c:pt idx="129">
                  <c:v>210</c:v>
                </c:pt>
                <c:pt idx="130">
                  <c:v>199</c:v>
                </c:pt>
                <c:pt idx="131">
                  <c:v>199</c:v>
                </c:pt>
                <c:pt idx="132">
                  <c:v>192</c:v>
                </c:pt>
                <c:pt idx="133">
                  <c:v>237</c:v>
                </c:pt>
                <c:pt idx="134">
                  <c:v>241</c:v>
                </c:pt>
                <c:pt idx="135">
                  <c:v>189</c:v>
                </c:pt>
                <c:pt idx="136">
                  <c:v>212</c:v>
                </c:pt>
                <c:pt idx="137">
                  <c:v>166</c:v>
                </c:pt>
                <c:pt idx="138">
                  <c:v>182</c:v>
                </c:pt>
                <c:pt idx="139">
                  <c:v>154</c:v>
                </c:pt>
                <c:pt idx="140">
                  <c:v>218</c:v>
                </c:pt>
                <c:pt idx="141">
                  <c:v>195</c:v>
                </c:pt>
                <c:pt idx="142">
                  <c:v>207</c:v>
                </c:pt>
                <c:pt idx="143">
                  <c:v>194</c:v>
                </c:pt>
                <c:pt idx="144">
                  <c:v>175</c:v>
                </c:pt>
                <c:pt idx="145">
                  <c:v>141</c:v>
                </c:pt>
                <c:pt idx="146">
                  <c:v>147</c:v>
                </c:pt>
                <c:pt idx="147">
                  <c:v>166</c:v>
                </c:pt>
                <c:pt idx="148">
                  <c:v>150</c:v>
                </c:pt>
                <c:pt idx="149">
                  <c:v>176</c:v>
                </c:pt>
                <c:pt idx="150">
                  <c:v>124</c:v>
                </c:pt>
                <c:pt idx="151">
                  <c:v>113</c:v>
                </c:pt>
                <c:pt idx="152">
                  <c:v>140</c:v>
                </c:pt>
                <c:pt idx="153">
                  <c:v>164</c:v>
                </c:pt>
                <c:pt idx="154">
                  <c:v>133</c:v>
                </c:pt>
                <c:pt idx="155">
                  <c:v>150</c:v>
                </c:pt>
                <c:pt idx="156">
                  <c:v>109</c:v>
                </c:pt>
                <c:pt idx="157">
                  <c:v>130</c:v>
                </c:pt>
                <c:pt idx="158">
                  <c:v>126</c:v>
                </c:pt>
                <c:pt idx="159">
                  <c:v>99</c:v>
                </c:pt>
                <c:pt idx="160">
                  <c:v>99</c:v>
                </c:pt>
                <c:pt idx="161">
                  <c:v>104</c:v>
                </c:pt>
                <c:pt idx="162">
                  <c:v>120</c:v>
                </c:pt>
                <c:pt idx="163">
                  <c:v>126</c:v>
                </c:pt>
                <c:pt idx="164">
                  <c:v>147</c:v>
                </c:pt>
                <c:pt idx="165">
                  <c:v>91</c:v>
                </c:pt>
                <c:pt idx="166">
                  <c:v>102</c:v>
                </c:pt>
                <c:pt idx="167">
                  <c:v>106</c:v>
                </c:pt>
                <c:pt idx="168">
                  <c:v>119</c:v>
                </c:pt>
                <c:pt idx="169">
                  <c:v>121</c:v>
                </c:pt>
                <c:pt idx="170">
                  <c:v>101</c:v>
                </c:pt>
                <c:pt idx="171">
                  <c:v>97</c:v>
                </c:pt>
                <c:pt idx="172">
                  <c:v>73</c:v>
                </c:pt>
                <c:pt idx="173">
                  <c:v>95</c:v>
                </c:pt>
                <c:pt idx="174">
                  <c:v>87</c:v>
                </c:pt>
                <c:pt idx="175">
                  <c:v>92</c:v>
                </c:pt>
                <c:pt idx="176">
                  <c:v>88</c:v>
                </c:pt>
                <c:pt idx="177">
                  <c:v>72</c:v>
                </c:pt>
                <c:pt idx="178">
                  <c:v>63</c:v>
                </c:pt>
                <c:pt idx="179">
                  <c:v>62</c:v>
                </c:pt>
                <c:pt idx="180">
                  <c:v>89</c:v>
                </c:pt>
                <c:pt idx="181">
                  <c:v>59</c:v>
                </c:pt>
                <c:pt idx="182">
                  <c:v>83</c:v>
                </c:pt>
                <c:pt idx="183">
                  <c:v>51</c:v>
                </c:pt>
                <c:pt idx="184">
                  <c:v>66</c:v>
                </c:pt>
                <c:pt idx="185">
                  <c:v>54</c:v>
                </c:pt>
                <c:pt idx="186">
                  <c:v>59</c:v>
                </c:pt>
                <c:pt idx="187">
                  <c:v>74</c:v>
                </c:pt>
                <c:pt idx="188">
                  <c:v>44</c:v>
                </c:pt>
                <c:pt idx="189">
                  <c:v>66</c:v>
                </c:pt>
                <c:pt idx="190">
                  <c:v>70</c:v>
                </c:pt>
                <c:pt idx="191">
                  <c:v>61</c:v>
                </c:pt>
                <c:pt idx="192">
                  <c:v>75</c:v>
                </c:pt>
                <c:pt idx="193">
                  <c:v>40</c:v>
                </c:pt>
                <c:pt idx="194">
                  <c:v>44</c:v>
                </c:pt>
                <c:pt idx="195">
                  <c:v>47</c:v>
                </c:pt>
                <c:pt idx="196">
                  <c:v>57</c:v>
                </c:pt>
                <c:pt idx="197">
                  <c:v>55</c:v>
                </c:pt>
                <c:pt idx="198">
                  <c:v>55</c:v>
                </c:pt>
                <c:pt idx="199">
                  <c:v>34</c:v>
                </c:pt>
                <c:pt idx="200">
                  <c:v>37</c:v>
                </c:pt>
                <c:pt idx="201">
                  <c:v>39</c:v>
                </c:pt>
                <c:pt idx="202">
                  <c:v>50</c:v>
                </c:pt>
                <c:pt idx="203">
                  <c:v>49</c:v>
                </c:pt>
                <c:pt idx="204">
                  <c:v>24</c:v>
                </c:pt>
                <c:pt idx="205">
                  <c:v>35</c:v>
                </c:pt>
                <c:pt idx="206">
                  <c:v>29</c:v>
                </c:pt>
                <c:pt idx="207">
                  <c:v>33</c:v>
                </c:pt>
                <c:pt idx="208">
                  <c:v>44</c:v>
                </c:pt>
                <c:pt idx="209">
                  <c:v>40</c:v>
                </c:pt>
                <c:pt idx="210">
                  <c:v>51</c:v>
                </c:pt>
                <c:pt idx="211">
                  <c:v>26</c:v>
                </c:pt>
                <c:pt idx="212">
                  <c:v>40</c:v>
                </c:pt>
                <c:pt idx="213">
                  <c:v>35</c:v>
                </c:pt>
                <c:pt idx="214">
                  <c:v>39</c:v>
                </c:pt>
                <c:pt idx="215">
                  <c:v>34</c:v>
                </c:pt>
                <c:pt idx="216">
                  <c:v>26</c:v>
                </c:pt>
                <c:pt idx="217">
                  <c:v>30</c:v>
                </c:pt>
                <c:pt idx="218">
                  <c:v>25</c:v>
                </c:pt>
                <c:pt idx="219">
                  <c:v>23</c:v>
                </c:pt>
                <c:pt idx="220">
                  <c:v>38</c:v>
                </c:pt>
                <c:pt idx="221">
                  <c:v>34</c:v>
                </c:pt>
                <c:pt idx="222">
                  <c:v>20</c:v>
                </c:pt>
                <c:pt idx="223">
                  <c:v>26</c:v>
                </c:pt>
                <c:pt idx="224">
                  <c:v>22</c:v>
                </c:pt>
                <c:pt idx="225">
                  <c:v>26</c:v>
                </c:pt>
                <c:pt idx="226">
                  <c:v>31</c:v>
                </c:pt>
                <c:pt idx="227">
                  <c:v>18</c:v>
                </c:pt>
                <c:pt idx="228">
                  <c:v>22</c:v>
                </c:pt>
                <c:pt idx="229">
                  <c:v>16</c:v>
                </c:pt>
                <c:pt idx="230">
                  <c:v>21</c:v>
                </c:pt>
                <c:pt idx="231">
                  <c:v>26</c:v>
                </c:pt>
                <c:pt idx="232">
                  <c:v>21</c:v>
                </c:pt>
                <c:pt idx="233">
                  <c:v>15</c:v>
                </c:pt>
                <c:pt idx="234">
                  <c:v>21</c:v>
                </c:pt>
                <c:pt idx="235">
                  <c:v>19</c:v>
                </c:pt>
                <c:pt idx="236">
                  <c:v>20</c:v>
                </c:pt>
                <c:pt idx="237">
                  <c:v>19</c:v>
                </c:pt>
                <c:pt idx="238">
                  <c:v>28</c:v>
                </c:pt>
                <c:pt idx="239">
                  <c:v>18</c:v>
                </c:pt>
                <c:pt idx="240">
                  <c:v>15</c:v>
                </c:pt>
                <c:pt idx="241">
                  <c:v>14</c:v>
                </c:pt>
                <c:pt idx="242">
                  <c:v>18</c:v>
                </c:pt>
                <c:pt idx="243">
                  <c:v>21</c:v>
                </c:pt>
                <c:pt idx="244">
                  <c:v>13</c:v>
                </c:pt>
                <c:pt idx="245">
                  <c:v>16</c:v>
                </c:pt>
                <c:pt idx="246">
                  <c:v>9</c:v>
                </c:pt>
                <c:pt idx="247">
                  <c:v>14</c:v>
                </c:pt>
                <c:pt idx="248">
                  <c:v>15</c:v>
                </c:pt>
                <c:pt idx="249">
                  <c:v>6</c:v>
                </c:pt>
                <c:pt idx="250">
                  <c:v>6</c:v>
                </c:pt>
                <c:pt idx="251">
                  <c:v>11</c:v>
                </c:pt>
                <c:pt idx="252">
                  <c:v>15</c:v>
                </c:pt>
                <c:pt idx="253">
                  <c:v>7</c:v>
                </c:pt>
                <c:pt idx="254">
                  <c:v>11</c:v>
                </c:pt>
                <c:pt idx="255">
                  <c:v>5</c:v>
                </c:pt>
                <c:pt idx="256">
                  <c:v>15</c:v>
                </c:pt>
                <c:pt idx="257">
                  <c:v>6</c:v>
                </c:pt>
                <c:pt idx="258">
                  <c:v>10</c:v>
                </c:pt>
                <c:pt idx="259">
                  <c:v>4</c:v>
                </c:pt>
                <c:pt idx="260">
                  <c:v>10</c:v>
                </c:pt>
                <c:pt idx="261">
                  <c:v>6</c:v>
                </c:pt>
                <c:pt idx="262">
                  <c:v>5</c:v>
                </c:pt>
                <c:pt idx="263">
                  <c:v>13</c:v>
                </c:pt>
                <c:pt idx="264">
                  <c:v>5</c:v>
                </c:pt>
                <c:pt idx="265">
                  <c:v>11</c:v>
                </c:pt>
                <c:pt idx="266">
                  <c:v>9</c:v>
                </c:pt>
                <c:pt idx="267">
                  <c:v>2</c:v>
                </c:pt>
                <c:pt idx="268">
                  <c:v>4</c:v>
                </c:pt>
                <c:pt idx="269">
                  <c:v>5</c:v>
                </c:pt>
                <c:pt idx="270">
                  <c:v>12</c:v>
                </c:pt>
                <c:pt idx="271">
                  <c:v>11</c:v>
                </c:pt>
                <c:pt idx="272">
                  <c:v>6</c:v>
                </c:pt>
                <c:pt idx="273">
                  <c:v>9</c:v>
                </c:pt>
                <c:pt idx="274">
                  <c:v>2</c:v>
                </c:pt>
                <c:pt idx="275">
                  <c:v>2</c:v>
                </c:pt>
                <c:pt idx="276">
                  <c:v>4</c:v>
                </c:pt>
                <c:pt idx="277">
                  <c:v>3</c:v>
                </c:pt>
                <c:pt idx="278">
                  <c:v>3</c:v>
                </c:pt>
                <c:pt idx="279">
                  <c:v>11</c:v>
                </c:pt>
                <c:pt idx="280">
                  <c:v>9</c:v>
                </c:pt>
                <c:pt idx="281">
                  <c:v>7</c:v>
                </c:pt>
                <c:pt idx="282">
                  <c:v>8</c:v>
                </c:pt>
                <c:pt idx="283">
                  <c:v>2</c:v>
                </c:pt>
                <c:pt idx="284">
                  <c:v>2</c:v>
                </c:pt>
                <c:pt idx="285">
                  <c:v>3</c:v>
                </c:pt>
                <c:pt idx="286">
                  <c:v>6</c:v>
                </c:pt>
                <c:pt idx="287">
                  <c:v>4</c:v>
                </c:pt>
                <c:pt idx="288">
                  <c:v>4</c:v>
                </c:pt>
                <c:pt idx="289">
                  <c:v>10</c:v>
                </c:pt>
                <c:pt idx="290">
                  <c:v>3</c:v>
                </c:pt>
                <c:pt idx="291">
                  <c:v>6</c:v>
                </c:pt>
                <c:pt idx="292">
                  <c:v>3</c:v>
                </c:pt>
                <c:pt idx="293">
                  <c:v>3</c:v>
                </c:pt>
                <c:pt idx="294">
                  <c:v>3</c:v>
                </c:pt>
                <c:pt idx="295">
                  <c:v>2</c:v>
                </c:pt>
                <c:pt idx="296">
                  <c:v>3</c:v>
                </c:pt>
                <c:pt idx="297">
                  <c:v>2</c:v>
                </c:pt>
                <c:pt idx="298">
                  <c:v>3</c:v>
                </c:pt>
                <c:pt idx="299">
                  <c:v>4</c:v>
                </c:pt>
                <c:pt idx="300">
                  <c:v>2</c:v>
                </c:pt>
                <c:pt idx="301">
                  <c:v>3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2</c:v>
                </c:pt>
                <c:pt idx="306">
                  <c:v>2</c:v>
                </c:pt>
                <c:pt idx="307">
                  <c:v>3</c:v>
                </c:pt>
                <c:pt idx="308">
                  <c:v>3</c:v>
                </c:pt>
                <c:pt idx="309">
                  <c:v>1</c:v>
                </c:pt>
                <c:pt idx="310">
                  <c:v>3</c:v>
                </c:pt>
                <c:pt idx="311">
                  <c:v>4</c:v>
                </c:pt>
                <c:pt idx="312">
                  <c:v>2</c:v>
                </c:pt>
                <c:pt idx="313">
                  <c:v>2</c:v>
                </c:pt>
                <c:pt idx="314">
                  <c:v>6</c:v>
                </c:pt>
                <c:pt idx="315">
                  <c:v>7</c:v>
                </c:pt>
                <c:pt idx="316">
                  <c:v>2</c:v>
                </c:pt>
                <c:pt idx="317">
                  <c:v>1</c:v>
                </c:pt>
                <c:pt idx="318">
                  <c:v>1</c:v>
                </c:pt>
                <c:pt idx="319">
                  <c:v>2</c:v>
                </c:pt>
                <c:pt idx="320">
                  <c:v>4</c:v>
                </c:pt>
                <c:pt idx="321">
                  <c:v>2</c:v>
                </c:pt>
                <c:pt idx="322">
                  <c:v>2</c:v>
                </c:pt>
                <c:pt idx="323">
                  <c:v>2</c:v>
                </c:pt>
                <c:pt idx="324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0660208"/>
        <c:axId val="550660768"/>
      </c:lineChart>
      <c:catAx>
        <c:axId val="55066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60768"/>
        <c:crosses val="autoZero"/>
        <c:auto val="1"/>
        <c:lblAlgn val="ctr"/>
        <c:lblOffset val="100"/>
        <c:tickLblSkip val="15"/>
        <c:noMultiLvlLbl val="0"/>
      </c:catAx>
      <c:valAx>
        <c:axId val="55066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6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지역별취소시점!$L$7</c:f>
              <c:strCache>
                <c:ptCount val="1"/>
                <c:pt idx="0">
                  <c:v>중국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지역별취소시점!$K$8:$K$214</c:f>
              <c:numCache>
                <c:formatCode>General</c:formatCode>
                <c:ptCount val="20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163</c:v>
                </c:pt>
                <c:pt idx="162">
                  <c:v>164</c:v>
                </c:pt>
                <c:pt idx="163">
                  <c:v>166</c:v>
                </c:pt>
                <c:pt idx="164">
                  <c:v>167</c:v>
                </c:pt>
                <c:pt idx="165">
                  <c:v>168</c:v>
                </c:pt>
                <c:pt idx="166">
                  <c:v>169</c:v>
                </c:pt>
                <c:pt idx="167">
                  <c:v>170</c:v>
                </c:pt>
                <c:pt idx="168">
                  <c:v>171</c:v>
                </c:pt>
                <c:pt idx="169">
                  <c:v>172</c:v>
                </c:pt>
                <c:pt idx="170">
                  <c:v>173</c:v>
                </c:pt>
                <c:pt idx="171">
                  <c:v>174</c:v>
                </c:pt>
                <c:pt idx="172">
                  <c:v>175</c:v>
                </c:pt>
                <c:pt idx="173">
                  <c:v>176</c:v>
                </c:pt>
                <c:pt idx="174">
                  <c:v>177</c:v>
                </c:pt>
                <c:pt idx="175">
                  <c:v>178</c:v>
                </c:pt>
                <c:pt idx="176">
                  <c:v>179</c:v>
                </c:pt>
                <c:pt idx="177">
                  <c:v>180</c:v>
                </c:pt>
                <c:pt idx="178">
                  <c:v>181</c:v>
                </c:pt>
                <c:pt idx="179">
                  <c:v>182</c:v>
                </c:pt>
                <c:pt idx="180">
                  <c:v>183</c:v>
                </c:pt>
                <c:pt idx="181">
                  <c:v>184</c:v>
                </c:pt>
                <c:pt idx="182">
                  <c:v>185</c:v>
                </c:pt>
                <c:pt idx="183">
                  <c:v>186</c:v>
                </c:pt>
                <c:pt idx="184">
                  <c:v>188</c:v>
                </c:pt>
                <c:pt idx="185">
                  <c:v>189</c:v>
                </c:pt>
                <c:pt idx="186">
                  <c:v>190</c:v>
                </c:pt>
                <c:pt idx="187">
                  <c:v>191</c:v>
                </c:pt>
                <c:pt idx="188">
                  <c:v>192</c:v>
                </c:pt>
                <c:pt idx="189">
                  <c:v>194</c:v>
                </c:pt>
                <c:pt idx="190">
                  <c:v>195</c:v>
                </c:pt>
                <c:pt idx="191">
                  <c:v>197</c:v>
                </c:pt>
                <c:pt idx="192">
                  <c:v>198</c:v>
                </c:pt>
                <c:pt idx="193">
                  <c:v>200</c:v>
                </c:pt>
                <c:pt idx="194">
                  <c:v>202</c:v>
                </c:pt>
                <c:pt idx="195">
                  <c:v>203</c:v>
                </c:pt>
                <c:pt idx="196">
                  <c:v>208</c:v>
                </c:pt>
                <c:pt idx="197">
                  <c:v>210</c:v>
                </c:pt>
                <c:pt idx="198">
                  <c:v>211</c:v>
                </c:pt>
                <c:pt idx="199">
                  <c:v>213</c:v>
                </c:pt>
                <c:pt idx="200">
                  <c:v>215</c:v>
                </c:pt>
                <c:pt idx="201">
                  <c:v>216</c:v>
                </c:pt>
                <c:pt idx="202">
                  <c:v>221</c:v>
                </c:pt>
                <c:pt idx="203">
                  <c:v>223</c:v>
                </c:pt>
                <c:pt idx="204">
                  <c:v>226</c:v>
                </c:pt>
                <c:pt idx="205">
                  <c:v>237</c:v>
                </c:pt>
                <c:pt idx="206">
                  <c:v>240</c:v>
                </c:pt>
              </c:numCache>
            </c:numRef>
          </c:cat>
          <c:val>
            <c:numRef>
              <c:f>지역별취소시점!$L$8:$L$214</c:f>
              <c:numCache>
                <c:formatCode>General</c:formatCode>
                <c:ptCount val="207"/>
                <c:pt idx="0">
                  <c:v>4</c:v>
                </c:pt>
                <c:pt idx="1">
                  <c:v>6</c:v>
                </c:pt>
                <c:pt idx="2">
                  <c:v>17</c:v>
                </c:pt>
                <c:pt idx="3">
                  <c:v>23</c:v>
                </c:pt>
                <c:pt idx="4">
                  <c:v>51</c:v>
                </c:pt>
                <c:pt idx="5">
                  <c:v>58</c:v>
                </c:pt>
                <c:pt idx="6">
                  <c:v>146</c:v>
                </c:pt>
                <c:pt idx="7">
                  <c:v>142</c:v>
                </c:pt>
                <c:pt idx="8">
                  <c:v>283</c:v>
                </c:pt>
                <c:pt idx="9">
                  <c:v>383</c:v>
                </c:pt>
                <c:pt idx="10">
                  <c:v>422</c:v>
                </c:pt>
                <c:pt idx="11">
                  <c:v>455</c:v>
                </c:pt>
                <c:pt idx="12">
                  <c:v>504</c:v>
                </c:pt>
                <c:pt idx="13">
                  <c:v>402</c:v>
                </c:pt>
                <c:pt idx="14">
                  <c:v>413</c:v>
                </c:pt>
                <c:pt idx="15">
                  <c:v>435</c:v>
                </c:pt>
                <c:pt idx="16">
                  <c:v>403</c:v>
                </c:pt>
                <c:pt idx="17">
                  <c:v>439</c:v>
                </c:pt>
                <c:pt idx="18">
                  <c:v>350</c:v>
                </c:pt>
                <c:pt idx="19">
                  <c:v>320</c:v>
                </c:pt>
                <c:pt idx="20">
                  <c:v>222</c:v>
                </c:pt>
                <c:pt idx="21">
                  <c:v>263</c:v>
                </c:pt>
                <c:pt idx="22">
                  <c:v>242</c:v>
                </c:pt>
                <c:pt idx="23">
                  <c:v>226</c:v>
                </c:pt>
                <c:pt idx="24">
                  <c:v>231</c:v>
                </c:pt>
                <c:pt idx="25">
                  <c:v>250</c:v>
                </c:pt>
                <c:pt idx="26">
                  <c:v>224</c:v>
                </c:pt>
                <c:pt idx="27">
                  <c:v>168</c:v>
                </c:pt>
                <c:pt idx="28">
                  <c:v>173</c:v>
                </c:pt>
                <c:pt idx="29">
                  <c:v>195</c:v>
                </c:pt>
                <c:pt idx="30">
                  <c:v>200</c:v>
                </c:pt>
                <c:pt idx="31">
                  <c:v>164</c:v>
                </c:pt>
                <c:pt idx="32">
                  <c:v>240</c:v>
                </c:pt>
                <c:pt idx="33">
                  <c:v>146</c:v>
                </c:pt>
                <c:pt idx="34">
                  <c:v>150</c:v>
                </c:pt>
                <c:pt idx="35">
                  <c:v>155</c:v>
                </c:pt>
                <c:pt idx="36">
                  <c:v>149</c:v>
                </c:pt>
                <c:pt idx="37">
                  <c:v>156</c:v>
                </c:pt>
                <c:pt idx="38">
                  <c:v>143</c:v>
                </c:pt>
                <c:pt idx="39">
                  <c:v>129</c:v>
                </c:pt>
                <c:pt idx="40">
                  <c:v>152</c:v>
                </c:pt>
                <c:pt idx="41">
                  <c:v>86</c:v>
                </c:pt>
                <c:pt idx="42">
                  <c:v>91</c:v>
                </c:pt>
                <c:pt idx="43">
                  <c:v>101</c:v>
                </c:pt>
                <c:pt idx="44">
                  <c:v>136</c:v>
                </c:pt>
                <c:pt idx="45">
                  <c:v>113</c:v>
                </c:pt>
                <c:pt idx="46">
                  <c:v>82</c:v>
                </c:pt>
                <c:pt idx="47">
                  <c:v>76</c:v>
                </c:pt>
                <c:pt idx="48">
                  <c:v>71</c:v>
                </c:pt>
                <c:pt idx="49">
                  <c:v>56</c:v>
                </c:pt>
                <c:pt idx="50">
                  <c:v>87</c:v>
                </c:pt>
                <c:pt idx="51">
                  <c:v>93</c:v>
                </c:pt>
                <c:pt idx="52">
                  <c:v>60</c:v>
                </c:pt>
                <c:pt idx="53">
                  <c:v>85</c:v>
                </c:pt>
                <c:pt idx="54">
                  <c:v>79</c:v>
                </c:pt>
                <c:pt idx="55">
                  <c:v>69</c:v>
                </c:pt>
                <c:pt idx="56">
                  <c:v>57</c:v>
                </c:pt>
                <c:pt idx="57">
                  <c:v>47</c:v>
                </c:pt>
                <c:pt idx="58">
                  <c:v>54</c:v>
                </c:pt>
                <c:pt idx="59">
                  <c:v>64</c:v>
                </c:pt>
                <c:pt idx="60">
                  <c:v>43</c:v>
                </c:pt>
                <c:pt idx="61">
                  <c:v>55</c:v>
                </c:pt>
                <c:pt idx="62">
                  <c:v>43</c:v>
                </c:pt>
                <c:pt idx="63">
                  <c:v>74</c:v>
                </c:pt>
                <c:pt idx="64">
                  <c:v>52</c:v>
                </c:pt>
                <c:pt idx="65">
                  <c:v>64</c:v>
                </c:pt>
                <c:pt idx="66">
                  <c:v>37</c:v>
                </c:pt>
                <c:pt idx="67">
                  <c:v>36</c:v>
                </c:pt>
                <c:pt idx="68">
                  <c:v>43</c:v>
                </c:pt>
                <c:pt idx="69">
                  <c:v>28</c:v>
                </c:pt>
                <c:pt idx="70">
                  <c:v>48</c:v>
                </c:pt>
                <c:pt idx="71">
                  <c:v>70</c:v>
                </c:pt>
                <c:pt idx="72">
                  <c:v>39</c:v>
                </c:pt>
                <c:pt idx="73">
                  <c:v>40</c:v>
                </c:pt>
                <c:pt idx="74">
                  <c:v>35</c:v>
                </c:pt>
                <c:pt idx="75">
                  <c:v>36</c:v>
                </c:pt>
                <c:pt idx="76">
                  <c:v>31</c:v>
                </c:pt>
                <c:pt idx="77">
                  <c:v>23</c:v>
                </c:pt>
                <c:pt idx="78">
                  <c:v>32</c:v>
                </c:pt>
                <c:pt idx="79">
                  <c:v>32</c:v>
                </c:pt>
                <c:pt idx="80">
                  <c:v>28</c:v>
                </c:pt>
                <c:pt idx="81">
                  <c:v>31</c:v>
                </c:pt>
                <c:pt idx="82">
                  <c:v>15</c:v>
                </c:pt>
                <c:pt idx="83">
                  <c:v>24</c:v>
                </c:pt>
                <c:pt idx="84">
                  <c:v>35</c:v>
                </c:pt>
                <c:pt idx="85">
                  <c:v>30</c:v>
                </c:pt>
                <c:pt idx="86">
                  <c:v>30</c:v>
                </c:pt>
                <c:pt idx="87">
                  <c:v>31</c:v>
                </c:pt>
                <c:pt idx="88">
                  <c:v>12</c:v>
                </c:pt>
                <c:pt idx="89">
                  <c:v>24</c:v>
                </c:pt>
                <c:pt idx="90">
                  <c:v>19</c:v>
                </c:pt>
                <c:pt idx="91">
                  <c:v>24</c:v>
                </c:pt>
                <c:pt idx="92">
                  <c:v>16</c:v>
                </c:pt>
                <c:pt idx="93">
                  <c:v>16</c:v>
                </c:pt>
                <c:pt idx="94">
                  <c:v>14</c:v>
                </c:pt>
                <c:pt idx="95">
                  <c:v>18</c:v>
                </c:pt>
                <c:pt idx="96">
                  <c:v>30</c:v>
                </c:pt>
                <c:pt idx="97">
                  <c:v>23</c:v>
                </c:pt>
                <c:pt idx="98">
                  <c:v>19</c:v>
                </c:pt>
                <c:pt idx="99">
                  <c:v>16</c:v>
                </c:pt>
                <c:pt idx="100">
                  <c:v>27</c:v>
                </c:pt>
                <c:pt idx="101">
                  <c:v>23</c:v>
                </c:pt>
                <c:pt idx="102">
                  <c:v>11</c:v>
                </c:pt>
                <c:pt idx="103">
                  <c:v>10</c:v>
                </c:pt>
                <c:pt idx="104">
                  <c:v>26</c:v>
                </c:pt>
                <c:pt idx="105">
                  <c:v>18</c:v>
                </c:pt>
                <c:pt idx="106">
                  <c:v>14</c:v>
                </c:pt>
                <c:pt idx="107">
                  <c:v>16</c:v>
                </c:pt>
                <c:pt idx="108">
                  <c:v>12</c:v>
                </c:pt>
                <c:pt idx="109">
                  <c:v>12</c:v>
                </c:pt>
                <c:pt idx="110">
                  <c:v>10</c:v>
                </c:pt>
                <c:pt idx="111">
                  <c:v>21</c:v>
                </c:pt>
                <c:pt idx="112">
                  <c:v>14</c:v>
                </c:pt>
                <c:pt idx="113">
                  <c:v>5</c:v>
                </c:pt>
                <c:pt idx="114">
                  <c:v>17</c:v>
                </c:pt>
                <c:pt idx="115">
                  <c:v>10</c:v>
                </c:pt>
                <c:pt idx="116">
                  <c:v>16</c:v>
                </c:pt>
                <c:pt idx="117">
                  <c:v>4</c:v>
                </c:pt>
                <c:pt idx="118">
                  <c:v>8</c:v>
                </c:pt>
                <c:pt idx="119">
                  <c:v>8</c:v>
                </c:pt>
                <c:pt idx="120">
                  <c:v>7</c:v>
                </c:pt>
                <c:pt idx="121">
                  <c:v>21</c:v>
                </c:pt>
                <c:pt idx="122">
                  <c:v>19</c:v>
                </c:pt>
                <c:pt idx="123">
                  <c:v>4</c:v>
                </c:pt>
                <c:pt idx="124">
                  <c:v>16</c:v>
                </c:pt>
                <c:pt idx="125">
                  <c:v>6</c:v>
                </c:pt>
                <c:pt idx="126">
                  <c:v>18</c:v>
                </c:pt>
                <c:pt idx="127">
                  <c:v>5</c:v>
                </c:pt>
                <c:pt idx="128">
                  <c:v>15</c:v>
                </c:pt>
                <c:pt idx="129">
                  <c:v>13</c:v>
                </c:pt>
                <c:pt idx="130">
                  <c:v>9</c:v>
                </c:pt>
                <c:pt idx="131">
                  <c:v>8</c:v>
                </c:pt>
                <c:pt idx="132">
                  <c:v>2</c:v>
                </c:pt>
                <c:pt idx="133">
                  <c:v>10</c:v>
                </c:pt>
                <c:pt idx="134">
                  <c:v>7</c:v>
                </c:pt>
                <c:pt idx="135">
                  <c:v>11</c:v>
                </c:pt>
                <c:pt idx="136">
                  <c:v>12</c:v>
                </c:pt>
                <c:pt idx="137">
                  <c:v>6</c:v>
                </c:pt>
                <c:pt idx="138">
                  <c:v>4</c:v>
                </c:pt>
                <c:pt idx="139">
                  <c:v>5</c:v>
                </c:pt>
                <c:pt idx="140">
                  <c:v>12</c:v>
                </c:pt>
                <c:pt idx="141">
                  <c:v>7</c:v>
                </c:pt>
                <c:pt idx="142">
                  <c:v>6</c:v>
                </c:pt>
                <c:pt idx="143">
                  <c:v>1</c:v>
                </c:pt>
                <c:pt idx="144">
                  <c:v>7</c:v>
                </c:pt>
                <c:pt idx="145">
                  <c:v>7</c:v>
                </c:pt>
                <c:pt idx="146">
                  <c:v>7</c:v>
                </c:pt>
                <c:pt idx="147">
                  <c:v>5</c:v>
                </c:pt>
                <c:pt idx="148">
                  <c:v>7</c:v>
                </c:pt>
                <c:pt idx="149">
                  <c:v>9</c:v>
                </c:pt>
                <c:pt idx="150">
                  <c:v>3</c:v>
                </c:pt>
                <c:pt idx="151">
                  <c:v>8</c:v>
                </c:pt>
                <c:pt idx="152">
                  <c:v>6</c:v>
                </c:pt>
                <c:pt idx="153">
                  <c:v>6</c:v>
                </c:pt>
                <c:pt idx="154">
                  <c:v>3</c:v>
                </c:pt>
                <c:pt idx="155">
                  <c:v>2</c:v>
                </c:pt>
                <c:pt idx="156">
                  <c:v>9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4</c:v>
                </c:pt>
                <c:pt idx="161">
                  <c:v>6</c:v>
                </c:pt>
                <c:pt idx="162">
                  <c:v>5</c:v>
                </c:pt>
                <c:pt idx="163">
                  <c:v>4</c:v>
                </c:pt>
                <c:pt idx="164">
                  <c:v>4</c:v>
                </c:pt>
                <c:pt idx="165">
                  <c:v>1</c:v>
                </c:pt>
                <c:pt idx="166">
                  <c:v>3</c:v>
                </c:pt>
                <c:pt idx="167">
                  <c:v>2</c:v>
                </c:pt>
                <c:pt idx="168">
                  <c:v>4</c:v>
                </c:pt>
                <c:pt idx="169">
                  <c:v>4</c:v>
                </c:pt>
                <c:pt idx="170">
                  <c:v>2</c:v>
                </c:pt>
                <c:pt idx="171">
                  <c:v>6</c:v>
                </c:pt>
                <c:pt idx="172">
                  <c:v>4</c:v>
                </c:pt>
                <c:pt idx="173">
                  <c:v>4</c:v>
                </c:pt>
                <c:pt idx="174">
                  <c:v>3</c:v>
                </c:pt>
                <c:pt idx="175">
                  <c:v>2</c:v>
                </c:pt>
                <c:pt idx="176">
                  <c:v>2</c:v>
                </c:pt>
                <c:pt idx="177">
                  <c:v>1</c:v>
                </c:pt>
                <c:pt idx="178">
                  <c:v>4</c:v>
                </c:pt>
                <c:pt idx="179">
                  <c:v>2</c:v>
                </c:pt>
                <c:pt idx="180">
                  <c:v>2</c:v>
                </c:pt>
                <c:pt idx="181">
                  <c:v>2</c:v>
                </c:pt>
                <c:pt idx="182">
                  <c:v>2</c:v>
                </c:pt>
                <c:pt idx="183">
                  <c:v>4</c:v>
                </c:pt>
                <c:pt idx="184">
                  <c:v>2</c:v>
                </c:pt>
                <c:pt idx="185">
                  <c:v>3</c:v>
                </c:pt>
                <c:pt idx="186">
                  <c:v>5</c:v>
                </c:pt>
                <c:pt idx="187">
                  <c:v>2</c:v>
                </c:pt>
                <c:pt idx="188">
                  <c:v>4</c:v>
                </c:pt>
                <c:pt idx="189">
                  <c:v>1</c:v>
                </c:pt>
                <c:pt idx="190">
                  <c:v>2</c:v>
                </c:pt>
                <c:pt idx="191">
                  <c:v>4</c:v>
                </c:pt>
                <c:pt idx="192">
                  <c:v>6</c:v>
                </c:pt>
                <c:pt idx="193">
                  <c:v>1</c:v>
                </c:pt>
                <c:pt idx="194">
                  <c:v>4</c:v>
                </c:pt>
                <c:pt idx="195">
                  <c:v>5</c:v>
                </c:pt>
                <c:pt idx="196">
                  <c:v>4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  <c:pt idx="200">
                  <c:v>4</c:v>
                </c:pt>
                <c:pt idx="201">
                  <c:v>2</c:v>
                </c:pt>
                <c:pt idx="202">
                  <c:v>4</c:v>
                </c:pt>
                <c:pt idx="203">
                  <c:v>2</c:v>
                </c:pt>
                <c:pt idx="204">
                  <c:v>2</c:v>
                </c:pt>
                <c:pt idx="205">
                  <c:v>2</c:v>
                </c:pt>
                <c:pt idx="206">
                  <c:v>4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지역별취소시점!$H$7</c:f>
              <c:strCache>
                <c:ptCount val="1"/>
                <c:pt idx="0">
                  <c:v>일본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지역별취소시점!$G$8:$G$175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147</c:v>
                </c:pt>
                <c:pt idx="147">
                  <c:v>150</c:v>
                </c:pt>
                <c:pt idx="148">
                  <c:v>153</c:v>
                </c:pt>
                <c:pt idx="149">
                  <c:v>155</c:v>
                </c:pt>
                <c:pt idx="150">
                  <c:v>157</c:v>
                </c:pt>
                <c:pt idx="151">
                  <c:v>161</c:v>
                </c:pt>
                <c:pt idx="152">
                  <c:v>162</c:v>
                </c:pt>
                <c:pt idx="153">
                  <c:v>163</c:v>
                </c:pt>
                <c:pt idx="154">
                  <c:v>166</c:v>
                </c:pt>
                <c:pt idx="155">
                  <c:v>167</c:v>
                </c:pt>
                <c:pt idx="156">
                  <c:v>168</c:v>
                </c:pt>
                <c:pt idx="157">
                  <c:v>169</c:v>
                </c:pt>
                <c:pt idx="158">
                  <c:v>173</c:v>
                </c:pt>
                <c:pt idx="159">
                  <c:v>174</c:v>
                </c:pt>
                <c:pt idx="160">
                  <c:v>176</c:v>
                </c:pt>
                <c:pt idx="161">
                  <c:v>181</c:v>
                </c:pt>
                <c:pt idx="162">
                  <c:v>183</c:v>
                </c:pt>
                <c:pt idx="163">
                  <c:v>188</c:v>
                </c:pt>
                <c:pt idx="164">
                  <c:v>189</c:v>
                </c:pt>
                <c:pt idx="165">
                  <c:v>192</c:v>
                </c:pt>
                <c:pt idx="166">
                  <c:v>196</c:v>
                </c:pt>
                <c:pt idx="167">
                  <c:v>197</c:v>
                </c:pt>
              </c:numCache>
            </c:numRef>
          </c:cat>
          <c:val>
            <c:numRef>
              <c:f>지역별취소시점!$H$8:$H$175</c:f>
              <c:numCache>
                <c:formatCode>General</c:formatCode>
                <c:ptCount val="168"/>
                <c:pt idx="0">
                  <c:v>11</c:v>
                </c:pt>
                <c:pt idx="1">
                  <c:v>83</c:v>
                </c:pt>
                <c:pt idx="2">
                  <c:v>107</c:v>
                </c:pt>
                <c:pt idx="3">
                  <c:v>124</c:v>
                </c:pt>
                <c:pt idx="4">
                  <c:v>148</c:v>
                </c:pt>
                <c:pt idx="5">
                  <c:v>197</c:v>
                </c:pt>
                <c:pt idx="6">
                  <c:v>300</c:v>
                </c:pt>
                <c:pt idx="7">
                  <c:v>329</c:v>
                </c:pt>
                <c:pt idx="8">
                  <c:v>407</c:v>
                </c:pt>
                <c:pt idx="9">
                  <c:v>357</c:v>
                </c:pt>
                <c:pt idx="10">
                  <c:v>352</c:v>
                </c:pt>
                <c:pt idx="11">
                  <c:v>418</c:v>
                </c:pt>
                <c:pt idx="12">
                  <c:v>486</c:v>
                </c:pt>
                <c:pt idx="13">
                  <c:v>503</c:v>
                </c:pt>
                <c:pt idx="14">
                  <c:v>549</c:v>
                </c:pt>
                <c:pt idx="15">
                  <c:v>475</c:v>
                </c:pt>
                <c:pt idx="16">
                  <c:v>409</c:v>
                </c:pt>
                <c:pt idx="17">
                  <c:v>330</c:v>
                </c:pt>
                <c:pt idx="18">
                  <c:v>336</c:v>
                </c:pt>
                <c:pt idx="19">
                  <c:v>303</c:v>
                </c:pt>
                <c:pt idx="20">
                  <c:v>277</c:v>
                </c:pt>
                <c:pt idx="21">
                  <c:v>336</c:v>
                </c:pt>
                <c:pt idx="22">
                  <c:v>268</c:v>
                </c:pt>
                <c:pt idx="23">
                  <c:v>315</c:v>
                </c:pt>
                <c:pt idx="24">
                  <c:v>263</c:v>
                </c:pt>
                <c:pt idx="25">
                  <c:v>224</c:v>
                </c:pt>
                <c:pt idx="26">
                  <c:v>300</c:v>
                </c:pt>
                <c:pt idx="27">
                  <c:v>231</c:v>
                </c:pt>
                <c:pt idx="28">
                  <c:v>198</c:v>
                </c:pt>
                <c:pt idx="29">
                  <c:v>268</c:v>
                </c:pt>
                <c:pt idx="30">
                  <c:v>191</c:v>
                </c:pt>
                <c:pt idx="31">
                  <c:v>187</c:v>
                </c:pt>
                <c:pt idx="32">
                  <c:v>221</c:v>
                </c:pt>
                <c:pt idx="33">
                  <c:v>212</c:v>
                </c:pt>
                <c:pt idx="34">
                  <c:v>219</c:v>
                </c:pt>
                <c:pt idx="35">
                  <c:v>185</c:v>
                </c:pt>
                <c:pt idx="36">
                  <c:v>192</c:v>
                </c:pt>
                <c:pt idx="37">
                  <c:v>178</c:v>
                </c:pt>
                <c:pt idx="38">
                  <c:v>146</c:v>
                </c:pt>
                <c:pt idx="39">
                  <c:v>134</c:v>
                </c:pt>
                <c:pt idx="40">
                  <c:v>175</c:v>
                </c:pt>
                <c:pt idx="41">
                  <c:v>127</c:v>
                </c:pt>
                <c:pt idx="42">
                  <c:v>126</c:v>
                </c:pt>
                <c:pt idx="43">
                  <c:v>103</c:v>
                </c:pt>
                <c:pt idx="44">
                  <c:v>156</c:v>
                </c:pt>
                <c:pt idx="45">
                  <c:v>171</c:v>
                </c:pt>
                <c:pt idx="46">
                  <c:v>116</c:v>
                </c:pt>
                <c:pt idx="47">
                  <c:v>113</c:v>
                </c:pt>
                <c:pt idx="48">
                  <c:v>141</c:v>
                </c:pt>
                <c:pt idx="49">
                  <c:v>125</c:v>
                </c:pt>
                <c:pt idx="50">
                  <c:v>92</c:v>
                </c:pt>
                <c:pt idx="51">
                  <c:v>73</c:v>
                </c:pt>
                <c:pt idx="52">
                  <c:v>94</c:v>
                </c:pt>
                <c:pt idx="53">
                  <c:v>112</c:v>
                </c:pt>
                <c:pt idx="54">
                  <c:v>62</c:v>
                </c:pt>
                <c:pt idx="55">
                  <c:v>96</c:v>
                </c:pt>
                <c:pt idx="56">
                  <c:v>88</c:v>
                </c:pt>
                <c:pt idx="57">
                  <c:v>87</c:v>
                </c:pt>
                <c:pt idx="58">
                  <c:v>73</c:v>
                </c:pt>
                <c:pt idx="59">
                  <c:v>73</c:v>
                </c:pt>
                <c:pt idx="60">
                  <c:v>61</c:v>
                </c:pt>
                <c:pt idx="61">
                  <c:v>39</c:v>
                </c:pt>
                <c:pt idx="62">
                  <c:v>67</c:v>
                </c:pt>
                <c:pt idx="63">
                  <c:v>30</c:v>
                </c:pt>
                <c:pt idx="64">
                  <c:v>83</c:v>
                </c:pt>
                <c:pt idx="65">
                  <c:v>67</c:v>
                </c:pt>
                <c:pt idx="66">
                  <c:v>53</c:v>
                </c:pt>
                <c:pt idx="67">
                  <c:v>28</c:v>
                </c:pt>
                <c:pt idx="68">
                  <c:v>47</c:v>
                </c:pt>
                <c:pt idx="69">
                  <c:v>41</c:v>
                </c:pt>
                <c:pt idx="70">
                  <c:v>32</c:v>
                </c:pt>
                <c:pt idx="71">
                  <c:v>31</c:v>
                </c:pt>
                <c:pt idx="72">
                  <c:v>61</c:v>
                </c:pt>
                <c:pt idx="73">
                  <c:v>24</c:v>
                </c:pt>
                <c:pt idx="74">
                  <c:v>24</c:v>
                </c:pt>
                <c:pt idx="75">
                  <c:v>41</c:v>
                </c:pt>
                <c:pt idx="76">
                  <c:v>23</c:v>
                </c:pt>
                <c:pt idx="77">
                  <c:v>20</c:v>
                </c:pt>
                <c:pt idx="78">
                  <c:v>42</c:v>
                </c:pt>
                <c:pt idx="79">
                  <c:v>35</c:v>
                </c:pt>
                <c:pt idx="80">
                  <c:v>16</c:v>
                </c:pt>
                <c:pt idx="81">
                  <c:v>24</c:v>
                </c:pt>
                <c:pt idx="82">
                  <c:v>25</c:v>
                </c:pt>
                <c:pt idx="83">
                  <c:v>19</c:v>
                </c:pt>
                <c:pt idx="84">
                  <c:v>32</c:v>
                </c:pt>
                <c:pt idx="85">
                  <c:v>21</c:v>
                </c:pt>
                <c:pt idx="86">
                  <c:v>34</c:v>
                </c:pt>
                <c:pt idx="87">
                  <c:v>27</c:v>
                </c:pt>
                <c:pt idx="88">
                  <c:v>27</c:v>
                </c:pt>
                <c:pt idx="89">
                  <c:v>15</c:v>
                </c:pt>
                <c:pt idx="90">
                  <c:v>33</c:v>
                </c:pt>
                <c:pt idx="91">
                  <c:v>13</c:v>
                </c:pt>
                <c:pt idx="92">
                  <c:v>24</c:v>
                </c:pt>
                <c:pt idx="93">
                  <c:v>14</c:v>
                </c:pt>
                <c:pt idx="94">
                  <c:v>16</c:v>
                </c:pt>
                <c:pt idx="95">
                  <c:v>12</c:v>
                </c:pt>
                <c:pt idx="96">
                  <c:v>12</c:v>
                </c:pt>
                <c:pt idx="97">
                  <c:v>23</c:v>
                </c:pt>
                <c:pt idx="98">
                  <c:v>10</c:v>
                </c:pt>
                <c:pt idx="99">
                  <c:v>11</c:v>
                </c:pt>
                <c:pt idx="100">
                  <c:v>9</c:v>
                </c:pt>
                <c:pt idx="101">
                  <c:v>12</c:v>
                </c:pt>
                <c:pt idx="102">
                  <c:v>10</c:v>
                </c:pt>
                <c:pt idx="103">
                  <c:v>13</c:v>
                </c:pt>
                <c:pt idx="104">
                  <c:v>29</c:v>
                </c:pt>
                <c:pt idx="105">
                  <c:v>12</c:v>
                </c:pt>
                <c:pt idx="106">
                  <c:v>11</c:v>
                </c:pt>
                <c:pt idx="107">
                  <c:v>13</c:v>
                </c:pt>
                <c:pt idx="108">
                  <c:v>21</c:v>
                </c:pt>
                <c:pt idx="109">
                  <c:v>11</c:v>
                </c:pt>
                <c:pt idx="110">
                  <c:v>11</c:v>
                </c:pt>
                <c:pt idx="111">
                  <c:v>7</c:v>
                </c:pt>
                <c:pt idx="112">
                  <c:v>14</c:v>
                </c:pt>
                <c:pt idx="113">
                  <c:v>16</c:v>
                </c:pt>
                <c:pt idx="114">
                  <c:v>9</c:v>
                </c:pt>
                <c:pt idx="115">
                  <c:v>8</c:v>
                </c:pt>
                <c:pt idx="116">
                  <c:v>2</c:v>
                </c:pt>
                <c:pt idx="117">
                  <c:v>5</c:v>
                </c:pt>
                <c:pt idx="118">
                  <c:v>6</c:v>
                </c:pt>
                <c:pt idx="119">
                  <c:v>4</c:v>
                </c:pt>
                <c:pt idx="120">
                  <c:v>8</c:v>
                </c:pt>
                <c:pt idx="121">
                  <c:v>9</c:v>
                </c:pt>
                <c:pt idx="122">
                  <c:v>13</c:v>
                </c:pt>
                <c:pt idx="123">
                  <c:v>2</c:v>
                </c:pt>
                <c:pt idx="124">
                  <c:v>5</c:v>
                </c:pt>
                <c:pt idx="125">
                  <c:v>6</c:v>
                </c:pt>
                <c:pt idx="126">
                  <c:v>8</c:v>
                </c:pt>
                <c:pt idx="127">
                  <c:v>2</c:v>
                </c:pt>
                <c:pt idx="128">
                  <c:v>4</c:v>
                </c:pt>
                <c:pt idx="129">
                  <c:v>1</c:v>
                </c:pt>
                <c:pt idx="130">
                  <c:v>5</c:v>
                </c:pt>
                <c:pt idx="131">
                  <c:v>9</c:v>
                </c:pt>
                <c:pt idx="132">
                  <c:v>1</c:v>
                </c:pt>
                <c:pt idx="133">
                  <c:v>4</c:v>
                </c:pt>
                <c:pt idx="134">
                  <c:v>3</c:v>
                </c:pt>
                <c:pt idx="135">
                  <c:v>5</c:v>
                </c:pt>
                <c:pt idx="136">
                  <c:v>6</c:v>
                </c:pt>
                <c:pt idx="137">
                  <c:v>2</c:v>
                </c:pt>
                <c:pt idx="138">
                  <c:v>2</c:v>
                </c:pt>
                <c:pt idx="139">
                  <c:v>5</c:v>
                </c:pt>
                <c:pt idx="140">
                  <c:v>7</c:v>
                </c:pt>
                <c:pt idx="141">
                  <c:v>4</c:v>
                </c:pt>
                <c:pt idx="142">
                  <c:v>8</c:v>
                </c:pt>
                <c:pt idx="143">
                  <c:v>4</c:v>
                </c:pt>
                <c:pt idx="144">
                  <c:v>4</c:v>
                </c:pt>
                <c:pt idx="145">
                  <c:v>1</c:v>
                </c:pt>
                <c:pt idx="146">
                  <c:v>8</c:v>
                </c:pt>
                <c:pt idx="147">
                  <c:v>8</c:v>
                </c:pt>
                <c:pt idx="148">
                  <c:v>2</c:v>
                </c:pt>
                <c:pt idx="149">
                  <c:v>4</c:v>
                </c:pt>
                <c:pt idx="150">
                  <c:v>2</c:v>
                </c:pt>
                <c:pt idx="151">
                  <c:v>4</c:v>
                </c:pt>
                <c:pt idx="152">
                  <c:v>5</c:v>
                </c:pt>
                <c:pt idx="153">
                  <c:v>6</c:v>
                </c:pt>
                <c:pt idx="154">
                  <c:v>2</c:v>
                </c:pt>
                <c:pt idx="155">
                  <c:v>2</c:v>
                </c:pt>
                <c:pt idx="156">
                  <c:v>1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4</c:v>
                </c:pt>
                <c:pt idx="161">
                  <c:v>2</c:v>
                </c:pt>
                <c:pt idx="162">
                  <c:v>1</c:v>
                </c:pt>
                <c:pt idx="163">
                  <c:v>2</c:v>
                </c:pt>
                <c:pt idx="164">
                  <c:v>1</c:v>
                </c:pt>
                <c:pt idx="165">
                  <c:v>2</c:v>
                </c:pt>
                <c:pt idx="166">
                  <c:v>1</c:v>
                </c:pt>
                <c:pt idx="167">
                  <c:v>1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지역별취소시점!$P$7</c:f>
              <c:strCache>
                <c:ptCount val="1"/>
                <c:pt idx="0">
                  <c:v>동남아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지역별취소시점!$O$8:$O$231</c:f>
              <c:numCache>
                <c:formatCode>General</c:formatCode>
                <c:ptCount val="2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206</c:v>
                </c:pt>
                <c:pt idx="205">
                  <c:v>207</c:v>
                </c:pt>
                <c:pt idx="206">
                  <c:v>208</c:v>
                </c:pt>
                <c:pt idx="207">
                  <c:v>210</c:v>
                </c:pt>
                <c:pt idx="208">
                  <c:v>211</c:v>
                </c:pt>
                <c:pt idx="209">
                  <c:v>212</c:v>
                </c:pt>
                <c:pt idx="210">
                  <c:v>215</c:v>
                </c:pt>
                <c:pt idx="211">
                  <c:v>216</c:v>
                </c:pt>
                <c:pt idx="212">
                  <c:v>219</c:v>
                </c:pt>
                <c:pt idx="213">
                  <c:v>221</c:v>
                </c:pt>
                <c:pt idx="214">
                  <c:v>223</c:v>
                </c:pt>
                <c:pt idx="215">
                  <c:v>224</c:v>
                </c:pt>
                <c:pt idx="216">
                  <c:v>225</c:v>
                </c:pt>
                <c:pt idx="217">
                  <c:v>227</c:v>
                </c:pt>
                <c:pt idx="218">
                  <c:v>231</c:v>
                </c:pt>
                <c:pt idx="219">
                  <c:v>236</c:v>
                </c:pt>
                <c:pt idx="220">
                  <c:v>239</c:v>
                </c:pt>
                <c:pt idx="221">
                  <c:v>254</c:v>
                </c:pt>
                <c:pt idx="222">
                  <c:v>256</c:v>
                </c:pt>
                <c:pt idx="223">
                  <c:v>273</c:v>
                </c:pt>
              </c:numCache>
            </c:numRef>
          </c:cat>
          <c:val>
            <c:numRef>
              <c:f>지역별취소시점!$P$8:$P$231</c:f>
              <c:numCache>
                <c:formatCode>General</c:formatCode>
                <c:ptCount val="224"/>
                <c:pt idx="0">
                  <c:v>103</c:v>
                </c:pt>
                <c:pt idx="1">
                  <c:v>337</c:v>
                </c:pt>
                <c:pt idx="2">
                  <c:v>478</c:v>
                </c:pt>
                <c:pt idx="3">
                  <c:v>633</c:v>
                </c:pt>
                <c:pt idx="4">
                  <c:v>790</c:v>
                </c:pt>
                <c:pt idx="5">
                  <c:v>877</c:v>
                </c:pt>
                <c:pt idx="6">
                  <c:v>900</c:v>
                </c:pt>
                <c:pt idx="7">
                  <c:v>1141</c:v>
                </c:pt>
                <c:pt idx="8">
                  <c:v>1297</c:v>
                </c:pt>
                <c:pt idx="9">
                  <c:v>1197</c:v>
                </c:pt>
                <c:pt idx="10">
                  <c:v>1296</c:v>
                </c:pt>
                <c:pt idx="11">
                  <c:v>1158</c:v>
                </c:pt>
                <c:pt idx="12">
                  <c:v>1136</c:v>
                </c:pt>
                <c:pt idx="13">
                  <c:v>1041</c:v>
                </c:pt>
                <c:pt idx="14">
                  <c:v>1167</c:v>
                </c:pt>
                <c:pt idx="15">
                  <c:v>1178</c:v>
                </c:pt>
                <c:pt idx="16">
                  <c:v>1211</c:v>
                </c:pt>
                <c:pt idx="17">
                  <c:v>1188</c:v>
                </c:pt>
                <c:pt idx="18">
                  <c:v>1042</c:v>
                </c:pt>
                <c:pt idx="19">
                  <c:v>956</c:v>
                </c:pt>
                <c:pt idx="20">
                  <c:v>870</c:v>
                </c:pt>
                <c:pt idx="21">
                  <c:v>889</c:v>
                </c:pt>
                <c:pt idx="22">
                  <c:v>920</c:v>
                </c:pt>
                <c:pt idx="23">
                  <c:v>927</c:v>
                </c:pt>
                <c:pt idx="24">
                  <c:v>783</c:v>
                </c:pt>
                <c:pt idx="25">
                  <c:v>772</c:v>
                </c:pt>
                <c:pt idx="26">
                  <c:v>800</c:v>
                </c:pt>
                <c:pt idx="27">
                  <c:v>819</c:v>
                </c:pt>
                <c:pt idx="28">
                  <c:v>698</c:v>
                </c:pt>
                <c:pt idx="29">
                  <c:v>807</c:v>
                </c:pt>
                <c:pt idx="30">
                  <c:v>811</c:v>
                </c:pt>
                <c:pt idx="31">
                  <c:v>787</c:v>
                </c:pt>
                <c:pt idx="32">
                  <c:v>737</c:v>
                </c:pt>
                <c:pt idx="33">
                  <c:v>764</c:v>
                </c:pt>
                <c:pt idx="34">
                  <c:v>674</c:v>
                </c:pt>
                <c:pt idx="35">
                  <c:v>714</c:v>
                </c:pt>
                <c:pt idx="36">
                  <c:v>640</c:v>
                </c:pt>
                <c:pt idx="37">
                  <c:v>678</c:v>
                </c:pt>
                <c:pt idx="38">
                  <c:v>722</c:v>
                </c:pt>
                <c:pt idx="39">
                  <c:v>557</c:v>
                </c:pt>
                <c:pt idx="40">
                  <c:v>501</c:v>
                </c:pt>
                <c:pt idx="41">
                  <c:v>476</c:v>
                </c:pt>
                <c:pt idx="42">
                  <c:v>481</c:v>
                </c:pt>
                <c:pt idx="43">
                  <c:v>523</c:v>
                </c:pt>
                <c:pt idx="44">
                  <c:v>596</c:v>
                </c:pt>
                <c:pt idx="45">
                  <c:v>446</c:v>
                </c:pt>
                <c:pt idx="46">
                  <c:v>451</c:v>
                </c:pt>
                <c:pt idx="47">
                  <c:v>436</c:v>
                </c:pt>
                <c:pt idx="48">
                  <c:v>335</c:v>
                </c:pt>
                <c:pt idx="49">
                  <c:v>381</c:v>
                </c:pt>
                <c:pt idx="50">
                  <c:v>443</c:v>
                </c:pt>
                <c:pt idx="51">
                  <c:v>376</c:v>
                </c:pt>
                <c:pt idx="52">
                  <c:v>342</c:v>
                </c:pt>
                <c:pt idx="53">
                  <c:v>349</c:v>
                </c:pt>
                <c:pt idx="54">
                  <c:v>329</c:v>
                </c:pt>
                <c:pt idx="55">
                  <c:v>306</c:v>
                </c:pt>
                <c:pt idx="56">
                  <c:v>271</c:v>
                </c:pt>
                <c:pt idx="57">
                  <c:v>303</c:v>
                </c:pt>
                <c:pt idx="58">
                  <c:v>399</c:v>
                </c:pt>
                <c:pt idx="59">
                  <c:v>284</c:v>
                </c:pt>
                <c:pt idx="60">
                  <c:v>299</c:v>
                </c:pt>
                <c:pt idx="61">
                  <c:v>253</c:v>
                </c:pt>
                <c:pt idx="62">
                  <c:v>267</c:v>
                </c:pt>
                <c:pt idx="63">
                  <c:v>247</c:v>
                </c:pt>
                <c:pt idx="64">
                  <c:v>258</c:v>
                </c:pt>
                <c:pt idx="65">
                  <c:v>298</c:v>
                </c:pt>
                <c:pt idx="66">
                  <c:v>310</c:v>
                </c:pt>
                <c:pt idx="67">
                  <c:v>249</c:v>
                </c:pt>
                <c:pt idx="68">
                  <c:v>240</c:v>
                </c:pt>
                <c:pt idx="69">
                  <c:v>218</c:v>
                </c:pt>
                <c:pt idx="70">
                  <c:v>216</c:v>
                </c:pt>
                <c:pt idx="71">
                  <c:v>237</c:v>
                </c:pt>
                <c:pt idx="72">
                  <c:v>231</c:v>
                </c:pt>
                <c:pt idx="73">
                  <c:v>226</c:v>
                </c:pt>
                <c:pt idx="74">
                  <c:v>203</c:v>
                </c:pt>
                <c:pt idx="75">
                  <c:v>169</c:v>
                </c:pt>
                <c:pt idx="76">
                  <c:v>170</c:v>
                </c:pt>
                <c:pt idx="77">
                  <c:v>176</c:v>
                </c:pt>
                <c:pt idx="78">
                  <c:v>196</c:v>
                </c:pt>
                <c:pt idx="79">
                  <c:v>168</c:v>
                </c:pt>
                <c:pt idx="80">
                  <c:v>143</c:v>
                </c:pt>
                <c:pt idx="81">
                  <c:v>120</c:v>
                </c:pt>
                <c:pt idx="82">
                  <c:v>155</c:v>
                </c:pt>
                <c:pt idx="83">
                  <c:v>159</c:v>
                </c:pt>
                <c:pt idx="84">
                  <c:v>138</c:v>
                </c:pt>
                <c:pt idx="85">
                  <c:v>119</c:v>
                </c:pt>
                <c:pt idx="86">
                  <c:v>178</c:v>
                </c:pt>
                <c:pt idx="87">
                  <c:v>185</c:v>
                </c:pt>
                <c:pt idx="88">
                  <c:v>117</c:v>
                </c:pt>
                <c:pt idx="89">
                  <c:v>152</c:v>
                </c:pt>
                <c:pt idx="90">
                  <c:v>103</c:v>
                </c:pt>
                <c:pt idx="91">
                  <c:v>139</c:v>
                </c:pt>
                <c:pt idx="92">
                  <c:v>132</c:v>
                </c:pt>
                <c:pt idx="93">
                  <c:v>179</c:v>
                </c:pt>
                <c:pt idx="94">
                  <c:v>92</c:v>
                </c:pt>
                <c:pt idx="95">
                  <c:v>100</c:v>
                </c:pt>
                <c:pt idx="96">
                  <c:v>97</c:v>
                </c:pt>
                <c:pt idx="97">
                  <c:v>112</c:v>
                </c:pt>
                <c:pt idx="98">
                  <c:v>114</c:v>
                </c:pt>
                <c:pt idx="99">
                  <c:v>96</c:v>
                </c:pt>
                <c:pt idx="100">
                  <c:v>81</c:v>
                </c:pt>
                <c:pt idx="101">
                  <c:v>110</c:v>
                </c:pt>
                <c:pt idx="102">
                  <c:v>70</c:v>
                </c:pt>
                <c:pt idx="103">
                  <c:v>96</c:v>
                </c:pt>
                <c:pt idx="104">
                  <c:v>72</c:v>
                </c:pt>
                <c:pt idx="105">
                  <c:v>75</c:v>
                </c:pt>
                <c:pt idx="106">
                  <c:v>70</c:v>
                </c:pt>
                <c:pt idx="107">
                  <c:v>80</c:v>
                </c:pt>
                <c:pt idx="108">
                  <c:v>81</c:v>
                </c:pt>
                <c:pt idx="109">
                  <c:v>72</c:v>
                </c:pt>
                <c:pt idx="110">
                  <c:v>101</c:v>
                </c:pt>
                <c:pt idx="111">
                  <c:v>70</c:v>
                </c:pt>
                <c:pt idx="112">
                  <c:v>56</c:v>
                </c:pt>
                <c:pt idx="113">
                  <c:v>52</c:v>
                </c:pt>
                <c:pt idx="114">
                  <c:v>111</c:v>
                </c:pt>
                <c:pt idx="115">
                  <c:v>73</c:v>
                </c:pt>
                <c:pt idx="116">
                  <c:v>64</c:v>
                </c:pt>
                <c:pt idx="117">
                  <c:v>76</c:v>
                </c:pt>
                <c:pt idx="118">
                  <c:v>46</c:v>
                </c:pt>
                <c:pt idx="119">
                  <c:v>55</c:v>
                </c:pt>
                <c:pt idx="120">
                  <c:v>71</c:v>
                </c:pt>
                <c:pt idx="121">
                  <c:v>54</c:v>
                </c:pt>
                <c:pt idx="122">
                  <c:v>85</c:v>
                </c:pt>
                <c:pt idx="123">
                  <c:v>45</c:v>
                </c:pt>
                <c:pt idx="124">
                  <c:v>65</c:v>
                </c:pt>
                <c:pt idx="125">
                  <c:v>52</c:v>
                </c:pt>
                <c:pt idx="126">
                  <c:v>49</c:v>
                </c:pt>
                <c:pt idx="127">
                  <c:v>66</c:v>
                </c:pt>
                <c:pt idx="128">
                  <c:v>57</c:v>
                </c:pt>
                <c:pt idx="129">
                  <c:v>43</c:v>
                </c:pt>
                <c:pt idx="130">
                  <c:v>36</c:v>
                </c:pt>
                <c:pt idx="131">
                  <c:v>37</c:v>
                </c:pt>
                <c:pt idx="132">
                  <c:v>38</c:v>
                </c:pt>
                <c:pt idx="133">
                  <c:v>46</c:v>
                </c:pt>
                <c:pt idx="134">
                  <c:v>53</c:v>
                </c:pt>
                <c:pt idx="135">
                  <c:v>52</c:v>
                </c:pt>
                <c:pt idx="136">
                  <c:v>47</c:v>
                </c:pt>
                <c:pt idx="137">
                  <c:v>26</c:v>
                </c:pt>
                <c:pt idx="138">
                  <c:v>36</c:v>
                </c:pt>
                <c:pt idx="139">
                  <c:v>18</c:v>
                </c:pt>
                <c:pt idx="140">
                  <c:v>50</c:v>
                </c:pt>
                <c:pt idx="141">
                  <c:v>38</c:v>
                </c:pt>
                <c:pt idx="142">
                  <c:v>37</c:v>
                </c:pt>
                <c:pt idx="143">
                  <c:v>46</c:v>
                </c:pt>
                <c:pt idx="144">
                  <c:v>28</c:v>
                </c:pt>
                <c:pt idx="145">
                  <c:v>26</c:v>
                </c:pt>
                <c:pt idx="146">
                  <c:v>36</c:v>
                </c:pt>
                <c:pt idx="147">
                  <c:v>40</c:v>
                </c:pt>
                <c:pt idx="148">
                  <c:v>26</c:v>
                </c:pt>
                <c:pt idx="149">
                  <c:v>30</c:v>
                </c:pt>
                <c:pt idx="150">
                  <c:v>31</c:v>
                </c:pt>
                <c:pt idx="151">
                  <c:v>21</c:v>
                </c:pt>
                <c:pt idx="152">
                  <c:v>27</c:v>
                </c:pt>
                <c:pt idx="153">
                  <c:v>43</c:v>
                </c:pt>
                <c:pt idx="154">
                  <c:v>30</c:v>
                </c:pt>
                <c:pt idx="155">
                  <c:v>18</c:v>
                </c:pt>
                <c:pt idx="156">
                  <c:v>19</c:v>
                </c:pt>
                <c:pt idx="157">
                  <c:v>24</c:v>
                </c:pt>
                <c:pt idx="158">
                  <c:v>13</c:v>
                </c:pt>
                <c:pt idx="159">
                  <c:v>31</c:v>
                </c:pt>
                <c:pt idx="160">
                  <c:v>13</c:v>
                </c:pt>
                <c:pt idx="161">
                  <c:v>11</c:v>
                </c:pt>
                <c:pt idx="162">
                  <c:v>13</c:v>
                </c:pt>
                <c:pt idx="163">
                  <c:v>19</c:v>
                </c:pt>
                <c:pt idx="164">
                  <c:v>21</c:v>
                </c:pt>
                <c:pt idx="165">
                  <c:v>4</c:v>
                </c:pt>
                <c:pt idx="166">
                  <c:v>6</c:v>
                </c:pt>
                <c:pt idx="167">
                  <c:v>19</c:v>
                </c:pt>
                <c:pt idx="168">
                  <c:v>19</c:v>
                </c:pt>
                <c:pt idx="169">
                  <c:v>26</c:v>
                </c:pt>
                <c:pt idx="170">
                  <c:v>17</c:v>
                </c:pt>
                <c:pt idx="171">
                  <c:v>8</c:v>
                </c:pt>
                <c:pt idx="172">
                  <c:v>11</c:v>
                </c:pt>
                <c:pt idx="173">
                  <c:v>22</c:v>
                </c:pt>
                <c:pt idx="174">
                  <c:v>4</c:v>
                </c:pt>
                <c:pt idx="175">
                  <c:v>24</c:v>
                </c:pt>
                <c:pt idx="176">
                  <c:v>20</c:v>
                </c:pt>
                <c:pt idx="177">
                  <c:v>2</c:v>
                </c:pt>
                <c:pt idx="178">
                  <c:v>11</c:v>
                </c:pt>
                <c:pt idx="179">
                  <c:v>7</c:v>
                </c:pt>
                <c:pt idx="180">
                  <c:v>10</c:v>
                </c:pt>
                <c:pt idx="181">
                  <c:v>6</c:v>
                </c:pt>
                <c:pt idx="182">
                  <c:v>14</c:v>
                </c:pt>
                <c:pt idx="183">
                  <c:v>13</c:v>
                </c:pt>
                <c:pt idx="184">
                  <c:v>4</c:v>
                </c:pt>
                <c:pt idx="185">
                  <c:v>12</c:v>
                </c:pt>
                <c:pt idx="186">
                  <c:v>2</c:v>
                </c:pt>
                <c:pt idx="187">
                  <c:v>5</c:v>
                </c:pt>
                <c:pt idx="188">
                  <c:v>3</c:v>
                </c:pt>
                <c:pt idx="189">
                  <c:v>2</c:v>
                </c:pt>
                <c:pt idx="190">
                  <c:v>7</c:v>
                </c:pt>
                <c:pt idx="191">
                  <c:v>1</c:v>
                </c:pt>
                <c:pt idx="192">
                  <c:v>5</c:v>
                </c:pt>
                <c:pt idx="193">
                  <c:v>4</c:v>
                </c:pt>
                <c:pt idx="194">
                  <c:v>4</c:v>
                </c:pt>
                <c:pt idx="195">
                  <c:v>7</c:v>
                </c:pt>
                <c:pt idx="196">
                  <c:v>13</c:v>
                </c:pt>
                <c:pt idx="197">
                  <c:v>2</c:v>
                </c:pt>
                <c:pt idx="198">
                  <c:v>7</c:v>
                </c:pt>
                <c:pt idx="199">
                  <c:v>10</c:v>
                </c:pt>
                <c:pt idx="200">
                  <c:v>9</c:v>
                </c:pt>
                <c:pt idx="201">
                  <c:v>6</c:v>
                </c:pt>
                <c:pt idx="202">
                  <c:v>8</c:v>
                </c:pt>
                <c:pt idx="203">
                  <c:v>5</c:v>
                </c:pt>
                <c:pt idx="204">
                  <c:v>2</c:v>
                </c:pt>
                <c:pt idx="205">
                  <c:v>2</c:v>
                </c:pt>
                <c:pt idx="206">
                  <c:v>4</c:v>
                </c:pt>
                <c:pt idx="207">
                  <c:v>3</c:v>
                </c:pt>
                <c:pt idx="208">
                  <c:v>2</c:v>
                </c:pt>
                <c:pt idx="209">
                  <c:v>8</c:v>
                </c:pt>
                <c:pt idx="210">
                  <c:v>3</c:v>
                </c:pt>
                <c:pt idx="211">
                  <c:v>1</c:v>
                </c:pt>
                <c:pt idx="212">
                  <c:v>4</c:v>
                </c:pt>
                <c:pt idx="213">
                  <c:v>2</c:v>
                </c:pt>
                <c:pt idx="214">
                  <c:v>2</c:v>
                </c:pt>
                <c:pt idx="215">
                  <c:v>2</c:v>
                </c:pt>
                <c:pt idx="216">
                  <c:v>2</c:v>
                </c:pt>
                <c:pt idx="217">
                  <c:v>2</c:v>
                </c:pt>
                <c:pt idx="218">
                  <c:v>2</c:v>
                </c:pt>
                <c:pt idx="219">
                  <c:v>1</c:v>
                </c:pt>
                <c:pt idx="220">
                  <c:v>2</c:v>
                </c:pt>
                <c:pt idx="221">
                  <c:v>1</c:v>
                </c:pt>
                <c:pt idx="222">
                  <c:v>2</c:v>
                </c:pt>
                <c:pt idx="223">
                  <c:v>2</c:v>
                </c:pt>
              </c:numCache>
            </c:numRef>
          </c:val>
          <c:smooth val="0"/>
        </c:ser>
        <c:ser>
          <c:idx val="0"/>
          <c:order val="3"/>
          <c:tx>
            <c:strRef>
              <c:f>지역별취소시점!$D$7</c:f>
              <c:strCache>
                <c:ptCount val="1"/>
                <c:pt idx="0">
                  <c:v>유럽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지역별취소시점!$C$8:$C$296</c:f>
              <c:numCache>
                <c:formatCode>General</c:formatCode>
                <c:ptCount val="28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268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273</c:v>
                </c:pt>
                <c:pt idx="272">
                  <c:v>274</c:v>
                </c:pt>
                <c:pt idx="273">
                  <c:v>275</c:v>
                </c:pt>
                <c:pt idx="274">
                  <c:v>276</c:v>
                </c:pt>
                <c:pt idx="275">
                  <c:v>278</c:v>
                </c:pt>
                <c:pt idx="276">
                  <c:v>279</c:v>
                </c:pt>
                <c:pt idx="277">
                  <c:v>280</c:v>
                </c:pt>
                <c:pt idx="278">
                  <c:v>281</c:v>
                </c:pt>
                <c:pt idx="279">
                  <c:v>282</c:v>
                </c:pt>
                <c:pt idx="280">
                  <c:v>283</c:v>
                </c:pt>
                <c:pt idx="281">
                  <c:v>285</c:v>
                </c:pt>
                <c:pt idx="282">
                  <c:v>287</c:v>
                </c:pt>
                <c:pt idx="283">
                  <c:v>289</c:v>
                </c:pt>
                <c:pt idx="284">
                  <c:v>290</c:v>
                </c:pt>
                <c:pt idx="285">
                  <c:v>293</c:v>
                </c:pt>
                <c:pt idx="286">
                  <c:v>295</c:v>
                </c:pt>
                <c:pt idx="287">
                  <c:v>296</c:v>
                </c:pt>
                <c:pt idx="288">
                  <c:v>299</c:v>
                </c:pt>
              </c:numCache>
            </c:numRef>
          </c:cat>
          <c:val>
            <c:numRef>
              <c:f>지역별취소시점!$D$8:$D$296</c:f>
              <c:numCache>
                <c:formatCode>General</c:formatCode>
                <c:ptCount val="289"/>
                <c:pt idx="0">
                  <c:v>30</c:v>
                </c:pt>
                <c:pt idx="1">
                  <c:v>143</c:v>
                </c:pt>
                <c:pt idx="2">
                  <c:v>210</c:v>
                </c:pt>
                <c:pt idx="3">
                  <c:v>256</c:v>
                </c:pt>
                <c:pt idx="4">
                  <c:v>370</c:v>
                </c:pt>
                <c:pt idx="5">
                  <c:v>479</c:v>
                </c:pt>
                <c:pt idx="6">
                  <c:v>592</c:v>
                </c:pt>
                <c:pt idx="7">
                  <c:v>914</c:v>
                </c:pt>
                <c:pt idx="8">
                  <c:v>1061</c:v>
                </c:pt>
                <c:pt idx="9">
                  <c:v>1320</c:v>
                </c:pt>
                <c:pt idx="10">
                  <c:v>1261</c:v>
                </c:pt>
                <c:pt idx="11">
                  <c:v>1245</c:v>
                </c:pt>
                <c:pt idx="12">
                  <c:v>1198</c:v>
                </c:pt>
                <c:pt idx="13">
                  <c:v>1317</c:v>
                </c:pt>
                <c:pt idx="14">
                  <c:v>1220</c:v>
                </c:pt>
                <c:pt idx="15">
                  <c:v>1146</c:v>
                </c:pt>
                <c:pt idx="16">
                  <c:v>1111</c:v>
                </c:pt>
                <c:pt idx="17">
                  <c:v>771</c:v>
                </c:pt>
                <c:pt idx="18">
                  <c:v>723</c:v>
                </c:pt>
                <c:pt idx="19">
                  <c:v>705</c:v>
                </c:pt>
                <c:pt idx="20">
                  <c:v>635</c:v>
                </c:pt>
                <c:pt idx="21">
                  <c:v>586</c:v>
                </c:pt>
                <c:pt idx="22">
                  <c:v>631</c:v>
                </c:pt>
                <c:pt idx="23">
                  <c:v>567</c:v>
                </c:pt>
                <c:pt idx="24">
                  <c:v>512</c:v>
                </c:pt>
                <c:pt idx="25">
                  <c:v>458</c:v>
                </c:pt>
                <c:pt idx="26">
                  <c:v>462</c:v>
                </c:pt>
                <c:pt idx="27">
                  <c:v>501</c:v>
                </c:pt>
                <c:pt idx="28">
                  <c:v>452</c:v>
                </c:pt>
                <c:pt idx="29">
                  <c:v>558</c:v>
                </c:pt>
                <c:pt idx="30">
                  <c:v>662</c:v>
                </c:pt>
                <c:pt idx="31">
                  <c:v>669</c:v>
                </c:pt>
                <c:pt idx="32">
                  <c:v>678</c:v>
                </c:pt>
                <c:pt idx="33">
                  <c:v>594</c:v>
                </c:pt>
                <c:pt idx="34">
                  <c:v>616</c:v>
                </c:pt>
                <c:pt idx="35">
                  <c:v>458</c:v>
                </c:pt>
                <c:pt idx="36">
                  <c:v>563</c:v>
                </c:pt>
                <c:pt idx="37">
                  <c:v>514</c:v>
                </c:pt>
                <c:pt idx="38">
                  <c:v>486</c:v>
                </c:pt>
                <c:pt idx="39">
                  <c:v>497</c:v>
                </c:pt>
                <c:pt idx="40">
                  <c:v>500</c:v>
                </c:pt>
                <c:pt idx="41">
                  <c:v>440</c:v>
                </c:pt>
                <c:pt idx="42">
                  <c:v>454</c:v>
                </c:pt>
                <c:pt idx="43">
                  <c:v>396</c:v>
                </c:pt>
                <c:pt idx="44">
                  <c:v>385</c:v>
                </c:pt>
                <c:pt idx="45">
                  <c:v>395</c:v>
                </c:pt>
                <c:pt idx="46">
                  <c:v>379</c:v>
                </c:pt>
                <c:pt idx="47">
                  <c:v>344</c:v>
                </c:pt>
                <c:pt idx="48">
                  <c:v>302</c:v>
                </c:pt>
                <c:pt idx="49">
                  <c:v>355</c:v>
                </c:pt>
                <c:pt idx="50">
                  <c:v>340</c:v>
                </c:pt>
                <c:pt idx="51">
                  <c:v>368</c:v>
                </c:pt>
                <c:pt idx="52">
                  <c:v>390</c:v>
                </c:pt>
                <c:pt idx="53">
                  <c:v>327</c:v>
                </c:pt>
                <c:pt idx="54">
                  <c:v>360</c:v>
                </c:pt>
                <c:pt idx="55">
                  <c:v>343</c:v>
                </c:pt>
                <c:pt idx="56">
                  <c:v>324</c:v>
                </c:pt>
                <c:pt idx="57">
                  <c:v>353</c:v>
                </c:pt>
                <c:pt idx="58">
                  <c:v>355</c:v>
                </c:pt>
                <c:pt idx="59">
                  <c:v>274</c:v>
                </c:pt>
                <c:pt idx="60">
                  <c:v>276</c:v>
                </c:pt>
                <c:pt idx="61">
                  <c:v>319</c:v>
                </c:pt>
                <c:pt idx="62">
                  <c:v>315</c:v>
                </c:pt>
                <c:pt idx="63">
                  <c:v>289</c:v>
                </c:pt>
                <c:pt idx="64">
                  <c:v>301</c:v>
                </c:pt>
                <c:pt idx="65">
                  <c:v>290</c:v>
                </c:pt>
                <c:pt idx="66">
                  <c:v>279</c:v>
                </c:pt>
                <c:pt idx="67">
                  <c:v>314</c:v>
                </c:pt>
                <c:pt idx="68">
                  <c:v>288</c:v>
                </c:pt>
                <c:pt idx="69">
                  <c:v>231</c:v>
                </c:pt>
                <c:pt idx="70">
                  <c:v>220</c:v>
                </c:pt>
                <c:pt idx="71">
                  <c:v>267</c:v>
                </c:pt>
                <c:pt idx="72">
                  <c:v>229</c:v>
                </c:pt>
                <c:pt idx="73">
                  <c:v>247</c:v>
                </c:pt>
                <c:pt idx="74">
                  <c:v>261</c:v>
                </c:pt>
                <c:pt idx="75">
                  <c:v>216</c:v>
                </c:pt>
                <c:pt idx="76">
                  <c:v>247</c:v>
                </c:pt>
                <c:pt idx="77">
                  <c:v>245</c:v>
                </c:pt>
                <c:pt idx="78">
                  <c:v>237</c:v>
                </c:pt>
                <c:pt idx="79">
                  <c:v>262</c:v>
                </c:pt>
                <c:pt idx="80">
                  <c:v>209</c:v>
                </c:pt>
                <c:pt idx="81">
                  <c:v>197</c:v>
                </c:pt>
                <c:pt idx="82">
                  <c:v>166</c:v>
                </c:pt>
                <c:pt idx="83">
                  <c:v>261</c:v>
                </c:pt>
                <c:pt idx="84">
                  <c:v>196</c:v>
                </c:pt>
                <c:pt idx="85">
                  <c:v>221</c:v>
                </c:pt>
                <c:pt idx="86">
                  <c:v>209</c:v>
                </c:pt>
                <c:pt idx="87">
                  <c:v>230</c:v>
                </c:pt>
                <c:pt idx="88">
                  <c:v>222</c:v>
                </c:pt>
                <c:pt idx="89">
                  <c:v>218</c:v>
                </c:pt>
                <c:pt idx="90">
                  <c:v>175</c:v>
                </c:pt>
                <c:pt idx="91">
                  <c:v>198</c:v>
                </c:pt>
                <c:pt idx="92">
                  <c:v>239</c:v>
                </c:pt>
                <c:pt idx="93">
                  <c:v>203</c:v>
                </c:pt>
                <c:pt idx="94">
                  <c:v>148</c:v>
                </c:pt>
                <c:pt idx="95">
                  <c:v>180</c:v>
                </c:pt>
                <c:pt idx="96">
                  <c:v>162</c:v>
                </c:pt>
                <c:pt idx="97">
                  <c:v>184</c:v>
                </c:pt>
                <c:pt idx="98">
                  <c:v>149</c:v>
                </c:pt>
                <c:pt idx="99">
                  <c:v>179</c:v>
                </c:pt>
                <c:pt idx="100">
                  <c:v>171</c:v>
                </c:pt>
                <c:pt idx="101">
                  <c:v>190</c:v>
                </c:pt>
                <c:pt idx="102">
                  <c:v>170</c:v>
                </c:pt>
                <c:pt idx="103">
                  <c:v>201</c:v>
                </c:pt>
                <c:pt idx="104">
                  <c:v>195</c:v>
                </c:pt>
                <c:pt idx="105">
                  <c:v>168</c:v>
                </c:pt>
                <c:pt idx="106">
                  <c:v>155</c:v>
                </c:pt>
                <c:pt idx="107">
                  <c:v>144</c:v>
                </c:pt>
                <c:pt idx="108">
                  <c:v>165</c:v>
                </c:pt>
                <c:pt idx="109">
                  <c:v>152</c:v>
                </c:pt>
                <c:pt idx="110">
                  <c:v>152</c:v>
                </c:pt>
                <c:pt idx="111">
                  <c:v>136</c:v>
                </c:pt>
                <c:pt idx="112">
                  <c:v>147</c:v>
                </c:pt>
                <c:pt idx="113">
                  <c:v>160</c:v>
                </c:pt>
                <c:pt idx="114">
                  <c:v>135</c:v>
                </c:pt>
                <c:pt idx="115">
                  <c:v>161</c:v>
                </c:pt>
                <c:pt idx="116">
                  <c:v>167</c:v>
                </c:pt>
                <c:pt idx="117">
                  <c:v>126</c:v>
                </c:pt>
                <c:pt idx="118">
                  <c:v>121</c:v>
                </c:pt>
                <c:pt idx="119">
                  <c:v>129</c:v>
                </c:pt>
                <c:pt idx="120">
                  <c:v>122</c:v>
                </c:pt>
                <c:pt idx="121">
                  <c:v>124</c:v>
                </c:pt>
                <c:pt idx="122">
                  <c:v>131</c:v>
                </c:pt>
                <c:pt idx="123">
                  <c:v>115</c:v>
                </c:pt>
                <c:pt idx="124">
                  <c:v>159</c:v>
                </c:pt>
                <c:pt idx="125">
                  <c:v>96</c:v>
                </c:pt>
                <c:pt idx="126">
                  <c:v>100</c:v>
                </c:pt>
                <c:pt idx="127">
                  <c:v>118</c:v>
                </c:pt>
                <c:pt idx="128">
                  <c:v>127</c:v>
                </c:pt>
                <c:pt idx="129">
                  <c:v>115</c:v>
                </c:pt>
                <c:pt idx="130">
                  <c:v>89</c:v>
                </c:pt>
                <c:pt idx="131">
                  <c:v>99</c:v>
                </c:pt>
                <c:pt idx="132">
                  <c:v>115</c:v>
                </c:pt>
                <c:pt idx="133">
                  <c:v>123</c:v>
                </c:pt>
                <c:pt idx="134">
                  <c:v>125</c:v>
                </c:pt>
                <c:pt idx="135">
                  <c:v>75</c:v>
                </c:pt>
                <c:pt idx="136">
                  <c:v>113</c:v>
                </c:pt>
                <c:pt idx="137">
                  <c:v>107</c:v>
                </c:pt>
                <c:pt idx="138">
                  <c:v>112</c:v>
                </c:pt>
                <c:pt idx="139">
                  <c:v>93</c:v>
                </c:pt>
                <c:pt idx="140">
                  <c:v>108</c:v>
                </c:pt>
                <c:pt idx="141">
                  <c:v>110</c:v>
                </c:pt>
                <c:pt idx="142">
                  <c:v>108</c:v>
                </c:pt>
                <c:pt idx="143">
                  <c:v>103</c:v>
                </c:pt>
                <c:pt idx="144">
                  <c:v>97</c:v>
                </c:pt>
                <c:pt idx="145">
                  <c:v>75</c:v>
                </c:pt>
                <c:pt idx="146">
                  <c:v>77</c:v>
                </c:pt>
                <c:pt idx="147">
                  <c:v>79</c:v>
                </c:pt>
                <c:pt idx="148">
                  <c:v>90</c:v>
                </c:pt>
                <c:pt idx="149">
                  <c:v>103</c:v>
                </c:pt>
                <c:pt idx="150">
                  <c:v>65</c:v>
                </c:pt>
                <c:pt idx="151">
                  <c:v>65</c:v>
                </c:pt>
                <c:pt idx="152">
                  <c:v>75</c:v>
                </c:pt>
                <c:pt idx="153">
                  <c:v>61</c:v>
                </c:pt>
                <c:pt idx="154">
                  <c:v>73</c:v>
                </c:pt>
                <c:pt idx="155">
                  <c:v>79</c:v>
                </c:pt>
                <c:pt idx="156">
                  <c:v>53</c:v>
                </c:pt>
                <c:pt idx="157">
                  <c:v>82</c:v>
                </c:pt>
                <c:pt idx="158">
                  <c:v>86</c:v>
                </c:pt>
                <c:pt idx="159">
                  <c:v>52</c:v>
                </c:pt>
                <c:pt idx="160">
                  <c:v>63</c:v>
                </c:pt>
                <c:pt idx="161">
                  <c:v>65</c:v>
                </c:pt>
                <c:pt idx="162">
                  <c:v>74</c:v>
                </c:pt>
                <c:pt idx="163">
                  <c:v>64</c:v>
                </c:pt>
                <c:pt idx="164">
                  <c:v>94</c:v>
                </c:pt>
                <c:pt idx="165">
                  <c:v>60</c:v>
                </c:pt>
                <c:pt idx="166">
                  <c:v>63</c:v>
                </c:pt>
                <c:pt idx="167">
                  <c:v>65</c:v>
                </c:pt>
                <c:pt idx="168">
                  <c:v>53</c:v>
                </c:pt>
                <c:pt idx="169">
                  <c:v>59</c:v>
                </c:pt>
                <c:pt idx="170">
                  <c:v>58</c:v>
                </c:pt>
                <c:pt idx="171">
                  <c:v>66</c:v>
                </c:pt>
                <c:pt idx="172">
                  <c:v>41</c:v>
                </c:pt>
                <c:pt idx="173">
                  <c:v>48</c:v>
                </c:pt>
                <c:pt idx="174">
                  <c:v>50</c:v>
                </c:pt>
                <c:pt idx="175">
                  <c:v>47</c:v>
                </c:pt>
                <c:pt idx="176">
                  <c:v>46</c:v>
                </c:pt>
                <c:pt idx="177">
                  <c:v>52</c:v>
                </c:pt>
                <c:pt idx="178">
                  <c:v>42</c:v>
                </c:pt>
                <c:pt idx="179">
                  <c:v>34</c:v>
                </c:pt>
                <c:pt idx="180">
                  <c:v>42</c:v>
                </c:pt>
                <c:pt idx="181">
                  <c:v>28</c:v>
                </c:pt>
                <c:pt idx="182">
                  <c:v>45</c:v>
                </c:pt>
                <c:pt idx="183">
                  <c:v>23</c:v>
                </c:pt>
                <c:pt idx="184">
                  <c:v>53</c:v>
                </c:pt>
                <c:pt idx="185">
                  <c:v>31</c:v>
                </c:pt>
                <c:pt idx="186">
                  <c:v>42</c:v>
                </c:pt>
                <c:pt idx="187">
                  <c:v>56</c:v>
                </c:pt>
                <c:pt idx="188">
                  <c:v>20</c:v>
                </c:pt>
                <c:pt idx="189">
                  <c:v>36</c:v>
                </c:pt>
                <c:pt idx="190">
                  <c:v>42</c:v>
                </c:pt>
                <c:pt idx="191">
                  <c:v>35</c:v>
                </c:pt>
                <c:pt idx="192">
                  <c:v>41</c:v>
                </c:pt>
                <c:pt idx="193">
                  <c:v>21</c:v>
                </c:pt>
                <c:pt idx="194">
                  <c:v>28</c:v>
                </c:pt>
                <c:pt idx="195">
                  <c:v>22</c:v>
                </c:pt>
                <c:pt idx="196">
                  <c:v>32</c:v>
                </c:pt>
                <c:pt idx="197">
                  <c:v>40</c:v>
                </c:pt>
                <c:pt idx="198">
                  <c:v>33</c:v>
                </c:pt>
                <c:pt idx="199">
                  <c:v>15</c:v>
                </c:pt>
                <c:pt idx="200">
                  <c:v>18</c:v>
                </c:pt>
                <c:pt idx="201">
                  <c:v>23</c:v>
                </c:pt>
                <c:pt idx="202">
                  <c:v>18</c:v>
                </c:pt>
                <c:pt idx="203">
                  <c:v>31</c:v>
                </c:pt>
                <c:pt idx="204">
                  <c:v>14</c:v>
                </c:pt>
                <c:pt idx="205">
                  <c:v>18</c:v>
                </c:pt>
                <c:pt idx="206">
                  <c:v>16</c:v>
                </c:pt>
                <c:pt idx="207">
                  <c:v>21</c:v>
                </c:pt>
                <c:pt idx="208">
                  <c:v>15</c:v>
                </c:pt>
                <c:pt idx="209">
                  <c:v>22</c:v>
                </c:pt>
                <c:pt idx="210">
                  <c:v>23</c:v>
                </c:pt>
                <c:pt idx="211">
                  <c:v>11</c:v>
                </c:pt>
                <c:pt idx="212">
                  <c:v>19</c:v>
                </c:pt>
                <c:pt idx="213">
                  <c:v>25</c:v>
                </c:pt>
                <c:pt idx="214">
                  <c:v>18</c:v>
                </c:pt>
                <c:pt idx="215">
                  <c:v>15</c:v>
                </c:pt>
                <c:pt idx="216">
                  <c:v>14</c:v>
                </c:pt>
                <c:pt idx="217">
                  <c:v>18</c:v>
                </c:pt>
                <c:pt idx="218">
                  <c:v>14</c:v>
                </c:pt>
                <c:pt idx="219">
                  <c:v>11</c:v>
                </c:pt>
                <c:pt idx="220">
                  <c:v>21</c:v>
                </c:pt>
                <c:pt idx="221">
                  <c:v>22</c:v>
                </c:pt>
                <c:pt idx="222">
                  <c:v>10</c:v>
                </c:pt>
                <c:pt idx="223">
                  <c:v>15</c:v>
                </c:pt>
                <c:pt idx="224">
                  <c:v>6</c:v>
                </c:pt>
                <c:pt idx="225">
                  <c:v>13</c:v>
                </c:pt>
                <c:pt idx="226">
                  <c:v>13</c:v>
                </c:pt>
                <c:pt idx="227">
                  <c:v>7</c:v>
                </c:pt>
                <c:pt idx="228">
                  <c:v>10</c:v>
                </c:pt>
                <c:pt idx="229">
                  <c:v>13</c:v>
                </c:pt>
                <c:pt idx="230">
                  <c:v>13</c:v>
                </c:pt>
                <c:pt idx="231">
                  <c:v>4</c:v>
                </c:pt>
                <c:pt idx="232">
                  <c:v>13</c:v>
                </c:pt>
                <c:pt idx="233">
                  <c:v>9</c:v>
                </c:pt>
                <c:pt idx="234">
                  <c:v>10</c:v>
                </c:pt>
                <c:pt idx="235">
                  <c:v>3</c:v>
                </c:pt>
                <c:pt idx="236">
                  <c:v>15</c:v>
                </c:pt>
                <c:pt idx="237">
                  <c:v>8</c:v>
                </c:pt>
                <c:pt idx="238">
                  <c:v>15</c:v>
                </c:pt>
                <c:pt idx="239">
                  <c:v>8</c:v>
                </c:pt>
                <c:pt idx="240">
                  <c:v>7</c:v>
                </c:pt>
                <c:pt idx="241">
                  <c:v>5</c:v>
                </c:pt>
                <c:pt idx="242">
                  <c:v>7</c:v>
                </c:pt>
                <c:pt idx="243">
                  <c:v>13</c:v>
                </c:pt>
                <c:pt idx="244">
                  <c:v>5</c:v>
                </c:pt>
                <c:pt idx="245">
                  <c:v>10</c:v>
                </c:pt>
                <c:pt idx="246">
                  <c:v>4</c:v>
                </c:pt>
                <c:pt idx="247">
                  <c:v>4</c:v>
                </c:pt>
                <c:pt idx="248">
                  <c:v>9</c:v>
                </c:pt>
                <c:pt idx="249">
                  <c:v>2</c:v>
                </c:pt>
                <c:pt idx="250">
                  <c:v>4</c:v>
                </c:pt>
                <c:pt idx="251">
                  <c:v>11</c:v>
                </c:pt>
                <c:pt idx="252">
                  <c:v>6</c:v>
                </c:pt>
                <c:pt idx="253">
                  <c:v>7</c:v>
                </c:pt>
                <c:pt idx="254">
                  <c:v>2</c:v>
                </c:pt>
                <c:pt idx="255">
                  <c:v>1</c:v>
                </c:pt>
                <c:pt idx="256">
                  <c:v>9</c:v>
                </c:pt>
                <c:pt idx="257">
                  <c:v>3</c:v>
                </c:pt>
                <c:pt idx="258">
                  <c:v>2</c:v>
                </c:pt>
                <c:pt idx="259">
                  <c:v>2</c:v>
                </c:pt>
                <c:pt idx="260">
                  <c:v>4</c:v>
                </c:pt>
                <c:pt idx="261">
                  <c:v>4</c:v>
                </c:pt>
                <c:pt idx="262">
                  <c:v>2</c:v>
                </c:pt>
                <c:pt idx="263">
                  <c:v>2</c:v>
                </c:pt>
                <c:pt idx="264">
                  <c:v>2</c:v>
                </c:pt>
                <c:pt idx="265">
                  <c:v>8</c:v>
                </c:pt>
                <c:pt idx="266">
                  <c:v>4</c:v>
                </c:pt>
                <c:pt idx="267">
                  <c:v>2</c:v>
                </c:pt>
                <c:pt idx="268">
                  <c:v>8</c:v>
                </c:pt>
                <c:pt idx="269">
                  <c:v>6</c:v>
                </c:pt>
                <c:pt idx="270">
                  <c:v>2</c:v>
                </c:pt>
                <c:pt idx="271">
                  <c:v>4</c:v>
                </c:pt>
                <c:pt idx="272">
                  <c:v>2</c:v>
                </c:pt>
                <c:pt idx="273">
                  <c:v>2</c:v>
                </c:pt>
                <c:pt idx="274">
                  <c:v>2</c:v>
                </c:pt>
                <c:pt idx="275">
                  <c:v>2</c:v>
                </c:pt>
                <c:pt idx="276">
                  <c:v>3</c:v>
                </c:pt>
                <c:pt idx="277">
                  <c:v>2</c:v>
                </c:pt>
                <c:pt idx="278">
                  <c:v>5</c:v>
                </c:pt>
                <c:pt idx="279">
                  <c:v>1</c:v>
                </c:pt>
                <c:pt idx="280">
                  <c:v>2</c:v>
                </c:pt>
                <c:pt idx="281">
                  <c:v>2</c:v>
                </c:pt>
                <c:pt idx="282">
                  <c:v>2</c:v>
                </c:pt>
                <c:pt idx="283">
                  <c:v>4</c:v>
                </c:pt>
                <c:pt idx="284">
                  <c:v>1</c:v>
                </c:pt>
                <c:pt idx="285">
                  <c:v>6</c:v>
                </c:pt>
                <c:pt idx="286">
                  <c:v>2</c:v>
                </c:pt>
                <c:pt idx="287">
                  <c:v>3</c:v>
                </c:pt>
                <c:pt idx="288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0664688"/>
        <c:axId val="550665248"/>
      </c:lineChart>
      <c:catAx>
        <c:axId val="55066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65248"/>
        <c:crosses val="autoZero"/>
        <c:auto val="1"/>
        <c:lblAlgn val="ctr"/>
        <c:lblOffset val="100"/>
        <c:tickLblSkip val="20"/>
        <c:noMultiLvlLbl val="0"/>
      </c:catAx>
      <c:valAx>
        <c:axId val="55066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0664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지역별취소율!$F$41</c:f>
              <c:strCache>
                <c:ptCount val="1"/>
                <c:pt idx="0">
                  <c:v>취소율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지역별취소율!$C$42:$C$49</c:f>
              <c:strCache>
                <c:ptCount val="8"/>
                <c:pt idx="0">
                  <c:v>150만원~199만원대</c:v>
                </c:pt>
                <c:pt idx="1">
                  <c:v>200만원~249만원대</c:v>
                </c:pt>
                <c:pt idx="2">
                  <c:v>250만원~299만원대</c:v>
                </c:pt>
                <c:pt idx="3">
                  <c:v>300만원~349만원대</c:v>
                </c:pt>
                <c:pt idx="4">
                  <c:v>350만원~399만원대</c:v>
                </c:pt>
                <c:pt idx="5">
                  <c:v>400만원~449만원대</c:v>
                </c:pt>
                <c:pt idx="6">
                  <c:v>450만원~499만원대</c:v>
                </c:pt>
                <c:pt idx="7">
                  <c:v>500만원대 이상 </c:v>
                </c:pt>
              </c:strCache>
            </c:strRef>
          </c:cat>
          <c:val>
            <c:numRef>
              <c:f>지역별취소율!$F$42:$F$49</c:f>
              <c:numCache>
                <c:formatCode>General</c:formatCode>
                <c:ptCount val="8"/>
                <c:pt idx="0">
                  <c:v>30.563189162680001</c:v>
                </c:pt>
                <c:pt idx="1">
                  <c:v>29.89877134688</c:v>
                </c:pt>
                <c:pt idx="2">
                  <c:v>32.116530206999997</c:v>
                </c:pt>
                <c:pt idx="3">
                  <c:v>31.536762061339999</c:v>
                </c:pt>
                <c:pt idx="4">
                  <c:v>26.943509165729999</c:v>
                </c:pt>
                <c:pt idx="5">
                  <c:v>28.777670837340001</c:v>
                </c:pt>
                <c:pt idx="6">
                  <c:v>36.038394415349998</c:v>
                </c:pt>
                <c:pt idx="7">
                  <c:v>36.284801460520001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4F6-4C2A-8365-8C77D72BB7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31776"/>
        <c:axId val="640732336"/>
      </c:radarChart>
      <c:catAx>
        <c:axId val="64073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32336"/>
        <c:crosses val="autoZero"/>
        <c:auto val="1"/>
        <c:lblAlgn val="ctr"/>
        <c:lblOffset val="100"/>
        <c:noMultiLvlLbl val="0"/>
      </c:catAx>
      <c:valAx>
        <c:axId val="640732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3177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지역별취소율!$F$41</c:f>
              <c:strCache>
                <c:ptCount val="1"/>
                <c:pt idx="0">
                  <c:v>취소율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지역별취소율!$C$42:$C$49</c:f>
              <c:strCache>
                <c:ptCount val="8"/>
                <c:pt idx="0">
                  <c:v>150만원~199만원대</c:v>
                </c:pt>
                <c:pt idx="1">
                  <c:v>200만원~249만원대</c:v>
                </c:pt>
                <c:pt idx="2">
                  <c:v>250만원~299만원대</c:v>
                </c:pt>
                <c:pt idx="3">
                  <c:v>300만원~349만원대</c:v>
                </c:pt>
                <c:pt idx="4">
                  <c:v>350만원~399만원대</c:v>
                </c:pt>
                <c:pt idx="5">
                  <c:v>400만원~449만원대</c:v>
                </c:pt>
                <c:pt idx="6">
                  <c:v>450만원~499만원대</c:v>
                </c:pt>
                <c:pt idx="7">
                  <c:v>500만원대 이상 </c:v>
                </c:pt>
              </c:strCache>
            </c:strRef>
          </c:cat>
          <c:val>
            <c:numRef>
              <c:f>지역별취소율!$F$42:$F$49</c:f>
              <c:numCache>
                <c:formatCode>0.0</c:formatCode>
                <c:ptCount val="8"/>
                <c:pt idx="0">
                  <c:v>31.243479459060001</c:v>
                </c:pt>
                <c:pt idx="1">
                  <c:v>32.355280027260001</c:v>
                </c:pt>
                <c:pt idx="2">
                  <c:v>34.715992680029998</c:v>
                </c:pt>
                <c:pt idx="3">
                  <c:v>31.044325050360001</c:v>
                </c:pt>
                <c:pt idx="4">
                  <c:v>30.701421080620001</c:v>
                </c:pt>
                <c:pt idx="5">
                  <c:v>33.794624949849997</c:v>
                </c:pt>
                <c:pt idx="6">
                  <c:v>39.00582176444</c:v>
                </c:pt>
                <c:pt idx="7">
                  <c:v>34.901222953900003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34576"/>
        <c:axId val="640735136"/>
      </c:radarChart>
      <c:catAx>
        <c:axId val="64073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35136"/>
        <c:crosses val="autoZero"/>
        <c:auto val="1"/>
        <c:lblAlgn val="ctr"/>
        <c:lblOffset val="100"/>
        <c:noMultiLvlLbl val="0"/>
      </c:catAx>
      <c:valAx>
        <c:axId val="640735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3457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지역별취소율!$C$19:$C$23</c:f>
              <c:strCache>
                <c:ptCount val="5"/>
                <c:pt idx="0">
                  <c:v>20~39만원대</c:v>
                </c:pt>
                <c:pt idx="1">
                  <c:v>40~59만원대</c:v>
                </c:pt>
                <c:pt idx="2">
                  <c:v>60~79만원대</c:v>
                </c:pt>
                <c:pt idx="3">
                  <c:v>80~99만원대</c:v>
                </c:pt>
                <c:pt idx="4">
                  <c:v>100만원이상</c:v>
                </c:pt>
              </c:strCache>
            </c:strRef>
          </c:cat>
          <c:val>
            <c:numRef>
              <c:f>지역별취소율!$F$19:$F$23</c:f>
              <c:numCache>
                <c:formatCode>General</c:formatCode>
                <c:ptCount val="5"/>
                <c:pt idx="0">
                  <c:v>37.420252870890003</c:v>
                </c:pt>
                <c:pt idx="1">
                  <c:v>36.701073531749998</c:v>
                </c:pt>
                <c:pt idx="2">
                  <c:v>35.043225747400001</c:v>
                </c:pt>
                <c:pt idx="3">
                  <c:v>34.076350415509999</c:v>
                </c:pt>
                <c:pt idx="4">
                  <c:v>40.272212359450002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2AB-4934-BF27-7705E6C67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37376"/>
        <c:axId val="640737936"/>
      </c:radarChart>
      <c:catAx>
        <c:axId val="64073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37936"/>
        <c:crosses val="autoZero"/>
        <c:auto val="1"/>
        <c:lblAlgn val="ctr"/>
        <c:lblOffset val="100"/>
        <c:noMultiLvlLbl val="0"/>
      </c:catAx>
      <c:valAx>
        <c:axId val="640737936"/>
        <c:scaling>
          <c:orientation val="minMax"/>
          <c:max val="42"/>
          <c:min val="32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37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지역별취소율!$C$19:$C$23</c:f>
              <c:strCache>
                <c:ptCount val="5"/>
                <c:pt idx="0">
                  <c:v>20~39만원대</c:v>
                </c:pt>
                <c:pt idx="1">
                  <c:v>40~59만원대</c:v>
                </c:pt>
                <c:pt idx="2">
                  <c:v>60~79만원대</c:v>
                </c:pt>
                <c:pt idx="3">
                  <c:v>80~99만원대</c:v>
                </c:pt>
                <c:pt idx="4">
                  <c:v>100만원이상</c:v>
                </c:pt>
              </c:strCache>
            </c:strRef>
          </c:cat>
          <c:val>
            <c:numRef>
              <c:f>지역별취소율!$F$19:$F$23</c:f>
              <c:numCache>
                <c:formatCode>0.0</c:formatCode>
                <c:ptCount val="5"/>
                <c:pt idx="0">
                  <c:v>35.397398186609998</c:v>
                </c:pt>
                <c:pt idx="1">
                  <c:v>34.908106492750001</c:v>
                </c:pt>
                <c:pt idx="2">
                  <c:v>35.435409206039999</c:v>
                </c:pt>
                <c:pt idx="3">
                  <c:v>34.550268795629997</c:v>
                </c:pt>
                <c:pt idx="4">
                  <c:v>37.475339134690003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40176"/>
        <c:axId val="640740736"/>
      </c:radarChart>
      <c:catAx>
        <c:axId val="640740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0736"/>
        <c:crosses val="autoZero"/>
        <c:auto val="1"/>
        <c:lblAlgn val="ctr"/>
        <c:lblOffset val="100"/>
        <c:noMultiLvlLbl val="0"/>
      </c:catAx>
      <c:valAx>
        <c:axId val="640740736"/>
        <c:scaling>
          <c:orientation val="minMax"/>
          <c:max val="42"/>
          <c:min val="32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0176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rgbClr val="21538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지역별취소율!$C$29:$C$36</c:f>
              <c:strCache>
                <c:ptCount val="8"/>
                <c:pt idx="0">
                  <c:v>30만원대</c:v>
                </c:pt>
                <c:pt idx="1">
                  <c:v>40만원대</c:v>
                </c:pt>
                <c:pt idx="2">
                  <c:v>50만원대</c:v>
                </c:pt>
                <c:pt idx="3">
                  <c:v>60만원대</c:v>
                </c:pt>
                <c:pt idx="4">
                  <c:v>70만원대</c:v>
                </c:pt>
                <c:pt idx="5">
                  <c:v>80만원대</c:v>
                </c:pt>
                <c:pt idx="6">
                  <c:v>90만원대</c:v>
                </c:pt>
                <c:pt idx="7">
                  <c:v>100만원이상</c:v>
                </c:pt>
              </c:strCache>
            </c:strRef>
          </c:cat>
          <c:val>
            <c:numRef>
              <c:f>지역별취소율!$F$29:$F$36</c:f>
              <c:numCache>
                <c:formatCode>General</c:formatCode>
                <c:ptCount val="8"/>
                <c:pt idx="0">
                  <c:v>35.515459942939998</c:v>
                </c:pt>
                <c:pt idx="1">
                  <c:v>32.887738967940003</c:v>
                </c:pt>
                <c:pt idx="2">
                  <c:v>31.643876337689999</c:v>
                </c:pt>
                <c:pt idx="3">
                  <c:v>30.786634180290001</c:v>
                </c:pt>
                <c:pt idx="4">
                  <c:v>30.081804660380001</c:v>
                </c:pt>
                <c:pt idx="5">
                  <c:v>26.4132165605</c:v>
                </c:pt>
                <c:pt idx="6">
                  <c:v>29.80492484809</c:v>
                </c:pt>
                <c:pt idx="7">
                  <c:v>29.82204362801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549-4ACE-9970-BEC70A1C5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42976"/>
        <c:axId val="640743536"/>
      </c:radarChart>
      <c:catAx>
        <c:axId val="640742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3536"/>
        <c:crosses val="autoZero"/>
        <c:auto val="1"/>
        <c:lblAlgn val="ctr"/>
        <c:lblOffset val="100"/>
        <c:noMultiLvlLbl val="0"/>
      </c:catAx>
      <c:valAx>
        <c:axId val="640743536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rgbClr val="21538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지역별취소율!$C$29:$C$36</c:f>
              <c:strCache>
                <c:ptCount val="8"/>
                <c:pt idx="0">
                  <c:v>30만원대</c:v>
                </c:pt>
                <c:pt idx="1">
                  <c:v>40만원대</c:v>
                </c:pt>
                <c:pt idx="2">
                  <c:v>50만원대</c:v>
                </c:pt>
                <c:pt idx="3">
                  <c:v>60만원대</c:v>
                </c:pt>
                <c:pt idx="4">
                  <c:v>70만원대</c:v>
                </c:pt>
                <c:pt idx="5">
                  <c:v>80만원대</c:v>
                </c:pt>
                <c:pt idx="6">
                  <c:v>90만원대</c:v>
                </c:pt>
                <c:pt idx="7">
                  <c:v>100만원이상</c:v>
                </c:pt>
              </c:strCache>
            </c:strRef>
          </c:cat>
          <c:val>
            <c:numRef>
              <c:f>지역별취소율!$F$29:$F$36</c:f>
              <c:numCache>
                <c:formatCode>0</c:formatCode>
                <c:ptCount val="8"/>
                <c:pt idx="0">
                  <c:v>39.765610466909997</c:v>
                </c:pt>
                <c:pt idx="1">
                  <c:v>36.686954608779999</c:v>
                </c:pt>
                <c:pt idx="2">
                  <c:v>33.797604629250003</c:v>
                </c:pt>
                <c:pt idx="3">
                  <c:v>33.711921112870002</c:v>
                </c:pt>
                <c:pt idx="4">
                  <c:v>28.78650667874</c:v>
                </c:pt>
                <c:pt idx="5">
                  <c:v>30.355976485949999</c:v>
                </c:pt>
                <c:pt idx="6">
                  <c:v>28.521511246989999</c:v>
                </c:pt>
                <c:pt idx="7">
                  <c:v>28.528735632179998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45776"/>
        <c:axId val="640746336"/>
      </c:radarChart>
      <c:catAx>
        <c:axId val="64074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6336"/>
        <c:crosses val="autoZero"/>
        <c:auto val="1"/>
        <c:lblAlgn val="ctr"/>
        <c:lblOffset val="100"/>
        <c:noMultiLvlLbl val="0"/>
      </c:catAx>
      <c:valAx>
        <c:axId val="640746336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5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지역별취소율!$C$7:$C$14</c:f>
              <c:strCache>
                <c:ptCount val="8"/>
                <c:pt idx="0">
                  <c:v>30만원대</c:v>
                </c:pt>
                <c:pt idx="1">
                  <c:v>40만원대</c:v>
                </c:pt>
                <c:pt idx="2">
                  <c:v>50만원대</c:v>
                </c:pt>
                <c:pt idx="3">
                  <c:v>60만원대</c:v>
                </c:pt>
                <c:pt idx="4">
                  <c:v>70만원대</c:v>
                </c:pt>
                <c:pt idx="5">
                  <c:v>80만원대</c:v>
                </c:pt>
                <c:pt idx="6">
                  <c:v>90만원대</c:v>
                </c:pt>
                <c:pt idx="7">
                  <c:v>100만원이상</c:v>
                </c:pt>
              </c:strCache>
            </c:strRef>
          </c:cat>
          <c:val>
            <c:numRef>
              <c:f>지역별취소율!$F$7:$F$14</c:f>
              <c:numCache>
                <c:formatCode>General</c:formatCode>
                <c:ptCount val="8"/>
                <c:pt idx="0">
                  <c:v>34.040799505460001</c:v>
                </c:pt>
                <c:pt idx="1">
                  <c:v>37.601010101009997</c:v>
                </c:pt>
                <c:pt idx="2">
                  <c:v>37.15895750176</c:v>
                </c:pt>
                <c:pt idx="3">
                  <c:v>38.85032170673</c:v>
                </c:pt>
                <c:pt idx="4">
                  <c:v>36.527331189709997</c:v>
                </c:pt>
                <c:pt idx="5">
                  <c:v>35.211129616919997</c:v>
                </c:pt>
                <c:pt idx="6">
                  <c:v>37.69028871391</c:v>
                </c:pt>
                <c:pt idx="7">
                  <c:v>36.637449514469999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A8F-401F-BE7A-2A62A2464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48576"/>
        <c:axId val="640749136"/>
      </c:radarChart>
      <c:catAx>
        <c:axId val="640748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9136"/>
        <c:crosses val="autoZero"/>
        <c:auto val="1"/>
        <c:lblAlgn val="ctr"/>
        <c:lblOffset val="100"/>
        <c:noMultiLvlLbl val="0"/>
      </c:catAx>
      <c:valAx>
        <c:axId val="640749136"/>
        <c:scaling>
          <c:orientation val="minMax"/>
          <c:max val="45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48576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지역별취소율!$C$7:$C$14</c:f>
              <c:strCache>
                <c:ptCount val="8"/>
                <c:pt idx="0">
                  <c:v>30만원대</c:v>
                </c:pt>
                <c:pt idx="1">
                  <c:v>40만원대</c:v>
                </c:pt>
                <c:pt idx="2">
                  <c:v>50만원대</c:v>
                </c:pt>
                <c:pt idx="3">
                  <c:v>60만원대</c:v>
                </c:pt>
                <c:pt idx="4">
                  <c:v>70만원대</c:v>
                </c:pt>
                <c:pt idx="5">
                  <c:v>80만원대</c:v>
                </c:pt>
                <c:pt idx="6">
                  <c:v>90만원대</c:v>
                </c:pt>
                <c:pt idx="7">
                  <c:v>100만원이상</c:v>
                </c:pt>
              </c:strCache>
            </c:strRef>
          </c:cat>
          <c:val>
            <c:numRef>
              <c:f>지역별취소율!$F$7:$F$14</c:f>
              <c:numCache>
                <c:formatCode>0.0</c:formatCode>
                <c:ptCount val="8"/>
                <c:pt idx="0">
                  <c:v>40.814892869680001</c:v>
                </c:pt>
                <c:pt idx="1">
                  <c:v>39.98584571832</c:v>
                </c:pt>
                <c:pt idx="2">
                  <c:v>40.280116332459997</c:v>
                </c:pt>
                <c:pt idx="3">
                  <c:v>38.411035703739998</c:v>
                </c:pt>
                <c:pt idx="4">
                  <c:v>35.231316725969997</c:v>
                </c:pt>
                <c:pt idx="5">
                  <c:v>37.469586374690003</c:v>
                </c:pt>
                <c:pt idx="6">
                  <c:v>34.513274336279999</c:v>
                </c:pt>
                <c:pt idx="7">
                  <c:v>38.240864136909998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751376"/>
        <c:axId val="640751936"/>
      </c:radarChart>
      <c:catAx>
        <c:axId val="64075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51936"/>
        <c:crosses val="autoZero"/>
        <c:auto val="1"/>
        <c:lblAlgn val="ctr"/>
        <c:lblOffset val="100"/>
        <c:noMultiLvlLbl val="0"/>
      </c:catAx>
      <c:valAx>
        <c:axId val="640751936"/>
        <c:scaling>
          <c:orientation val="minMax"/>
          <c:max val="45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751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지역별연령별판매금액!$D$18</c:f>
              <c:strCache>
                <c:ptCount val="1"/>
                <c:pt idx="0">
                  <c:v>유럽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5.6263876695440009E-2"/>
                  <c:y val="-0.1630691574290592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지역별연령별판매금액!$D$19:$D$26</c:f>
              <c:numCache>
                <c:formatCode>0%</c:formatCode>
                <c:ptCount val="8"/>
                <c:pt idx="0">
                  <c:v>4.0073953212241345E-3</c:v>
                </c:pt>
                <c:pt idx="1">
                  <c:v>4.6126295085955046E-2</c:v>
                </c:pt>
                <c:pt idx="2">
                  <c:v>5.8974857714447236E-2</c:v>
                </c:pt>
                <c:pt idx="3">
                  <c:v>5.1336933242955914E-2</c:v>
                </c:pt>
                <c:pt idx="4">
                  <c:v>0.11252102412188776</c:v>
                </c:pt>
                <c:pt idx="5">
                  <c:v>0.33740417352526014</c:v>
                </c:pt>
                <c:pt idx="6">
                  <c:v>0.3296536223037983</c:v>
                </c:pt>
                <c:pt idx="7">
                  <c:v>5.9975698684471487E-2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지역별연령별판매금액!$D$18</c:f>
              <c:strCache>
                <c:ptCount val="1"/>
                <c:pt idx="0">
                  <c:v>유럽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ED7D3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A5A5A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rgbClr val="70AD47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2.7805632512260831E-2"/>
                  <c:y val="0.114038050829113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7.0313609207945091E-2"/>
                  <c:y val="0.1049194371562021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지역별연령별판매금액!$D$19:$D$26</c:f>
              <c:numCache>
                <c:formatCode>0%</c:formatCode>
                <c:ptCount val="8"/>
                <c:pt idx="0">
                  <c:v>3.9163458652458853E-3</c:v>
                </c:pt>
                <c:pt idx="1">
                  <c:v>4.8015730114344665E-2</c:v>
                </c:pt>
                <c:pt idx="2">
                  <c:v>5.9837158052102969E-2</c:v>
                </c:pt>
                <c:pt idx="3">
                  <c:v>4.5760778542121988E-2</c:v>
                </c:pt>
                <c:pt idx="4">
                  <c:v>0.10974030304785085</c:v>
                </c:pt>
                <c:pt idx="5">
                  <c:v>0.33517441254476354</c:v>
                </c:pt>
                <c:pt idx="6">
                  <c:v>0.33499429280704313</c:v>
                </c:pt>
                <c:pt idx="7">
                  <c:v>6.2560979026526978E-2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지역별연령별판매금액!$E$18</c:f>
              <c:strCache>
                <c:ptCount val="1"/>
                <c:pt idx="0">
                  <c:v>일본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7.277948983850477E-3"/>
                  <c:y val="1.750811253256439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5.6491252578856857E-2"/>
                  <c:y val="-0.1673936437632179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지역별연령별판매금액!$E$19:$E$26</c:f>
              <c:numCache>
                <c:formatCode>0%</c:formatCode>
                <c:ptCount val="8"/>
                <c:pt idx="0">
                  <c:v>2.172798261122923E-2</c:v>
                </c:pt>
                <c:pt idx="1">
                  <c:v>8.9621163549083005E-2</c:v>
                </c:pt>
                <c:pt idx="2">
                  <c:v>5.6442487738807216E-2</c:v>
                </c:pt>
                <c:pt idx="3">
                  <c:v>5.5554059698677521E-2</c:v>
                </c:pt>
                <c:pt idx="4">
                  <c:v>0.17806976597636151</c:v>
                </c:pt>
                <c:pt idx="5">
                  <c:v>0.29932936519696302</c:v>
                </c:pt>
                <c:pt idx="6">
                  <c:v>0.2128817151357954</c:v>
                </c:pt>
                <c:pt idx="7">
                  <c:v>8.6373460093083082E-2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지역별연령별판매금액!$E$18</c:f>
              <c:strCache>
                <c:ptCount val="1"/>
                <c:pt idx="0">
                  <c:v>일본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ED7D3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A5A5A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rgbClr val="70AD47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지역별연령별판매금액!$E$19:$E$26</c:f>
              <c:numCache>
                <c:formatCode>0%</c:formatCode>
                <c:ptCount val="8"/>
                <c:pt idx="0">
                  <c:v>1.6833652995791398E-2</c:v>
                </c:pt>
                <c:pt idx="1">
                  <c:v>8.5132066570156192E-2</c:v>
                </c:pt>
                <c:pt idx="2">
                  <c:v>6.041612416719537E-2</c:v>
                </c:pt>
                <c:pt idx="3">
                  <c:v>4.9978910462142E-2</c:v>
                </c:pt>
                <c:pt idx="4">
                  <c:v>0.16788987062647953</c:v>
                </c:pt>
                <c:pt idx="5">
                  <c:v>0.29339036667056251</c:v>
                </c:pt>
                <c:pt idx="6">
                  <c:v>0.23094762398885157</c:v>
                </c:pt>
                <c:pt idx="7">
                  <c:v>9.5411384518821418E-2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지역별연령별판매금액!$F$18</c:f>
              <c:strCache>
                <c:ptCount val="1"/>
                <c:pt idx="0">
                  <c:v>중국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7BA-4E0E-BB07-959879C6EDFE}"/>
              </c:ext>
            </c:extLst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7BA-4E0E-BB07-959879C6EDFE}"/>
              </c:ext>
            </c:extLst>
          </c:dPt>
          <c:dPt>
            <c:idx val="2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7BA-4E0E-BB07-959879C6EDFE}"/>
              </c:ext>
            </c:extLst>
          </c:dPt>
          <c:dPt>
            <c:idx val="3"/>
            <c:bubble3D val="0"/>
            <c:spPr>
              <a:solidFill>
                <a:srgbClr val="ED7D3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7BA-4E0E-BB07-959879C6EDFE}"/>
              </c:ext>
            </c:extLst>
          </c:dPt>
          <c:dPt>
            <c:idx val="4"/>
            <c:bubble3D val="0"/>
            <c:spPr>
              <a:solidFill>
                <a:srgbClr val="A5A5A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77BA-4E0E-BB07-959879C6EDFE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77BA-4E0E-BB07-959879C6EDFE}"/>
              </c:ext>
            </c:extLst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77BA-4E0E-BB07-959879C6EDFE}"/>
              </c:ext>
            </c:extLst>
          </c:dPt>
          <c:dPt>
            <c:idx val="7"/>
            <c:bubble3D val="0"/>
            <c:spPr>
              <a:solidFill>
                <a:srgbClr val="70AD47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77BA-4E0E-BB07-959879C6EDF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1.6541004440486552E-2"/>
                  <c:y val="0.111450707130270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77BA-4E0E-BB07-959879C6EDF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9821951876434497E-2"/>
                  <c:y val="0.1127403414693341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7BA-4E0E-BB07-959879C6EDFE}"/>
                </c:ext>
                <c:ext xmlns:c15="http://schemas.microsoft.com/office/drawing/2012/chart" uri="{CE6537A1-D6FC-4f65-9D91-7224C49458BB}">
                  <c15:layout>
                    <c:manualLayout>
                      <c:w val="6.6917024772419176E-2"/>
                      <c:h val="9.6453574778720436E-2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4.7277144985937235E-2"/>
                  <c:y val="0.1398872596585306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7BA-4E0E-BB07-959879C6EDF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지역별연령별판매금액!$F$19:$F$26</c:f>
              <c:numCache>
                <c:formatCode>0%</c:formatCode>
                <c:ptCount val="8"/>
                <c:pt idx="0">
                  <c:v>8.6840953512036002E-3</c:v>
                </c:pt>
                <c:pt idx="1">
                  <c:v>3.2825247509245495E-2</c:v>
                </c:pt>
                <c:pt idx="2">
                  <c:v>2.9608945281685246E-2</c:v>
                </c:pt>
                <c:pt idx="3">
                  <c:v>3.9212107081249378E-2</c:v>
                </c:pt>
                <c:pt idx="4">
                  <c:v>9.8096734434409291E-2</c:v>
                </c:pt>
                <c:pt idx="5">
                  <c:v>0.34937197426011418</c:v>
                </c:pt>
                <c:pt idx="6">
                  <c:v>0.35447894685003639</c:v>
                </c:pt>
                <c:pt idx="7">
                  <c:v>8.7721949232056465E-2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77BA-4E0E-BB07-959879C6EDF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지역별연령별판매금액!$F$18</c:f>
              <c:strCache>
                <c:ptCount val="1"/>
                <c:pt idx="0">
                  <c:v>중국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ED7D3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A5A5A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rgbClr val="70AD47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1.6373465411946179E-2"/>
                  <c:y val="0.1147983443156374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4.1256214947375851E-2"/>
                  <c:y val="0.1239368100575905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4.415559791503159E-2"/>
                  <c:y val="9.615326612659988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지역별연령별판매금액!$F$19:$F$26</c:f>
              <c:numCache>
                <c:formatCode>0%</c:formatCode>
                <c:ptCount val="8"/>
                <c:pt idx="0">
                  <c:v>8.7541017805015491E-3</c:v>
                </c:pt>
                <c:pt idx="1">
                  <c:v>3.3727300078751181E-2</c:v>
                </c:pt>
                <c:pt idx="2">
                  <c:v>3.0715572418524056E-2</c:v>
                </c:pt>
                <c:pt idx="3">
                  <c:v>4.1240540668309213E-2</c:v>
                </c:pt>
                <c:pt idx="4">
                  <c:v>0.10071739104875299</c:v>
                </c:pt>
                <c:pt idx="5">
                  <c:v>0.34896570896768836</c:v>
                </c:pt>
                <c:pt idx="6">
                  <c:v>0.34947551619988643</c:v>
                </c:pt>
                <c:pt idx="7">
                  <c:v>8.6403868837586273E-2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지역별연령별판매금액!$G$18</c:f>
              <c:strCache>
                <c:ptCount val="1"/>
                <c:pt idx="0">
                  <c:v>동남아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1.2385200059063408E-2"/>
                  <c:y val="0.1042420548128292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지역별연령별판매금액!$G$19:$G$26</c:f>
              <c:numCache>
                <c:formatCode>0%</c:formatCode>
                <c:ptCount val="8"/>
                <c:pt idx="0">
                  <c:v>3.8548621081456652E-2</c:v>
                </c:pt>
                <c:pt idx="1">
                  <c:v>9.4262465183659161E-2</c:v>
                </c:pt>
                <c:pt idx="2">
                  <c:v>6.8934615244815173E-2</c:v>
                </c:pt>
                <c:pt idx="3">
                  <c:v>9.5342709243053977E-2</c:v>
                </c:pt>
                <c:pt idx="4">
                  <c:v>0.2119239421472924</c:v>
                </c:pt>
                <c:pt idx="5">
                  <c:v>0.26591144530523442</c:v>
                </c:pt>
                <c:pt idx="6">
                  <c:v>0.17175029513743495</c:v>
                </c:pt>
                <c:pt idx="7">
                  <c:v>5.3325906657053279E-2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지역별연령별판매금액!$G$18</c:f>
              <c:strCache>
                <c:ptCount val="1"/>
                <c:pt idx="0">
                  <c:v>동남아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ED7D3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A5A5A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rgbClr val="70AD47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1.4179525890531761E-2"/>
                  <c:y val="0.106992466612307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지역별연령별판매금액!$G$19:$G$26</c:f>
              <c:numCache>
                <c:formatCode>0%</c:formatCode>
                <c:ptCount val="8"/>
                <c:pt idx="0">
                  <c:v>3.8361609049796054E-2</c:v>
                </c:pt>
                <c:pt idx="1">
                  <c:v>9.7272139624248438E-2</c:v>
                </c:pt>
                <c:pt idx="2">
                  <c:v>6.9189900760801143E-2</c:v>
                </c:pt>
                <c:pt idx="3">
                  <c:v>8.5245622667509735E-2</c:v>
                </c:pt>
                <c:pt idx="4">
                  <c:v>0.2058984498469244</c:v>
                </c:pt>
                <c:pt idx="5">
                  <c:v>0.26086759488471584</c:v>
                </c:pt>
                <c:pt idx="6">
                  <c:v>0.18333278025573282</c:v>
                </c:pt>
                <c:pt idx="7">
                  <c:v>5.983190291027158E-2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지역별연령별판매금액!$E$31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지역별연령별판매금액!$E$32:$E$39</c:f>
              <c:numCache>
                <c:formatCode>_(* #,##0_);_(* \(#,##0\);_(* "-"_);_(@_)</c:formatCode>
                <c:ptCount val="8"/>
                <c:pt idx="0">
                  <c:v>540002</c:v>
                </c:pt>
                <c:pt idx="1">
                  <c:v>621927</c:v>
                </c:pt>
                <c:pt idx="2">
                  <c:v>624906</c:v>
                </c:pt>
                <c:pt idx="3">
                  <c:v>607538</c:v>
                </c:pt>
                <c:pt idx="4">
                  <c:v>651313</c:v>
                </c:pt>
                <c:pt idx="5">
                  <c:v>670163</c:v>
                </c:pt>
                <c:pt idx="6">
                  <c:v>644876</c:v>
                </c:pt>
                <c:pt idx="7">
                  <c:v>637200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098912"/>
        <c:axId val="643099472"/>
      </c:barChart>
      <c:catAx>
        <c:axId val="643098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099472"/>
        <c:crosses val="autoZero"/>
        <c:auto val="1"/>
        <c:lblAlgn val="ctr"/>
        <c:lblOffset val="100"/>
        <c:noMultiLvlLbl val="0"/>
      </c:catAx>
      <c:valAx>
        <c:axId val="64309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098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지역별연령별판매금액!$D$31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지역별연령별판매금액!$D$32:$D$39</c:f>
              <c:numCache>
                <c:formatCode>_(* #,##0_);_(* \(#,##0\);_(* "-"_);_(@_)</c:formatCode>
                <c:ptCount val="8"/>
                <c:pt idx="0">
                  <c:v>1927557</c:v>
                </c:pt>
                <c:pt idx="1">
                  <c:v>1985999</c:v>
                </c:pt>
                <c:pt idx="2">
                  <c:v>1929992</c:v>
                </c:pt>
                <c:pt idx="3">
                  <c:v>1949354</c:v>
                </c:pt>
                <c:pt idx="4">
                  <c:v>2011555</c:v>
                </c:pt>
                <c:pt idx="5">
                  <c:v>2107561</c:v>
                </c:pt>
                <c:pt idx="6">
                  <c:v>2182757</c:v>
                </c:pt>
                <c:pt idx="7">
                  <c:v>2190172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9B0-498C-8A8D-3F87C073F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101712"/>
        <c:axId val="643102272"/>
      </c:barChart>
      <c:catAx>
        <c:axId val="643101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02272"/>
        <c:crosses val="autoZero"/>
        <c:auto val="1"/>
        <c:lblAlgn val="ctr"/>
        <c:lblOffset val="100"/>
        <c:noMultiLvlLbl val="0"/>
      </c:catAx>
      <c:valAx>
        <c:axId val="643102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0171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지역별연령별판매금액!$G$31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지역별연령별판매금액!$G$32:$G$39</c:f>
              <c:numCache>
                <c:formatCode>_(* #,##0_);_(* \(#,##0\);_(* "-"_);_(@_)</c:formatCode>
                <c:ptCount val="8"/>
                <c:pt idx="0">
                  <c:v>503464</c:v>
                </c:pt>
                <c:pt idx="1">
                  <c:v>613206</c:v>
                </c:pt>
                <c:pt idx="2">
                  <c:v>639815</c:v>
                </c:pt>
                <c:pt idx="3">
                  <c:v>637189</c:v>
                </c:pt>
                <c:pt idx="4">
                  <c:v>650662</c:v>
                </c:pt>
                <c:pt idx="5">
                  <c:v>655285</c:v>
                </c:pt>
                <c:pt idx="6">
                  <c:v>638379</c:v>
                </c:pt>
                <c:pt idx="7">
                  <c:v>628428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104512"/>
        <c:axId val="643105072"/>
      </c:barChart>
      <c:catAx>
        <c:axId val="643104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05072"/>
        <c:crosses val="autoZero"/>
        <c:auto val="1"/>
        <c:lblAlgn val="ctr"/>
        <c:lblOffset val="100"/>
        <c:noMultiLvlLbl val="0"/>
      </c:catAx>
      <c:valAx>
        <c:axId val="64310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04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지역별연령별판매금액!$F$31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지역별연령별판매금액!$F$32:$F$39</c:f>
              <c:numCache>
                <c:formatCode>_(* #,##0_);_(* \(#,##0\);_(* "-"_);_(@_)</c:formatCode>
                <c:ptCount val="8"/>
                <c:pt idx="0">
                  <c:v>447062</c:v>
                </c:pt>
                <c:pt idx="1">
                  <c:v>504077</c:v>
                </c:pt>
                <c:pt idx="2">
                  <c:v>584128</c:v>
                </c:pt>
                <c:pt idx="3">
                  <c:v>600738</c:v>
                </c:pt>
                <c:pt idx="4">
                  <c:v>584506</c:v>
                </c:pt>
                <c:pt idx="5">
                  <c:v>662963</c:v>
                </c:pt>
                <c:pt idx="6">
                  <c:v>653951</c:v>
                </c:pt>
                <c:pt idx="7">
                  <c:v>628079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107312"/>
        <c:axId val="643107872"/>
      </c:barChart>
      <c:catAx>
        <c:axId val="64310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07872"/>
        <c:crosses val="autoZero"/>
        <c:auto val="1"/>
        <c:lblAlgn val="ctr"/>
        <c:lblOffset val="100"/>
        <c:noMultiLvlLbl val="0"/>
      </c:catAx>
      <c:valAx>
        <c:axId val="64310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07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구매횟수!$C$6:$C$15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10회
이상</c:v>
                </c:pt>
              </c:strCache>
            </c:strRef>
          </c:cat>
          <c:val>
            <c:numRef>
              <c:f>구매횟수!$D$6:$D$15</c:f>
              <c:numCache>
                <c:formatCode>_(* #,##0_);_(* \(#,##0\);_(* "-"_);_(@_)</c:formatCode>
                <c:ptCount val="10"/>
                <c:pt idx="0">
                  <c:v>341908</c:v>
                </c:pt>
                <c:pt idx="1">
                  <c:v>78813</c:v>
                </c:pt>
                <c:pt idx="2">
                  <c:v>27587</c:v>
                </c:pt>
                <c:pt idx="3">
                  <c:v>11353</c:v>
                </c:pt>
                <c:pt idx="4">
                  <c:v>4854</c:v>
                </c:pt>
                <c:pt idx="5">
                  <c:v>2399</c:v>
                </c:pt>
                <c:pt idx="6">
                  <c:v>1223</c:v>
                </c:pt>
                <c:pt idx="7">
                  <c:v>669</c:v>
                </c:pt>
                <c:pt idx="8">
                  <c:v>357</c:v>
                </c:pt>
                <c:pt idx="9">
                  <c:v>747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B8E-402F-A671-AEA59AE9A9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3110112"/>
        <c:axId val="643110672"/>
      </c:barChart>
      <c:catAx>
        <c:axId val="64311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10672"/>
        <c:crosses val="autoZero"/>
        <c:auto val="1"/>
        <c:lblAlgn val="ctr"/>
        <c:lblOffset val="100"/>
        <c:noMultiLvlLbl val="0"/>
      </c:catAx>
      <c:valAx>
        <c:axId val="6431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1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구매횟수!$H$6:$H$15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10회
이상</c:v>
                </c:pt>
              </c:strCache>
            </c:strRef>
          </c:cat>
          <c:val>
            <c:numRef>
              <c:f>구매횟수!$I$6:$I$15</c:f>
              <c:numCache>
                <c:formatCode>_(* #,##0_);_(* \(#,##0\);_(* "-"_);_(@_)</c:formatCode>
                <c:ptCount val="10"/>
                <c:pt idx="0">
                  <c:v>328622</c:v>
                </c:pt>
                <c:pt idx="1">
                  <c:v>78401</c:v>
                </c:pt>
                <c:pt idx="2">
                  <c:v>27922</c:v>
                </c:pt>
                <c:pt idx="3">
                  <c:v>11373</c:v>
                </c:pt>
                <c:pt idx="4">
                  <c:v>5475</c:v>
                </c:pt>
                <c:pt idx="5">
                  <c:v>2719</c:v>
                </c:pt>
                <c:pt idx="6">
                  <c:v>1339</c:v>
                </c:pt>
                <c:pt idx="7">
                  <c:v>693</c:v>
                </c:pt>
                <c:pt idx="8">
                  <c:v>409</c:v>
                </c:pt>
                <c:pt idx="9">
                  <c:v>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43112912"/>
        <c:axId val="643113472"/>
      </c:barChart>
      <c:catAx>
        <c:axId val="643112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13472"/>
        <c:crosses val="autoZero"/>
        <c:auto val="1"/>
        <c:lblAlgn val="ctr"/>
        <c:lblOffset val="100"/>
        <c:noMultiLvlLbl val="0"/>
      </c:catAx>
      <c:valAx>
        <c:axId val="64311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12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동남아!$G$4:$G$5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동남아!$G$6:$G$17</c:f>
              <c:numCache>
                <c:formatCode>0%</c:formatCode>
                <c:ptCount val="9"/>
                <c:pt idx="0">
                  <c:v>0.20381894126672917</c:v>
                </c:pt>
                <c:pt idx="1">
                  <c:v>0.40175603102889779</c:v>
                </c:pt>
                <c:pt idx="2">
                  <c:v>0.14823970675986703</c:v>
                </c:pt>
                <c:pt idx="3">
                  <c:v>0.11405677265365272</c:v>
                </c:pt>
                <c:pt idx="4">
                  <c:v>3.0176455545136815E-2</c:v>
                </c:pt>
                <c:pt idx="5">
                  <c:v>1.8071775637200579E-2</c:v>
                </c:pt>
                <c:pt idx="6">
                  <c:v>5.4044838462194184E-2</c:v>
                </c:pt>
                <c:pt idx="7">
                  <c:v>2.293069644531583E-2</c:v>
                </c:pt>
                <c:pt idx="8">
                  <c:v>6.904782201005882E-3</c:v>
                </c:pt>
              </c:numCache>
            </c:numRef>
          </c:val>
        </c:ser>
        <c:ser>
          <c:idx val="1"/>
          <c:order val="1"/>
          <c:tx>
            <c:strRef>
              <c:f>동남아!$H$4:$H$5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동남아!$H$6:$H$17</c:f>
            </c:numRef>
          </c:val>
        </c:ser>
        <c:ser>
          <c:idx val="2"/>
          <c:order val="2"/>
          <c:tx>
            <c:strRef>
              <c:f>동남아!$I$4:$I$5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동남아!$I$6:$I$17</c:f>
              <c:numCache>
                <c:formatCode>0%</c:formatCode>
                <c:ptCount val="9"/>
                <c:pt idx="0">
                  <c:v>0.20445767112011651</c:v>
                </c:pt>
                <c:pt idx="1">
                  <c:v>0.42176913822579626</c:v>
                </c:pt>
                <c:pt idx="2">
                  <c:v>8.453112138289115E-2</c:v>
                </c:pt>
                <c:pt idx="3">
                  <c:v>0.16399670740201355</c:v>
                </c:pt>
                <c:pt idx="4">
                  <c:v>3.7864876844171468E-2</c:v>
                </c:pt>
                <c:pt idx="5">
                  <c:v>2.5011080858608245E-2</c:v>
                </c:pt>
                <c:pt idx="6">
                  <c:v>3.9067941493066548E-2</c:v>
                </c:pt>
                <c:pt idx="7">
                  <c:v>1.5069967707212056E-2</c:v>
                </c:pt>
                <c:pt idx="8">
                  <c:v>8.2314949661242316E-3</c:v>
                </c:pt>
              </c:numCache>
            </c:numRef>
          </c:val>
        </c:ser>
        <c:ser>
          <c:idx val="3"/>
          <c:order val="3"/>
          <c:tx>
            <c:strRef>
              <c:f>동남아!$J$4:$J$5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동남아!$J$6:$J$17</c:f>
            </c:numRef>
          </c:val>
        </c:ser>
        <c:ser>
          <c:idx val="4"/>
          <c:order val="4"/>
          <c:tx>
            <c:strRef>
              <c:f>동남아!$K$4:$K$5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동남아!$K$6:$K$17</c:f>
              <c:numCache>
                <c:formatCode>0%</c:formatCode>
                <c:ptCount val="9"/>
                <c:pt idx="0">
                  <c:v>0.18872082540318541</c:v>
                </c:pt>
                <c:pt idx="1">
                  <c:v>0.42998096764499649</c:v>
                </c:pt>
                <c:pt idx="2">
                  <c:v>0.11294200140238406</c:v>
                </c:pt>
                <c:pt idx="3">
                  <c:v>0.14169087448662726</c:v>
                </c:pt>
                <c:pt idx="4">
                  <c:v>3.5560452769708505E-2</c:v>
                </c:pt>
                <c:pt idx="5">
                  <c:v>2.5443253531002706E-2</c:v>
                </c:pt>
                <c:pt idx="6">
                  <c:v>4.2522287889412001E-2</c:v>
                </c:pt>
                <c:pt idx="7">
                  <c:v>1.4374436542121607E-2</c:v>
                </c:pt>
                <c:pt idx="8">
                  <c:v>8.7649003305619554E-3</c:v>
                </c:pt>
              </c:numCache>
            </c:numRef>
          </c:val>
        </c:ser>
        <c:ser>
          <c:idx val="6"/>
          <c:order val="5"/>
          <c:tx>
            <c:strRef>
              <c:f>동남아!$L$4:$L$5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동남아!$L$6:$L$17</c:f>
            </c:numRef>
          </c:val>
        </c:ser>
        <c:ser>
          <c:idx val="7"/>
          <c:order val="6"/>
          <c:tx>
            <c:strRef>
              <c:f>동남아!$M$4:$M$5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동남아!$M$6:$M$17</c:f>
              <c:numCache>
                <c:formatCode>0%</c:formatCode>
                <c:ptCount val="9"/>
                <c:pt idx="0">
                  <c:v>0.19523436419781537</c:v>
                </c:pt>
                <c:pt idx="1">
                  <c:v>0.45656081485919714</c:v>
                </c:pt>
                <c:pt idx="2">
                  <c:v>0.13204590496381988</c:v>
                </c:pt>
                <c:pt idx="3">
                  <c:v>9.0657694612158363E-2</c:v>
                </c:pt>
                <c:pt idx="4">
                  <c:v>3.3691293727243395E-2</c:v>
                </c:pt>
                <c:pt idx="5">
                  <c:v>3.1985988846384296E-2</c:v>
                </c:pt>
                <c:pt idx="6">
                  <c:v>3.7562796700004612E-2</c:v>
                </c:pt>
                <c:pt idx="7">
                  <c:v>1.4195510900124442E-2</c:v>
                </c:pt>
                <c:pt idx="8">
                  <c:v>8.0656311932525235E-3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119072"/>
        <c:axId val="643119632"/>
      </c:barChart>
      <c:catAx>
        <c:axId val="643119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19632"/>
        <c:crosses val="autoZero"/>
        <c:auto val="1"/>
        <c:lblAlgn val="ctr"/>
        <c:lblOffset val="100"/>
        <c:noMultiLvlLbl val="0"/>
      </c:catAx>
      <c:valAx>
        <c:axId val="64311963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1907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ko-KR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유럽!$F$4:$F$5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유럽!$F$6:$F$17</c:f>
            </c:numRef>
          </c:val>
        </c:ser>
        <c:ser>
          <c:idx val="1"/>
          <c:order val="1"/>
          <c:tx>
            <c:strRef>
              <c:f>유럽!$G$4:$G$5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유럽!$G$6:$G$17</c:f>
              <c:numCache>
                <c:formatCode>0%</c:formatCode>
                <c:ptCount val="9"/>
                <c:pt idx="0">
                  <c:v>0.43600314095013742</c:v>
                </c:pt>
                <c:pt idx="1">
                  <c:v>0.19591676482135847</c:v>
                </c:pt>
                <c:pt idx="2">
                  <c:v>0.12288967412642324</c:v>
                </c:pt>
                <c:pt idx="3">
                  <c:v>9.7762073027090696E-2</c:v>
                </c:pt>
                <c:pt idx="4">
                  <c:v>6.5959952885747936E-2</c:v>
                </c:pt>
                <c:pt idx="5">
                  <c:v>3.2521921214500718E-2</c:v>
                </c:pt>
                <c:pt idx="6">
                  <c:v>1.2432927627273917E-2</c:v>
                </c:pt>
                <c:pt idx="7">
                  <c:v>2.1005104043973301E-2</c:v>
                </c:pt>
                <c:pt idx="8">
                  <c:v>1.5508441303494307E-2</c:v>
                </c:pt>
              </c:numCache>
            </c:numRef>
          </c:val>
        </c:ser>
        <c:ser>
          <c:idx val="2"/>
          <c:order val="2"/>
          <c:tx>
            <c:strRef>
              <c:f>유럽!$H$4:$H$5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유럽!$H$6:$H$17</c:f>
            </c:numRef>
          </c:val>
        </c:ser>
        <c:ser>
          <c:idx val="3"/>
          <c:order val="3"/>
          <c:tx>
            <c:strRef>
              <c:f>유럽!$I$4:$I$5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유럽!$I$6:$I$17</c:f>
              <c:numCache>
                <c:formatCode>0%</c:formatCode>
                <c:ptCount val="9"/>
                <c:pt idx="0">
                  <c:v>0.42075561363906377</c:v>
                </c:pt>
                <c:pt idx="1">
                  <c:v>0.23767375549483188</c:v>
                </c:pt>
                <c:pt idx="2">
                  <c:v>6.0354045384341214E-2</c:v>
                </c:pt>
                <c:pt idx="3">
                  <c:v>0.11666864678626589</c:v>
                </c:pt>
                <c:pt idx="4">
                  <c:v>7.83533325412855E-2</c:v>
                </c:pt>
                <c:pt idx="5">
                  <c:v>3.5760959961981705E-2</c:v>
                </c:pt>
                <c:pt idx="6">
                  <c:v>1.2355946299156468E-2</c:v>
                </c:pt>
                <c:pt idx="7">
                  <c:v>1.7405251277177142E-2</c:v>
                </c:pt>
                <c:pt idx="8">
                  <c:v>2.0672448615896399E-2</c:v>
                </c:pt>
              </c:numCache>
            </c:numRef>
          </c:val>
        </c:ser>
        <c:ser>
          <c:idx val="4"/>
          <c:order val="4"/>
          <c:tx>
            <c:strRef>
              <c:f>유럽!$J$4:$J$5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유럽!$J$6:$J$17</c:f>
            </c:numRef>
          </c:val>
        </c:ser>
        <c:ser>
          <c:idx val="5"/>
          <c:order val="5"/>
          <c:tx>
            <c:strRef>
              <c:f>유럽!$K$4:$K$5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유럽!$K$6:$K$17</c:f>
              <c:numCache>
                <c:formatCode>0%</c:formatCode>
                <c:ptCount val="9"/>
                <c:pt idx="0">
                  <c:v>0.42765392781316347</c:v>
                </c:pt>
                <c:pt idx="1">
                  <c:v>0.22277070063694268</c:v>
                </c:pt>
                <c:pt idx="2">
                  <c:v>8.3704883227176216E-2</c:v>
                </c:pt>
                <c:pt idx="3">
                  <c:v>0.11082802547770701</c:v>
                </c:pt>
                <c:pt idx="4">
                  <c:v>7.1231422505307854E-2</c:v>
                </c:pt>
                <c:pt idx="5">
                  <c:v>4.087048832271762E-2</c:v>
                </c:pt>
                <c:pt idx="6">
                  <c:v>1.0881104033970275E-2</c:v>
                </c:pt>
                <c:pt idx="7">
                  <c:v>1.5127388535031847E-2</c:v>
                </c:pt>
                <c:pt idx="8">
                  <c:v>1.6932059447983015E-2</c:v>
                </c:pt>
              </c:numCache>
            </c:numRef>
          </c:val>
        </c:ser>
        <c:ser>
          <c:idx val="6"/>
          <c:order val="6"/>
          <c:tx>
            <c:strRef>
              <c:f>유럽!$L$4:$L$5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유럽!$L$6:$L$17</c:f>
            </c:numRef>
          </c:val>
        </c:ser>
        <c:ser>
          <c:idx val="7"/>
          <c:order val="7"/>
          <c:tx>
            <c:strRef>
              <c:f>유럽!$M$4:$M$5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유럽!$M$6:$M$17</c:f>
              <c:numCache>
                <c:formatCode>0%</c:formatCode>
                <c:ptCount val="9"/>
                <c:pt idx="0">
                  <c:v>0.43721075347095834</c:v>
                </c:pt>
                <c:pt idx="1">
                  <c:v>0.24179709843481878</c:v>
                </c:pt>
                <c:pt idx="2">
                  <c:v>9.1154906141126313E-2</c:v>
                </c:pt>
                <c:pt idx="3">
                  <c:v>6.6871197545629452E-2</c:v>
                </c:pt>
                <c:pt idx="4">
                  <c:v>8.0391035307576311E-2</c:v>
                </c:pt>
                <c:pt idx="5">
                  <c:v>4.014351827778067E-2</c:v>
                </c:pt>
                <c:pt idx="6">
                  <c:v>8.6318964172429936E-3</c:v>
                </c:pt>
                <c:pt idx="7">
                  <c:v>1.3987832146014248E-2</c:v>
                </c:pt>
                <c:pt idx="8">
                  <c:v>1.9811762258852894E-2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3125792"/>
        <c:axId val="639635120"/>
      </c:barChart>
      <c:catAx>
        <c:axId val="64312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35120"/>
        <c:crosses val="autoZero"/>
        <c:auto val="1"/>
        <c:lblAlgn val="ctr"/>
        <c:lblOffset val="100"/>
        <c:noMultiLvlLbl val="0"/>
      </c:catAx>
      <c:valAx>
        <c:axId val="63963512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12579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일본!$G$4:$G$5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일본!$G$6:$G$17</c:f>
              <c:numCache>
                <c:formatCode>0%</c:formatCode>
                <c:ptCount val="9"/>
                <c:pt idx="0">
                  <c:v>0.20272468483123221</c:v>
                </c:pt>
                <c:pt idx="1">
                  <c:v>0.32391215941439611</c:v>
                </c:pt>
                <c:pt idx="2">
                  <c:v>0.1642944286295242</c:v>
                </c:pt>
                <c:pt idx="3">
                  <c:v>0.20638470923139488</c:v>
                </c:pt>
                <c:pt idx="4">
                  <c:v>2.1960146400976006E-2</c:v>
                </c:pt>
                <c:pt idx="5">
                  <c:v>1.1996746644977633E-2</c:v>
                </c:pt>
                <c:pt idx="6">
                  <c:v>2.4400162667751118E-2</c:v>
                </c:pt>
                <c:pt idx="7">
                  <c:v>3.9650264335095567E-2</c:v>
                </c:pt>
                <c:pt idx="8">
                  <c:v>4.6766978446522974E-3</c:v>
                </c:pt>
              </c:numCache>
            </c:numRef>
          </c:val>
        </c:ser>
        <c:ser>
          <c:idx val="1"/>
          <c:order val="1"/>
          <c:tx>
            <c:strRef>
              <c:f>일본!$H$4:$H$5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일본!$H$6:$H$17</c:f>
            </c:numRef>
          </c:val>
        </c:ser>
        <c:ser>
          <c:idx val="2"/>
          <c:order val="2"/>
          <c:tx>
            <c:strRef>
              <c:f>일본!$I$4:$I$5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일본!$I$6:$I$17</c:f>
              <c:numCache>
                <c:formatCode>0%</c:formatCode>
                <c:ptCount val="9"/>
                <c:pt idx="0">
                  <c:v>0.22274499260653313</c:v>
                </c:pt>
                <c:pt idx="1">
                  <c:v>0.35959134292243583</c:v>
                </c:pt>
                <c:pt idx="2">
                  <c:v>8.9124882376663536E-2</c:v>
                </c:pt>
                <c:pt idx="3">
                  <c:v>0.20231213872832371</c:v>
                </c:pt>
                <c:pt idx="4">
                  <c:v>4.180669444817852E-2</c:v>
                </c:pt>
                <c:pt idx="5">
                  <c:v>2.5809920688264553E-2</c:v>
                </c:pt>
                <c:pt idx="6">
                  <c:v>2.0970560559214948E-2</c:v>
                </c:pt>
                <c:pt idx="7">
                  <c:v>2.9977147466057265E-2</c:v>
                </c:pt>
                <c:pt idx="8">
                  <c:v>7.6623202043285387E-3</c:v>
                </c:pt>
              </c:numCache>
            </c:numRef>
          </c:val>
        </c:ser>
        <c:ser>
          <c:idx val="3"/>
          <c:order val="3"/>
          <c:tx>
            <c:strRef>
              <c:f>일본!$J$4:$J$5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일본!$J$6:$J$17</c:f>
            </c:numRef>
          </c:val>
        </c:ser>
        <c:ser>
          <c:idx val="4"/>
          <c:order val="4"/>
          <c:tx>
            <c:strRef>
              <c:f>일본!$K$4:$K$5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일본!$K$6:$K$17</c:f>
              <c:numCache>
                <c:formatCode>0%</c:formatCode>
                <c:ptCount val="9"/>
                <c:pt idx="0">
                  <c:v>0.21795548053592151</c:v>
                </c:pt>
                <c:pt idx="1">
                  <c:v>0.3601645743221859</c:v>
                </c:pt>
                <c:pt idx="2">
                  <c:v>9.642367338326828E-2</c:v>
                </c:pt>
                <c:pt idx="3">
                  <c:v>0.21173119527376305</c:v>
                </c:pt>
                <c:pt idx="4">
                  <c:v>3.7662200654077431E-2</c:v>
                </c:pt>
                <c:pt idx="5">
                  <c:v>2.9538980905158774E-2</c:v>
                </c:pt>
                <c:pt idx="6">
                  <c:v>1.9411330309104337E-2</c:v>
                </c:pt>
                <c:pt idx="7">
                  <c:v>2.0044308471357738E-2</c:v>
                </c:pt>
                <c:pt idx="8">
                  <c:v>7.0682561451629921E-3</c:v>
                </c:pt>
              </c:numCache>
            </c:numRef>
          </c:val>
        </c:ser>
        <c:ser>
          <c:idx val="5"/>
          <c:order val="5"/>
          <c:tx>
            <c:strRef>
              <c:f>일본!$L$4:$L$5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일본!$L$6:$L$17</c:f>
            </c:numRef>
          </c:val>
        </c:ser>
        <c:ser>
          <c:idx val="6"/>
          <c:order val="6"/>
          <c:tx>
            <c:strRef>
              <c:f>일본!$M$4:$M$5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일본!$M$6:$M$17</c:f>
            </c:numRef>
          </c:val>
        </c:ser>
        <c:ser>
          <c:idx val="7"/>
          <c:order val="7"/>
          <c:tx>
            <c:strRef>
              <c:f>일본!$N$4:$N$5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일본!$N$6:$N$17</c:f>
              <c:numCache>
                <c:formatCode>0%</c:formatCode>
                <c:ptCount val="9"/>
                <c:pt idx="0">
                  <c:v>0.2336191383507992</c:v>
                </c:pt>
                <c:pt idx="1">
                  <c:v>0.40330263575738329</c:v>
                </c:pt>
                <c:pt idx="2">
                  <c:v>0.11675664232031333</c:v>
                </c:pt>
                <c:pt idx="3">
                  <c:v>0.14152641050068804</c:v>
                </c:pt>
                <c:pt idx="4">
                  <c:v>2.7627818355033345E-2</c:v>
                </c:pt>
                <c:pt idx="5">
                  <c:v>3.1438551921244839E-2</c:v>
                </c:pt>
                <c:pt idx="6">
                  <c:v>1.9371228961575102E-2</c:v>
                </c:pt>
                <c:pt idx="7">
                  <c:v>1.7571715888641898E-2</c:v>
                </c:pt>
                <c:pt idx="8">
                  <c:v>8.7858579443209489E-3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9641280"/>
        <c:axId val="639641840"/>
      </c:barChart>
      <c:catAx>
        <c:axId val="639641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41840"/>
        <c:crosses val="autoZero"/>
        <c:auto val="1"/>
        <c:lblAlgn val="ctr"/>
        <c:lblOffset val="100"/>
        <c:noMultiLvlLbl val="0"/>
      </c:catAx>
      <c:valAx>
        <c:axId val="63964184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4128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중국!$F$4:$F$5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중국!$F$6:$F$17</c:f>
            </c:numRef>
          </c:val>
        </c:ser>
        <c:ser>
          <c:idx val="1"/>
          <c:order val="1"/>
          <c:tx>
            <c:strRef>
              <c:f>중국!$G$4:$G$5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중국!$G$6:$G$17</c:f>
              <c:numCache>
                <c:formatCode>0%</c:formatCode>
                <c:ptCount val="9"/>
                <c:pt idx="0">
                  <c:v>0.23980120107682751</c:v>
                </c:pt>
                <c:pt idx="1">
                  <c:v>0.31000207082211639</c:v>
                </c:pt>
                <c:pt idx="2">
                  <c:v>0.22302754193414787</c:v>
                </c:pt>
                <c:pt idx="3">
                  <c:v>0.13129012217850486</c:v>
                </c:pt>
                <c:pt idx="4">
                  <c:v>3.1062331745703043E-2</c:v>
                </c:pt>
                <c:pt idx="5">
                  <c:v>1.8016152412507765E-2</c:v>
                </c:pt>
                <c:pt idx="6">
                  <c:v>1.0147028370262995E-2</c:v>
                </c:pt>
                <c:pt idx="7">
                  <c:v>2.4435700973286394E-2</c:v>
                </c:pt>
                <c:pt idx="8">
                  <c:v>1.2217850486643197E-2</c:v>
                </c:pt>
              </c:numCache>
            </c:numRef>
          </c:val>
        </c:ser>
        <c:ser>
          <c:idx val="2"/>
          <c:order val="2"/>
          <c:tx>
            <c:strRef>
              <c:f>중국!$H$4:$H$5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중국!$H$6:$H$17</c:f>
            </c:numRef>
          </c:val>
        </c:ser>
        <c:ser>
          <c:idx val="3"/>
          <c:order val="3"/>
          <c:tx>
            <c:strRef>
              <c:f>중국!$I$4:$I$5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중국!$I$6:$I$17</c:f>
              <c:numCache>
                <c:formatCode>0%</c:formatCode>
                <c:ptCount val="9"/>
                <c:pt idx="0">
                  <c:v>0.24377523553162853</c:v>
                </c:pt>
                <c:pt idx="1">
                  <c:v>0.35817631224764468</c:v>
                </c:pt>
                <c:pt idx="2">
                  <c:v>0.11137281292059219</c:v>
                </c:pt>
                <c:pt idx="3">
                  <c:v>0.16066621803499326</c:v>
                </c:pt>
                <c:pt idx="4">
                  <c:v>5.0975773889636609E-2</c:v>
                </c:pt>
                <c:pt idx="5">
                  <c:v>3.1460296096904442E-2</c:v>
                </c:pt>
                <c:pt idx="6">
                  <c:v>1.228129205921938E-2</c:v>
                </c:pt>
                <c:pt idx="7">
                  <c:v>2.187079407806191E-2</c:v>
                </c:pt>
                <c:pt idx="8">
                  <c:v>9.4212651413189772E-3</c:v>
                </c:pt>
              </c:numCache>
            </c:numRef>
          </c:val>
        </c:ser>
        <c:ser>
          <c:idx val="4"/>
          <c:order val="4"/>
          <c:tx>
            <c:strRef>
              <c:f>중국!$J$4:$J$5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중국!$J$6:$J$17</c:f>
            </c:numRef>
          </c:val>
        </c:ser>
        <c:ser>
          <c:idx val="5"/>
          <c:order val="5"/>
          <c:tx>
            <c:strRef>
              <c:f>중국!$K$4:$K$5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중국!$K$6:$K$17</c:f>
              <c:numCache>
                <c:formatCode>0%</c:formatCode>
                <c:ptCount val="9"/>
                <c:pt idx="0">
                  <c:v>0.22591943957968477</c:v>
                </c:pt>
                <c:pt idx="1">
                  <c:v>0.37096003821047602</c:v>
                </c:pt>
                <c:pt idx="2">
                  <c:v>0.16892214615507084</c:v>
                </c:pt>
                <c:pt idx="3">
                  <c:v>0.12704983282916732</c:v>
                </c:pt>
                <c:pt idx="4">
                  <c:v>4.1235472058589399E-2</c:v>
                </c:pt>
                <c:pt idx="5">
                  <c:v>2.3085495940136921E-2</c:v>
                </c:pt>
                <c:pt idx="6">
                  <c:v>1.6557872950167172E-2</c:v>
                </c:pt>
                <c:pt idx="7">
                  <c:v>1.4169718197739213E-2</c:v>
                </c:pt>
                <c:pt idx="8">
                  <c:v>1.2099984078968317E-2</c:v>
                </c:pt>
              </c:numCache>
            </c:numRef>
          </c:val>
        </c:ser>
        <c:ser>
          <c:idx val="6"/>
          <c:order val="6"/>
          <c:tx>
            <c:strRef>
              <c:f>중국!$L$4:$L$5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중국!$L$6:$L$17</c:f>
            </c:numRef>
          </c:val>
        </c:ser>
        <c:ser>
          <c:idx val="7"/>
          <c:order val="7"/>
          <c:tx>
            <c:strRef>
              <c:f>중국!$M$4:$M$5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중국!$M$6:$M$17</c:f>
              <c:numCache>
                <c:formatCode>0%</c:formatCode>
                <c:ptCount val="9"/>
                <c:pt idx="0">
                  <c:v>0.22332118688183239</c:v>
                </c:pt>
                <c:pt idx="1">
                  <c:v>0.39233038348082594</c:v>
                </c:pt>
                <c:pt idx="2">
                  <c:v>0.18670831164324136</c:v>
                </c:pt>
                <c:pt idx="3">
                  <c:v>8.9710220371334373E-2</c:v>
                </c:pt>
                <c:pt idx="4">
                  <c:v>3.5224709352767655E-2</c:v>
                </c:pt>
                <c:pt idx="5">
                  <c:v>3.019260801665799E-2</c:v>
                </c:pt>
                <c:pt idx="6">
                  <c:v>1.5616866215512754E-2</c:v>
                </c:pt>
                <c:pt idx="7">
                  <c:v>1.3014055179593961E-2</c:v>
                </c:pt>
                <c:pt idx="8">
                  <c:v>1.3881658858233559E-2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9648000"/>
        <c:axId val="639648560"/>
      </c:barChart>
      <c:catAx>
        <c:axId val="639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48560"/>
        <c:crosses val="autoZero"/>
        <c:auto val="1"/>
        <c:lblAlgn val="ctr"/>
        <c:lblOffset val="100"/>
        <c:noMultiLvlLbl val="0"/>
      </c:catAx>
      <c:valAx>
        <c:axId val="63964856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4800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미주!$F$4:$F$5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미주!$F$6:$F$17</c:f>
            </c:numRef>
          </c:val>
        </c:ser>
        <c:ser>
          <c:idx val="1"/>
          <c:order val="1"/>
          <c:tx>
            <c:strRef>
              <c:f>미주!$G$4:$G$5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미주!$G$6:$G$17</c:f>
              <c:numCache>
                <c:formatCode>0%</c:formatCode>
                <c:ptCount val="9"/>
                <c:pt idx="0">
                  <c:v>0.35064059339177345</c:v>
                </c:pt>
                <c:pt idx="1">
                  <c:v>0.19892110586648684</c:v>
                </c:pt>
                <c:pt idx="2">
                  <c:v>0.11395819285232636</c:v>
                </c:pt>
                <c:pt idx="3">
                  <c:v>0.11598111935266352</c:v>
                </c:pt>
                <c:pt idx="4">
                  <c:v>0.12744436952124072</c:v>
                </c:pt>
                <c:pt idx="5">
                  <c:v>3.1692515171948751E-2</c:v>
                </c:pt>
                <c:pt idx="6">
                  <c:v>3.1018206338503034E-2</c:v>
                </c:pt>
                <c:pt idx="7">
                  <c:v>1.3486176668914362E-2</c:v>
                </c:pt>
                <c:pt idx="8">
                  <c:v>1.6857720836142953E-2</c:v>
                </c:pt>
              </c:numCache>
            </c:numRef>
          </c:val>
        </c:ser>
        <c:ser>
          <c:idx val="2"/>
          <c:order val="2"/>
          <c:tx>
            <c:strRef>
              <c:f>미주!$H$4:$H$5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미주!$H$6:$H$17</c:f>
            </c:numRef>
          </c:val>
        </c:ser>
        <c:ser>
          <c:idx val="3"/>
          <c:order val="3"/>
          <c:tx>
            <c:strRef>
              <c:f>미주!$I$4:$I$5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미주!$I$6:$I$17</c:f>
              <c:numCache>
                <c:formatCode>0%</c:formatCode>
                <c:ptCount val="9"/>
                <c:pt idx="0">
                  <c:v>0.37007874015748032</c:v>
                </c:pt>
                <c:pt idx="1">
                  <c:v>0.23326771653543307</c:v>
                </c:pt>
                <c:pt idx="2">
                  <c:v>7.3818897637795269E-2</c:v>
                </c:pt>
                <c:pt idx="3">
                  <c:v>0.11368110236220473</c:v>
                </c:pt>
                <c:pt idx="4">
                  <c:v>9.694881889763779E-2</c:v>
                </c:pt>
                <c:pt idx="5">
                  <c:v>5.1181102362204724E-2</c:v>
                </c:pt>
                <c:pt idx="6">
                  <c:v>2.8051181102362203E-2</c:v>
                </c:pt>
                <c:pt idx="7">
                  <c:v>1.3779527559055118E-2</c:v>
                </c:pt>
                <c:pt idx="8">
                  <c:v>1.9192913385826772E-2</c:v>
                </c:pt>
              </c:numCache>
            </c:numRef>
          </c:val>
        </c:ser>
        <c:ser>
          <c:idx val="4"/>
          <c:order val="4"/>
          <c:tx>
            <c:strRef>
              <c:f>미주!$J$4:$J$5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미주!$J$6:$J$17</c:f>
            </c:numRef>
          </c:val>
        </c:ser>
        <c:ser>
          <c:idx val="5"/>
          <c:order val="5"/>
          <c:tx>
            <c:strRef>
              <c:f>미주!$K$4:$K$5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미주!$K$6:$K$17</c:f>
              <c:numCache>
                <c:formatCode>0%</c:formatCode>
                <c:ptCount val="9"/>
                <c:pt idx="0">
                  <c:v>0.35742397137745974</c:v>
                </c:pt>
                <c:pt idx="1">
                  <c:v>0.251520572450805</c:v>
                </c:pt>
                <c:pt idx="2">
                  <c:v>8.7656529516994638E-2</c:v>
                </c:pt>
                <c:pt idx="3">
                  <c:v>0.10948121645796065</c:v>
                </c:pt>
                <c:pt idx="4">
                  <c:v>9.6601073345259386E-2</c:v>
                </c:pt>
                <c:pt idx="5">
                  <c:v>4.257602862254025E-2</c:v>
                </c:pt>
                <c:pt idx="6">
                  <c:v>2.6475849731663684E-2</c:v>
                </c:pt>
                <c:pt idx="7">
                  <c:v>8.5867620751341675E-3</c:v>
                </c:pt>
                <c:pt idx="8">
                  <c:v>1.9677996422182469E-2</c:v>
                </c:pt>
              </c:numCache>
            </c:numRef>
          </c:val>
        </c:ser>
        <c:ser>
          <c:idx val="6"/>
          <c:order val="6"/>
          <c:tx>
            <c:strRef>
              <c:f>미주!$L$4:$L$5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미주!$L$6:$L$17</c:f>
            </c:numRef>
          </c:val>
        </c:ser>
        <c:ser>
          <c:idx val="7"/>
          <c:order val="7"/>
          <c:tx>
            <c:strRef>
              <c:f>미주!$M$4:$M$5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미주!$M$6:$M$17</c:f>
              <c:numCache>
                <c:formatCode>0%</c:formatCode>
                <c:ptCount val="9"/>
                <c:pt idx="0">
                  <c:v>0.39486356340288925</c:v>
                </c:pt>
                <c:pt idx="1">
                  <c:v>0.25329052969502408</c:v>
                </c:pt>
                <c:pt idx="2">
                  <c:v>0.10048154093097914</c:v>
                </c:pt>
                <c:pt idx="3">
                  <c:v>6.0995184590690206E-2</c:v>
                </c:pt>
                <c:pt idx="4">
                  <c:v>0.10304975922953451</c:v>
                </c:pt>
                <c:pt idx="5">
                  <c:v>4.7833065810593899E-2</c:v>
                </c:pt>
                <c:pt idx="6">
                  <c:v>2.6003210272873195E-2</c:v>
                </c:pt>
                <c:pt idx="7">
                  <c:v>1.2841091492776886E-2</c:v>
                </c:pt>
                <c:pt idx="8">
                  <c:v>6.420545746388443E-4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9654720"/>
        <c:axId val="639655280"/>
      </c:barChart>
      <c:catAx>
        <c:axId val="63965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55280"/>
        <c:crosses val="autoZero"/>
        <c:auto val="1"/>
        <c:lblAlgn val="ctr"/>
        <c:lblOffset val="100"/>
        <c:noMultiLvlLbl val="0"/>
      </c:catAx>
      <c:valAx>
        <c:axId val="63965528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5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대양주!$F$4:$F$5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대양주!$F$6:$F$17</c:f>
            </c:numRef>
          </c:val>
        </c:ser>
        <c:ser>
          <c:idx val="1"/>
          <c:order val="1"/>
          <c:tx>
            <c:strRef>
              <c:f>대양주!$G$4:$G$5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대양주!$G$6:$G$17</c:f>
              <c:numCache>
                <c:formatCode>0%</c:formatCode>
                <c:ptCount val="9"/>
                <c:pt idx="0">
                  <c:v>0.35968379446640314</c:v>
                </c:pt>
                <c:pt idx="1">
                  <c:v>0.23978919631093545</c:v>
                </c:pt>
                <c:pt idx="2">
                  <c:v>0.13833992094861661</c:v>
                </c:pt>
                <c:pt idx="3">
                  <c:v>0.11067193675889328</c:v>
                </c:pt>
                <c:pt idx="4">
                  <c:v>5.2700922266139656E-2</c:v>
                </c:pt>
                <c:pt idx="5">
                  <c:v>2.2397891963109356E-2</c:v>
                </c:pt>
                <c:pt idx="6">
                  <c:v>2.8985507246376812E-2</c:v>
                </c:pt>
                <c:pt idx="7">
                  <c:v>3.0303030303030304E-2</c:v>
                </c:pt>
                <c:pt idx="8">
                  <c:v>1.7127799736495388E-2</c:v>
                </c:pt>
              </c:numCache>
            </c:numRef>
          </c:val>
        </c:ser>
        <c:ser>
          <c:idx val="2"/>
          <c:order val="2"/>
          <c:tx>
            <c:strRef>
              <c:f>대양주!$H$4:$H$5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대양주!$H$6:$H$17</c:f>
            </c:numRef>
          </c:val>
        </c:ser>
        <c:ser>
          <c:idx val="3"/>
          <c:order val="3"/>
          <c:tx>
            <c:strRef>
              <c:f>대양주!$I$4:$I$5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대양주!$I$6:$I$17</c:f>
              <c:numCache>
                <c:formatCode>0%</c:formatCode>
                <c:ptCount val="9"/>
                <c:pt idx="0">
                  <c:v>0.375909458367017</c:v>
                </c:pt>
                <c:pt idx="1">
                  <c:v>0.27405012126111561</c:v>
                </c:pt>
                <c:pt idx="2">
                  <c:v>5.9822150363783348E-2</c:v>
                </c:pt>
                <c:pt idx="3">
                  <c:v>0.12045270816491511</c:v>
                </c:pt>
                <c:pt idx="4">
                  <c:v>9.3775262732417139E-2</c:v>
                </c:pt>
                <c:pt idx="5">
                  <c:v>1.2934518997574777E-2</c:v>
                </c:pt>
                <c:pt idx="6">
                  <c:v>2.2635408245755859E-2</c:v>
                </c:pt>
                <c:pt idx="7">
                  <c:v>2.3443815683104285E-2</c:v>
                </c:pt>
                <c:pt idx="8">
                  <c:v>1.6976556184316895E-2</c:v>
                </c:pt>
              </c:numCache>
            </c:numRef>
          </c:val>
        </c:ser>
        <c:ser>
          <c:idx val="4"/>
          <c:order val="4"/>
          <c:tx>
            <c:strRef>
              <c:f>대양주!$J$4:$J$5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대양주!$J$6:$J$17</c:f>
            </c:numRef>
          </c:val>
        </c:ser>
        <c:ser>
          <c:idx val="5"/>
          <c:order val="5"/>
          <c:tx>
            <c:strRef>
              <c:f>대양주!$K$4:$K$5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대양주!$K$6:$K$17</c:f>
              <c:numCache>
                <c:formatCode>0%</c:formatCode>
                <c:ptCount val="9"/>
                <c:pt idx="0">
                  <c:v>0.34239482200647248</c:v>
                </c:pt>
                <c:pt idx="1">
                  <c:v>0.29255663430420714</c:v>
                </c:pt>
                <c:pt idx="2">
                  <c:v>8.6084142394822011E-2</c:v>
                </c:pt>
                <c:pt idx="3">
                  <c:v>0.14110032362459546</c:v>
                </c:pt>
                <c:pt idx="4">
                  <c:v>8.2847896440129451E-2</c:v>
                </c:pt>
                <c:pt idx="5">
                  <c:v>5.1779935275080907E-3</c:v>
                </c:pt>
                <c:pt idx="6">
                  <c:v>2.1359223300970873E-2</c:v>
                </c:pt>
                <c:pt idx="7">
                  <c:v>1.1003236245954692E-2</c:v>
                </c:pt>
                <c:pt idx="8">
                  <c:v>1.7475728155339806E-2</c:v>
                </c:pt>
              </c:numCache>
            </c:numRef>
          </c:val>
        </c:ser>
        <c:ser>
          <c:idx val="6"/>
          <c:order val="6"/>
          <c:tx>
            <c:strRef>
              <c:f>대양주!$L$4:$L$5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대양주!$L$6:$L$17</c:f>
            </c:numRef>
          </c:val>
        </c:ser>
        <c:ser>
          <c:idx val="7"/>
          <c:order val="7"/>
          <c:tx>
            <c:strRef>
              <c:f>대양주!$M$4:$M$5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대양주!$M$6:$M$17</c:f>
              <c:numCache>
                <c:formatCode>0%</c:formatCode>
                <c:ptCount val="9"/>
                <c:pt idx="0">
                  <c:v>0.36431870669745958</c:v>
                </c:pt>
                <c:pt idx="1">
                  <c:v>0.30196304849884525</c:v>
                </c:pt>
                <c:pt idx="2">
                  <c:v>9.5265588914549656E-2</c:v>
                </c:pt>
                <c:pt idx="3">
                  <c:v>9.237875288683603E-2</c:v>
                </c:pt>
                <c:pt idx="4">
                  <c:v>8.7182448036951507E-2</c:v>
                </c:pt>
                <c:pt idx="5">
                  <c:v>9.2378752886836026E-3</c:v>
                </c:pt>
                <c:pt idx="6">
                  <c:v>1.8475750577367205E-2</c:v>
                </c:pt>
                <c:pt idx="7">
                  <c:v>1.5011547344110854E-2</c:v>
                </c:pt>
                <c:pt idx="8">
                  <c:v>1.6166281755196306E-2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9661440"/>
        <c:axId val="639662000"/>
      </c:barChart>
      <c:catAx>
        <c:axId val="63966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62000"/>
        <c:crosses val="autoZero"/>
        <c:auto val="1"/>
        <c:lblAlgn val="ctr"/>
        <c:lblOffset val="100"/>
        <c:noMultiLvlLbl val="0"/>
      </c:catAx>
      <c:valAx>
        <c:axId val="63966200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966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기타지역!$F$4:$F$5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기타지역!$F$6:$F$17</c:f>
            </c:numRef>
          </c:val>
        </c:ser>
        <c:ser>
          <c:idx val="1"/>
          <c:order val="1"/>
          <c:tx>
            <c:strRef>
              <c:f>기타지역!$G$4:$G$5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기타지역!$G$6:$G$17</c:f>
              <c:numCache>
                <c:formatCode>0%</c:formatCode>
                <c:ptCount val="9"/>
                <c:pt idx="0">
                  <c:v>0.42372881355932202</c:v>
                </c:pt>
                <c:pt idx="1">
                  <c:v>0.19661016949152543</c:v>
                </c:pt>
                <c:pt idx="2">
                  <c:v>0.14915254237288136</c:v>
                </c:pt>
                <c:pt idx="3">
                  <c:v>6.4406779661016947E-2</c:v>
                </c:pt>
                <c:pt idx="4">
                  <c:v>5.7627118644067797E-2</c:v>
                </c:pt>
                <c:pt idx="5">
                  <c:v>1.6949152542372881E-2</c:v>
                </c:pt>
                <c:pt idx="6">
                  <c:v>2.3728813559322035E-2</c:v>
                </c:pt>
                <c:pt idx="7">
                  <c:v>1.3559322033898305E-2</c:v>
                </c:pt>
                <c:pt idx="8">
                  <c:v>5.4237288135593219E-2</c:v>
                </c:pt>
              </c:numCache>
            </c:numRef>
          </c:val>
        </c:ser>
        <c:ser>
          <c:idx val="2"/>
          <c:order val="2"/>
          <c:tx>
            <c:strRef>
              <c:f>기타지역!$H$4:$H$5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기타지역!$H$6:$H$17</c:f>
            </c:numRef>
          </c:val>
        </c:ser>
        <c:ser>
          <c:idx val="3"/>
          <c:order val="3"/>
          <c:tx>
            <c:strRef>
              <c:f>기타지역!$I$4:$I$5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기타지역!$I$6:$I$17</c:f>
              <c:numCache>
                <c:formatCode>0%</c:formatCode>
                <c:ptCount val="9"/>
                <c:pt idx="0">
                  <c:v>0.48155737704918034</c:v>
                </c:pt>
                <c:pt idx="1">
                  <c:v>0.1598360655737705</c:v>
                </c:pt>
                <c:pt idx="2">
                  <c:v>6.7622950819672137E-2</c:v>
                </c:pt>
                <c:pt idx="3">
                  <c:v>0.10040983606557377</c:v>
                </c:pt>
                <c:pt idx="4">
                  <c:v>9.0163934426229511E-2</c:v>
                </c:pt>
                <c:pt idx="5">
                  <c:v>3.8934426229508198E-2</c:v>
                </c:pt>
                <c:pt idx="6">
                  <c:v>8.1967213114754103E-3</c:v>
                </c:pt>
                <c:pt idx="7">
                  <c:v>1.4344262295081968E-2</c:v>
                </c:pt>
                <c:pt idx="8">
                  <c:v>3.8934426229508198E-2</c:v>
                </c:pt>
              </c:numCache>
            </c:numRef>
          </c:val>
        </c:ser>
        <c:ser>
          <c:idx val="4"/>
          <c:order val="4"/>
          <c:tx>
            <c:strRef>
              <c:f>기타지역!$J$4:$J$5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기타지역!$J$6:$J$17</c:f>
            </c:numRef>
          </c:val>
        </c:ser>
        <c:ser>
          <c:idx val="5"/>
          <c:order val="5"/>
          <c:tx>
            <c:strRef>
              <c:f>기타지역!$K$4:$K$5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기타지역!$K$6:$K$17</c:f>
              <c:numCache>
                <c:formatCode>0%</c:formatCode>
                <c:ptCount val="9"/>
                <c:pt idx="0">
                  <c:v>0.39358974358974358</c:v>
                </c:pt>
                <c:pt idx="1">
                  <c:v>0.21666666666666667</c:v>
                </c:pt>
                <c:pt idx="2">
                  <c:v>0.12051282051282051</c:v>
                </c:pt>
                <c:pt idx="3">
                  <c:v>6.7948717948717943E-2</c:v>
                </c:pt>
                <c:pt idx="4">
                  <c:v>0.11923076923076924</c:v>
                </c:pt>
                <c:pt idx="5">
                  <c:v>2.1794871794871794E-2</c:v>
                </c:pt>
                <c:pt idx="6">
                  <c:v>1.0256410256410256E-2</c:v>
                </c:pt>
                <c:pt idx="7">
                  <c:v>8.9743589743589737E-3</c:v>
                </c:pt>
                <c:pt idx="8">
                  <c:v>4.1025641025641026E-2</c:v>
                </c:pt>
              </c:numCache>
            </c:numRef>
          </c:val>
        </c:ser>
        <c:ser>
          <c:idx val="6"/>
          <c:order val="6"/>
          <c:tx>
            <c:strRef>
              <c:f>기타지역!$L$4:$L$5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기타지역!$L$6:$L$17</c:f>
            </c:numRef>
          </c:val>
        </c:ser>
        <c:ser>
          <c:idx val="7"/>
          <c:order val="7"/>
          <c:tx>
            <c:strRef>
              <c:f>기타지역!$M$4:$M$5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기타지역!$M$6:$M$17</c:f>
              <c:numCache>
                <c:formatCode>0%</c:formatCode>
                <c:ptCount val="9"/>
                <c:pt idx="0">
                  <c:v>0.44</c:v>
                </c:pt>
                <c:pt idx="1">
                  <c:v>0.23857142857142857</c:v>
                </c:pt>
                <c:pt idx="2">
                  <c:v>0.12428571428571429</c:v>
                </c:pt>
                <c:pt idx="3">
                  <c:v>5.7142857142857141E-2</c:v>
                </c:pt>
                <c:pt idx="4">
                  <c:v>3.8571428571428569E-2</c:v>
                </c:pt>
                <c:pt idx="5">
                  <c:v>2.7142857142857142E-2</c:v>
                </c:pt>
                <c:pt idx="6">
                  <c:v>5.7142857142857143E-3</c:v>
                </c:pt>
                <c:pt idx="7">
                  <c:v>1.4285714285714286E-3</c:v>
                </c:pt>
                <c:pt idx="8">
                  <c:v>6.7142857142857143E-2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7179152"/>
        <c:axId val="637179712"/>
      </c:barChart>
      <c:catAx>
        <c:axId val="63717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79712"/>
        <c:crosses val="autoZero"/>
        <c:auto val="1"/>
        <c:lblAlgn val="ctr"/>
        <c:lblOffset val="100"/>
        <c:noMultiLvlLbl val="0"/>
      </c:catAx>
      <c:valAx>
        <c:axId val="6371797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79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괌사이판!$F$4:$F$5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괌사이판!$F$6:$F$17</c:f>
            </c:numRef>
          </c:val>
        </c:ser>
        <c:ser>
          <c:idx val="1"/>
          <c:order val="1"/>
          <c:tx>
            <c:strRef>
              <c:f>괌사이판!$G$4:$G$5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괌사이판!$G$6:$G$17</c:f>
              <c:numCache>
                <c:formatCode>0%</c:formatCode>
                <c:ptCount val="9"/>
                <c:pt idx="0">
                  <c:v>7.7227722772277227E-2</c:v>
                </c:pt>
                <c:pt idx="1">
                  <c:v>0.4382838283828383</c:v>
                </c:pt>
                <c:pt idx="2">
                  <c:v>5.7425742574257428E-2</c:v>
                </c:pt>
                <c:pt idx="3">
                  <c:v>9.4389438943894385E-2</c:v>
                </c:pt>
                <c:pt idx="4">
                  <c:v>3.6303630363036306E-2</c:v>
                </c:pt>
                <c:pt idx="5">
                  <c:v>1.782178217821782E-2</c:v>
                </c:pt>
                <c:pt idx="6">
                  <c:v>0.25676567656765675</c:v>
                </c:pt>
                <c:pt idx="7">
                  <c:v>2.1782178217821781E-2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괌사이판!$H$4:$H$5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괌사이판!$H$6:$H$17</c:f>
            </c:numRef>
          </c:val>
        </c:ser>
        <c:ser>
          <c:idx val="3"/>
          <c:order val="3"/>
          <c:tx>
            <c:strRef>
              <c:f>괌사이판!$I$4:$I$5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괌사이판!$I$6:$I$17</c:f>
              <c:numCache>
                <c:formatCode>0%</c:formatCode>
                <c:ptCount val="9"/>
                <c:pt idx="0">
                  <c:v>9.4219653179190746E-2</c:v>
                </c:pt>
                <c:pt idx="1">
                  <c:v>0.40462427745664742</c:v>
                </c:pt>
                <c:pt idx="2">
                  <c:v>3.5838150289017344E-2</c:v>
                </c:pt>
                <c:pt idx="3">
                  <c:v>0.11560693641618497</c:v>
                </c:pt>
                <c:pt idx="4">
                  <c:v>4.3352601156069363E-2</c:v>
                </c:pt>
                <c:pt idx="5">
                  <c:v>2.023121387283237E-2</c:v>
                </c:pt>
                <c:pt idx="6">
                  <c:v>0.26242774566473986</c:v>
                </c:pt>
                <c:pt idx="7">
                  <c:v>2.1387283236994219E-2</c:v>
                </c:pt>
                <c:pt idx="8">
                  <c:v>2.3121387283236996E-3</c:v>
                </c:pt>
              </c:numCache>
            </c:numRef>
          </c:val>
        </c:ser>
        <c:ser>
          <c:idx val="4"/>
          <c:order val="4"/>
          <c:tx>
            <c:strRef>
              <c:f>괌사이판!$J$4:$J$5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괌사이판!$J$6:$J$17</c:f>
            </c:numRef>
          </c:val>
        </c:ser>
        <c:ser>
          <c:idx val="5"/>
          <c:order val="5"/>
          <c:tx>
            <c:strRef>
              <c:f>괌사이판!$K$4:$K$5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괌사이판!$K$6:$K$17</c:f>
              <c:numCache>
                <c:formatCode>0%</c:formatCode>
                <c:ptCount val="9"/>
                <c:pt idx="0">
                  <c:v>9.0295358649789034E-2</c:v>
                </c:pt>
                <c:pt idx="1">
                  <c:v>0.48818565400843883</c:v>
                </c:pt>
                <c:pt idx="2">
                  <c:v>5.1476793248945149E-2</c:v>
                </c:pt>
                <c:pt idx="3">
                  <c:v>9.0717299578059074E-2</c:v>
                </c:pt>
                <c:pt idx="4">
                  <c:v>2.4472573839662448E-2</c:v>
                </c:pt>
                <c:pt idx="5">
                  <c:v>2.3206751054852322E-2</c:v>
                </c:pt>
                <c:pt idx="6">
                  <c:v>0.21983122362869198</c:v>
                </c:pt>
                <c:pt idx="7">
                  <c:v>6.7510548523206752E-3</c:v>
                </c:pt>
                <c:pt idx="8">
                  <c:v>5.0632911392405064E-3</c:v>
                </c:pt>
              </c:numCache>
            </c:numRef>
          </c:val>
        </c:ser>
        <c:ser>
          <c:idx val="6"/>
          <c:order val="6"/>
          <c:tx>
            <c:strRef>
              <c:f>괌사이판!$L$4:$L$5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괌사이판!$L$6:$L$17</c:f>
            </c:numRef>
          </c:val>
        </c:ser>
        <c:ser>
          <c:idx val="7"/>
          <c:order val="7"/>
          <c:tx>
            <c:strRef>
              <c:f>괌사이판!$M$4:$M$5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괌사이판!$M$6:$M$17</c:f>
              <c:numCache>
                <c:formatCode>0%</c:formatCode>
                <c:ptCount val="9"/>
                <c:pt idx="0">
                  <c:v>7.2903497682258747E-2</c:v>
                </c:pt>
                <c:pt idx="1">
                  <c:v>0.50442477876106195</c:v>
                </c:pt>
                <c:pt idx="2">
                  <c:v>4.6776232616940583E-2</c:v>
                </c:pt>
                <c:pt idx="3">
                  <c:v>7.5010535187526345E-2</c:v>
                </c:pt>
                <c:pt idx="4">
                  <c:v>4.2983565107458911E-2</c:v>
                </c:pt>
                <c:pt idx="5">
                  <c:v>3.6241045090602615E-2</c:v>
                </c:pt>
                <c:pt idx="6">
                  <c:v>0.21491782553729458</c:v>
                </c:pt>
                <c:pt idx="7">
                  <c:v>6.7425200168563003E-3</c:v>
                </c:pt>
                <c:pt idx="8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7185872"/>
        <c:axId val="637186432"/>
      </c:barChart>
      <c:catAx>
        <c:axId val="637185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86432"/>
        <c:crosses val="autoZero"/>
        <c:auto val="1"/>
        <c:lblAlgn val="ctr"/>
        <c:lblOffset val="100"/>
        <c:noMultiLvlLbl val="0"/>
      </c:catAx>
      <c:valAx>
        <c:axId val="63718643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85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405683430116931E-2"/>
          <c:y val="0.10811392118764915"/>
          <c:w val="0.73611465523881692"/>
          <c:h val="0.677227963420297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국내!$F$4:$F$5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국내!$F$6:$F$17</c:f>
            </c:numRef>
          </c:val>
        </c:ser>
        <c:ser>
          <c:idx val="1"/>
          <c:order val="1"/>
          <c:tx>
            <c:strRef>
              <c:f>국내!$G$4:$G$5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국내!$G$6:$G$17</c:f>
              <c:numCache>
                <c:formatCode>0%</c:formatCode>
                <c:ptCount val="9"/>
                <c:pt idx="0">
                  <c:v>0.18375241779497098</c:v>
                </c:pt>
                <c:pt idx="1">
                  <c:v>0.25338491295938104</c:v>
                </c:pt>
                <c:pt idx="2">
                  <c:v>0.12959381044487428</c:v>
                </c:pt>
                <c:pt idx="3">
                  <c:v>0.11411992263056092</c:v>
                </c:pt>
                <c:pt idx="4">
                  <c:v>3.0947775628626693E-2</c:v>
                </c:pt>
                <c:pt idx="5">
                  <c:v>1.2572533849129593E-2</c:v>
                </c:pt>
                <c:pt idx="6">
                  <c:v>3.5783365570599614E-2</c:v>
                </c:pt>
                <c:pt idx="7">
                  <c:v>0.23887814313346228</c:v>
                </c:pt>
                <c:pt idx="8">
                  <c:v>9.6711798839458415E-4</c:v>
                </c:pt>
              </c:numCache>
            </c:numRef>
          </c:val>
        </c:ser>
        <c:ser>
          <c:idx val="2"/>
          <c:order val="2"/>
          <c:tx>
            <c:strRef>
              <c:f>국내!$H$4:$H$5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국내!$H$6:$H$17</c:f>
            </c:numRef>
          </c:val>
        </c:ser>
        <c:ser>
          <c:idx val="3"/>
          <c:order val="3"/>
          <c:tx>
            <c:strRef>
              <c:f>국내!$I$4:$I$5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국내!$I$6:$I$17</c:f>
              <c:numCache>
                <c:formatCode>0%</c:formatCode>
                <c:ptCount val="9"/>
                <c:pt idx="0">
                  <c:v>0.20996441281138789</c:v>
                </c:pt>
                <c:pt idx="1">
                  <c:v>0.27876631079478054</c:v>
                </c:pt>
                <c:pt idx="2">
                  <c:v>5.1008303677342826E-2</c:v>
                </c:pt>
                <c:pt idx="3">
                  <c:v>0.15776986951364175</c:v>
                </c:pt>
                <c:pt idx="4">
                  <c:v>3.9145907473309607E-2</c:v>
                </c:pt>
                <c:pt idx="5">
                  <c:v>2.2538552787663108E-2</c:v>
                </c:pt>
                <c:pt idx="6">
                  <c:v>4.2704626334519574E-2</c:v>
                </c:pt>
                <c:pt idx="7">
                  <c:v>0.18979833926453143</c:v>
                </c:pt>
                <c:pt idx="8">
                  <c:v>8.3036773428232496E-3</c:v>
                </c:pt>
              </c:numCache>
            </c:numRef>
          </c:val>
        </c:ser>
        <c:ser>
          <c:idx val="4"/>
          <c:order val="4"/>
          <c:tx>
            <c:strRef>
              <c:f>국내!$J$4:$J$5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국내!$J$6:$J$17</c:f>
            </c:numRef>
          </c:val>
        </c:ser>
        <c:ser>
          <c:idx val="5"/>
          <c:order val="5"/>
          <c:tx>
            <c:strRef>
              <c:f>국내!$K$4:$K$5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국내!$K$6:$K$17</c:f>
              <c:numCache>
                <c:formatCode>0%</c:formatCode>
                <c:ptCount val="9"/>
                <c:pt idx="0">
                  <c:v>0.17833553500660501</c:v>
                </c:pt>
                <c:pt idx="1">
                  <c:v>0.28137384412153238</c:v>
                </c:pt>
                <c:pt idx="2">
                  <c:v>7.3976221928665792E-2</c:v>
                </c:pt>
                <c:pt idx="3">
                  <c:v>0.14002642007926025</c:v>
                </c:pt>
                <c:pt idx="4">
                  <c:v>4.491413474240423E-2</c:v>
                </c:pt>
                <c:pt idx="5">
                  <c:v>2.7741083223249668E-2</c:v>
                </c:pt>
                <c:pt idx="6">
                  <c:v>2.2457067371202115E-2</c:v>
                </c:pt>
                <c:pt idx="7">
                  <c:v>0.22721268163804492</c:v>
                </c:pt>
                <c:pt idx="8">
                  <c:v>3.9630118890356669E-3</c:v>
                </c:pt>
              </c:numCache>
            </c:numRef>
          </c:val>
        </c:ser>
        <c:ser>
          <c:idx val="6"/>
          <c:order val="6"/>
          <c:tx>
            <c:strRef>
              <c:f>국내!$L$4:$L$5</c:f>
              <c:strCache>
                <c:ptCount val="2"/>
                <c:pt idx="0">
                  <c:v>2019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국내!$L$6:$L$17</c:f>
            </c:numRef>
          </c:val>
        </c:ser>
        <c:ser>
          <c:idx val="7"/>
          <c:order val="7"/>
          <c:tx>
            <c:strRef>
              <c:f>국내!$M$4:$M$5</c:f>
              <c:strCache>
                <c:ptCount val="2"/>
                <c:pt idx="0">
                  <c:v>2019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국내!$M$6:$M$17</c:f>
              <c:numCache>
                <c:formatCode>0%</c:formatCode>
                <c:ptCount val="9"/>
                <c:pt idx="0">
                  <c:v>0.20020639834881321</c:v>
                </c:pt>
                <c:pt idx="1">
                  <c:v>0.2043343653250774</c:v>
                </c:pt>
                <c:pt idx="2">
                  <c:v>7.0175438596491224E-2</c:v>
                </c:pt>
                <c:pt idx="3">
                  <c:v>0.10319917440660474</c:v>
                </c:pt>
                <c:pt idx="4">
                  <c:v>3.8183694530443756E-2</c:v>
                </c:pt>
                <c:pt idx="5">
                  <c:v>7.2239422084623322E-3</c:v>
                </c:pt>
                <c:pt idx="6">
                  <c:v>7.2239422084623322E-3</c:v>
                </c:pt>
                <c:pt idx="7">
                  <c:v>0.32301341589267285</c:v>
                </c:pt>
                <c:pt idx="8">
                  <c:v>4.1279669762641896E-3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7192592"/>
        <c:axId val="637193152"/>
      </c:barChart>
      <c:catAx>
        <c:axId val="63719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93152"/>
        <c:crosses val="autoZero"/>
        <c:auto val="1"/>
        <c:lblAlgn val="ctr"/>
        <c:lblOffset val="100"/>
        <c:noMultiLvlLbl val="0"/>
      </c:catAx>
      <c:valAx>
        <c:axId val="63719315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9259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9497310661137708"/>
          <c:y val="0.30269062296701066"/>
          <c:w val="7.8754715819367646E-2"/>
          <c:h val="0.3701199213545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484660682669625E-2"/>
          <c:y val="5.4192037699736462E-2"/>
          <c:w val="0.73994574100904686"/>
          <c:h val="0.532598564213253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'지역별마스터,판매된마스터'!$C$24</c:f>
              <c:strCache>
                <c:ptCount val="1"/>
                <c:pt idx="0">
                  <c:v>17년 사용 마스터개수</c:v>
                </c:pt>
              </c:strCache>
            </c:strRef>
          </c:tx>
          <c:spPr>
            <a:pattFill prst="wdUp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'지역별마스터,판매된마스터'!$B$25:$B$38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 아프리카 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'지역별마스터,판매된마스터'!$C$25:$C$38</c:f>
              <c:numCache>
                <c:formatCode>General</c:formatCode>
                <c:ptCount val="14"/>
                <c:pt idx="0">
                  <c:v>1231</c:v>
                </c:pt>
                <c:pt idx="1">
                  <c:v>1306</c:v>
                </c:pt>
                <c:pt idx="2">
                  <c:v>351</c:v>
                </c:pt>
                <c:pt idx="3">
                  <c:v>322</c:v>
                </c:pt>
                <c:pt idx="4">
                  <c:v>378</c:v>
                </c:pt>
                <c:pt idx="5">
                  <c:v>327</c:v>
                </c:pt>
                <c:pt idx="6">
                  <c:v>290</c:v>
                </c:pt>
                <c:pt idx="7">
                  <c:v>218</c:v>
                </c:pt>
                <c:pt idx="8">
                  <c:v>60</c:v>
                </c:pt>
                <c:pt idx="9">
                  <c:v>20</c:v>
                </c:pt>
                <c:pt idx="10">
                  <c:v>34</c:v>
                </c:pt>
                <c:pt idx="11">
                  <c:v>30</c:v>
                </c:pt>
                <c:pt idx="12">
                  <c:v>5</c:v>
                </c:pt>
                <c:pt idx="13">
                  <c:v>1</c:v>
                </c:pt>
              </c:numCache>
            </c:numRef>
          </c:val>
        </c:ser>
        <c:ser>
          <c:idx val="1"/>
          <c:order val="1"/>
          <c:tx>
            <c:strRef>
              <c:f>'지역별마스터,판매된마스터'!$D$24</c:f>
              <c:strCache>
                <c:ptCount val="1"/>
                <c:pt idx="0">
                  <c:v>17년 실제 판매된 마스터개수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'지역별마스터,판매된마스터'!$B$25:$B$38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 아프리카 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'지역별마스터,판매된마스터'!$D$25:$D$38</c:f>
              <c:numCache>
                <c:formatCode>General</c:formatCode>
                <c:ptCount val="14"/>
                <c:pt idx="0">
                  <c:v>891</c:v>
                </c:pt>
                <c:pt idx="1">
                  <c:v>549</c:v>
                </c:pt>
                <c:pt idx="2">
                  <c:v>225</c:v>
                </c:pt>
                <c:pt idx="3">
                  <c:v>208</c:v>
                </c:pt>
                <c:pt idx="4">
                  <c:v>215</c:v>
                </c:pt>
                <c:pt idx="5">
                  <c:v>184</c:v>
                </c:pt>
                <c:pt idx="6">
                  <c:v>161</c:v>
                </c:pt>
                <c:pt idx="7">
                  <c:v>129</c:v>
                </c:pt>
                <c:pt idx="8">
                  <c:v>25</c:v>
                </c:pt>
                <c:pt idx="9">
                  <c:v>8</c:v>
                </c:pt>
                <c:pt idx="10">
                  <c:v>15</c:v>
                </c:pt>
                <c:pt idx="11">
                  <c:v>6</c:v>
                </c:pt>
                <c:pt idx="12">
                  <c:v>4</c:v>
                </c:pt>
                <c:pt idx="13">
                  <c:v>0</c:v>
                </c:pt>
              </c:numCache>
            </c:numRef>
          </c:val>
        </c:ser>
        <c:ser>
          <c:idx val="2"/>
          <c:order val="2"/>
          <c:tx>
            <c:strRef>
              <c:f>'지역별마스터,판매된마스터'!$E$24</c:f>
              <c:strCache>
                <c:ptCount val="1"/>
                <c:pt idx="0">
                  <c:v>18년 사용 마스터개수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'지역별마스터,판매된마스터'!$B$25:$B$38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 아프리카 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'지역별마스터,판매된마스터'!$E$25:$E$38</c:f>
              <c:numCache>
                <c:formatCode>#,##0</c:formatCode>
                <c:ptCount val="14"/>
                <c:pt idx="0">
                  <c:v>1272</c:v>
                </c:pt>
                <c:pt idx="1">
                  <c:v>1211</c:v>
                </c:pt>
                <c:pt idx="2" formatCode="General">
                  <c:v>365</c:v>
                </c:pt>
                <c:pt idx="3" formatCode="General">
                  <c:v>327</c:v>
                </c:pt>
                <c:pt idx="4" formatCode="General">
                  <c:v>320</c:v>
                </c:pt>
                <c:pt idx="5" formatCode="General">
                  <c:v>289</c:v>
                </c:pt>
                <c:pt idx="6" formatCode="General">
                  <c:v>256</c:v>
                </c:pt>
                <c:pt idx="7" formatCode="General">
                  <c:v>197</c:v>
                </c:pt>
                <c:pt idx="8" formatCode="General">
                  <c:v>54</c:v>
                </c:pt>
                <c:pt idx="9" formatCode="General">
                  <c:v>46</c:v>
                </c:pt>
                <c:pt idx="10" formatCode="General">
                  <c:v>27</c:v>
                </c:pt>
                <c:pt idx="11" formatCode="General">
                  <c:v>18</c:v>
                </c:pt>
                <c:pt idx="12" formatCode="General">
                  <c:v>3</c:v>
                </c:pt>
                <c:pt idx="13" formatCode="General">
                  <c:v>2</c:v>
                </c:pt>
              </c:numCache>
            </c:numRef>
          </c:val>
        </c:ser>
        <c:ser>
          <c:idx val="3"/>
          <c:order val="3"/>
          <c:tx>
            <c:strRef>
              <c:f>'지역별마스터,판매된마스터'!$F$24</c:f>
              <c:strCache>
                <c:ptCount val="1"/>
                <c:pt idx="0">
                  <c:v>18년 실제 판매된 마스터개수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'지역별마스터,판매된마스터'!$B$25:$B$38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 아프리카 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'지역별마스터,판매된마스터'!$F$25:$F$38</c:f>
              <c:numCache>
                <c:formatCode>General</c:formatCode>
                <c:ptCount val="14"/>
                <c:pt idx="0">
                  <c:v>930</c:v>
                </c:pt>
                <c:pt idx="1">
                  <c:v>460</c:v>
                </c:pt>
                <c:pt idx="2">
                  <c:v>223</c:v>
                </c:pt>
                <c:pt idx="3">
                  <c:v>205</c:v>
                </c:pt>
                <c:pt idx="4">
                  <c:v>201</c:v>
                </c:pt>
                <c:pt idx="5">
                  <c:v>72</c:v>
                </c:pt>
                <c:pt idx="6">
                  <c:v>235</c:v>
                </c:pt>
                <c:pt idx="7">
                  <c:v>126</c:v>
                </c:pt>
                <c:pt idx="8">
                  <c:v>24</c:v>
                </c:pt>
                <c:pt idx="9">
                  <c:v>18</c:v>
                </c:pt>
                <c:pt idx="10">
                  <c:v>10</c:v>
                </c:pt>
                <c:pt idx="11">
                  <c:v>5</c:v>
                </c:pt>
                <c:pt idx="12">
                  <c:v>3</c:v>
                </c:pt>
                <c:pt idx="13">
                  <c:v>0</c:v>
                </c:pt>
              </c:numCache>
            </c:numRef>
          </c:val>
        </c:ser>
        <c:ser>
          <c:idx val="4"/>
          <c:order val="4"/>
          <c:tx>
            <c:strRef>
              <c:f>'지역별마스터,판매된마스터'!$G$24</c:f>
              <c:strCache>
                <c:ptCount val="1"/>
                <c:pt idx="0">
                  <c:v>19년 사용 마스터개수</c:v>
                </c:pt>
              </c:strCache>
            </c:strRef>
          </c:tx>
          <c:spPr>
            <a:pattFill prst="wdUpDiag">
              <a:fgClr>
                <a:schemeClr val="accent6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'지역별마스터,판매된마스터'!$B$25:$B$38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 아프리카 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'지역별마스터,판매된마스터'!$G$25:$G$38</c:f>
              <c:numCache>
                <c:formatCode>#,##0</c:formatCode>
                <c:ptCount val="14"/>
                <c:pt idx="0">
                  <c:v>1280</c:v>
                </c:pt>
                <c:pt idx="1">
                  <c:v>1050</c:v>
                </c:pt>
                <c:pt idx="2" formatCode="General">
                  <c:v>389</c:v>
                </c:pt>
                <c:pt idx="3" formatCode="General">
                  <c:v>374</c:v>
                </c:pt>
                <c:pt idx="4" formatCode="General">
                  <c:v>307</c:v>
                </c:pt>
                <c:pt idx="5" formatCode="General">
                  <c:v>256</c:v>
                </c:pt>
                <c:pt idx="6" formatCode="General">
                  <c:v>258</c:v>
                </c:pt>
                <c:pt idx="7" formatCode="General">
                  <c:v>190</c:v>
                </c:pt>
                <c:pt idx="8" formatCode="General">
                  <c:v>33</c:v>
                </c:pt>
                <c:pt idx="9" formatCode="General">
                  <c:v>31</c:v>
                </c:pt>
                <c:pt idx="10" formatCode="General">
                  <c:v>22</c:v>
                </c:pt>
                <c:pt idx="11" formatCode="General">
                  <c:v>13</c:v>
                </c:pt>
                <c:pt idx="12" formatCode="General">
                  <c:v>4</c:v>
                </c:pt>
                <c:pt idx="13" formatCode="General">
                  <c:v>2</c:v>
                </c:pt>
              </c:numCache>
            </c:numRef>
          </c:val>
        </c:ser>
        <c:ser>
          <c:idx val="5"/>
          <c:order val="5"/>
          <c:tx>
            <c:strRef>
              <c:f>'지역별마스터,판매된마스터'!$H$24</c:f>
              <c:strCache>
                <c:ptCount val="1"/>
                <c:pt idx="0">
                  <c:v>19년 실제 판매된 마스터개수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'지역별마스터,판매된마스터'!$B$25:$B$38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 아프리카 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'지역별마스터,판매된마스터'!$H$25:$H$38</c:f>
              <c:numCache>
                <c:formatCode>General</c:formatCode>
                <c:ptCount val="14"/>
                <c:pt idx="0">
                  <c:v>896</c:v>
                </c:pt>
                <c:pt idx="1">
                  <c:v>415</c:v>
                </c:pt>
                <c:pt idx="2">
                  <c:v>232</c:v>
                </c:pt>
                <c:pt idx="3">
                  <c:v>232</c:v>
                </c:pt>
                <c:pt idx="4">
                  <c:v>219</c:v>
                </c:pt>
                <c:pt idx="5">
                  <c:v>62</c:v>
                </c:pt>
                <c:pt idx="6">
                  <c:v>162</c:v>
                </c:pt>
                <c:pt idx="7">
                  <c:v>151</c:v>
                </c:pt>
                <c:pt idx="8">
                  <c:v>22</c:v>
                </c:pt>
                <c:pt idx="9">
                  <c:v>12</c:v>
                </c:pt>
                <c:pt idx="10">
                  <c:v>10</c:v>
                </c:pt>
                <c:pt idx="11">
                  <c:v>3</c:v>
                </c:pt>
                <c:pt idx="12">
                  <c:v>3</c:v>
                </c:pt>
                <c:pt idx="1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7198192"/>
        <c:axId val="637198752"/>
      </c:barChart>
      <c:catAx>
        <c:axId val="63719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98752"/>
        <c:crosses val="autoZero"/>
        <c:auto val="1"/>
        <c:lblAlgn val="ctr"/>
        <c:lblOffset val="100"/>
        <c:noMultiLvlLbl val="0"/>
      </c:catAx>
      <c:valAx>
        <c:axId val="63719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9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723471560697457"/>
          <c:y val="9.5030751936747523E-2"/>
          <c:w val="0.1927652843930254"/>
          <c:h val="0.550267870993436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0.46795</cdr:x>
      <cdr:y>0.9122</cdr:y>
    </cdr:from>
    <cdr:to>
      <cdr:x>1</cdr:x>
      <cdr:y>1</cdr:y>
    </cdr:to>
    <cdr:sp macro="" textlink="">
      <cdr:nvSpPr>
        <cdr:cNvPr id="2" name="TextBox 14"/>
        <cdr:cNvSpPr txBox="1"/>
      </cdr:nvSpPr>
      <cdr:spPr>
        <a:xfrm xmlns:a="http://schemas.openxmlformats.org/drawingml/2006/main">
          <a:off x="1436953" y="2238430"/>
          <a:ext cx="1633781" cy="21544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rPr>
            <a:t>* 2019</a:t>
          </a:r>
          <a:r>
            <a: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rPr>
            <a:t>년 회원가입자</a:t>
          </a:r>
          <a:r>
            <a: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rPr>
            <a:t> : </a:t>
          </a:r>
          <a:r>
            <a: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rPr>
            <a:t>약</a:t>
          </a:r>
          <a:r>
            <a: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rPr>
            <a:t>10</a:t>
          </a:r>
          <a:r>
            <a:rPr lang="ko-KR" altLang="en-US" sz="800" dirty="0" err="1">
              <a:latin typeface="나눔고딕" panose="020D0604000000000000" pitchFamily="50" charset="-127"/>
              <a:ea typeface="나눔고딕" panose="020D0604000000000000" pitchFamily="50" charset="-127"/>
            </a:rPr>
            <a:t>만명</a:t>
          </a:r>
          <a:endParaRPr lang="ko-KR" altLang="en-US" sz="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0.10335</cdr:x>
      <cdr:y>0.40275</cdr:y>
    </cdr:from>
    <cdr:to>
      <cdr:x>0.64988</cdr:x>
      <cdr:y>0.47599</cdr:y>
    </cdr:to>
    <cdr:cxnSp macro="">
      <cdr:nvCxnSpPr>
        <cdr:cNvPr id="2" name="직선 화살표 연결선 1"/>
        <cdr:cNvCxnSpPr/>
      </cdr:nvCxnSpPr>
      <cdr:spPr>
        <a:xfrm xmlns:a="http://schemas.openxmlformats.org/drawingml/2006/main" flipV="1">
          <a:off x="836688" y="997194"/>
          <a:ext cx="4424605" cy="181345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prstDash val="sysDash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6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2020-01-06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6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6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2020-01-06</a:t>
            </a:fld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2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6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8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238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97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099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471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336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3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1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3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1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36513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2020-01-06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3" y="6584961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3" descr="31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3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3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>
                <a:ea typeface="Tahoma" panose="020B0604030504040204" pitchFamily="34" charset="0"/>
              </a:rPr>
              <a:t>/ 10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1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</p:sldLayoutIdLst>
  <p:hf hdr="0"/>
  <p:txStyles>
    <p:titleStyle>
      <a:lvl1pPr algn="l" defTabSz="91433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6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7.xml"/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87" y="4817939"/>
            <a:ext cx="3159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2019.12</a:t>
            </a:r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7753" y="2736641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고객 및 상품 기초  통계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2020-01-09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en-US" altLang="ko-KR" dirty="0" smtClean="0"/>
              <a:t>50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47924" y="118927"/>
            <a:ext cx="424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2019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결산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여행 동향 요약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리포트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9340" y="694748"/>
            <a:ext cx="8369420" cy="5793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해당 여행 동향 리포트는 </a:t>
            </a:r>
            <a:r>
              <a:rPr lang="en-US" altLang="ko-KR" sz="950" dirty="0" smtClean="0">
                <a:latin typeface="+mn-ea"/>
              </a:rPr>
              <a:t>2020</a:t>
            </a:r>
            <a:r>
              <a:rPr lang="ko-KR" altLang="en-US" sz="950" dirty="0" smtClean="0">
                <a:latin typeface="+mn-ea"/>
              </a:rPr>
              <a:t>년 </a:t>
            </a:r>
            <a:r>
              <a:rPr lang="ko-KR" altLang="en-US" sz="950" dirty="0" smtClean="0">
                <a:latin typeface="+mn-ea"/>
              </a:rPr>
              <a:t>자사 고객들의 여행 </a:t>
            </a:r>
            <a:r>
              <a:rPr lang="ko-KR" altLang="en-US" sz="950" dirty="0" err="1" smtClean="0">
                <a:latin typeface="+mn-ea"/>
              </a:rPr>
              <a:t>트렌드를</a:t>
            </a:r>
            <a:r>
              <a:rPr lang="ko-KR" altLang="en-US" sz="950" dirty="0" smtClean="0">
                <a:latin typeface="+mn-ea"/>
              </a:rPr>
              <a:t> 예측 및 분석하기 위해 </a:t>
            </a:r>
            <a:r>
              <a:rPr lang="en-US" altLang="ko-KR" sz="950" b="1" dirty="0" smtClean="0">
                <a:latin typeface="+mn-ea"/>
              </a:rPr>
              <a:t>2016~2019</a:t>
            </a:r>
            <a:r>
              <a:rPr lang="ko-KR" altLang="en-US" sz="950" b="1" dirty="0" smtClean="0">
                <a:latin typeface="+mn-ea"/>
              </a:rPr>
              <a:t>년 데이터를 바탕으로 작성하였습니다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 회원가입의 경우 </a:t>
            </a:r>
            <a:r>
              <a:rPr lang="ko-KR" altLang="en-US" sz="950" dirty="0" smtClean="0">
                <a:latin typeface="+mn-ea"/>
              </a:rPr>
              <a:t>작년</a:t>
            </a:r>
            <a:r>
              <a:rPr lang="ko-KR" altLang="en-US" sz="950" dirty="0" smtClean="0">
                <a:latin typeface="+mn-ea"/>
              </a:rPr>
              <a:t> 대비 약 </a:t>
            </a:r>
            <a:r>
              <a:rPr lang="en-US" altLang="ko-KR" sz="950" dirty="0" smtClean="0">
                <a:latin typeface="+mn-ea"/>
              </a:rPr>
              <a:t>30%</a:t>
            </a:r>
            <a:r>
              <a:rPr lang="ko-KR" altLang="en-US" sz="950" dirty="0" smtClean="0">
                <a:latin typeface="+mn-ea"/>
              </a:rPr>
              <a:t>가 감소한 것으로 보이며 주 원인으로는 </a:t>
            </a:r>
            <a:r>
              <a:rPr lang="en-US" altLang="ko-KR" sz="950" dirty="0" smtClean="0">
                <a:latin typeface="+mn-ea"/>
              </a:rPr>
              <a:t>SNS </a:t>
            </a:r>
            <a:r>
              <a:rPr lang="ko-KR" altLang="en-US" sz="950" dirty="0" smtClean="0">
                <a:latin typeface="+mn-ea"/>
              </a:rPr>
              <a:t>간편가입 비중이 줄어든 것이 원인으로 분석된다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특히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en-US" altLang="ko-KR" sz="950" dirty="0" smtClean="0">
                <a:latin typeface="+mn-ea"/>
              </a:rPr>
              <a:t>SNS </a:t>
            </a:r>
            <a:r>
              <a:rPr lang="ko-KR" altLang="en-US" sz="950" dirty="0" smtClean="0">
                <a:latin typeface="+mn-ea"/>
              </a:rPr>
              <a:t>간편가입 비중이 감소하게 된 이유로는 간편가입 도입 당시 핸드폰 인증을 요구하지 않았지만 </a:t>
            </a:r>
            <a:r>
              <a:rPr lang="en-US" altLang="ko-KR" sz="950" dirty="0" smtClean="0">
                <a:latin typeface="+mn-ea"/>
              </a:rPr>
              <a:t>2019</a:t>
            </a:r>
            <a:r>
              <a:rPr lang="ko-KR" altLang="en-US" sz="950" dirty="0" smtClean="0">
                <a:latin typeface="+mn-ea"/>
              </a:rPr>
              <a:t>년에 </a:t>
            </a:r>
            <a:r>
              <a:rPr lang="en-US" altLang="ko-KR" sz="950" dirty="0" smtClean="0">
                <a:latin typeface="+mn-ea"/>
              </a:rPr>
              <a:t>SNS</a:t>
            </a:r>
            <a:r>
              <a:rPr lang="ko-KR" altLang="en-US" sz="950" dirty="0" smtClean="0">
                <a:latin typeface="+mn-ea"/>
              </a:rPr>
              <a:t>회원의 중복가입을 방지하기 위해 핸드폰 인증을 도입하였고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결</a:t>
            </a:r>
            <a:r>
              <a:rPr lang="ko-KR" altLang="en-US" sz="950" b="1" dirty="0" smtClean="0">
                <a:latin typeface="+mn-ea"/>
              </a:rPr>
              <a:t>과적으로 작년 대비 감소한 수치를 보여주고 있는 것으로 분석된다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연령별 분석에 따르면</a:t>
            </a:r>
            <a:r>
              <a:rPr lang="ko-KR" altLang="en-US" sz="950" dirty="0" smtClean="0">
                <a:latin typeface="+mn-ea"/>
              </a:rPr>
              <a:t> 회원가입 및 출발자수 모두 </a:t>
            </a:r>
            <a:r>
              <a:rPr lang="en-US" altLang="ko-KR" sz="950" dirty="0" smtClean="0">
                <a:latin typeface="+mn-ea"/>
              </a:rPr>
              <a:t>30</a:t>
            </a:r>
            <a:r>
              <a:rPr lang="ko-KR" altLang="en-US" sz="950" dirty="0" smtClean="0">
                <a:latin typeface="+mn-ea"/>
              </a:rPr>
              <a:t>대 이하의 </a:t>
            </a:r>
            <a:r>
              <a:rPr lang="ko-KR" altLang="en-US" sz="950" dirty="0" err="1" smtClean="0">
                <a:latin typeface="+mn-ea"/>
              </a:rPr>
              <a:t>젊은층들이</a:t>
            </a:r>
            <a:r>
              <a:rPr lang="ko-KR" altLang="en-US" sz="950" dirty="0" smtClean="0">
                <a:latin typeface="+mn-ea"/>
              </a:rPr>
              <a:t> 지속적으로 감소하고 있는 추세이며 주 </a:t>
            </a:r>
            <a:r>
              <a:rPr lang="ko-KR" altLang="en-US" sz="950" dirty="0" err="1" smtClean="0">
                <a:latin typeface="+mn-ea"/>
              </a:rPr>
              <a:t>타겟층인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dirty="0" err="1" smtClean="0">
                <a:latin typeface="+mn-ea"/>
              </a:rPr>
              <a:t>중장년층의</a:t>
            </a:r>
            <a:r>
              <a:rPr lang="ko-KR" altLang="en-US" sz="950" dirty="0" smtClean="0">
                <a:latin typeface="+mn-ea"/>
              </a:rPr>
              <a:t> 경우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비중이 증가하고 있는 추세로 해를 거듭 할수록 연령층의 양극화가 심화되고 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주 소비 </a:t>
            </a:r>
            <a:r>
              <a:rPr lang="ko-KR" altLang="en-US" sz="950" dirty="0" err="1" smtClean="0">
                <a:latin typeface="+mn-ea"/>
              </a:rPr>
              <a:t>타겟층인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dirty="0" err="1" smtClean="0">
                <a:latin typeface="+mn-ea"/>
              </a:rPr>
              <a:t>중장년층의</a:t>
            </a:r>
            <a:r>
              <a:rPr lang="ko-KR" altLang="en-US" sz="950" dirty="0" smtClean="0">
                <a:latin typeface="+mn-ea"/>
              </a:rPr>
              <a:t> 볼륨을 성공적으로 유치시키고 있지만 지속되는 연령층의 상승이동으로 인하여 발생될 수 있는 문제 및 변수에 대해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대처할 수 있는 상품 및 마케팅 방법론에 대해서 점검할 필요성이 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err="1" smtClean="0">
                <a:latin typeface="+mn-ea"/>
              </a:rPr>
              <a:t>고객군</a:t>
            </a:r>
            <a:r>
              <a:rPr lang="ko-KR" altLang="en-US" sz="950" b="1" dirty="0" smtClean="0">
                <a:latin typeface="+mn-ea"/>
              </a:rPr>
              <a:t> 거주지 비중을 살펴보면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회원가입자의 </a:t>
            </a:r>
            <a:r>
              <a:rPr lang="en-US" altLang="ko-KR" sz="950" dirty="0" smtClean="0">
                <a:latin typeface="+mn-ea"/>
              </a:rPr>
              <a:t>60% </a:t>
            </a:r>
            <a:r>
              <a:rPr lang="ko-KR" altLang="en-US" sz="950" dirty="0" smtClean="0">
                <a:latin typeface="+mn-ea"/>
              </a:rPr>
              <a:t>이상이 서울 및 </a:t>
            </a:r>
            <a:r>
              <a:rPr lang="ko-KR" altLang="en-US" sz="950" dirty="0" err="1" smtClean="0">
                <a:latin typeface="+mn-ea"/>
              </a:rPr>
              <a:t>경기권에</a:t>
            </a:r>
            <a:r>
              <a:rPr lang="ko-KR" altLang="en-US" sz="950" dirty="0" smtClean="0">
                <a:latin typeface="+mn-ea"/>
              </a:rPr>
              <a:t> 밀집해 있으며 </a:t>
            </a:r>
            <a:r>
              <a:rPr lang="en-US" altLang="ko-KR" sz="950" dirty="0" smtClean="0">
                <a:latin typeface="+mn-ea"/>
              </a:rPr>
              <a:t>2019</a:t>
            </a:r>
            <a:r>
              <a:rPr lang="ko-KR" altLang="en-US" sz="950" dirty="0" smtClean="0">
                <a:latin typeface="+mn-ea"/>
              </a:rPr>
              <a:t>년의 경우 </a:t>
            </a:r>
            <a:r>
              <a:rPr lang="ko-KR" altLang="en-US" sz="950" dirty="0" err="1" smtClean="0">
                <a:latin typeface="+mn-ea"/>
              </a:rPr>
              <a:t>경기권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가입자수가 </a:t>
            </a:r>
            <a:r>
              <a:rPr lang="ko-KR" altLang="en-US" sz="950" dirty="0" err="1" smtClean="0">
                <a:latin typeface="+mn-ea"/>
              </a:rPr>
              <a:t>서울권</a:t>
            </a:r>
            <a:r>
              <a:rPr lang="ko-KR" altLang="en-US" sz="950" dirty="0" smtClean="0">
                <a:latin typeface="+mn-ea"/>
              </a:rPr>
              <a:t> 가입자수를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넘어서고 있는 추세이다</a:t>
            </a:r>
            <a:r>
              <a:rPr lang="en-US" altLang="ko-KR" sz="950" dirty="0" smtClean="0">
                <a:latin typeface="+mn-ea"/>
              </a:rPr>
              <a:t>. </a:t>
            </a:r>
            <a:r>
              <a:rPr lang="ko-KR" altLang="en-US" sz="950" dirty="0" smtClean="0">
                <a:latin typeface="+mn-ea"/>
              </a:rPr>
              <a:t>두 지역의 상세 비중에서는 주로 </a:t>
            </a:r>
            <a:r>
              <a:rPr lang="ko-KR" altLang="en-US" sz="950" dirty="0" err="1" smtClean="0">
                <a:latin typeface="+mn-ea"/>
              </a:rPr>
              <a:t>강남권</a:t>
            </a:r>
            <a:r>
              <a:rPr lang="en-US" altLang="ko-KR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및 용인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성남 고양에 밀집해 있는 것으로 나타났다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해당 지역의 공통적인 특성으로는 인구 밀집도 및 부동산 가격이 높고 또한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생활의 질이 상대적으로 높은 지역으로 분석되며 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대체적으로 금전적인 </a:t>
            </a:r>
            <a:r>
              <a:rPr lang="ko-KR" altLang="en-US" sz="950" b="1" dirty="0" err="1" smtClean="0">
                <a:latin typeface="+mn-ea"/>
              </a:rPr>
              <a:t>여유있는</a:t>
            </a:r>
            <a:r>
              <a:rPr lang="ko-KR" altLang="en-US" sz="950" b="1" dirty="0" smtClean="0">
                <a:latin typeface="+mn-ea"/>
              </a:rPr>
              <a:t> 고객들이 여행에 대한 관심도가 높은 것으로 사료된다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자사의 지역별 및 연령별 실적의 경우 </a:t>
            </a:r>
            <a:r>
              <a:rPr lang="ko-KR" altLang="en-US" sz="950" dirty="0" smtClean="0">
                <a:latin typeface="+mn-ea"/>
              </a:rPr>
              <a:t>일본 불매운동의 영향으로 인해 전체 연령대에서 일본지역 여행비중이 큰 폭으로 감소하고 있는 추세이다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동남아 여행비중의 경우 전체 연령대에서 </a:t>
            </a:r>
            <a:r>
              <a:rPr lang="en-US" altLang="ko-KR" sz="950" dirty="0">
                <a:latin typeface="+mn-ea"/>
              </a:rPr>
              <a:t>6</a:t>
            </a:r>
            <a:r>
              <a:rPr lang="en-US" altLang="ko-KR" sz="950" dirty="0" smtClean="0">
                <a:latin typeface="+mn-ea"/>
              </a:rPr>
              <a:t>0</a:t>
            </a:r>
            <a:r>
              <a:rPr lang="ko-KR" altLang="en-US" sz="950" dirty="0" smtClean="0">
                <a:latin typeface="+mn-ea"/>
              </a:rPr>
              <a:t>대를 제외하고 가장 높은 비중을 차지 하고 있고</a:t>
            </a:r>
            <a:r>
              <a:rPr lang="en-US" altLang="ko-KR" sz="950" dirty="0" smtClean="0">
                <a:latin typeface="+mn-ea"/>
              </a:rPr>
              <a:t>, 60</a:t>
            </a:r>
            <a:r>
              <a:rPr lang="ko-KR" altLang="en-US" sz="950" dirty="0" smtClean="0">
                <a:latin typeface="+mn-ea"/>
              </a:rPr>
              <a:t>대의 경우에도 동남아 여행비중이 유럽다음으로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2</a:t>
            </a:r>
            <a:r>
              <a:rPr lang="ko-KR" altLang="en-US" sz="950" dirty="0" smtClean="0">
                <a:latin typeface="+mn-ea"/>
              </a:rPr>
              <a:t>위에 머물러있지만 지속적으로 증가하고 있는 추세이다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대체적으로 </a:t>
            </a:r>
            <a:r>
              <a:rPr lang="en-US" altLang="ko-KR" sz="950" dirty="0" smtClean="0">
                <a:latin typeface="+mn-ea"/>
              </a:rPr>
              <a:t>30</a:t>
            </a:r>
            <a:r>
              <a:rPr lang="ko-KR" altLang="en-US" sz="950" dirty="0" smtClean="0">
                <a:latin typeface="+mn-ea"/>
              </a:rPr>
              <a:t>대 및 </a:t>
            </a:r>
            <a:r>
              <a:rPr lang="en-US" altLang="ko-KR" sz="950" dirty="0" smtClean="0">
                <a:latin typeface="+mn-ea"/>
              </a:rPr>
              <a:t>40</a:t>
            </a:r>
            <a:r>
              <a:rPr lang="ko-KR" altLang="en-US" sz="950" dirty="0" smtClean="0">
                <a:latin typeface="+mn-ea"/>
              </a:rPr>
              <a:t>대 보호자와 함께 여행을 하는 </a:t>
            </a:r>
            <a:r>
              <a:rPr lang="en-US" altLang="ko-KR" sz="950" dirty="0" smtClean="0">
                <a:latin typeface="+mn-ea"/>
              </a:rPr>
              <a:t>10</a:t>
            </a:r>
            <a:r>
              <a:rPr lang="ko-KR" altLang="en-US" sz="950" dirty="0" smtClean="0">
                <a:latin typeface="+mn-ea"/>
              </a:rPr>
              <a:t>대 미만 고객의 경우 </a:t>
            </a:r>
            <a:r>
              <a:rPr lang="en-US" altLang="ko-KR" sz="950" dirty="0" smtClean="0">
                <a:latin typeface="+mn-ea"/>
              </a:rPr>
              <a:t>2018</a:t>
            </a:r>
            <a:r>
              <a:rPr lang="ko-KR" altLang="en-US" sz="950" dirty="0" smtClean="0">
                <a:latin typeface="+mn-ea"/>
              </a:rPr>
              <a:t>년에 접어들어 동남아 비중 증가율이 주춤하였지만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2019</a:t>
            </a:r>
            <a:r>
              <a:rPr lang="ko-KR" altLang="en-US" sz="950" dirty="0" smtClean="0">
                <a:latin typeface="+mn-ea"/>
              </a:rPr>
              <a:t>년에 큰 폭으로 </a:t>
            </a:r>
            <a:r>
              <a:rPr lang="ko-KR" altLang="en-US" sz="950" dirty="0" err="1" smtClean="0">
                <a:latin typeface="+mn-ea"/>
              </a:rPr>
              <a:t>재증가</a:t>
            </a:r>
            <a:r>
              <a:rPr lang="ko-KR" altLang="en-US" sz="950" dirty="0" smtClean="0">
                <a:latin typeface="+mn-ea"/>
              </a:rPr>
              <a:t> 하는 추세를 보여주고 있으며 이와 마찬가지로 </a:t>
            </a:r>
            <a:r>
              <a:rPr lang="en-US" altLang="ko-KR" sz="950" dirty="0" smtClean="0">
                <a:latin typeface="+mn-ea"/>
              </a:rPr>
              <a:t>10</a:t>
            </a:r>
            <a:r>
              <a:rPr lang="ko-KR" altLang="en-US" sz="950" dirty="0" smtClean="0">
                <a:latin typeface="+mn-ea"/>
              </a:rPr>
              <a:t>대 고객의 동남아 여행 비중이 지속적으로 증가하고 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따라서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일본으로 유입되던 많은 가족단위 여행객들이 대체 여행지로 주로 동남아 지역을 선택하고 있는 것으로 사료되며 </a:t>
            </a:r>
            <a:r>
              <a:rPr lang="ko-KR" altLang="en-US" sz="950" b="1" dirty="0" err="1" smtClean="0">
                <a:latin typeface="+mn-ea"/>
              </a:rPr>
              <a:t>괌사이판의</a:t>
            </a:r>
            <a:r>
              <a:rPr lang="ko-KR" altLang="en-US" sz="950" b="1" dirty="0" smtClean="0">
                <a:latin typeface="+mn-ea"/>
              </a:rPr>
              <a:t> 경우에도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증가 추세로써 소폭 유입되고 있는 것으로 분석된다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그리고 </a:t>
            </a:r>
            <a:r>
              <a:rPr lang="en-US" altLang="ko-KR" sz="950" b="1" dirty="0" smtClean="0">
                <a:latin typeface="+mn-ea"/>
              </a:rPr>
              <a:t>50</a:t>
            </a:r>
            <a:r>
              <a:rPr lang="ko-KR" altLang="en-US" sz="950" b="1" dirty="0" smtClean="0">
                <a:latin typeface="+mn-ea"/>
              </a:rPr>
              <a:t>대 이상의 </a:t>
            </a:r>
            <a:r>
              <a:rPr lang="ko-KR" altLang="en-US" sz="950" b="1" dirty="0" err="1" smtClean="0">
                <a:latin typeface="+mn-ea"/>
              </a:rPr>
              <a:t>중장년층의</a:t>
            </a:r>
            <a:r>
              <a:rPr lang="ko-KR" altLang="en-US" sz="950" b="1" dirty="0" smtClean="0">
                <a:latin typeface="+mn-ea"/>
              </a:rPr>
              <a:t> 경우 동남아뿐만 아니라 중국여행의 비중도 지속적으로 증가하고 있는 추세이므로 부부동반 및 단체 여행 유형으로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일본대체 여행지로써 유입되고 있는 것으로 나타났다</a:t>
            </a:r>
            <a:r>
              <a:rPr lang="en-US" altLang="ko-KR" sz="950" b="1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112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2020-01-09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en-US" altLang="ko-KR" dirty="0" smtClean="0"/>
              <a:t>50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84382" y="578068"/>
            <a:ext cx="8775236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en-US" altLang="ko-KR" sz="950" b="1" dirty="0" smtClean="0">
                <a:latin typeface="+mn-ea"/>
              </a:rPr>
              <a:t>2019</a:t>
            </a:r>
            <a:r>
              <a:rPr lang="ko-KR" altLang="en-US" sz="950" b="1" dirty="0" smtClean="0">
                <a:latin typeface="+mn-ea"/>
              </a:rPr>
              <a:t>년 자사 총판매금액의 경우</a:t>
            </a:r>
            <a:r>
              <a:rPr lang="ko-KR" altLang="en-US" sz="950" dirty="0" smtClean="0">
                <a:latin typeface="+mn-ea"/>
              </a:rPr>
              <a:t> 작년 대비 일본지역은 약 </a:t>
            </a:r>
            <a:r>
              <a:rPr lang="en-US" altLang="ko-KR" sz="950" dirty="0" smtClean="0">
                <a:latin typeface="+mn-ea"/>
              </a:rPr>
              <a:t>39% </a:t>
            </a:r>
            <a:r>
              <a:rPr lang="ko-KR" altLang="en-US" sz="950" dirty="0" smtClean="0">
                <a:latin typeface="+mn-ea"/>
              </a:rPr>
              <a:t>감소하였고 동남아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유럽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중국에서는 작년과 비슷한 판매금액 추이를 나타내고 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연령별로 분석을 진행한 경우 일본지역이 타 지역에 비해 </a:t>
            </a:r>
            <a:r>
              <a:rPr lang="en-US" altLang="ko-KR" sz="950" dirty="0" smtClean="0">
                <a:latin typeface="+mn-ea"/>
              </a:rPr>
              <a:t>10</a:t>
            </a:r>
            <a:r>
              <a:rPr lang="ko-KR" altLang="en-US" sz="950" dirty="0" smtClean="0">
                <a:latin typeface="+mn-ea"/>
              </a:rPr>
              <a:t>대</a:t>
            </a:r>
            <a:r>
              <a:rPr lang="en-US" altLang="ko-KR" sz="950" dirty="0" smtClean="0">
                <a:latin typeface="+mn-ea"/>
              </a:rPr>
              <a:t>, 40</a:t>
            </a:r>
            <a:r>
              <a:rPr lang="ko-KR" altLang="en-US" sz="950" dirty="0" smtClean="0">
                <a:latin typeface="+mn-ea"/>
              </a:rPr>
              <a:t>대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판매비중이 높았고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동남아 지역도 마찬가지로 작년과 동일하게 </a:t>
            </a:r>
            <a:r>
              <a:rPr lang="en-US" altLang="ko-KR" sz="950" dirty="0" smtClean="0">
                <a:latin typeface="+mn-ea"/>
              </a:rPr>
              <a:t>10</a:t>
            </a:r>
            <a:r>
              <a:rPr lang="ko-KR" altLang="en-US" sz="950" dirty="0" smtClean="0">
                <a:latin typeface="+mn-ea"/>
              </a:rPr>
              <a:t>대 미만</a:t>
            </a:r>
            <a:r>
              <a:rPr lang="en-US" altLang="ko-KR" sz="950" dirty="0" smtClean="0">
                <a:latin typeface="+mn-ea"/>
              </a:rPr>
              <a:t>, 10</a:t>
            </a:r>
            <a:r>
              <a:rPr lang="ko-KR" altLang="en-US" sz="950" dirty="0" smtClean="0">
                <a:latin typeface="+mn-ea"/>
              </a:rPr>
              <a:t>대</a:t>
            </a:r>
            <a:r>
              <a:rPr lang="en-US" altLang="ko-KR" sz="950" dirty="0" smtClean="0">
                <a:latin typeface="+mn-ea"/>
              </a:rPr>
              <a:t>, 30</a:t>
            </a:r>
            <a:r>
              <a:rPr lang="ko-KR" altLang="en-US" sz="950" dirty="0" smtClean="0">
                <a:latin typeface="+mn-ea"/>
              </a:rPr>
              <a:t>대</a:t>
            </a:r>
            <a:r>
              <a:rPr lang="en-US" altLang="ko-KR" sz="950" dirty="0" smtClean="0">
                <a:latin typeface="+mn-ea"/>
              </a:rPr>
              <a:t>,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40</a:t>
            </a:r>
            <a:r>
              <a:rPr lang="ko-KR" altLang="en-US" sz="950" dirty="0" smtClean="0">
                <a:latin typeface="+mn-ea"/>
              </a:rPr>
              <a:t>대 판매비중이 다른 지역에 비해 높았다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또한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중국지역의 경우 다른 지역에 비해 </a:t>
            </a:r>
            <a:r>
              <a:rPr lang="ko-KR" altLang="en-US" sz="950" dirty="0" err="1" smtClean="0">
                <a:latin typeface="+mn-ea"/>
              </a:rPr>
              <a:t>중장년층의</a:t>
            </a:r>
            <a:r>
              <a:rPr lang="ko-KR" altLang="en-US" sz="950" dirty="0" smtClean="0">
                <a:latin typeface="+mn-ea"/>
              </a:rPr>
              <a:t> 비중이 가장 높은 것으로 나타났으며 </a:t>
            </a:r>
            <a:r>
              <a:rPr lang="en-US" altLang="ko-KR" sz="950" dirty="0" smtClean="0">
                <a:latin typeface="+mn-ea"/>
              </a:rPr>
              <a:t>10</a:t>
            </a:r>
            <a:r>
              <a:rPr lang="ko-KR" altLang="en-US" sz="950" dirty="0" smtClean="0">
                <a:latin typeface="+mn-ea"/>
              </a:rPr>
              <a:t>대 이하 고객의 비중은 상대적으로 낮은 것으로 분석된다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따라서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총판매금액 데이터에서 확인할 수 있는 요점으로는 동남아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일본 지역에 지속적으로 가족유형의 여행자들이 유입되고 있고 중국의 경우 가족유형의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여행보다는 </a:t>
            </a:r>
            <a:r>
              <a:rPr lang="ko-KR" altLang="en-US" sz="950" b="1" dirty="0" err="1" smtClean="0">
                <a:latin typeface="+mn-ea"/>
              </a:rPr>
              <a:t>중장년층</a:t>
            </a:r>
            <a:r>
              <a:rPr lang="ko-KR" altLang="en-US" sz="950" b="1" dirty="0" smtClean="0">
                <a:latin typeface="+mn-ea"/>
              </a:rPr>
              <a:t> 이상의 고객들끼리 떠나는 여행유형이 강한 것으로 다시 한번 확인 할 수 있다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그렇다면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중국과 동남아 지역 상품을 이용하는 고객들이 선호하는 상품 가격대는 얼마일까</a:t>
            </a:r>
            <a:r>
              <a:rPr lang="en-US" altLang="ko-KR" sz="950" b="1" dirty="0" smtClean="0">
                <a:latin typeface="+mn-ea"/>
              </a:rPr>
              <a:t>?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연령대별 평균 판매금액에 따르면 동남아의 경우 </a:t>
            </a:r>
            <a:r>
              <a:rPr lang="en-US" altLang="ko-KR" sz="950" dirty="0" smtClean="0">
                <a:latin typeface="+mn-ea"/>
              </a:rPr>
              <a:t>10</a:t>
            </a:r>
            <a:r>
              <a:rPr lang="ko-KR" altLang="en-US" sz="950" dirty="0" smtClean="0">
                <a:latin typeface="+mn-ea"/>
              </a:rPr>
              <a:t>대 미만을 제외하고 평균 </a:t>
            </a:r>
            <a:r>
              <a:rPr lang="en-US" altLang="ko-KR" sz="950" dirty="0" smtClean="0">
                <a:latin typeface="+mn-ea"/>
              </a:rPr>
              <a:t>62</a:t>
            </a:r>
            <a:r>
              <a:rPr lang="ko-KR" altLang="en-US" sz="950" dirty="0" smtClean="0">
                <a:latin typeface="+mn-ea"/>
              </a:rPr>
              <a:t>만원 정도의 가격대를 선호하는 것을 알 수 있고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취소율의</a:t>
            </a:r>
            <a:r>
              <a:rPr lang="ko-KR" altLang="en-US" sz="950" dirty="0" smtClean="0">
                <a:latin typeface="+mn-ea"/>
              </a:rPr>
              <a:t> 경우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100</a:t>
            </a:r>
            <a:r>
              <a:rPr lang="ko-KR" altLang="en-US" sz="950" dirty="0" err="1" smtClean="0">
                <a:latin typeface="+mn-ea"/>
              </a:rPr>
              <a:t>만원대</a:t>
            </a:r>
            <a:r>
              <a:rPr lang="ko-KR" altLang="en-US" sz="950" dirty="0" smtClean="0">
                <a:latin typeface="+mn-ea"/>
              </a:rPr>
              <a:t> 이상의 상품의 </a:t>
            </a:r>
            <a:r>
              <a:rPr lang="ko-KR" altLang="en-US" sz="950" dirty="0" err="1" smtClean="0">
                <a:latin typeface="+mn-ea"/>
              </a:rPr>
              <a:t>취소율이</a:t>
            </a:r>
            <a:r>
              <a:rPr lang="ko-KR" altLang="en-US" sz="950" dirty="0" smtClean="0">
                <a:latin typeface="+mn-ea"/>
              </a:rPr>
              <a:t> 가장 높은 것으로 나타났다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동남아의 경우 저렴한 경비로 여행을 갈 수 있는 곳으로 인식되어 고가 상품에 대한 선호도는 낮고  최저가 패키지의 경우 과도한 선택관광 및 쇼핑으로 인하여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선호하지 않는 경향이 있음으로 중간 가격대 상품을 가장 선호하는 것으로 사료된다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중국의 경우 </a:t>
            </a:r>
            <a:r>
              <a:rPr lang="ko-KR" altLang="en-US" sz="950" dirty="0" err="1" smtClean="0">
                <a:latin typeface="+mn-ea"/>
              </a:rPr>
              <a:t>중장년층</a:t>
            </a:r>
            <a:r>
              <a:rPr lang="ko-KR" altLang="en-US" sz="950" dirty="0" smtClean="0">
                <a:latin typeface="+mn-ea"/>
              </a:rPr>
              <a:t> 고객들이 다른 연령층에 비해 고가 상품을 선호하는 것으로 보여지며 지역별 </a:t>
            </a:r>
            <a:r>
              <a:rPr lang="en-US" altLang="ko-KR" sz="950" dirty="0" smtClean="0">
                <a:latin typeface="+mn-ea"/>
              </a:rPr>
              <a:t>TOP5 </a:t>
            </a:r>
            <a:r>
              <a:rPr lang="ko-KR" altLang="en-US" sz="950" dirty="0" smtClean="0">
                <a:latin typeface="+mn-ea"/>
              </a:rPr>
              <a:t>인기상품에서</a:t>
            </a:r>
            <a:r>
              <a:rPr lang="ko-KR" altLang="en-US" sz="950" b="1" dirty="0" smtClean="0">
                <a:latin typeface="+mn-ea"/>
              </a:rPr>
              <a:t> </a:t>
            </a:r>
            <a:r>
              <a:rPr lang="ko-KR" altLang="en-US" sz="950" b="1" dirty="0" err="1" smtClean="0">
                <a:latin typeface="+mn-ea"/>
              </a:rPr>
              <a:t>노팁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노옵션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노쇼핑</a:t>
            </a:r>
            <a:r>
              <a:rPr lang="ko-KR" altLang="en-US" sz="950" b="1" dirty="0" smtClean="0">
                <a:latin typeface="+mn-ea"/>
              </a:rPr>
              <a:t> 상품이 주를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이루는 것으로 보아 비용보다 쇼핑이나 옵션에 대한 거부감이 큰 것으로 분석된다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자사의 </a:t>
            </a:r>
            <a:r>
              <a:rPr lang="ko-KR" altLang="en-US" sz="950" b="1" dirty="0">
                <a:latin typeface="+mn-ea"/>
              </a:rPr>
              <a:t>지역별 고객 </a:t>
            </a:r>
            <a:r>
              <a:rPr lang="ko-KR" altLang="en-US" sz="950" b="1" dirty="0" err="1">
                <a:latin typeface="+mn-ea"/>
              </a:rPr>
              <a:t>재구매</a:t>
            </a:r>
            <a:r>
              <a:rPr lang="ko-KR" altLang="en-US" sz="950" b="1" dirty="0">
                <a:latin typeface="+mn-ea"/>
              </a:rPr>
              <a:t> 패턴의 경우</a:t>
            </a:r>
            <a:r>
              <a:rPr lang="ko-KR" altLang="en-US" sz="950" dirty="0">
                <a:latin typeface="+mn-ea"/>
              </a:rPr>
              <a:t> 해당년도 기준 과거 </a:t>
            </a:r>
            <a:r>
              <a:rPr lang="en-US" altLang="ko-KR" sz="950" dirty="0">
                <a:latin typeface="+mn-ea"/>
              </a:rPr>
              <a:t>3</a:t>
            </a:r>
            <a:r>
              <a:rPr lang="ko-KR" altLang="en-US" sz="950" dirty="0">
                <a:latin typeface="+mn-ea"/>
              </a:rPr>
              <a:t>년간의 구매기록에 근거하여 최초 여행지에서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회차에</a:t>
            </a:r>
            <a:r>
              <a:rPr lang="ko-KR" altLang="en-US" sz="950" dirty="0">
                <a:latin typeface="+mn-ea"/>
              </a:rPr>
              <a:t> 어떤 지역으로 유입되고 있는지 </a:t>
            </a:r>
            <a:r>
              <a:rPr lang="ko-KR" altLang="en-US" sz="950" dirty="0" smtClean="0">
                <a:latin typeface="+mn-ea"/>
              </a:rPr>
              <a:t>분석을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진행하였다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분석 대상 지역으로는 유럽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동남아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중국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일본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미주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err="1">
                <a:latin typeface="+mn-ea"/>
              </a:rPr>
              <a:t>대양주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err="1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국내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기타 순이다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공통적으로 </a:t>
            </a:r>
            <a:r>
              <a:rPr lang="ko-KR" altLang="en-US" sz="950" dirty="0">
                <a:latin typeface="+mn-ea"/>
              </a:rPr>
              <a:t>일본불매운동으로 </a:t>
            </a:r>
            <a:r>
              <a:rPr lang="ko-KR" altLang="en-US" sz="950" dirty="0" smtClean="0">
                <a:latin typeface="+mn-ea"/>
              </a:rPr>
              <a:t>영향으로 </a:t>
            </a:r>
            <a:r>
              <a:rPr lang="en-US" altLang="ko-KR" sz="950" dirty="0" smtClean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여행지로 일본지역을 </a:t>
            </a:r>
            <a:r>
              <a:rPr lang="ko-KR" altLang="en-US" sz="950" dirty="0">
                <a:latin typeface="+mn-ea"/>
              </a:rPr>
              <a:t>선택하는 </a:t>
            </a:r>
            <a:r>
              <a:rPr lang="ko-KR" altLang="en-US" sz="950" dirty="0" smtClean="0">
                <a:latin typeface="+mn-ea"/>
              </a:rPr>
              <a:t>비중도 </a:t>
            </a:r>
            <a:r>
              <a:rPr lang="ko-KR" altLang="en-US" sz="950" dirty="0">
                <a:latin typeface="+mn-ea"/>
              </a:rPr>
              <a:t>전체적으로 감소하였다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또한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국내지역을 제외한 대부분 지역의 고객들이 유럽과 동남아를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여행지로 선택하는 경향이 강했고 중국을 선택하는 비율도 </a:t>
            </a:r>
            <a:r>
              <a:rPr lang="en-US" altLang="ko-KR" sz="950" dirty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년에 큰 </a:t>
            </a:r>
            <a:r>
              <a:rPr lang="ko-KR" altLang="en-US" sz="950" dirty="0" smtClean="0">
                <a:latin typeface="+mn-ea"/>
              </a:rPr>
              <a:t>폭으로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감소한 </a:t>
            </a:r>
            <a:r>
              <a:rPr lang="ko-KR" altLang="en-US" sz="950" dirty="0">
                <a:latin typeface="+mn-ea"/>
              </a:rPr>
              <a:t>후 지속적으로 다시 </a:t>
            </a:r>
            <a:r>
              <a:rPr lang="ko-KR" altLang="en-US" sz="950" dirty="0" err="1">
                <a:latin typeface="+mn-ea"/>
              </a:rPr>
              <a:t>재증가하는</a:t>
            </a:r>
            <a:r>
              <a:rPr lang="ko-KR" altLang="en-US" sz="950" dirty="0">
                <a:latin typeface="+mn-ea"/>
              </a:rPr>
              <a:t> 추세이다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예외적으로</a:t>
            </a:r>
            <a:r>
              <a:rPr lang="en-US" altLang="ko-KR" sz="950" dirty="0">
                <a:latin typeface="+mn-ea"/>
              </a:rPr>
              <a:t>,</a:t>
            </a:r>
            <a:r>
              <a:rPr lang="ko-KR" altLang="en-US" sz="950" dirty="0">
                <a:latin typeface="+mn-ea"/>
              </a:rPr>
              <a:t> 국내지역을 최초로 방문한 경우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년에는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여행지로 동남아</a:t>
            </a:r>
            <a:r>
              <a:rPr lang="en-US" altLang="ko-KR" sz="950" dirty="0">
                <a:latin typeface="+mn-ea"/>
              </a:rPr>
              <a:t>(28%), </a:t>
            </a:r>
            <a:r>
              <a:rPr lang="ko-KR" altLang="en-US" sz="950" dirty="0">
                <a:latin typeface="+mn-ea"/>
              </a:rPr>
              <a:t>국내</a:t>
            </a:r>
            <a:r>
              <a:rPr lang="en-US" altLang="ko-KR" sz="950" dirty="0">
                <a:latin typeface="+mn-ea"/>
              </a:rPr>
              <a:t>(23%), </a:t>
            </a:r>
            <a:r>
              <a:rPr lang="ko-KR" altLang="en-US" sz="950" dirty="0">
                <a:latin typeface="+mn-ea"/>
              </a:rPr>
              <a:t>일본</a:t>
            </a:r>
            <a:r>
              <a:rPr lang="en-US" altLang="ko-KR" sz="950" dirty="0">
                <a:latin typeface="+mn-ea"/>
              </a:rPr>
              <a:t>(14%)</a:t>
            </a:r>
            <a:r>
              <a:rPr lang="ko-KR" altLang="en-US" sz="950" dirty="0">
                <a:latin typeface="+mn-ea"/>
              </a:rPr>
              <a:t>순으로 동남아의 비율이 더 </a:t>
            </a:r>
            <a:r>
              <a:rPr lang="ko-KR" altLang="en-US" sz="950" dirty="0" smtClean="0">
                <a:latin typeface="+mn-ea"/>
              </a:rPr>
              <a:t>높았지만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2019</a:t>
            </a:r>
            <a:r>
              <a:rPr lang="ko-KR" altLang="en-US" sz="950" dirty="0">
                <a:latin typeface="+mn-ea"/>
              </a:rPr>
              <a:t>년에 접어들어 국내</a:t>
            </a:r>
            <a:r>
              <a:rPr lang="en-US" altLang="ko-KR" sz="950" dirty="0">
                <a:latin typeface="+mn-ea"/>
              </a:rPr>
              <a:t>(32%), </a:t>
            </a:r>
            <a:r>
              <a:rPr lang="ko-KR" altLang="en-US" sz="950" dirty="0">
                <a:latin typeface="+mn-ea"/>
              </a:rPr>
              <a:t>동남아</a:t>
            </a:r>
            <a:r>
              <a:rPr lang="en-US" altLang="ko-KR" sz="950" dirty="0">
                <a:latin typeface="+mn-ea"/>
              </a:rPr>
              <a:t>(20%), </a:t>
            </a:r>
            <a:r>
              <a:rPr lang="ko-KR" altLang="en-US" sz="950" dirty="0">
                <a:latin typeface="+mn-ea"/>
              </a:rPr>
              <a:t>일본</a:t>
            </a:r>
            <a:r>
              <a:rPr lang="en-US" altLang="ko-KR" sz="950" dirty="0">
                <a:latin typeface="+mn-ea"/>
              </a:rPr>
              <a:t>(10%)</a:t>
            </a:r>
            <a:r>
              <a:rPr lang="ko-KR" altLang="en-US" sz="950" dirty="0">
                <a:latin typeface="+mn-ea"/>
              </a:rPr>
              <a:t>순으로 국내를 다시 여행하는 비율이 큰 폭으로 증가하였다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dirty="0">
                <a:latin typeface="+mn-ea"/>
              </a:rPr>
              <a:t>2019</a:t>
            </a:r>
            <a:r>
              <a:rPr lang="ko-KR" altLang="en-US" sz="950" dirty="0">
                <a:latin typeface="+mn-ea"/>
              </a:rPr>
              <a:t>년 기준 최초 여행지를 </a:t>
            </a:r>
            <a:r>
              <a:rPr lang="ko-KR" altLang="en-US" sz="950" dirty="0" err="1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사이판을 방문한 </a:t>
            </a:r>
            <a:r>
              <a:rPr lang="ko-KR" altLang="en-US" sz="950" dirty="0" smtClean="0">
                <a:latin typeface="+mn-ea"/>
              </a:rPr>
              <a:t>고객들의 경우 </a:t>
            </a:r>
            <a:r>
              <a:rPr lang="ko-KR" altLang="en-US" sz="950" dirty="0">
                <a:latin typeface="+mn-ea"/>
              </a:rPr>
              <a:t>가장 높은 비중으로 동남아</a:t>
            </a:r>
            <a:r>
              <a:rPr lang="en-US" altLang="ko-KR" sz="950" dirty="0">
                <a:latin typeface="+mn-ea"/>
              </a:rPr>
              <a:t>(50%)</a:t>
            </a:r>
            <a:r>
              <a:rPr lang="ko-KR" altLang="en-US" sz="950" dirty="0">
                <a:latin typeface="+mn-ea"/>
              </a:rPr>
              <a:t>를 </a:t>
            </a:r>
            <a:r>
              <a:rPr lang="ko-KR" altLang="en-US" sz="950" dirty="0" smtClean="0">
                <a:latin typeface="+mn-ea"/>
              </a:rPr>
              <a:t>방문하였고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다음으로</a:t>
            </a:r>
            <a:r>
              <a:rPr lang="en-US" altLang="ko-KR" sz="950" dirty="0">
                <a:latin typeface="+mn-ea"/>
              </a:rPr>
              <a:t> </a:t>
            </a:r>
            <a:r>
              <a:rPr lang="ko-KR" altLang="en-US" sz="950" dirty="0" err="1" smtClean="0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</a:t>
            </a:r>
            <a:r>
              <a:rPr lang="en-US" altLang="ko-KR" sz="950" dirty="0">
                <a:latin typeface="+mn-ea"/>
              </a:rPr>
              <a:t>(21%)</a:t>
            </a:r>
            <a:r>
              <a:rPr lang="ko-KR" altLang="en-US" sz="950" dirty="0" smtClean="0">
                <a:latin typeface="+mn-ea"/>
              </a:rPr>
              <a:t>을 재방문 </a:t>
            </a:r>
            <a:r>
              <a:rPr lang="ko-KR" altLang="en-US" sz="950" dirty="0">
                <a:latin typeface="+mn-ea"/>
              </a:rPr>
              <a:t>하는 </a:t>
            </a:r>
            <a:r>
              <a:rPr lang="ko-KR" altLang="en-US" sz="950" dirty="0" smtClean="0">
                <a:latin typeface="+mn-ea"/>
              </a:rPr>
              <a:t>양상을 작년과 </a:t>
            </a:r>
            <a:r>
              <a:rPr lang="ko-KR" altLang="en-US" sz="950" dirty="0">
                <a:latin typeface="+mn-ea"/>
              </a:rPr>
              <a:t>동일하게 보여주고 있다</a:t>
            </a:r>
            <a:r>
              <a:rPr lang="en-US" altLang="ko-KR" sz="950" dirty="0">
                <a:latin typeface="+mn-ea"/>
              </a:rPr>
              <a:t>. 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역시 </a:t>
            </a:r>
            <a:r>
              <a:rPr lang="ko-KR" altLang="en-US" sz="950" dirty="0">
                <a:latin typeface="+mn-ea"/>
              </a:rPr>
              <a:t>원인으로는 동남아와 마찬가지로 </a:t>
            </a:r>
            <a:r>
              <a:rPr lang="ko-KR" altLang="en-US" sz="950" dirty="0" err="1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 </a:t>
            </a:r>
            <a:r>
              <a:rPr lang="ko-KR" altLang="en-US" sz="950" dirty="0" smtClean="0">
                <a:latin typeface="+mn-ea"/>
              </a:rPr>
              <a:t>지역은 가족단위 </a:t>
            </a:r>
            <a:r>
              <a:rPr lang="ko-KR" altLang="en-US" sz="950" dirty="0">
                <a:latin typeface="+mn-ea"/>
              </a:rPr>
              <a:t>여행이 많은 지역이므로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여행에서도 가족과 함께 동남아 </a:t>
            </a:r>
            <a:r>
              <a:rPr lang="ko-KR" altLang="en-US" sz="950" dirty="0" smtClean="0">
                <a:latin typeface="+mn-ea"/>
              </a:rPr>
              <a:t>지역을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여행하는 </a:t>
            </a:r>
            <a:r>
              <a:rPr lang="ko-KR" altLang="en-US" sz="950" dirty="0">
                <a:latin typeface="+mn-ea"/>
              </a:rPr>
              <a:t>경향이 지속적으로 유지되고 있는 것으로 분석된다</a:t>
            </a:r>
            <a:r>
              <a:rPr lang="en-US" altLang="ko-KR" sz="950" dirty="0" smtClean="0">
                <a:latin typeface="+mn-ea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7924" y="110301"/>
            <a:ext cx="424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2019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결산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여행 동향 요약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리포트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94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2020-01-09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en-US" altLang="ko-KR" dirty="0" smtClean="0"/>
              <a:t>50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67997" y="515294"/>
            <a:ext cx="8556250" cy="1408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특히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재구매</a:t>
            </a:r>
            <a:r>
              <a:rPr lang="ko-KR" altLang="en-US" sz="950" b="1" dirty="0" smtClean="0">
                <a:latin typeface="+mn-ea"/>
              </a:rPr>
              <a:t> 패턴에서 주목해야 될 점</a:t>
            </a:r>
            <a:r>
              <a:rPr lang="ko-KR" altLang="en-US" sz="950" dirty="0" smtClean="0">
                <a:latin typeface="+mn-ea"/>
              </a:rPr>
              <a:t>으로는 </a:t>
            </a:r>
            <a:r>
              <a:rPr lang="en-US" altLang="ko-KR" sz="950" b="1" dirty="0" smtClean="0">
                <a:latin typeface="+mn-ea"/>
              </a:rPr>
              <a:t>“</a:t>
            </a:r>
            <a:r>
              <a:rPr lang="ko-KR" altLang="en-US" sz="950" b="1" dirty="0" smtClean="0">
                <a:latin typeface="+mn-ea"/>
              </a:rPr>
              <a:t>일본으로 유입되던 여행객들이 대체 여행지로 동남아 및 중국으로 유입되고 있다</a:t>
            </a:r>
            <a:r>
              <a:rPr lang="en-US" altLang="ko-KR" sz="950" b="1" dirty="0" smtClean="0">
                <a:latin typeface="+mn-ea"/>
              </a:rPr>
              <a:t>＂</a:t>
            </a:r>
            <a:r>
              <a:rPr lang="ko-KR" altLang="en-US" sz="950" dirty="0" smtClean="0">
                <a:latin typeface="+mn-ea"/>
              </a:rPr>
              <a:t>라는 분석결과를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더욱 강하게 뒷받침 해주고 있다는 것이다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아래 표에서 볼 수 있듯이</a:t>
            </a:r>
            <a:r>
              <a:rPr lang="en-US" altLang="ko-KR" sz="950" dirty="0" smtClean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최초로 일본지역을 방문한 고객들이 </a:t>
            </a:r>
            <a:r>
              <a:rPr lang="en-US" altLang="ko-KR" sz="950" dirty="0" smtClean="0">
                <a:latin typeface="+mn-ea"/>
              </a:rPr>
              <a:t>2</a:t>
            </a:r>
            <a:r>
              <a:rPr lang="ko-KR" altLang="en-US" sz="950" dirty="0" err="1" smtClean="0">
                <a:latin typeface="+mn-ea"/>
              </a:rPr>
              <a:t>회차</a:t>
            </a:r>
            <a:r>
              <a:rPr lang="ko-KR" altLang="en-US" sz="950" dirty="0" smtClean="0">
                <a:latin typeface="+mn-ea"/>
              </a:rPr>
              <a:t> 여행지로 일본을 </a:t>
            </a:r>
            <a:r>
              <a:rPr lang="ko-KR" altLang="en-US" sz="950" dirty="0" err="1" smtClean="0">
                <a:latin typeface="+mn-ea"/>
              </a:rPr>
              <a:t>재방문하는</a:t>
            </a:r>
            <a:r>
              <a:rPr lang="ko-KR" altLang="en-US" sz="950" dirty="0" smtClean="0">
                <a:latin typeface="+mn-ea"/>
              </a:rPr>
              <a:t> 비중이 </a:t>
            </a:r>
            <a:r>
              <a:rPr lang="ko-KR" altLang="en-US" sz="950" dirty="0" err="1" smtClean="0">
                <a:latin typeface="+mn-ea"/>
              </a:rPr>
              <a:t>작년대비</a:t>
            </a:r>
            <a:r>
              <a:rPr lang="ko-KR" altLang="en-US" sz="950" dirty="0" smtClean="0">
                <a:latin typeface="+mn-ea"/>
              </a:rPr>
              <a:t> 약 </a:t>
            </a:r>
            <a:r>
              <a:rPr lang="en-US" altLang="ko-KR" sz="950" dirty="0" smtClean="0">
                <a:latin typeface="+mn-ea"/>
              </a:rPr>
              <a:t>7%</a:t>
            </a:r>
            <a:r>
              <a:rPr lang="ko-KR" altLang="en-US" sz="950" dirty="0" smtClean="0">
                <a:latin typeface="+mn-ea"/>
              </a:rPr>
              <a:t> 감소하였고 동남아의 경우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2018</a:t>
            </a:r>
            <a:r>
              <a:rPr lang="ko-KR" altLang="en-US" sz="950" dirty="0" smtClean="0">
                <a:latin typeface="+mn-ea"/>
              </a:rPr>
              <a:t>년에 성장세가 잠시 정체되고 난 후 </a:t>
            </a:r>
            <a:r>
              <a:rPr lang="en-US" altLang="ko-KR" sz="950" dirty="0" smtClean="0">
                <a:latin typeface="+mn-ea"/>
              </a:rPr>
              <a:t>2019</a:t>
            </a:r>
            <a:r>
              <a:rPr lang="ko-KR" altLang="en-US" sz="950" dirty="0" smtClean="0">
                <a:latin typeface="+mn-ea"/>
              </a:rPr>
              <a:t>년에 접어들어 큰 폭으로 증가하였다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유럽도 마찬가지로 </a:t>
            </a:r>
            <a:r>
              <a:rPr lang="en-US" altLang="ko-KR" sz="950" dirty="0" smtClean="0">
                <a:latin typeface="+mn-ea"/>
              </a:rPr>
              <a:t>2018</a:t>
            </a:r>
            <a:r>
              <a:rPr lang="ko-KR" altLang="en-US" sz="950" dirty="0" smtClean="0">
                <a:latin typeface="+mn-ea"/>
              </a:rPr>
              <a:t>년에 성장세가 정체된 후 소폭 증가하였고 중국의 경우에도 지속적으로 해를 거듭할 수록 증가하는 비중이 점점 가속화 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되고 있다는 것이다</a:t>
            </a:r>
            <a:r>
              <a:rPr lang="en-US" altLang="ko-KR" sz="950" dirty="0" smtClean="0">
                <a:latin typeface="+mn-ea"/>
              </a:rPr>
              <a:t>.</a:t>
            </a:r>
          </a:p>
        </p:txBody>
      </p:sp>
      <p:graphicFrame>
        <p:nvGraphicFramePr>
          <p:cNvPr id="9" name="차트 8"/>
          <p:cNvGraphicFramePr>
            <a:graphicFrameLocks/>
          </p:cNvGraphicFramePr>
          <p:nvPr>
            <p:extLst/>
          </p:nvPr>
        </p:nvGraphicFramePr>
        <p:xfrm>
          <a:off x="879895" y="2199705"/>
          <a:ext cx="7677510" cy="1240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직사각형 10"/>
          <p:cNvSpPr/>
          <p:nvPr/>
        </p:nvSpPr>
        <p:spPr bwMode="auto">
          <a:xfrm>
            <a:off x="879894" y="1941658"/>
            <a:ext cx="7617125" cy="151574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79894" y="1941658"/>
            <a:ext cx="2691441" cy="2446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879894" y="1928255"/>
            <a:ext cx="269144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일본 여행고객 </a:t>
            </a:r>
            <a:r>
              <a:rPr lang="en-US" altLang="ko-K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05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05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03009" y="3457406"/>
            <a:ext cx="8737982" cy="3162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 </a:t>
            </a:r>
            <a:r>
              <a:rPr lang="ko-KR" altLang="en-US" sz="950" b="1" dirty="0" err="1" smtClean="0">
                <a:latin typeface="+mn-ea"/>
              </a:rPr>
              <a:t>검색어</a:t>
            </a:r>
            <a:r>
              <a:rPr lang="ko-KR" altLang="en-US" sz="950" b="1" dirty="0" smtClean="0">
                <a:latin typeface="+mn-ea"/>
              </a:rPr>
              <a:t> 추이의 경우 </a:t>
            </a:r>
            <a:r>
              <a:rPr lang="en-US" altLang="ko-KR" sz="950" dirty="0" smtClean="0">
                <a:latin typeface="+mn-ea"/>
              </a:rPr>
              <a:t>2019</a:t>
            </a:r>
            <a:r>
              <a:rPr lang="ko-KR" altLang="en-US" sz="950" dirty="0" smtClean="0">
                <a:latin typeface="+mn-ea"/>
              </a:rPr>
              <a:t>년에 </a:t>
            </a:r>
            <a:r>
              <a:rPr lang="ko-KR" altLang="en-US" sz="950" dirty="0" err="1" smtClean="0">
                <a:latin typeface="+mn-ea"/>
              </a:rPr>
              <a:t>작년대비</a:t>
            </a:r>
            <a:r>
              <a:rPr lang="ko-KR" altLang="en-US" sz="950" dirty="0" smtClean="0">
                <a:latin typeface="+mn-ea"/>
              </a:rPr>
              <a:t> 일본 지역들의 </a:t>
            </a:r>
            <a:r>
              <a:rPr lang="ko-KR" altLang="en-US" sz="950" dirty="0" err="1" smtClean="0">
                <a:latin typeface="+mn-ea"/>
              </a:rPr>
              <a:t>검색어</a:t>
            </a:r>
            <a:r>
              <a:rPr lang="ko-KR" altLang="en-US" sz="950" dirty="0" smtClean="0">
                <a:latin typeface="+mn-ea"/>
              </a:rPr>
              <a:t> 순위가 대폭 하락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dirty="0" err="1" smtClean="0">
                <a:latin typeface="+mn-ea"/>
              </a:rPr>
              <a:t>다낭의</a:t>
            </a:r>
            <a:r>
              <a:rPr lang="ko-KR" altLang="en-US" sz="950" dirty="0" smtClean="0">
                <a:latin typeface="+mn-ea"/>
              </a:rPr>
              <a:t> 올해도 지속적으로 상위권에 위치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[</a:t>
            </a:r>
            <a:r>
              <a:rPr lang="ko-KR" altLang="en-US" sz="950" dirty="0" err="1" smtClean="0">
                <a:latin typeface="+mn-ea"/>
              </a:rPr>
              <a:t>장가계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나트랑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보라카이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하와이</a:t>
            </a:r>
            <a:r>
              <a:rPr lang="en-US" altLang="ko-KR" sz="950" dirty="0" smtClean="0">
                <a:latin typeface="+mn-ea"/>
              </a:rPr>
              <a:t>]</a:t>
            </a:r>
            <a:r>
              <a:rPr lang="ko-KR" altLang="en-US" sz="950" dirty="0" smtClean="0">
                <a:latin typeface="+mn-ea"/>
              </a:rPr>
              <a:t> 지역들이 </a:t>
            </a:r>
            <a:r>
              <a:rPr lang="ko-KR" altLang="en-US" sz="950" dirty="0" err="1" smtClean="0">
                <a:latin typeface="+mn-ea"/>
              </a:rPr>
              <a:t>상윈권으로</a:t>
            </a:r>
            <a:r>
              <a:rPr lang="ko-KR" altLang="en-US" sz="950" dirty="0" smtClean="0">
                <a:latin typeface="+mn-ea"/>
              </a:rPr>
              <a:t> 새롭게 진입하였다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또한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b="1" dirty="0" err="1" smtClean="0">
                <a:latin typeface="+mn-ea"/>
              </a:rPr>
              <a:t>스카이스캐너에서</a:t>
            </a:r>
            <a:r>
              <a:rPr lang="ko-KR" altLang="en-US" sz="950" b="1" dirty="0" smtClean="0">
                <a:latin typeface="+mn-ea"/>
              </a:rPr>
              <a:t> 공개한 항공권 검색 데이터</a:t>
            </a:r>
            <a:r>
              <a:rPr lang="ko-KR" altLang="en-US" sz="950" dirty="0" smtClean="0">
                <a:latin typeface="+mn-ea"/>
              </a:rPr>
              <a:t>에 따르면 전년대비 검색 증가율이 </a:t>
            </a:r>
            <a:r>
              <a:rPr lang="ko-KR" altLang="en-US" sz="950" dirty="0" err="1" smtClean="0">
                <a:latin typeface="+mn-ea"/>
              </a:rPr>
              <a:t>푸꾸옥</a:t>
            </a:r>
            <a:r>
              <a:rPr lang="en-US" altLang="ko-KR" sz="950" dirty="0" smtClean="0">
                <a:latin typeface="+mn-ea"/>
              </a:rPr>
              <a:t>(480%), </a:t>
            </a:r>
            <a:r>
              <a:rPr lang="ko-KR" altLang="en-US" sz="950" dirty="0" err="1" smtClean="0">
                <a:latin typeface="+mn-ea"/>
              </a:rPr>
              <a:t>나트랑</a:t>
            </a:r>
            <a:r>
              <a:rPr lang="en-US" altLang="ko-KR" sz="950" dirty="0" smtClean="0">
                <a:latin typeface="+mn-ea"/>
              </a:rPr>
              <a:t>(125%), </a:t>
            </a:r>
            <a:r>
              <a:rPr lang="ko-KR" altLang="en-US" sz="950" dirty="0" err="1" smtClean="0">
                <a:latin typeface="+mn-ea"/>
              </a:rPr>
              <a:t>보라카이</a:t>
            </a:r>
            <a:r>
              <a:rPr lang="en-US" altLang="ko-KR" sz="950" dirty="0" smtClean="0">
                <a:latin typeface="+mn-ea"/>
              </a:rPr>
              <a:t>(108%)</a:t>
            </a:r>
            <a:r>
              <a:rPr lang="ko-KR" altLang="en-US" sz="950" dirty="0" smtClean="0">
                <a:latin typeface="+mn-ea"/>
              </a:rPr>
              <a:t>순으로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동남아 및 휴양지에 대한 관심이 증가하고 있다고 발표하였다</a:t>
            </a:r>
            <a:r>
              <a:rPr lang="en-US" altLang="ko-KR" sz="950" dirty="0" smtClean="0">
                <a:latin typeface="+mn-ea"/>
              </a:rPr>
              <a:t>. </a:t>
            </a:r>
            <a:r>
              <a:rPr lang="ko-KR" altLang="en-US" sz="950" dirty="0" smtClean="0">
                <a:latin typeface="+mn-ea"/>
              </a:rPr>
              <a:t>그리고</a:t>
            </a:r>
            <a:r>
              <a:rPr lang="en-US" altLang="ko-KR" sz="950" dirty="0" smtClean="0">
                <a:latin typeface="+mn-ea"/>
              </a:rPr>
              <a:t> </a:t>
            </a:r>
            <a:r>
              <a:rPr lang="ko-KR" altLang="en-US" sz="950" b="1" dirty="0" err="1" smtClean="0">
                <a:latin typeface="+mn-ea"/>
              </a:rPr>
              <a:t>호텔스</a:t>
            </a:r>
            <a:r>
              <a:rPr lang="ko-KR" altLang="en-US" sz="950" b="1" dirty="0" smtClean="0">
                <a:latin typeface="+mn-ea"/>
              </a:rPr>
              <a:t> </a:t>
            </a:r>
            <a:r>
              <a:rPr lang="ko-KR" altLang="en-US" sz="950" b="1" dirty="0" err="1" smtClean="0">
                <a:latin typeface="+mn-ea"/>
              </a:rPr>
              <a:t>컴바인에서</a:t>
            </a:r>
            <a:r>
              <a:rPr lang="ko-KR" altLang="en-US" sz="950" b="1" dirty="0" smtClean="0">
                <a:latin typeface="+mn-ea"/>
              </a:rPr>
              <a:t> 실시한 설문 결과</a:t>
            </a:r>
            <a:r>
              <a:rPr lang="ko-KR" altLang="en-US" sz="950" dirty="0" smtClean="0">
                <a:latin typeface="+mn-ea"/>
              </a:rPr>
              <a:t>에서도 주로 고객들이 </a:t>
            </a:r>
            <a:r>
              <a:rPr lang="en-US" altLang="ko-KR" sz="950" dirty="0" smtClean="0">
                <a:latin typeface="+mn-ea"/>
              </a:rPr>
              <a:t>2020</a:t>
            </a:r>
            <a:r>
              <a:rPr lang="ko-KR" altLang="en-US" sz="950" dirty="0" smtClean="0">
                <a:latin typeface="+mn-ea"/>
              </a:rPr>
              <a:t>년에는 휴양목적의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여행이 </a:t>
            </a:r>
            <a:r>
              <a:rPr lang="en-US" altLang="ko-KR" sz="950" dirty="0" smtClean="0">
                <a:latin typeface="+mn-ea"/>
              </a:rPr>
              <a:t>82%</a:t>
            </a:r>
            <a:r>
              <a:rPr lang="ko-KR" altLang="en-US" sz="950" dirty="0" smtClean="0">
                <a:latin typeface="+mn-ea"/>
              </a:rPr>
              <a:t>로 가장 높았고 </a:t>
            </a:r>
            <a:r>
              <a:rPr lang="en-US" altLang="ko-KR" sz="950" dirty="0" smtClean="0">
                <a:latin typeface="+mn-ea"/>
              </a:rPr>
              <a:t>“</a:t>
            </a:r>
            <a:r>
              <a:rPr lang="ko-KR" altLang="en-US" sz="950" dirty="0" smtClean="0">
                <a:latin typeface="+mn-ea"/>
              </a:rPr>
              <a:t>누구와 떠나고 싶나요</a:t>
            </a:r>
            <a:r>
              <a:rPr lang="en-US" altLang="ko-KR" sz="950" dirty="0" smtClean="0">
                <a:latin typeface="+mn-ea"/>
              </a:rPr>
              <a:t>?”</a:t>
            </a:r>
            <a:r>
              <a:rPr lang="ko-KR" altLang="en-US" sz="950" dirty="0" smtClean="0">
                <a:latin typeface="+mn-ea"/>
              </a:rPr>
              <a:t>의 답변에서는 주로 </a:t>
            </a:r>
            <a:r>
              <a:rPr lang="en-US" altLang="ko-KR" sz="950" dirty="0" smtClean="0">
                <a:latin typeface="+mn-ea"/>
              </a:rPr>
              <a:t>30</a:t>
            </a:r>
            <a:r>
              <a:rPr lang="ko-KR" altLang="en-US" sz="950" dirty="0" smtClean="0">
                <a:latin typeface="+mn-ea"/>
              </a:rPr>
              <a:t>대</a:t>
            </a:r>
            <a:r>
              <a:rPr lang="en-US" altLang="ko-KR" sz="950" dirty="0" smtClean="0">
                <a:latin typeface="+mn-ea"/>
              </a:rPr>
              <a:t>(58.4%), 40</a:t>
            </a:r>
            <a:r>
              <a:rPr lang="ko-KR" altLang="en-US" sz="950" dirty="0" smtClean="0">
                <a:latin typeface="+mn-ea"/>
              </a:rPr>
              <a:t>대</a:t>
            </a:r>
            <a:r>
              <a:rPr lang="en-US" altLang="ko-KR" sz="950" dirty="0" smtClean="0">
                <a:latin typeface="+mn-ea"/>
              </a:rPr>
              <a:t>(82.2%)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고객들이 가족들과 함께 여행을 떠날 것이라고 응답했다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마지막으로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카약에서</a:t>
            </a:r>
            <a:r>
              <a:rPr lang="ko-KR" altLang="en-US" sz="950" b="1" dirty="0" smtClean="0">
                <a:latin typeface="+mn-ea"/>
              </a:rPr>
              <a:t> 발표한 </a:t>
            </a:r>
            <a:r>
              <a:rPr lang="en-US" altLang="ko-KR" sz="950" b="1" dirty="0" smtClean="0">
                <a:latin typeface="+mn-ea"/>
              </a:rPr>
              <a:t>2019</a:t>
            </a:r>
            <a:r>
              <a:rPr lang="ko-KR" altLang="en-US" sz="950" b="1" dirty="0" smtClean="0">
                <a:latin typeface="+mn-ea"/>
              </a:rPr>
              <a:t>년 </a:t>
            </a:r>
            <a:r>
              <a:rPr lang="ko-KR" altLang="en-US" sz="950" b="1" dirty="0" err="1" smtClean="0">
                <a:latin typeface="+mn-ea"/>
              </a:rPr>
              <a:t>검색율이</a:t>
            </a:r>
            <a:r>
              <a:rPr lang="ko-KR" altLang="en-US" sz="950" b="1" dirty="0" smtClean="0">
                <a:latin typeface="+mn-ea"/>
              </a:rPr>
              <a:t> 급상승한 여행지 상위 </a:t>
            </a:r>
            <a:r>
              <a:rPr lang="en-US" altLang="ko-KR" sz="950" b="1" dirty="0" smtClean="0">
                <a:latin typeface="+mn-ea"/>
              </a:rPr>
              <a:t>10</a:t>
            </a:r>
            <a:r>
              <a:rPr lang="ko-KR" altLang="en-US" sz="950" b="1" dirty="0" smtClean="0">
                <a:latin typeface="+mn-ea"/>
              </a:rPr>
              <a:t>곳</a:t>
            </a:r>
            <a:r>
              <a:rPr lang="ko-KR" altLang="en-US" sz="950" dirty="0" smtClean="0">
                <a:latin typeface="+mn-ea"/>
              </a:rPr>
              <a:t> 역시 </a:t>
            </a:r>
            <a:r>
              <a:rPr lang="ko-KR" altLang="en-US" sz="950" dirty="0" err="1" smtClean="0">
                <a:latin typeface="+mn-ea"/>
              </a:rPr>
              <a:t>보라카이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연길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나트랑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푸꾸옥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항저우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텐진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선양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블라디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하얼빈</a:t>
            </a:r>
            <a:r>
              <a:rPr lang="en-US" altLang="ko-KR" sz="950" dirty="0" smtClean="0">
                <a:latin typeface="+mn-ea"/>
              </a:rPr>
              <a:t>,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err="1" smtClean="0">
                <a:latin typeface="+mn-ea"/>
              </a:rPr>
              <a:t>칭따오</a:t>
            </a:r>
            <a:r>
              <a:rPr lang="ko-KR" altLang="en-US" sz="950" dirty="0" smtClean="0">
                <a:latin typeface="+mn-ea"/>
              </a:rPr>
              <a:t> 순으로 대부분 중국 및 동남아 휴양지가 </a:t>
            </a:r>
            <a:r>
              <a:rPr lang="en-US" altLang="ko-KR" sz="950" dirty="0" smtClean="0">
                <a:latin typeface="+mn-ea"/>
              </a:rPr>
              <a:t>2020</a:t>
            </a:r>
            <a:r>
              <a:rPr lang="ko-KR" altLang="en-US" sz="950" dirty="0" smtClean="0">
                <a:latin typeface="+mn-ea"/>
              </a:rPr>
              <a:t>년에 각광받을 것으로 예측했다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해당 지역들에 대한 검색이 급상승한 주요 원인으로는 대다수 지역이 방송 프로그램의 촬영지로도 자주 등장 했을 뿐만 아니라 </a:t>
            </a:r>
            <a:r>
              <a:rPr lang="en-US" altLang="ko-KR" sz="950" dirty="0" smtClean="0">
                <a:latin typeface="+mn-ea"/>
              </a:rPr>
              <a:t>3</a:t>
            </a:r>
            <a:r>
              <a:rPr lang="ko-KR" altLang="en-US" sz="950" dirty="0" smtClean="0">
                <a:latin typeface="+mn-ea"/>
              </a:rPr>
              <a:t>월 한</a:t>
            </a:r>
            <a:r>
              <a:rPr lang="en-US" altLang="ko-KR" sz="950" dirty="0" smtClean="0">
                <a:latin typeface="+mn-ea"/>
              </a:rPr>
              <a:t>.</a:t>
            </a:r>
            <a:r>
              <a:rPr lang="ko-KR" altLang="en-US" sz="950" dirty="0" smtClean="0">
                <a:latin typeface="+mn-ea"/>
              </a:rPr>
              <a:t>중국 항공회담을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통해 확보한 </a:t>
            </a:r>
            <a:r>
              <a:rPr lang="ko-KR" altLang="en-US" sz="950" dirty="0" err="1" smtClean="0">
                <a:latin typeface="+mn-ea"/>
              </a:rPr>
              <a:t>운수권</a:t>
            </a:r>
            <a:r>
              <a:rPr lang="ko-KR" altLang="en-US" sz="950" dirty="0" smtClean="0">
                <a:latin typeface="+mn-ea"/>
              </a:rPr>
              <a:t> 배분이 이루어지며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국내 </a:t>
            </a:r>
            <a:r>
              <a:rPr lang="en-US" altLang="ko-KR" sz="950" dirty="0" smtClean="0">
                <a:latin typeface="+mn-ea"/>
              </a:rPr>
              <a:t>LCC</a:t>
            </a:r>
            <a:r>
              <a:rPr lang="ko-KR" altLang="en-US" sz="950" dirty="0" smtClean="0">
                <a:latin typeface="+mn-ea"/>
              </a:rPr>
              <a:t>의 중국 노선 다변화가 영향을 끼친 것으로 분석된다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종합적으로 </a:t>
            </a:r>
            <a:r>
              <a:rPr lang="en-US" altLang="ko-KR" sz="950" b="1" dirty="0" smtClean="0">
                <a:latin typeface="+mn-ea"/>
              </a:rPr>
              <a:t>2019</a:t>
            </a:r>
            <a:r>
              <a:rPr lang="ko-KR" altLang="en-US" sz="950" b="1" dirty="0" smtClean="0">
                <a:latin typeface="+mn-ea"/>
              </a:rPr>
              <a:t>년에는 일본 대체 여행지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휴양 및 휴식 테마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동남아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중국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괌</a:t>
            </a:r>
            <a:r>
              <a:rPr lang="en-US" altLang="ko-KR" sz="950" b="1" dirty="0" smtClean="0">
                <a:latin typeface="+mn-ea"/>
              </a:rPr>
              <a:t>/</a:t>
            </a:r>
            <a:r>
              <a:rPr lang="ko-KR" altLang="en-US" sz="950" b="1" dirty="0" smtClean="0">
                <a:latin typeface="+mn-ea"/>
              </a:rPr>
              <a:t>사이판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가족여행이 가장 중요한 키워드로 자리잡았다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b="1" dirty="0" smtClean="0">
                <a:latin typeface="+mn-ea"/>
              </a:rPr>
              <a:t>2020</a:t>
            </a:r>
            <a:r>
              <a:rPr lang="ko-KR" altLang="en-US" sz="950" b="1" dirty="0" smtClean="0">
                <a:latin typeface="+mn-ea"/>
              </a:rPr>
              <a:t>년에는 고객들이 주로 한적하거나 휴양의 목적 관광이 더욱 각광 받을 것으로 분석되며 주로 동남아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괌</a:t>
            </a:r>
            <a:r>
              <a:rPr lang="en-US" altLang="ko-KR" sz="950" b="1" dirty="0" smtClean="0">
                <a:latin typeface="+mn-ea"/>
              </a:rPr>
              <a:t>/</a:t>
            </a:r>
            <a:r>
              <a:rPr lang="ko-KR" altLang="en-US" sz="950" b="1" dirty="0" smtClean="0">
                <a:latin typeface="+mn-ea"/>
              </a:rPr>
              <a:t>사이판 지역에 관심이 높아질 것이라 전망된다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또한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여행업계에서는</a:t>
            </a:r>
            <a:r>
              <a:rPr lang="en-US" altLang="ko-KR" sz="950" b="1" dirty="0">
                <a:latin typeface="+mn-ea"/>
              </a:rPr>
              <a:t> </a:t>
            </a:r>
            <a:r>
              <a:rPr lang="en-US" altLang="ko-KR" sz="950" b="1" dirty="0" smtClean="0">
                <a:latin typeface="+mn-ea"/>
              </a:rPr>
              <a:t>2020</a:t>
            </a:r>
            <a:r>
              <a:rPr lang="ko-KR" altLang="en-US" sz="950" b="1" dirty="0" smtClean="0">
                <a:latin typeface="+mn-ea"/>
              </a:rPr>
              <a:t>년에도 일본 불매 운동이 지속될 것에 대비하여 대체지역</a:t>
            </a:r>
            <a:r>
              <a:rPr lang="en-US" altLang="ko-KR" sz="950" b="1" dirty="0" smtClean="0">
                <a:latin typeface="+mn-ea"/>
              </a:rPr>
              <a:t>(</a:t>
            </a:r>
            <a:r>
              <a:rPr lang="ko-KR" altLang="en-US" sz="950" b="1" dirty="0" smtClean="0">
                <a:latin typeface="+mn-ea"/>
              </a:rPr>
              <a:t>동남아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smtClean="0">
                <a:latin typeface="+mn-ea"/>
              </a:rPr>
              <a:t>중국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괌</a:t>
            </a:r>
            <a:r>
              <a:rPr lang="en-US" altLang="ko-KR" sz="950" b="1" dirty="0" smtClean="0">
                <a:latin typeface="+mn-ea"/>
              </a:rPr>
              <a:t>/</a:t>
            </a:r>
            <a:r>
              <a:rPr lang="ko-KR" altLang="en-US" sz="950" b="1" dirty="0" smtClean="0">
                <a:latin typeface="+mn-ea"/>
              </a:rPr>
              <a:t>사이판</a:t>
            </a:r>
            <a:r>
              <a:rPr lang="en-US" altLang="ko-KR" sz="950" b="1" dirty="0" smtClean="0">
                <a:latin typeface="+mn-ea"/>
              </a:rPr>
              <a:t>)</a:t>
            </a:r>
            <a:r>
              <a:rPr lang="ko-KR" altLang="en-US" sz="950" b="1" dirty="0" smtClean="0">
                <a:latin typeface="+mn-ea"/>
              </a:rPr>
              <a:t>을 지속적으로 추천 및 유도하는 것뿐만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아니라 정기적으로 고객들의 선호 여행지의 변화를 파악함과 동시에 동반인 유형에 맞는 지역을 추천하고 판매하는 것에 힘을 기울여야 될 것으로 판단된다</a:t>
            </a:r>
            <a:r>
              <a:rPr lang="en-US" altLang="ko-KR" sz="950" b="1" dirty="0" smtClean="0">
                <a:latin typeface="+mn-ea"/>
              </a:rPr>
              <a:t>.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 flipV="1">
            <a:off x="2225614" y="2583875"/>
            <a:ext cx="374296" cy="566341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509082" y="2875084"/>
            <a:ext cx="328344" cy="289032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V="1">
            <a:off x="2988098" y="3019600"/>
            <a:ext cx="333072" cy="144516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3796447" y="2896231"/>
            <a:ext cx="249342" cy="270014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47924" y="110301"/>
            <a:ext cx="424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2019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결산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여행 동향 요약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리포트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55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391" y="52243"/>
            <a:ext cx="58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TABLE OF CONTENTS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1311402" y="393000"/>
            <a:ext cx="8161775" cy="6474849"/>
            <a:chOff x="1320028" y="494589"/>
            <a:chExt cx="8161775" cy="6474849"/>
          </a:xfrm>
        </p:grpSpPr>
        <p:sp>
          <p:nvSpPr>
            <p:cNvPr id="30" name="TextBox 29"/>
            <p:cNvSpPr txBox="1"/>
            <p:nvPr/>
          </p:nvSpPr>
          <p:spPr>
            <a:xfrm>
              <a:off x="1320028" y="494589"/>
              <a:ext cx="4927162" cy="647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>
                  <a:latin typeface="+mn-ea"/>
                </a:rPr>
                <a:t>회원가입 통계</a:t>
              </a:r>
              <a:endParaRPr lang="en-US" altLang="ko-KR" sz="1100" b="1" dirty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가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고객군</a:t>
              </a:r>
              <a:r>
                <a:rPr lang="ko-KR" altLang="en-US" sz="900" dirty="0">
                  <a:latin typeface="+mn-ea"/>
                </a:rPr>
                <a:t> 회원가입 변화 </a:t>
              </a:r>
              <a:r>
                <a:rPr lang="en-US" altLang="ko-KR" sz="900" dirty="0">
                  <a:latin typeface="+mn-ea"/>
                </a:rPr>
                <a:t>-- -- -- -- -- -- -- -- -- -- -- -- -- -- -- -- -- -- -- --</a:t>
              </a:r>
              <a:r>
                <a:rPr lang="ko-KR" altLang="en-US" sz="900" dirty="0">
                  <a:latin typeface="+mn-ea"/>
                </a:rPr>
                <a:t>                                            </a:t>
              </a:r>
              <a:endParaRPr lang="en-US" altLang="ko-KR" sz="900" dirty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나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고객군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smtClean="0">
                  <a:latin typeface="+mn-ea"/>
                </a:rPr>
                <a:t>연령대 변화 추이 </a:t>
              </a:r>
              <a:r>
                <a:rPr lang="en-US" altLang="ko-KR" sz="900" dirty="0" smtClean="0">
                  <a:latin typeface="+mn-ea"/>
                </a:rPr>
                <a:t>-- -- -- -- --- </a:t>
              </a:r>
              <a:r>
                <a:rPr lang="en-US" altLang="ko-KR" sz="900" dirty="0">
                  <a:latin typeface="+mn-ea"/>
                </a:rPr>
                <a:t>-- -- -- -- -- -- -- -- -- -- -- -- -- -</a:t>
              </a: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다</a:t>
              </a:r>
              <a:r>
                <a:rPr lang="en-US" altLang="ko-KR" sz="900" dirty="0">
                  <a:latin typeface="+mn-ea"/>
                </a:rPr>
                <a:t>. </a:t>
              </a:r>
              <a:r>
                <a:rPr lang="ko-KR" altLang="en-US" sz="900" dirty="0" err="1">
                  <a:latin typeface="+mn-ea"/>
                </a:rPr>
                <a:t>고객군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err="1">
                  <a:latin typeface="+mn-ea"/>
                </a:rPr>
                <a:t>매체별</a:t>
              </a:r>
              <a:r>
                <a:rPr lang="ko-KR" altLang="en-US" sz="900" dirty="0">
                  <a:latin typeface="+mn-ea"/>
                </a:rPr>
                <a:t> 회원가입 세부 </a:t>
              </a:r>
              <a:r>
                <a:rPr lang="ko-KR" altLang="en-US" sz="900" dirty="0" smtClean="0">
                  <a:latin typeface="+mn-ea"/>
                </a:rPr>
                <a:t>비중</a:t>
              </a:r>
              <a:r>
                <a:rPr lang="en-US" altLang="ko-KR" sz="900" dirty="0" smtClean="0">
                  <a:latin typeface="+mn-ea"/>
                </a:rPr>
                <a:t> --- </a:t>
              </a:r>
              <a:r>
                <a:rPr lang="en-US" altLang="ko-KR" sz="900" dirty="0">
                  <a:latin typeface="+mn-ea"/>
                </a:rPr>
                <a:t>-- -- -- -- -- -- -- -- -- -- -- -- -- -</a:t>
              </a: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라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고객군</a:t>
              </a:r>
              <a:r>
                <a:rPr lang="ko-KR" altLang="en-US" sz="900" dirty="0">
                  <a:latin typeface="+mn-ea"/>
                </a:rPr>
                <a:t> 성별 변화 추이 </a:t>
              </a:r>
              <a:r>
                <a:rPr lang="en-US" altLang="ko-KR" sz="900" dirty="0">
                  <a:latin typeface="+mn-ea"/>
                </a:rPr>
                <a:t>-- -- -- -- -- -- -- -- -- -- -- -- -- -- -- -- -- -- -- -</a:t>
              </a:r>
              <a:r>
                <a:rPr lang="ko-KR" altLang="en-US" sz="900" dirty="0">
                  <a:latin typeface="+mn-ea"/>
                </a:rPr>
                <a:t>                                                                                         </a:t>
              </a:r>
              <a:endParaRPr lang="en-US" altLang="ko-KR" sz="900" dirty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마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고객군</a:t>
              </a:r>
              <a:r>
                <a:rPr lang="ko-KR" altLang="en-US" sz="900" dirty="0">
                  <a:latin typeface="+mn-ea"/>
                </a:rPr>
                <a:t> 거주지 비중 </a:t>
              </a:r>
              <a:r>
                <a:rPr lang="en-US" altLang="ko-KR" sz="900" dirty="0">
                  <a:latin typeface="+mn-ea"/>
                </a:rPr>
                <a:t>-- -- -- -- -- -- -- -- -- -- -- -- -- -- -- -- -- -- -- -- --</a:t>
              </a: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바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>
                  <a:latin typeface="+mn-ea"/>
                </a:rPr>
                <a:t>회원가입경로 추이 </a:t>
              </a:r>
              <a:r>
                <a:rPr lang="en-US" altLang="ko-KR" sz="900" dirty="0">
                  <a:latin typeface="+mn-ea"/>
                </a:rPr>
                <a:t>-- -- -- -- -- -- -- -- -- -- -- -- -- -- -- -- -- -- -- -- ---</a:t>
              </a: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>
                  <a:latin typeface="+mn-ea"/>
                </a:rPr>
                <a:t>예약</a:t>
              </a:r>
              <a:r>
                <a:rPr lang="en-US" altLang="ko-KR" sz="1050" b="1" dirty="0">
                  <a:latin typeface="+mn-ea"/>
                </a:rPr>
                <a:t>, </a:t>
              </a:r>
              <a:r>
                <a:rPr lang="ko-KR" altLang="en-US" sz="1050" b="1" dirty="0">
                  <a:latin typeface="+mn-ea"/>
                </a:rPr>
                <a:t>출발</a:t>
              </a:r>
              <a:r>
                <a:rPr lang="en-US" altLang="ko-KR" sz="1050" b="1" dirty="0">
                  <a:latin typeface="+mn-ea"/>
                </a:rPr>
                <a:t>, </a:t>
              </a:r>
              <a:r>
                <a:rPr lang="ko-KR" altLang="en-US" sz="1050" b="1" dirty="0">
                  <a:latin typeface="+mn-ea"/>
                </a:rPr>
                <a:t>취소 통계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가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고객군</a:t>
              </a:r>
              <a:r>
                <a:rPr lang="ko-KR" altLang="en-US" sz="900" dirty="0">
                  <a:latin typeface="+mn-ea"/>
                </a:rPr>
                <a:t> 연령대별 여행지역 비중 추이 </a:t>
              </a:r>
              <a:r>
                <a:rPr lang="en-US" altLang="ko-KR" sz="900" dirty="0">
                  <a:latin typeface="+mn-ea"/>
                </a:rPr>
                <a:t>-- -- -- -- -- -- -- -- -- -- -- -- -- 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나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>
                  <a:latin typeface="+mn-ea"/>
                </a:rPr>
                <a:t>선행예약 변화 추이 </a:t>
              </a:r>
              <a:r>
                <a:rPr lang="en-US" altLang="ko-KR" sz="900" dirty="0">
                  <a:latin typeface="+mn-ea"/>
                </a:rPr>
                <a:t>-- -- -- -- -- -- -- -- -- -- -- -- -- -- -- -- -- -- -- -- 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다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>
                  <a:latin typeface="+mn-ea"/>
                </a:rPr>
                <a:t>예약취소시점 변화 추이</a:t>
              </a:r>
              <a:r>
                <a:rPr lang="en-US" altLang="ko-KR" sz="900" dirty="0">
                  <a:latin typeface="+mn-ea"/>
                </a:rPr>
                <a:t> -- -- -- -- -- -- -- -- -- -- -- -- -- -- -- -- -- -- 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라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상품가별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err="1">
                  <a:latin typeface="+mn-ea"/>
                </a:rPr>
                <a:t>취소율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-- -- -- -- -- -- -- -- -- -- -- -- -- -- -- -- -- -- -- ---</a:t>
              </a: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>
                  <a:latin typeface="+mn-ea"/>
                </a:rPr>
                <a:t>판매금액</a:t>
              </a:r>
              <a:endParaRPr lang="en-US" altLang="ko-KR" sz="1050" b="1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가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연령대별 </a:t>
              </a:r>
              <a:r>
                <a:rPr lang="ko-KR" altLang="en-US" sz="900" dirty="0">
                  <a:latin typeface="+mn-ea"/>
                </a:rPr>
                <a:t>총 판매금액 </a:t>
              </a:r>
              <a:r>
                <a:rPr lang="en-US" altLang="ko-KR" sz="900" dirty="0">
                  <a:latin typeface="+mn-ea"/>
                </a:rPr>
                <a:t>-- -- </a:t>
              </a:r>
              <a:r>
                <a:rPr lang="en-US" altLang="ko-KR" sz="900" dirty="0" smtClean="0">
                  <a:latin typeface="+mn-ea"/>
                </a:rPr>
                <a:t>-- -- -- ---- </a:t>
              </a:r>
              <a:r>
                <a:rPr lang="en-US" altLang="ko-KR" sz="900" dirty="0">
                  <a:latin typeface="+mn-ea"/>
                </a:rPr>
                <a:t>-- -- -- -- -- -- -- -- -- -- -- -- 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나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연령대별 </a:t>
              </a:r>
              <a:r>
                <a:rPr lang="ko-KR" altLang="en-US" sz="900" dirty="0">
                  <a:latin typeface="+mn-ea"/>
                </a:rPr>
                <a:t>평균 판매금액</a:t>
              </a:r>
              <a:r>
                <a:rPr lang="en-US" altLang="ko-KR" sz="1050" dirty="0">
                  <a:latin typeface="+mn-ea"/>
                </a:rPr>
                <a:t> -- -- -- </a:t>
              </a:r>
              <a:r>
                <a:rPr lang="en-US" altLang="ko-KR" sz="1050" dirty="0" smtClean="0">
                  <a:latin typeface="+mn-ea"/>
                </a:rPr>
                <a:t>-- </a:t>
              </a:r>
              <a:r>
                <a:rPr lang="en-US" altLang="ko-KR" sz="1050" dirty="0">
                  <a:latin typeface="+mn-ea"/>
                </a:rPr>
                <a:t>-- -- -- -- -- -- -- -- -- -- -- ---</a:t>
              </a:r>
              <a:endParaRPr lang="en-US" altLang="ko-KR" sz="1050" b="1" dirty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err="1">
                  <a:latin typeface="+mn-ea"/>
                </a:rPr>
                <a:t>재구매</a:t>
              </a:r>
              <a:endParaRPr lang="en-US" altLang="ko-KR" sz="1050" b="1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가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en-US" altLang="ko-KR" sz="900" dirty="0" smtClean="0">
                  <a:latin typeface="+mn-ea"/>
                </a:rPr>
                <a:t>2018</a:t>
              </a:r>
              <a:r>
                <a:rPr lang="ko-KR" altLang="en-US" sz="900" dirty="0" smtClean="0">
                  <a:latin typeface="+mn-ea"/>
                </a:rPr>
                <a:t>년</a:t>
              </a:r>
              <a:r>
                <a:rPr lang="en-US" altLang="ko-KR" sz="900" dirty="0">
                  <a:latin typeface="+mn-ea"/>
                </a:rPr>
                <a:t>, </a:t>
              </a:r>
              <a:r>
                <a:rPr lang="en-US" altLang="ko-KR" sz="900" dirty="0" smtClean="0">
                  <a:latin typeface="+mn-ea"/>
                </a:rPr>
                <a:t>2019</a:t>
              </a:r>
              <a:r>
                <a:rPr lang="ko-KR" altLang="en-US" sz="900" dirty="0" smtClean="0">
                  <a:latin typeface="+mn-ea"/>
                </a:rPr>
                <a:t>년 </a:t>
              </a:r>
              <a:r>
                <a:rPr lang="ko-KR" altLang="en-US" sz="900" dirty="0">
                  <a:latin typeface="+mn-ea"/>
                </a:rPr>
                <a:t>출발고객 </a:t>
              </a:r>
              <a:r>
                <a:rPr lang="ko-KR" altLang="en-US" sz="900" dirty="0" err="1">
                  <a:latin typeface="+mn-ea"/>
                </a:rPr>
                <a:t>재구매</a:t>
              </a:r>
              <a:r>
                <a:rPr lang="ko-KR" altLang="en-US" sz="900" dirty="0">
                  <a:latin typeface="+mn-ea"/>
                </a:rPr>
                <a:t> 분포 </a:t>
              </a:r>
              <a:r>
                <a:rPr lang="en-US" altLang="ko-KR" sz="900" dirty="0">
                  <a:latin typeface="+mn-ea"/>
                </a:rPr>
                <a:t>-- -- -- -- -- -- -- -- -- -- -- 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나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>
                  <a:latin typeface="+mn-ea"/>
                </a:rPr>
                <a:t>지역별 고객 </a:t>
              </a:r>
              <a:r>
                <a:rPr lang="ko-KR" altLang="en-US" sz="900" dirty="0" err="1">
                  <a:latin typeface="+mn-ea"/>
                </a:rPr>
                <a:t>재구매</a:t>
              </a:r>
              <a:r>
                <a:rPr lang="ko-KR" altLang="en-US" sz="900" dirty="0">
                  <a:latin typeface="+mn-ea"/>
                </a:rPr>
                <a:t> 패턴 </a:t>
              </a:r>
              <a:r>
                <a:rPr lang="en-US" altLang="ko-KR" sz="1050" dirty="0">
                  <a:latin typeface="+mn-ea"/>
                </a:rPr>
                <a:t>-- -- -- -- -- -- -- -- -- -- -- -- -- -- -- --</a:t>
              </a:r>
              <a:endParaRPr lang="en-US" altLang="ko-KR" sz="1050" b="1" dirty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smtClean="0">
                  <a:latin typeface="+mn-ea"/>
                </a:rPr>
                <a:t>상품</a:t>
              </a:r>
              <a:endParaRPr lang="en-US" altLang="ko-KR" sz="1050" b="1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가</a:t>
              </a:r>
              <a:r>
                <a:rPr lang="en-US" altLang="ko-KR" sz="900" dirty="0">
                  <a:latin typeface="+mn-ea"/>
                </a:rPr>
                <a:t>.  2017</a:t>
              </a:r>
              <a:r>
                <a:rPr lang="ko-KR" altLang="en-US" sz="900" dirty="0" smtClean="0">
                  <a:latin typeface="+mn-ea"/>
                </a:rPr>
                <a:t>년 </a:t>
              </a:r>
              <a:r>
                <a:rPr lang="en-US" altLang="ko-KR" sz="900" dirty="0" smtClean="0">
                  <a:latin typeface="+mn-ea"/>
                </a:rPr>
                <a:t>~ 2019</a:t>
              </a:r>
              <a:r>
                <a:rPr lang="ko-KR" altLang="en-US" sz="900" dirty="0" smtClean="0">
                  <a:latin typeface="+mn-ea"/>
                </a:rPr>
                <a:t>년 </a:t>
              </a:r>
              <a:r>
                <a:rPr lang="ko-KR" altLang="en-US" sz="900" dirty="0">
                  <a:latin typeface="+mn-ea"/>
                </a:rPr>
                <a:t>실제 판매 상품 </a:t>
              </a:r>
              <a:r>
                <a:rPr lang="en-US" altLang="ko-KR" sz="900" dirty="0">
                  <a:latin typeface="+mn-ea"/>
                </a:rPr>
                <a:t>-- -- -- -- -- -- -- -- -- -- -- -- -- -- </a:t>
              </a:r>
              <a:r>
                <a:rPr lang="en-US" altLang="ko-KR" sz="900" dirty="0" smtClean="0">
                  <a:latin typeface="+mn-ea"/>
                </a:rPr>
                <a:t>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나</a:t>
              </a:r>
              <a:r>
                <a:rPr lang="en-US" altLang="ko-KR" sz="900" dirty="0" smtClean="0">
                  <a:latin typeface="+mn-ea"/>
                </a:rPr>
                <a:t>.  2019</a:t>
              </a:r>
              <a:r>
                <a:rPr lang="ko-KR" altLang="en-US" sz="900" dirty="0" smtClean="0">
                  <a:latin typeface="+mn-ea"/>
                </a:rPr>
                <a:t>년 </a:t>
              </a:r>
              <a:r>
                <a:rPr lang="ko-KR" altLang="en-US" sz="900" dirty="0">
                  <a:latin typeface="+mn-ea"/>
                </a:rPr>
                <a:t>지역별 </a:t>
              </a:r>
              <a:r>
                <a:rPr lang="en-US" altLang="ko-KR" sz="900" dirty="0">
                  <a:latin typeface="+mn-ea"/>
                </a:rPr>
                <a:t>TOP5 </a:t>
              </a:r>
              <a:r>
                <a:rPr lang="ko-KR" altLang="en-US" sz="900" dirty="0">
                  <a:latin typeface="+mn-ea"/>
                </a:rPr>
                <a:t>인기 상품 </a:t>
              </a:r>
              <a:r>
                <a:rPr lang="en-US" altLang="ko-KR" sz="900" dirty="0">
                  <a:latin typeface="+mn-ea"/>
                </a:rPr>
                <a:t>-- -- -- -- -- -- -- -- -- -- -- -- -- -- 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다</a:t>
              </a:r>
              <a:r>
                <a:rPr lang="en-US" altLang="ko-KR" sz="900" dirty="0" smtClean="0">
                  <a:latin typeface="+mn-ea"/>
                </a:rPr>
                <a:t>.  2018</a:t>
              </a:r>
              <a:r>
                <a:rPr lang="ko-KR" altLang="en-US" sz="900" dirty="0" smtClean="0">
                  <a:latin typeface="+mn-ea"/>
                </a:rPr>
                <a:t>년 </a:t>
              </a:r>
              <a:r>
                <a:rPr lang="ko-KR" altLang="en-US" sz="900" dirty="0">
                  <a:latin typeface="+mn-ea"/>
                </a:rPr>
                <a:t>월별 </a:t>
              </a:r>
              <a:r>
                <a:rPr lang="en-US" altLang="ko-KR" sz="900" dirty="0">
                  <a:latin typeface="+mn-ea"/>
                </a:rPr>
                <a:t>TOP5 </a:t>
              </a:r>
              <a:r>
                <a:rPr lang="ko-KR" altLang="en-US" sz="900" dirty="0">
                  <a:latin typeface="+mn-ea"/>
                </a:rPr>
                <a:t>인기 상품 </a:t>
              </a:r>
              <a:r>
                <a:rPr lang="en-US" altLang="ko-KR" sz="900" dirty="0">
                  <a:latin typeface="+mn-ea"/>
                </a:rPr>
                <a:t>-- -- -- -- -- -- -- -- -- -- -- -- -- -- -- 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라</a:t>
              </a:r>
              <a:r>
                <a:rPr lang="en-US" altLang="ko-KR" sz="900" dirty="0" smtClean="0">
                  <a:latin typeface="+mn-ea"/>
                </a:rPr>
                <a:t>.  2019</a:t>
              </a:r>
              <a:r>
                <a:rPr lang="ko-KR" altLang="en-US" sz="900" dirty="0" smtClean="0">
                  <a:latin typeface="+mn-ea"/>
                </a:rPr>
                <a:t>년 </a:t>
              </a:r>
              <a:r>
                <a:rPr lang="ko-KR" altLang="en-US" sz="900" dirty="0">
                  <a:latin typeface="+mn-ea"/>
                </a:rPr>
                <a:t>월별 </a:t>
              </a:r>
              <a:r>
                <a:rPr lang="en-US" altLang="ko-KR" sz="900" dirty="0">
                  <a:latin typeface="+mn-ea"/>
                </a:rPr>
                <a:t>TOP5 </a:t>
              </a:r>
              <a:r>
                <a:rPr lang="ko-KR" altLang="en-US" sz="900" dirty="0">
                  <a:latin typeface="+mn-ea"/>
                </a:rPr>
                <a:t>인기 상품 </a:t>
              </a:r>
              <a:r>
                <a:rPr lang="en-US" altLang="ko-KR" sz="900" dirty="0">
                  <a:latin typeface="+mn-ea"/>
                </a:rPr>
                <a:t>-- -- -- -- -- -- -- -- -- -- -- -- -- -- --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1050" dirty="0" smtClean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100" b="1" dirty="0" err="1" smtClean="0">
                  <a:latin typeface="+mn-ea"/>
                </a:rPr>
                <a:t>검색어</a:t>
              </a:r>
              <a:r>
                <a:rPr lang="ko-KR" altLang="en-US" sz="1100" b="1" dirty="0" smtClean="0">
                  <a:latin typeface="+mn-ea"/>
                </a:rPr>
                <a:t> 및 게시판 </a:t>
              </a:r>
              <a:endParaRPr lang="en-US" altLang="ko-KR" sz="1100" b="1" dirty="0" smtClean="0">
                <a:latin typeface="+mn-ea"/>
              </a:endParaRPr>
            </a:p>
            <a:p>
              <a:pPr marL="0" lvl="2">
                <a:lnSpc>
                  <a:spcPct val="150000"/>
                </a:lnSpc>
              </a:pP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             </a:t>
              </a: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>
                  <a:latin typeface="+mn-ea"/>
                </a:rPr>
                <a:t>.  </a:t>
              </a:r>
              <a:r>
                <a:rPr lang="ko-KR" altLang="en-US" sz="900" dirty="0" err="1">
                  <a:latin typeface="+mn-ea"/>
                </a:rPr>
                <a:t>년도별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err="1">
                  <a:latin typeface="+mn-ea"/>
                </a:rPr>
                <a:t>검색어</a:t>
              </a:r>
              <a:r>
                <a:rPr lang="ko-KR" altLang="en-US" sz="900" dirty="0">
                  <a:latin typeface="+mn-ea"/>
                </a:rPr>
                <a:t> 추이 비교 </a:t>
              </a:r>
              <a:r>
                <a:rPr lang="en-US" altLang="ko-KR" sz="900" dirty="0">
                  <a:latin typeface="+mn-ea"/>
                </a:rPr>
                <a:t>-- -- -- -- -- -- -- -- -- -- -- -- -- -- -- -- -- -- --</a:t>
              </a:r>
            </a:p>
            <a:p>
              <a:pPr marL="0" lvl="2">
                <a:lnSpc>
                  <a:spcPct val="150000"/>
                </a:lnSpc>
              </a:pPr>
              <a:r>
                <a:rPr lang="en-US" altLang="ko-KR" sz="900" dirty="0">
                  <a:latin typeface="+mn-ea"/>
                </a:rPr>
                <a:t>              </a:t>
              </a:r>
              <a:r>
                <a:rPr lang="ko-KR" altLang="en-US" sz="900" dirty="0">
                  <a:latin typeface="+mn-ea"/>
                </a:rPr>
                <a:t>나</a:t>
              </a:r>
              <a:r>
                <a:rPr lang="en-US" altLang="ko-KR" sz="900" dirty="0">
                  <a:latin typeface="+mn-ea"/>
                </a:rPr>
                <a:t>.  2019</a:t>
              </a:r>
              <a:r>
                <a:rPr lang="ko-KR" altLang="en-US" sz="900" dirty="0">
                  <a:latin typeface="+mn-ea"/>
                </a:rPr>
                <a:t>년 키워드 네트워크 </a:t>
              </a:r>
              <a:r>
                <a:rPr lang="en-US" altLang="ko-KR" sz="900" dirty="0">
                  <a:latin typeface="+mn-ea"/>
                </a:rPr>
                <a:t>-- - -- -- -- -- -- -- -- -- -- -- -- -- -- -- -- -- --</a:t>
              </a:r>
              <a:endParaRPr lang="en-US" altLang="ko-KR" sz="1100" b="1" dirty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100" b="1" dirty="0" smtClean="0">
                  <a:latin typeface="+mn-ea"/>
                </a:rPr>
                <a:t>시사점</a:t>
              </a:r>
              <a:r>
                <a:rPr lang="ko-KR" altLang="en-US" sz="900" b="1" dirty="0" smtClean="0">
                  <a:latin typeface="+mn-ea"/>
                </a:rPr>
                <a:t> </a:t>
              </a:r>
              <a:r>
                <a:rPr lang="en-US" altLang="ko-KR" sz="900" dirty="0">
                  <a:latin typeface="+mn-ea"/>
                </a:rPr>
                <a:t>-- - -- -- -- -- -- -- -- -- -- -- -- -- -- -- -- -- </a:t>
              </a:r>
              <a:r>
                <a:rPr lang="en-US" altLang="ko-KR" sz="900" dirty="0" smtClean="0">
                  <a:latin typeface="+mn-ea"/>
                </a:rPr>
                <a:t>-- -- -- -- -- -- -- -- --  --</a:t>
              </a:r>
              <a:endParaRPr lang="en-US" altLang="ko-KR" sz="900" b="1" dirty="0">
                <a:latin typeface="+mn-ea"/>
              </a:endParaRPr>
            </a:p>
            <a:p>
              <a:pPr marL="0" lvl="2">
                <a:lnSpc>
                  <a:spcPct val="150000"/>
                </a:lnSpc>
              </a:pPr>
              <a:endParaRPr lang="en-US" altLang="ko-KR" sz="900" dirty="0" smtClean="0">
                <a:latin typeface="+mn-ea"/>
              </a:endParaRPr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4892114" y="720803"/>
              <a:ext cx="4589689" cy="5502578"/>
              <a:chOff x="4892114" y="720803"/>
              <a:chExt cx="4589689" cy="5502578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4892120" y="2210036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12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16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20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22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4892116" y="3293499"/>
                <a:ext cx="4572000" cy="71558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26p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30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4900750" y="720803"/>
                <a:ext cx="1270240" cy="1338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06p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07p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08p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09p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10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11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4892122" y="3978206"/>
                <a:ext cx="4572000" cy="5078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32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33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4892114" y="4667907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38p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39p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41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43</a:t>
                </a:r>
                <a:r>
                  <a:rPr lang="en-US" altLang="ko-KR" sz="900" dirty="0" smtClean="0">
                    <a:latin typeface="+mn-ea"/>
                  </a:rPr>
                  <a:t>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4909803" y="5923299"/>
                <a:ext cx="4572000" cy="3000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47p</a:t>
                </a:r>
                <a:endParaRPr lang="en-US" altLang="ko-KR" sz="900" dirty="0">
                  <a:latin typeface="+mn-ea"/>
                </a:endParaRPr>
              </a:p>
            </p:txBody>
          </p:sp>
        </p:grpSp>
      </p:grpSp>
      <p:sp>
        <p:nvSpPr>
          <p:cNvPr id="18" name="직사각형 17"/>
          <p:cNvSpPr/>
          <p:nvPr/>
        </p:nvSpPr>
        <p:spPr>
          <a:xfrm>
            <a:off x="4899670" y="6055589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154" lvl="1"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48p</a:t>
            </a:r>
            <a:endParaRPr lang="en-US" altLang="ko-KR" sz="90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899670" y="5640021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154" lvl="1"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45p</a:t>
            </a:r>
            <a:endParaRPr lang="en-US" altLang="ko-KR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490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차트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820995"/>
              </p:ext>
            </p:extLst>
          </p:nvPr>
        </p:nvGraphicFramePr>
        <p:xfrm>
          <a:off x="4664641" y="1484499"/>
          <a:ext cx="4066287" cy="2915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06552" y="1221711"/>
            <a:ext cx="4128936" cy="317827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06552" y="1214624"/>
            <a:ext cx="190546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3148" y="1221712"/>
            <a:ext cx="19869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회원가입자수 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4668882" y="1221712"/>
            <a:ext cx="4062046" cy="317827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668882" y="1214624"/>
            <a:ext cx="164019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668882" y="1212834"/>
            <a:ext cx="16401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매체별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간편가입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879400"/>
            <a:ext cx="2341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회원가입 변화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64993" y="4188938"/>
            <a:ext cx="10070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관리자 가입 제외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403147" y="2810847"/>
            <a:ext cx="4132341" cy="1"/>
          </a:xfrm>
          <a:prstGeom prst="line">
            <a:avLst/>
          </a:prstGeom>
          <a:ln w="190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55428" y="1801110"/>
            <a:ext cx="468016" cy="221735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406551" y="2810847"/>
            <a:ext cx="19054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8196" y="2807286"/>
            <a:ext cx="18421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매체별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회원가입자수 비중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5684922" y="2849887"/>
            <a:ext cx="624153" cy="373147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7403433" y="2177585"/>
            <a:ext cx="608884" cy="47508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7" name="차트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869597"/>
              </p:ext>
            </p:extLst>
          </p:nvPr>
        </p:nvGraphicFramePr>
        <p:xfrm>
          <a:off x="449590" y="1490989"/>
          <a:ext cx="4085898" cy="1302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차트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9194038"/>
              </p:ext>
            </p:extLst>
          </p:nvPr>
        </p:nvGraphicFramePr>
        <p:xfrm>
          <a:off x="438196" y="3095897"/>
          <a:ext cx="4097292" cy="1267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649603" y="1422292"/>
            <a:ext cx="879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solidFill>
                  <a:srgbClr val="C00000"/>
                </a:solidFill>
              </a:rPr>
              <a:t>30% 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감소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41" name="TextBox 21"/>
          <p:cNvSpPr txBox="1">
            <a:spLocks noChangeArrowheads="1"/>
          </p:cNvSpPr>
          <p:nvPr/>
        </p:nvSpPr>
        <p:spPr bwMode="auto">
          <a:xfrm>
            <a:off x="1563670" y="4719975"/>
            <a:ext cx="644864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 회원가입자수 높은 증가 </a:t>
            </a:r>
            <a:r>
              <a:rPr lang="en-US" altLang="ko-KR" sz="1400" b="1" dirty="0"/>
              <a:t>&lt;&gt; 2019</a:t>
            </a:r>
            <a:r>
              <a:rPr lang="ko-KR" altLang="en-US" sz="1400" b="1" dirty="0"/>
              <a:t>년 회원가입자수 </a:t>
            </a:r>
            <a:r>
              <a:rPr lang="ko-KR" altLang="en-US" sz="1400" b="1" dirty="0">
                <a:solidFill>
                  <a:srgbClr val="C00000"/>
                </a:solidFill>
              </a:rPr>
              <a:t>약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30%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</a:rPr>
              <a:t>감소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MOBILE </a:t>
            </a:r>
            <a:r>
              <a:rPr lang="ko-KR" altLang="en-US" sz="1400" b="1" dirty="0"/>
              <a:t>회원가입 비중 </a:t>
            </a:r>
            <a:r>
              <a:rPr lang="en-US" altLang="ko-KR" sz="1400" b="1" dirty="0"/>
              <a:t>-&gt; 2018</a:t>
            </a:r>
            <a:r>
              <a:rPr lang="ko-KR" altLang="en-US" sz="1400" b="1" dirty="0"/>
              <a:t>년 대비 </a:t>
            </a:r>
            <a:r>
              <a:rPr lang="ko-KR" altLang="en-US" sz="1400" b="1" dirty="0" smtClean="0"/>
              <a:t>감소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SNS </a:t>
            </a:r>
            <a:r>
              <a:rPr lang="ko-KR" altLang="en-US" sz="1400" b="1" dirty="0"/>
              <a:t>간편가입이 감소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그리고 그 원인은</a:t>
            </a:r>
            <a:r>
              <a:rPr lang="en-US" altLang="ko-KR" sz="1400" b="1" dirty="0"/>
              <a:t>?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48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06552" y="1221712"/>
            <a:ext cx="4051314" cy="248764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97926" y="1222433"/>
            <a:ext cx="194116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80091" y="1221712"/>
            <a:ext cx="17940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회원가입 비중</a:t>
            </a:r>
          </a:p>
        </p:txBody>
      </p:sp>
      <p:sp>
        <p:nvSpPr>
          <p:cNvPr id="22" name="직사각형 21"/>
          <p:cNvSpPr/>
          <p:nvPr/>
        </p:nvSpPr>
        <p:spPr bwMode="auto">
          <a:xfrm>
            <a:off x="4668882" y="1221712"/>
            <a:ext cx="4062046" cy="248764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668882" y="1214624"/>
            <a:ext cx="194116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742421" y="1221712"/>
            <a:ext cx="17940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출발자수 비중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42445"/>
              </p:ext>
            </p:extLst>
          </p:nvPr>
        </p:nvGraphicFramePr>
        <p:xfrm>
          <a:off x="4742421" y="3906951"/>
          <a:ext cx="3901250" cy="1419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0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02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02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802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802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2018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2019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altLang="ko-KR" sz="11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362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40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50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886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60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31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총합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127727"/>
              </p:ext>
            </p:extLst>
          </p:nvPr>
        </p:nvGraphicFramePr>
        <p:xfrm>
          <a:off x="560717" y="3899284"/>
          <a:ext cx="3769745" cy="1417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39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394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39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394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394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6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2018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2019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737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40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50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737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60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대</a:t>
                      </a:r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총합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7399" y="86277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28172" y="3701458"/>
            <a:ext cx="7104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%)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18486" y="3701458"/>
            <a:ext cx="7104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%)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차트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0647455"/>
              </p:ext>
            </p:extLst>
          </p:nvPr>
        </p:nvGraphicFramePr>
        <p:xfrm>
          <a:off x="439782" y="1603427"/>
          <a:ext cx="3998841" cy="2098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차트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274122"/>
              </p:ext>
            </p:extLst>
          </p:nvPr>
        </p:nvGraphicFramePr>
        <p:xfrm>
          <a:off x="4668882" y="1484499"/>
          <a:ext cx="4060055" cy="2224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29" name="TextBox 21"/>
          <p:cNvSpPr txBox="1">
            <a:spLocks noChangeArrowheads="1"/>
          </p:cNvSpPr>
          <p:nvPr/>
        </p:nvSpPr>
        <p:spPr bwMode="auto">
          <a:xfrm>
            <a:off x="2170370" y="5293570"/>
            <a:ext cx="653045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회원가입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출발자수 </a:t>
            </a:r>
            <a:r>
              <a:rPr lang="en-US" altLang="ko-KR" sz="1400" b="1" dirty="0">
                <a:solidFill>
                  <a:srgbClr val="C00000"/>
                </a:solidFill>
              </a:rPr>
              <a:t>20, 30</a:t>
            </a:r>
            <a:r>
              <a:rPr lang="ko-KR" altLang="en-US" sz="1400" b="1" dirty="0">
                <a:solidFill>
                  <a:srgbClr val="C00000"/>
                </a:solidFill>
              </a:rPr>
              <a:t>대↓</a:t>
            </a:r>
            <a:r>
              <a:rPr lang="en-US" altLang="ko-KR" sz="1400" b="1" dirty="0">
                <a:solidFill>
                  <a:srgbClr val="C00000"/>
                </a:solidFill>
              </a:rPr>
              <a:t>, </a:t>
            </a:r>
            <a:r>
              <a:rPr lang="ko-KR" altLang="en-US" sz="1400" b="1" dirty="0" err="1">
                <a:solidFill>
                  <a:srgbClr val="C00000"/>
                </a:solidFill>
              </a:rPr>
              <a:t>중장년층</a:t>
            </a:r>
            <a:r>
              <a:rPr lang="ko-KR" altLang="en-US" sz="1400" b="1" dirty="0">
                <a:solidFill>
                  <a:srgbClr val="C00000"/>
                </a:solidFill>
              </a:rPr>
              <a:t> 비중↑</a:t>
            </a:r>
            <a:r>
              <a:rPr lang="en-US" altLang="ko-KR" sz="1400" b="1" dirty="0">
                <a:solidFill>
                  <a:srgbClr val="C00000"/>
                </a:solidFill>
              </a:rPr>
              <a:t>(50 , 60 , 70</a:t>
            </a:r>
            <a:r>
              <a:rPr lang="ko-KR" altLang="en-US" sz="1400" b="1" dirty="0">
                <a:solidFill>
                  <a:srgbClr val="C00000"/>
                </a:solidFill>
              </a:rPr>
              <a:t>대</a:t>
            </a:r>
            <a:r>
              <a:rPr lang="en-US" altLang="ko-KR" sz="1400" b="1" dirty="0">
                <a:solidFill>
                  <a:srgbClr val="C00000"/>
                </a:solidFill>
              </a:rPr>
              <a:t>)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모든 연령층이 </a:t>
            </a:r>
            <a:r>
              <a:rPr lang="ko-KR" altLang="en-US" sz="1400" b="1" dirty="0">
                <a:solidFill>
                  <a:srgbClr val="C00000"/>
                </a:solidFill>
              </a:rPr>
              <a:t>회원가입 비례 출발자수 증감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회원가입을 하는 연령대별 목적은</a:t>
            </a:r>
            <a:r>
              <a:rPr lang="en-US" altLang="ko-KR" sz="1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9772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/>
          <p:cNvSpPr txBox="1"/>
          <p:nvPr/>
        </p:nvSpPr>
        <p:spPr>
          <a:xfrm>
            <a:off x="1628288" y="2553117"/>
            <a:ext cx="514884" cy="307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여성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816054"/>
              </p:ext>
            </p:extLst>
          </p:nvPr>
        </p:nvGraphicFramePr>
        <p:xfrm>
          <a:off x="1636914" y="1682364"/>
          <a:ext cx="5821884" cy="3486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57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128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7758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2574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681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연령대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성별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MOBILE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46%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54%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66%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60%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29%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71%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39%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61%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28%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72%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45%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55%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31%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69%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50%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65%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70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52%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48%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41%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59%</a:t>
                      </a:r>
                      <a:endParaRPr lang="en-US" altLang="ko-KR" sz="100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628288" y="1408823"/>
            <a:ext cx="296959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고딕"/>
              </a:rPr>
              <a:t>2019</a:t>
            </a:r>
            <a:r>
              <a:rPr lang="ko-KR" altLang="en-US" sz="1200" b="1" dirty="0">
                <a:solidFill>
                  <a:schemeClr val="bg1"/>
                </a:solidFill>
                <a:latin typeface="맑은고딕"/>
              </a:rPr>
              <a:t>년 </a:t>
            </a:r>
            <a:r>
              <a:rPr lang="ko-KR" altLang="en-US" sz="1200" b="1" dirty="0" err="1">
                <a:solidFill>
                  <a:schemeClr val="bg1"/>
                </a:solidFill>
                <a:latin typeface="맑은고딕"/>
              </a:rPr>
              <a:t>매체별</a:t>
            </a:r>
            <a:r>
              <a:rPr lang="en-US" altLang="ko-KR" sz="1200" b="1" dirty="0">
                <a:solidFill>
                  <a:schemeClr val="bg1"/>
                </a:solidFill>
                <a:latin typeface="맑은고딕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맑은고딕"/>
              </a:rPr>
              <a:t>연령별 회원가입자 비중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399" y="947478"/>
            <a:ext cx="3492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매체별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회원가입 세부 비중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2852755" y="5548732"/>
            <a:ext cx="37394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모바일 중심</a:t>
            </a:r>
            <a:r>
              <a:rPr lang="en-US" altLang="ko-KR" sz="1400" b="1" dirty="0"/>
              <a:t>? </a:t>
            </a:r>
            <a:r>
              <a:rPr lang="ko-KR" altLang="en-US" sz="1400" b="1" dirty="0"/>
              <a:t>모바일 활용도의 중요성</a:t>
            </a:r>
            <a:r>
              <a:rPr lang="en-US" altLang="ko-KR" sz="1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438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97320" y="1345827"/>
            <a:ext cx="3120159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97319" y="1345827"/>
            <a:ext cx="22920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97318" y="1338703"/>
            <a:ext cx="2143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 회원가입자 성별 비중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8408" y="89883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성별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963743"/>
              </p:ext>
            </p:extLst>
          </p:nvPr>
        </p:nvGraphicFramePr>
        <p:xfrm>
          <a:off x="3901876" y="1608582"/>
          <a:ext cx="4715916" cy="2488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59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59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59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859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8598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8598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연령대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2019</a:t>
                      </a:r>
                      <a:r>
                        <a:rPr lang="en-US" altLang="ko-KR" sz="1100" b="1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11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757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75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778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899721" y="1337202"/>
            <a:ext cx="4715911" cy="2684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7" name="TextBox 35"/>
          <p:cNvSpPr txBox="1">
            <a:spLocks noChangeArrowheads="1"/>
          </p:cNvSpPr>
          <p:nvPr/>
        </p:nvSpPr>
        <p:spPr bwMode="auto">
          <a:xfrm>
            <a:off x="3939766" y="1328680"/>
            <a:ext cx="25699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2016~ 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 회원가입자 구성 비중</a:t>
            </a:r>
          </a:p>
        </p:txBody>
      </p:sp>
      <p:sp>
        <p:nvSpPr>
          <p:cNvPr id="16" name="직사각형 15"/>
          <p:cNvSpPr/>
          <p:nvPr/>
        </p:nvSpPr>
        <p:spPr bwMode="auto">
          <a:xfrm>
            <a:off x="3899721" y="1328680"/>
            <a:ext cx="4718067" cy="277680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차트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2031114"/>
              </p:ext>
            </p:extLst>
          </p:nvPr>
        </p:nvGraphicFramePr>
        <p:xfrm>
          <a:off x="546745" y="1622826"/>
          <a:ext cx="3070734" cy="2453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TextBox 7"/>
          <p:cNvSpPr txBox="1"/>
          <p:nvPr/>
        </p:nvSpPr>
        <p:spPr>
          <a:xfrm>
            <a:off x="1385888" y="2717081"/>
            <a:ext cx="514884" cy="307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여성</a:t>
            </a:r>
          </a:p>
        </p:txBody>
      </p:sp>
      <p:sp>
        <p:nvSpPr>
          <p:cNvPr id="36" name="TextBox 8"/>
          <p:cNvSpPr txBox="1"/>
          <p:nvPr/>
        </p:nvSpPr>
        <p:spPr>
          <a:xfrm>
            <a:off x="2266686" y="2229772"/>
            <a:ext cx="514884" cy="307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남성</a:t>
            </a:r>
          </a:p>
        </p:txBody>
      </p:sp>
      <p:sp>
        <p:nvSpPr>
          <p:cNvPr id="1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831234" y="4496858"/>
            <a:ext cx="7312766" cy="174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년의 경우 </a:t>
            </a:r>
            <a:r>
              <a:rPr lang="en-US" altLang="ko-KR" sz="1400" b="1" dirty="0"/>
              <a:t>40</a:t>
            </a:r>
            <a:r>
              <a:rPr lang="ko-KR" altLang="en-US" sz="1400" b="1" dirty="0"/>
              <a:t>대 여성의 </a:t>
            </a:r>
            <a:r>
              <a:rPr lang="ko-KR" altLang="en-US" sz="1400" b="1" dirty="0" err="1"/>
              <a:t>회원가입율이</a:t>
            </a:r>
            <a:r>
              <a:rPr lang="ko-KR" altLang="en-US" sz="1400" b="1" dirty="0"/>
              <a:t> 가장 높았으나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en-US" altLang="ko-KR" sz="1400" b="1" dirty="0"/>
              <a:t>2019</a:t>
            </a:r>
            <a:r>
              <a:rPr lang="ko-KR" altLang="en-US" sz="1400" b="1" dirty="0"/>
              <a:t>년의 경우 </a:t>
            </a:r>
            <a:r>
              <a:rPr lang="en-US" altLang="ko-KR" sz="1400" b="1" dirty="0">
                <a:solidFill>
                  <a:srgbClr val="C00000"/>
                </a:solidFill>
              </a:rPr>
              <a:t>50</a:t>
            </a:r>
            <a:r>
              <a:rPr lang="ko-KR" altLang="en-US" sz="1400" b="1" dirty="0">
                <a:solidFill>
                  <a:srgbClr val="C00000"/>
                </a:solidFill>
              </a:rPr>
              <a:t>대</a:t>
            </a:r>
            <a:r>
              <a:rPr lang="en-US" altLang="ko-KR" sz="1400" b="1" dirty="0">
                <a:solidFill>
                  <a:srgbClr val="C00000"/>
                </a:solidFill>
              </a:rPr>
              <a:t>, 60</a:t>
            </a:r>
            <a:r>
              <a:rPr lang="ko-KR" altLang="en-US" sz="1400" b="1" dirty="0">
                <a:solidFill>
                  <a:srgbClr val="C00000"/>
                </a:solidFill>
              </a:rPr>
              <a:t>대 여성의 가입율이 지속적으로 상승</a:t>
            </a:r>
            <a:r>
              <a:rPr lang="en-US" altLang="ko-KR" sz="1400" b="1" dirty="0">
                <a:solidFill>
                  <a:srgbClr val="C00000"/>
                </a:solidFill>
              </a:rPr>
              <a:t/>
            </a:r>
            <a:br>
              <a:rPr lang="en-US" altLang="ko-KR" sz="1400" b="1" dirty="0">
                <a:solidFill>
                  <a:srgbClr val="C00000"/>
                </a:solidFill>
              </a:rPr>
            </a:br>
            <a:r>
              <a:rPr lang="en-US" altLang="ko-KR" sz="1400" b="1" dirty="0"/>
              <a:t>40</a:t>
            </a:r>
            <a:r>
              <a:rPr lang="ko-KR" altLang="en-US" sz="1400" b="1" dirty="0"/>
              <a:t>대가 정체되고 </a:t>
            </a:r>
            <a:r>
              <a:rPr lang="en-US" altLang="ko-KR" sz="1400" b="1" dirty="0"/>
              <a:t>50, 60</a:t>
            </a:r>
            <a:r>
              <a:rPr lang="ko-KR" altLang="en-US" sz="1400" b="1" dirty="0"/>
              <a:t>대가 증가하는 원인은</a:t>
            </a:r>
            <a:r>
              <a:rPr lang="en-US" altLang="ko-KR" sz="1400" b="1" dirty="0"/>
              <a:t>?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/>
              <a:t>중장년층을</a:t>
            </a:r>
            <a:r>
              <a:rPr lang="ko-KR" altLang="en-US" sz="1400" b="1" dirty="0"/>
              <a:t> 타겟으로 운영 및 회원전환 마케팅의 결과로 예상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81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차트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7704408"/>
              </p:ext>
            </p:extLst>
          </p:nvPr>
        </p:nvGraphicFramePr>
        <p:xfrm>
          <a:off x="4648610" y="3156031"/>
          <a:ext cx="4154729" cy="1552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2559374"/>
              </p:ext>
            </p:extLst>
          </p:nvPr>
        </p:nvGraphicFramePr>
        <p:xfrm>
          <a:off x="4593058" y="1688283"/>
          <a:ext cx="4210281" cy="1453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328828" y="1342263"/>
            <a:ext cx="4206660" cy="340271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28829" y="1342264"/>
            <a:ext cx="172857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373019" y="1335140"/>
            <a:ext cx="18267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회원가입자 지역 분포</a:t>
            </a:r>
          </a:p>
        </p:txBody>
      </p:sp>
      <p:sp>
        <p:nvSpPr>
          <p:cNvPr id="18" name="직사각형 17"/>
          <p:cNvSpPr/>
          <p:nvPr/>
        </p:nvSpPr>
        <p:spPr bwMode="auto">
          <a:xfrm>
            <a:off x="4609665" y="1342263"/>
            <a:ext cx="4193675" cy="340271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609664" y="1342264"/>
            <a:ext cx="419367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4648610" y="1346033"/>
            <a:ext cx="3455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 서울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경기 거주 회원가입자 상세  비중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7399" y="91758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마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거주지 비중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1" name="직선 연결선 2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058703" y="3526212"/>
            <a:ext cx="407841" cy="1021976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5019321" y="2013067"/>
            <a:ext cx="461629" cy="995569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6" name="차트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45431"/>
              </p:ext>
            </p:extLst>
          </p:nvPr>
        </p:nvGraphicFramePr>
        <p:xfrm>
          <a:off x="328828" y="1618918"/>
          <a:ext cx="4206660" cy="3098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" name="직선 연결선 5"/>
          <p:cNvCxnSpPr/>
          <p:nvPr/>
        </p:nvCxnSpPr>
        <p:spPr>
          <a:xfrm flipV="1">
            <a:off x="4648610" y="3142237"/>
            <a:ext cx="4154730" cy="1379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2432158" y="5191816"/>
            <a:ext cx="4867496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전체 회원가입자의 약 </a:t>
            </a:r>
            <a:r>
              <a:rPr lang="en-US" altLang="ko-KR" sz="1400" b="1" dirty="0"/>
              <a:t>62%</a:t>
            </a:r>
            <a:r>
              <a:rPr lang="ko-KR" altLang="en-US" sz="1400" b="1" dirty="0"/>
              <a:t>가</a:t>
            </a:r>
            <a:r>
              <a:rPr lang="en-US" altLang="ko-KR" sz="1400" b="1" dirty="0"/>
              <a:t> </a:t>
            </a:r>
            <a:r>
              <a:rPr lang="ko-KR" altLang="en-US" sz="1400" b="1" dirty="0">
                <a:solidFill>
                  <a:srgbClr val="C00000"/>
                </a:solidFill>
              </a:rPr>
              <a:t>서울 및 </a:t>
            </a:r>
            <a:r>
              <a:rPr lang="ko-KR" altLang="en-US" sz="1400" b="1" dirty="0" err="1">
                <a:solidFill>
                  <a:srgbClr val="C00000"/>
                </a:solidFill>
              </a:rPr>
              <a:t>경기권</a:t>
            </a:r>
            <a:r>
              <a:rPr lang="ko-KR" altLang="en-US" sz="1400" b="1" dirty="0">
                <a:solidFill>
                  <a:srgbClr val="C00000"/>
                </a:solidFill>
              </a:rPr>
              <a:t> 거주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여행에 대한 관심도가 높은 지역의 공통적인 특성</a:t>
            </a:r>
            <a:r>
              <a:rPr lang="en-US" altLang="ko-KR" sz="1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481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03492" y="1365457"/>
            <a:ext cx="189465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8511" y="1365457"/>
            <a:ext cx="18051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회원가입 경로 변화추이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399" y="918439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바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회원가입경로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84497" y="1361973"/>
            <a:ext cx="8652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70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고객</a:t>
            </a:r>
          </a:p>
        </p:txBody>
      </p:sp>
      <p:sp>
        <p:nvSpPr>
          <p:cNvPr id="21" name="직사각형 20"/>
          <p:cNvSpPr/>
          <p:nvPr/>
        </p:nvSpPr>
        <p:spPr bwMode="auto">
          <a:xfrm>
            <a:off x="512119" y="1359371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081263"/>
              </p:ext>
            </p:extLst>
          </p:nvPr>
        </p:nvGraphicFramePr>
        <p:xfrm>
          <a:off x="4687379" y="1561841"/>
          <a:ext cx="3861398" cy="3092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57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09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093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093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093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0093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0093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4363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가입경로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3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인원 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u="none" strike="noStrike" dirty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검색엔진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6,752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1,100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30.5%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주변인소개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6,824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5,406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1,443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40.0%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신문 및 대중매체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2,119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인터넷 배너광고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1,684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18,682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14,028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3,608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803226" y="1350745"/>
            <a:ext cx="854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,%)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차트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719036"/>
              </p:ext>
            </p:extLst>
          </p:nvPr>
        </p:nvGraphicFramePr>
        <p:xfrm>
          <a:off x="503492" y="1642456"/>
          <a:ext cx="3980811" cy="30120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498211" y="5191794"/>
            <a:ext cx="46602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가입경로 응답 중 </a:t>
            </a:r>
            <a:r>
              <a:rPr lang="ko-KR" altLang="en-US" sz="1400" b="1" dirty="0">
                <a:solidFill>
                  <a:srgbClr val="C00000"/>
                </a:solidFill>
              </a:rPr>
              <a:t>주변인 소개의 비중이 높음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검색엔진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인터넷 배너광고 비중 감소 </a:t>
            </a:r>
            <a:r>
              <a:rPr lang="ko-KR" altLang="en-US" sz="1400" b="1" dirty="0" smtClean="0"/>
              <a:t>추세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24464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 smtClean="0"/>
              <a:t>/ 49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26491" y="1376566"/>
            <a:ext cx="125501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0732" y="1369442"/>
            <a:ext cx="12550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10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미만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92366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709347" y="1383654"/>
            <a:ext cx="3972184" cy="328805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709347" y="1383654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98870" y="1373199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10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고객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004" y="4663958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03378" y="4671703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526491" y="1376566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1243522" y="4771680"/>
            <a:ext cx="291229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동남아</a:t>
            </a:r>
            <a:r>
              <a:rPr lang="en-US" altLang="ko-KR" sz="1000" b="1" dirty="0" smtClean="0"/>
              <a:t>, </a:t>
            </a:r>
            <a:r>
              <a:rPr lang="ko-KR" altLang="en-US" sz="1000" b="1" dirty="0" err="1" smtClean="0"/>
              <a:t>대양주</a:t>
            </a:r>
            <a:r>
              <a:rPr lang="en-US" altLang="ko-KR" sz="1000" b="1" dirty="0" smtClean="0"/>
              <a:t>/</a:t>
            </a:r>
            <a:r>
              <a:rPr lang="ko-KR" altLang="en-US" sz="1000" b="1" dirty="0" err="1" smtClean="0"/>
              <a:t>괌사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일본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동남아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(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45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54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일본 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%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5405400" y="4752443"/>
            <a:ext cx="3532919" cy="105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동남아</a:t>
            </a:r>
            <a:r>
              <a:rPr lang="en-US" altLang="ko-KR" sz="1000" b="1" dirty="0"/>
              <a:t>, </a:t>
            </a:r>
            <a:r>
              <a:rPr lang="ko-KR" altLang="en-US" sz="1000" b="1" dirty="0" smtClean="0"/>
              <a:t>유럽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일본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동남아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(42%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46%)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일본 </a:t>
            </a:r>
            <a:r>
              <a:rPr lang="en-US" altLang="ko-KR" sz="1000" b="1" dirty="0">
                <a:solidFill>
                  <a:srgbClr val="2E75B6"/>
                </a:solidFill>
              </a:rPr>
              <a:t>6</a:t>
            </a:r>
            <a:r>
              <a:rPr lang="en-US" altLang="ko-KR" sz="1000" b="1" dirty="0" smtClean="0">
                <a:solidFill>
                  <a:srgbClr val="2E75B6"/>
                </a:solidFill>
              </a:rPr>
              <a:t>%</a:t>
            </a:r>
            <a:r>
              <a:rPr lang="ko-KR" altLang="en-US" sz="10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1"/>
          <p:cNvSpPr txBox="1">
            <a:spLocks noChangeArrowheads="1"/>
          </p:cNvSpPr>
          <p:nvPr/>
        </p:nvSpPr>
        <p:spPr bwMode="auto">
          <a:xfrm>
            <a:off x="974821" y="5825765"/>
            <a:ext cx="7782474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10</a:t>
            </a:r>
            <a:r>
              <a:rPr lang="ko-KR" altLang="en-US" sz="1400" b="1" dirty="0" smtClean="0"/>
              <a:t>대 이하의 고객의 경우 동남아 및 </a:t>
            </a:r>
            <a:r>
              <a:rPr lang="ko-KR" altLang="en-US" sz="1400" b="1" dirty="0" err="1" smtClean="0"/>
              <a:t>대양주</a:t>
            </a:r>
            <a:r>
              <a:rPr lang="en-US" altLang="ko-KR" sz="1400" b="1" dirty="0" smtClean="0"/>
              <a:t>/</a:t>
            </a:r>
            <a:r>
              <a:rPr lang="ko-KR" altLang="en-US" sz="1400" b="1" dirty="0" err="1" smtClean="0"/>
              <a:t>괌사</a:t>
            </a:r>
            <a:r>
              <a:rPr lang="ko-KR" altLang="en-US" sz="1400" b="1" dirty="0" smtClean="0"/>
              <a:t> 지역 증가 추세</a:t>
            </a:r>
            <a:r>
              <a:rPr lang="en-US" altLang="ko-KR" sz="1400" b="1" dirty="0"/>
              <a:t> </a:t>
            </a:r>
            <a:r>
              <a:rPr lang="en-US" altLang="ko-KR" sz="1400" b="1" dirty="0" smtClean="0"/>
              <a:t>-&gt;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떠오르는 가족여행지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2020-01-06</a:t>
            </a:r>
            <a:endParaRPr lang="ko-KR" altLang="en-US" dirty="0"/>
          </a:p>
        </p:txBody>
      </p:sp>
      <p:graphicFrame>
        <p:nvGraphicFramePr>
          <p:cNvPr id="36" name="차트 35"/>
          <p:cNvGraphicFramePr>
            <a:graphicFrameLocks/>
          </p:cNvGraphicFramePr>
          <p:nvPr/>
        </p:nvGraphicFramePr>
        <p:xfrm>
          <a:off x="526492" y="1650002"/>
          <a:ext cx="3972184" cy="3013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차트 37"/>
          <p:cNvGraphicFramePr>
            <a:graphicFrameLocks/>
          </p:cNvGraphicFramePr>
          <p:nvPr/>
        </p:nvGraphicFramePr>
        <p:xfrm>
          <a:off x="4709347" y="1650002"/>
          <a:ext cx="3972184" cy="3013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4010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26491" y="1376566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616014" y="1366035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20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고객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399" y="92366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709347" y="1383654"/>
            <a:ext cx="3972184" cy="328805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709347" y="1383654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98870" y="1373003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30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고객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004" y="4663958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03378" y="4671703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526491" y="1376566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1332423" y="4671703"/>
            <a:ext cx="291229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동남아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유럽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일본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동남아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(43%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45%)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일본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중국 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2%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5231519" y="4689206"/>
            <a:ext cx="3532919" cy="105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동남아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유럽</a:t>
            </a:r>
            <a:r>
              <a:rPr lang="en-US" altLang="ko-KR" sz="1000" b="1" dirty="0"/>
              <a:t>, </a:t>
            </a:r>
            <a:r>
              <a:rPr lang="ko-KR" altLang="en-US" sz="1000" b="1" dirty="0" err="1"/>
              <a:t>대양주</a:t>
            </a:r>
            <a:r>
              <a:rPr lang="en-US" altLang="ko-KR" sz="1000" b="1" dirty="0"/>
              <a:t>/</a:t>
            </a:r>
            <a:r>
              <a:rPr lang="ko-KR" altLang="en-US" sz="1000" b="1" dirty="0" err="1"/>
              <a:t>괌사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동남아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(42%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46%)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일본</a:t>
            </a:r>
            <a:r>
              <a:rPr lang="en-US" altLang="ko-KR" sz="1000" b="1" dirty="0" smtClean="0"/>
              <a:t>, </a:t>
            </a:r>
            <a:r>
              <a:rPr lang="ko-KR" altLang="en-US" sz="1000" b="1" dirty="0" err="1" smtClean="0"/>
              <a:t>대양주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국내 </a:t>
            </a:r>
            <a:r>
              <a:rPr lang="en-US" altLang="ko-KR" sz="1000" b="1" dirty="0" smtClean="0">
                <a:solidFill>
                  <a:srgbClr val="2E75B6"/>
                </a:solidFill>
              </a:rPr>
              <a:t>2%</a:t>
            </a:r>
            <a:r>
              <a:rPr lang="ko-KR" altLang="en-US" sz="10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1"/>
          <p:cNvSpPr txBox="1">
            <a:spLocks noChangeArrowheads="1"/>
          </p:cNvSpPr>
          <p:nvPr/>
        </p:nvSpPr>
        <p:spPr bwMode="auto">
          <a:xfrm>
            <a:off x="1835979" y="5706719"/>
            <a:ext cx="1046001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20, 30</a:t>
            </a:r>
            <a:r>
              <a:rPr lang="ko-KR" altLang="en-US" sz="1400" b="1" dirty="0"/>
              <a:t>대의 </a:t>
            </a:r>
            <a:r>
              <a:rPr lang="ko-KR" altLang="en-US" sz="1400" b="1" dirty="0" smtClean="0"/>
              <a:t>경우</a:t>
            </a:r>
            <a:r>
              <a:rPr lang="en-US" altLang="ko-KR" sz="1400" b="1" dirty="0"/>
              <a:t> </a:t>
            </a:r>
            <a:r>
              <a:rPr lang="en-US" altLang="ko-KR" sz="1400" b="1" dirty="0" smtClean="0"/>
              <a:t>2015</a:t>
            </a:r>
            <a:r>
              <a:rPr lang="ko-KR" altLang="en-US" sz="1400" b="1" dirty="0" smtClean="0"/>
              <a:t>년 일본 비중이 각각 </a:t>
            </a:r>
            <a:r>
              <a:rPr lang="en-US" altLang="ko-KR" sz="1400" b="1" dirty="0" smtClean="0"/>
              <a:t>11%, 9%</a:t>
            </a:r>
            <a:r>
              <a:rPr lang="ko-KR" altLang="en-US" sz="1400" b="1" dirty="0" smtClean="0"/>
              <a:t>에서 시작하여</a:t>
            </a:r>
            <a:r>
              <a:rPr lang="en-US" altLang="ko-KR" sz="1400" b="1" dirty="0" smtClean="0"/>
              <a:t/>
            </a:r>
            <a:br>
              <a:rPr lang="en-US" altLang="ko-KR" sz="1400" b="1" dirty="0" smtClean="0"/>
            </a:br>
            <a:r>
              <a:rPr lang="ko-KR" altLang="en-US" sz="1400" b="1" dirty="0" smtClean="0">
                <a:solidFill>
                  <a:srgbClr val="C00000"/>
                </a:solidFill>
              </a:rPr>
              <a:t>증가하는 추세였으나 현재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2019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년 감소 추세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1386397"/>
              </p:ext>
            </p:extLst>
          </p:nvPr>
        </p:nvGraphicFramePr>
        <p:xfrm>
          <a:off x="4709348" y="1650002"/>
          <a:ext cx="3972184" cy="3021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4" name="차트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9794008"/>
              </p:ext>
            </p:extLst>
          </p:nvPr>
        </p:nvGraphicFramePr>
        <p:xfrm>
          <a:off x="526492" y="1650002"/>
          <a:ext cx="3972184" cy="3013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6072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517865" y="1358681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17865" y="1365457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81510" y="1374083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40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고객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399" y="91641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700720" y="1358682"/>
            <a:ext cx="3972184" cy="327116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700720" y="1362135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90243" y="1358681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50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고객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847" y="4629842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84640" y="4606022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1257820" y="4702783"/>
            <a:ext cx="240730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동남아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유럽</a:t>
            </a:r>
            <a:r>
              <a:rPr lang="en-US" altLang="ko-KR" sz="1000" b="1" dirty="0"/>
              <a:t>, </a:t>
            </a:r>
            <a:r>
              <a:rPr lang="ko-KR" altLang="en-US" sz="1000" b="1" dirty="0" smtClean="0"/>
              <a:t>일본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/>
              <a:t>동남아</a:t>
            </a:r>
            <a:r>
              <a:rPr lang="ko-KR" altLang="en-US" sz="1000" b="1" dirty="0">
                <a:solidFill>
                  <a:srgbClr val="C00000"/>
                </a:solidFill>
              </a:rPr>
              <a:t>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38%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47%)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일본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(15% 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11%)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200" b="1" dirty="0">
              <a:solidFill>
                <a:srgbClr val="C00000"/>
              </a:solidFill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5600700" y="4713744"/>
            <a:ext cx="2333848" cy="105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동남아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유럽</a:t>
            </a:r>
            <a:r>
              <a:rPr lang="en-US" altLang="ko-KR" sz="1000" b="1" dirty="0"/>
              <a:t>, </a:t>
            </a:r>
            <a:r>
              <a:rPr lang="ko-KR" altLang="en-US" sz="1000" b="1" dirty="0" smtClean="0"/>
              <a:t>중국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/>
              <a:t>동남아</a:t>
            </a:r>
            <a:r>
              <a:rPr lang="ko-KR" altLang="en-US" sz="1000" b="1" dirty="0">
                <a:solidFill>
                  <a:srgbClr val="C00000"/>
                </a:solidFill>
              </a:rPr>
              <a:t>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27%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35%)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 smtClean="0"/>
              <a:t>중국</a:t>
            </a:r>
            <a:r>
              <a:rPr lang="ko-KR" altLang="en-US" sz="1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(19% 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13%)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581510" y="5710246"/>
            <a:ext cx="879092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40, 50</a:t>
            </a:r>
            <a:r>
              <a:rPr lang="ko-KR" altLang="en-US" sz="1400" b="1" dirty="0"/>
              <a:t>대 </a:t>
            </a:r>
            <a:r>
              <a:rPr lang="ko-KR" altLang="en-US" sz="1400" b="1" dirty="0">
                <a:solidFill>
                  <a:srgbClr val="C00000"/>
                </a:solidFill>
              </a:rPr>
              <a:t>동남아 여행 비중 증가 </a:t>
            </a:r>
            <a:r>
              <a:rPr lang="ko-KR" altLang="en-US" sz="1400" b="1" dirty="0" smtClean="0"/>
              <a:t>추세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50</a:t>
            </a:r>
            <a:r>
              <a:rPr lang="ko-KR" altLang="en-US" sz="1400" b="1" dirty="0"/>
              <a:t>대의 경우 </a:t>
            </a:r>
            <a:r>
              <a:rPr lang="en-US" altLang="ko-KR" sz="1400" b="1" dirty="0"/>
              <a:t>2017</a:t>
            </a:r>
            <a:r>
              <a:rPr lang="ko-KR" altLang="en-US" sz="1400" b="1" dirty="0"/>
              <a:t>년 이후로 유럽 보다 동남아 비중이 </a:t>
            </a:r>
            <a:r>
              <a:rPr lang="ko-KR" altLang="en-US" sz="1400" b="1" dirty="0" smtClean="0"/>
              <a:t>높고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40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대의 경우 유럽 여행이 감소하는 추세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2935337"/>
              </p:ext>
            </p:extLst>
          </p:nvPr>
        </p:nvGraphicFramePr>
        <p:xfrm>
          <a:off x="517866" y="1651082"/>
          <a:ext cx="3972184" cy="30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3242782"/>
              </p:ext>
            </p:extLst>
          </p:nvPr>
        </p:nvGraphicFramePr>
        <p:xfrm>
          <a:off x="4700721" y="1651082"/>
          <a:ext cx="3972184" cy="2954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0313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12119" y="1365457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623207" y="1358303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60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고객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399" y="93403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694975" y="1359372"/>
            <a:ext cx="3972184" cy="330153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694974" y="1365427"/>
            <a:ext cx="121345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696800" y="1361864"/>
            <a:ext cx="13346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70</a:t>
            </a:r>
            <a:r>
              <a:rPr lang="ko-KR" altLang="en-US" sz="1200" b="1" dirty="0">
                <a:solidFill>
                  <a:schemeClr val="bg1"/>
                </a:solidFill>
                <a:latin typeface="+mj-lt"/>
              </a:rPr>
              <a:t>대 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이상고객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93847" y="4654508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32136" y="4645882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512119" y="1359371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1234061" y="4660852"/>
            <a:ext cx="2359786" cy="105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00" b="1" dirty="0"/>
              <a:t>Top 3 – </a:t>
            </a:r>
            <a:r>
              <a:rPr lang="ko-KR" altLang="en-US" sz="1000" b="1" dirty="0"/>
              <a:t>유럽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동남아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일본</a:t>
            </a:r>
            <a:endParaRPr lang="en-US" altLang="ko-KR" sz="10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/>
              <a:t>동남아</a:t>
            </a:r>
            <a:r>
              <a:rPr lang="ko-KR" altLang="en-US" sz="1000" b="1" dirty="0">
                <a:solidFill>
                  <a:srgbClr val="C00000"/>
                </a:solidFill>
              </a:rPr>
              <a:t>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22% </a:t>
            </a:r>
            <a:r>
              <a:rPr lang="en-US" altLang="ko-KR" sz="1000" b="1" dirty="0">
                <a:solidFill>
                  <a:srgbClr val="C00000"/>
                </a:solidFill>
              </a:rPr>
              <a:t>→ </a:t>
            </a:r>
            <a:r>
              <a:rPr lang="en-US" altLang="ko-KR" sz="1000" b="1" dirty="0" smtClean="0">
                <a:solidFill>
                  <a:srgbClr val="C00000"/>
                </a:solidFill>
              </a:rPr>
              <a:t>28%) </a:t>
            </a:r>
            <a:r>
              <a:rPr lang="ko-KR" altLang="en-US" sz="1000" b="1" dirty="0">
                <a:solidFill>
                  <a:srgbClr val="C00000"/>
                </a:solidFill>
              </a:rPr>
              <a:t>증가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00" b="1" dirty="0"/>
              <a:t>중국 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21% </a:t>
            </a:r>
            <a:r>
              <a:rPr lang="en-US" altLang="ko-KR" sz="1000" b="1" dirty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altLang="ko-KR" sz="1000" b="1" dirty="0" smtClean="0">
                <a:solidFill>
                  <a:schemeClr val="accent1">
                    <a:lumMod val="75000"/>
                  </a:schemeClr>
                </a:solidFill>
              </a:rPr>
              <a:t>15%) </a:t>
            </a:r>
            <a:r>
              <a:rPr lang="ko-KR" altLang="en-US" sz="100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1"/>
          <p:cNvSpPr txBox="1">
            <a:spLocks noChangeArrowheads="1"/>
          </p:cNvSpPr>
          <p:nvPr/>
        </p:nvSpPr>
        <p:spPr bwMode="auto">
          <a:xfrm>
            <a:off x="5496156" y="4617021"/>
            <a:ext cx="2391820" cy="105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050" b="1" dirty="0"/>
              <a:t>Top 3 – </a:t>
            </a:r>
            <a:r>
              <a:rPr lang="ko-KR" altLang="en-US" sz="1050" b="1" dirty="0"/>
              <a:t>동남아</a:t>
            </a:r>
            <a:r>
              <a:rPr lang="en-US" altLang="ko-KR" sz="1050" b="1" dirty="0"/>
              <a:t>, </a:t>
            </a:r>
            <a:r>
              <a:rPr lang="ko-KR" altLang="en-US" sz="1050" b="1" dirty="0"/>
              <a:t>유럽</a:t>
            </a:r>
            <a:r>
              <a:rPr lang="en-US" altLang="ko-KR" sz="1050" b="1" dirty="0"/>
              <a:t>, </a:t>
            </a:r>
            <a:r>
              <a:rPr lang="ko-KR" altLang="en-US" sz="1050" b="1" dirty="0"/>
              <a:t>일본</a:t>
            </a:r>
            <a:endParaRPr lang="en-US" altLang="ko-KR" sz="105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50" b="1" dirty="0"/>
              <a:t>동남아</a:t>
            </a:r>
            <a:r>
              <a:rPr lang="ko-KR" altLang="en-US" sz="1050" b="1" dirty="0">
                <a:solidFill>
                  <a:srgbClr val="C00000"/>
                </a:solidFill>
              </a:rPr>
              <a:t> </a:t>
            </a:r>
            <a:r>
              <a:rPr lang="en-US" altLang="ko-KR" sz="1050" b="1" dirty="0">
                <a:solidFill>
                  <a:srgbClr val="C00000"/>
                </a:solidFill>
              </a:rPr>
              <a:t>(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26% </a:t>
            </a:r>
            <a:r>
              <a:rPr lang="en-US" altLang="ko-KR" sz="1050" b="1" dirty="0">
                <a:solidFill>
                  <a:srgbClr val="C00000"/>
                </a:solidFill>
              </a:rPr>
              <a:t>→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35%) </a:t>
            </a:r>
            <a:r>
              <a:rPr lang="ko-KR" altLang="en-US" sz="1050" b="1" dirty="0">
                <a:solidFill>
                  <a:srgbClr val="C00000"/>
                </a:solidFill>
              </a:rPr>
              <a:t>증가</a:t>
            </a:r>
            <a:endParaRPr lang="en-US" altLang="ko-KR" sz="105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050" b="1" dirty="0"/>
              <a:t>중국 </a:t>
            </a:r>
            <a:r>
              <a:rPr lang="en-US" altLang="ko-KR" sz="1050" b="1" dirty="0" smtClean="0">
                <a:solidFill>
                  <a:schemeClr val="accent1">
                    <a:lumMod val="75000"/>
                  </a:schemeClr>
                </a:solidFill>
              </a:rPr>
              <a:t>(20% </a:t>
            </a:r>
            <a:r>
              <a:rPr lang="en-US" altLang="ko-KR" sz="1050" b="1" dirty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altLang="ko-KR" sz="1050" b="1" dirty="0" smtClean="0">
                <a:solidFill>
                  <a:schemeClr val="accent1">
                    <a:lumMod val="75000"/>
                  </a:schemeClr>
                </a:solidFill>
              </a:rPr>
              <a:t>14%) </a:t>
            </a:r>
            <a:r>
              <a:rPr lang="ko-KR" altLang="en-US" sz="1050" b="1" dirty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1146666" y="5680794"/>
            <a:ext cx="742051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60</a:t>
            </a:r>
            <a:r>
              <a:rPr lang="ko-KR" altLang="en-US" sz="1400" b="1" dirty="0" smtClean="0"/>
              <a:t>대의 경우에만 </a:t>
            </a:r>
            <a:r>
              <a:rPr lang="ko-KR" altLang="en-US" sz="1400" b="1" dirty="0">
                <a:solidFill>
                  <a:srgbClr val="C00000"/>
                </a:solidFill>
              </a:rPr>
              <a:t>유럽 지역이 동남아 보다 높은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비중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일본지역 </a:t>
            </a: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전체 연령대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공통적으로 감소</a:t>
            </a:r>
            <a:r>
              <a:rPr lang="en-US" altLang="ko-KR" sz="1400" b="1" dirty="0" smtClean="0"/>
              <a:t>,</a:t>
            </a:r>
            <a:r>
              <a:rPr lang="ko-KR" altLang="en-US" sz="1400" b="1" dirty="0" smtClean="0"/>
              <a:t> 중국 지역 </a:t>
            </a:r>
            <a:r>
              <a:rPr lang="en-US" altLang="ko-KR" sz="1400" b="1" dirty="0" smtClean="0"/>
              <a:t>-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50, 60, 70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 비중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재증가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추세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8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75594"/>
              </p:ext>
            </p:extLst>
          </p:nvPr>
        </p:nvGraphicFramePr>
        <p:xfrm>
          <a:off x="512120" y="1635302"/>
          <a:ext cx="3972184" cy="3010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차트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885849"/>
              </p:ext>
            </p:extLst>
          </p:nvPr>
        </p:nvGraphicFramePr>
        <p:xfrm>
          <a:off x="4694974" y="1635302"/>
          <a:ext cx="3972185" cy="2981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9671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94309" y="1323110"/>
            <a:ext cx="8095776" cy="246388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94309" y="1330234"/>
            <a:ext cx="304899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64647" y="1323110"/>
            <a:ext cx="31600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변화추이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출발일 기준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7820" y="5595582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패키지 예약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 제외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7399" y="914549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64511"/>
              </p:ext>
            </p:extLst>
          </p:nvPr>
        </p:nvGraphicFramePr>
        <p:xfrm>
          <a:off x="510786" y="3886200"/>
          <a:ext cx="8079299" cy="1666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1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10924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2019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55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일이내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28,525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28,423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30,341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28,588</a:t>
                      </a:r>
                      <a:endParaRPr lang="en-US" altLang="ko-KR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23%</a:t>
                      </a:r>
                      <a:endParaRPr lang="en-US" altLang="ko-KR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30~59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28,709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34,969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35,381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35,445</a:t>
                      </a:r>
                      <a:endParaRPr lang="en-US" altLang="ko-KR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60~89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17,413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23,278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23,406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23,447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90~119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9,459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14,868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14,703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14,971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120~149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5,297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8,741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9,804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9,813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150~179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4,017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5,910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4,805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5,308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557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92,583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119,599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123,787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123,482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1"/>
          <p:cNvSpPr txBox="1">
            <a:spLocks noChangeArrowheads="1"/>
          </p:cNvSpPr>
          <p:nvPr/>
        </p:nvSpPr>
        <p:spPr bwMode="auto">
          <a:xfrm>
            <a:off x="1994423" y="5693412"/>
            <a:ext cx="656003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>
                <a:solidFill>
                  <a:srgbClr val="C00000"/>
                </a:solidFill>
              </a:rPr>
              <a:t>150 ~ 179</a:t>
            </a:r>
            <a:r>
              <a:rPr lang="ko-KR" altLang="en-US" sz="1400" b="1" dirty="0">
                <a:solidFill>
                  <a:srgbClr val="C00000"/>
                </a:solidFill>
              </a:rPr>
              <a:t>일전 선행예약 비중</a:t>
            </a:r>
            <a:r>
              <a:rPr lang="ko-KR" altLang="en-US" sz="1400" b="1" dirty="0"/>
              <a:t>이 지속적으로 증가하는 추세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30</a:t>
            </a:r>
            <a:r>
              <a:rPr lang="ko-KR" altLang="en-US" sz="1400" b="1" dirty="0"/>
              <a:t>일 이내 급박하게 예약하는 경우는 감소하는 추세</a:t>
            </a:r>
            <a:endParaRPr lang="en-US" altLang="ko-KR" sz="1400" b="1" dirty="0"/>
          </a:p>
        </p:txBody>
      </p:sp>
      <p:sp>
        <p:nvSpPr>
          <p:cNvPr id="2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2" name="차트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9168912"/>
              </p:ext>
            </p:extLst>
          </p:nvPr>
        </p:nvGraphicFramePr>
        <p:xfrm>
          <a:off x="494309" y="1600109"/>
          <a:ext cx="8095776" cy="2186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733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94309" y="1323110"/>
            <a:ext cx="8095776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94310" y="1330234"/>
            <a:ext cx="256806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64647" y="1323110"/>
            <a:ext cx="28169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연령별 선행예약 변화추이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8295" y="4076080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패키지 예약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 제외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7399" y="88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15" name="차트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3722630"/>
              </p:ext>
            </p:extLst>
          </p:nvPr>
        </p:nvGraphicFramePr>
        <p:xfrm>
          <a:off x="494309" y="1600109"/>
          <a:ext cx="8095776" cy="2475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0" name="직선 화살표 연결선 19"/>
          <p:cNvCxnSpPr/>
          <p:nvPr/>
        </p:nvCxnSpPr>
        <p:spPr>
          <a:xfrm>
            <a:off x="1138687" y="1932317"/>
            <a:ext cx="4296913" cy="828136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536804" y="2954376"/>
            <a:ext cx="4347049" cy="290735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1591573" y="3182351"/>
            <a:ext cx="4412412" cy="233912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1858992" y="3369660"/>
            <a:ext cx="4347049" cy="290735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1233098" y="1955088"/>
            <a:ext cx="4443083" cy="336009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1973101" y="4478895"/>
            <a:ext cx="5758599" cy="174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20, 30</a:t>
            </a:r>
            <a:r>
              <a:rPr lang="ko-KR" altLang="en-US" sz="1400" b="1" dirty="0"/>
              <a:t>대가 주로 </a:t>
            </a:r>
            <a:r>
              <a:rPr lang="en-US" altLang="ko-KR" sz="1400" b="1" dirty="0"/>
              <a:t>30</a:t>
            </a:r>
            <a:r>
              <a:rPr lang="ko-KR" altLang="en-US" sz="1400" b="1" dirty="0" err="1"/>
              <a:t>일이내</a:t>
            </a:r>
            <a:r>
              <a:rPr lang="ko-KR" altLang="en-US" sz="1400" b="1" dirty="0"/>
              <a:t> 예약을 선호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/>
              <a:t>중장년층의</a:t>
            </a:r>
            <a:r>
              <a:rPr lang="ko-KR" altLang="en-US" sz="1400" b="1" dirty="0"/>
              <a:t> 경우 최소 한달 및 </a:t>
            </a:r>
            <a:r>
              <a:rPr lang="en-US" altLang="ko-KR" sz="1400" b="1" dirty="0"/>
              <a:t>2</a:t>
            </a:r>
            <a:r>
              <a:rPr lang="ko-KR" altLang="en-US" sz="1400" b="1" dirty="0" err="1"/>
              <a:t>달전</a:t>
            </a:r>
            <a:r>
              <a:rPr lang="ko-KR" altLang="en-US" sz="1400" b="1" dirty="0"/>
              <a:t> 부터 예약하는 경향이 증가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/>
              <a:t>중장년층이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젊은층</a:t>
            </a:r>
            <a:r>
              <a:rPr lang="ko-KR" altLang="en-US" sz="1400" b="1" dirty="0"/>
              <a:t> 대비 </a:t>
            </a:r>
            <a:r>
              <a:rPr lang="ko-KR" altLang="en-US" sz="1400" b="1" dirty="0" err="1">
                <a:solidFill>
                  <a:srgbClr val="C00000"/>
                </a:solidFill>
              </a:rPr>
              <a:t>선행예약하는</a:t>
            </a:r>
            <a:r>
              <a:rPr lang="ko-KR" altLang="en-US" sz="1400" b="1" dirty="0">
                <a:solidFill>
                  <a:srgbClr val="C00000"/>
                </a:solidFill>
              </a:rPr>
              <a:t> 시기가 빠른 원인</a:t>
            </a:r>
            <a:r>
              <a:rPr lang="en-US" altLang="ko-KR" sz="1400" b="1" dirty="0">
                <a:solidFill>
                  <a:srgbClr val="C00000"/>
                </a:solidFill>
              </a:rPr>
              <a:t>?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선행예약 변화추이를 통한 </a:t>
            </a:r>
            <a:r>
              <a:rPr lang="ko-KR" altLang="en-US" sz="1400" b="1" dirty="0">
                <a:solidFill>
                  <a:srgbClr val="C00000"/>
                </a:solidFill>
              </a:rPr>
              <a:t>연령대별 마케팅 방법</a:t>
            </a:r>
            <a:r>
              <a:rPr lang="en-US" altLang="ko-KR" sz="1400" b="1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806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18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503973" y="1234788"/>
            <a:ext cx="4033521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03973" y="1234788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3223" y="1227664"/>
            <a:ext cx="23366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70614" y="1235766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7399" y="86515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5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16" name="직사각형 15"/>
          <p:cNvSpPr/>
          <p:nvPr/>
        </p:nvSpPr>
        <p:spPr bwMode="auto">
          <a:xfrm>
            <a:off x="4655752" y="1234788"/>
            <a:ext cx="4033521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653943" y="1227664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678568" y="1224101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2229442" y="4456715"/>
            <a:ext cx="489825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동남아 </a:t>
            </a:r>
            <a:r>
              <a:rPr lang="en-US" altLang="ko-KR" sz="1400" b="1" dirty="0"/>
              <a:t>– [60~89</a:t>
            </a:r>
            <a:r>
              <a:rPr lang="ko-KR" altLang="en-US" sz="1400" b="1" dirty="0" err="1"/>
              <a:t>일이내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 선행예약 비중이 증가 추세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일본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최소 </a:t>
            </a:r>
            <a:r>
              <a:rPr lang="ko-KR" altLang="en-US" sz="1400" b="1" dirty="0" err="1"/>
              <a:t>두달전</a:t>
            </a:r>
            <a:r>
              <a:rPr lang="ko-KR" altLang="en-US" sz="1400" b="1" dirty="0"/>
              <a:t> 선행예약 비중이 증가 추세였으나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ko-KR" altLang="en-US" sz="1400" b="1" dirty="0"/>
              <a:t>현재 </a:t>
            </a:r>
            <a:r>
              <a:rPr lang="en-US" altLang="ko-KR" sz="1400" b="1" dirty="0"/>
              <a:t>[30~59</a:t>
            </a:r>
            <a:r>
              <a:rPr lang="ko-KR" altLang="en-US" sz="1400" b="1" dirty="0"/>
              <a:t>일전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선행예약하는</a:t>
            </a:r>
            <a:r>
              <a:rPr lang="ko-KR" altLang="en-US" sz="1400" b="1" dirty="0"/>
              <a:t> 비중 </a:t>
            </a:r>
            <a:r>
              <a:rPr lang="ko-KR" altLang="en-US" sz="1400" b="1" dirty="0" err="1" smtClean="0"/>
              <a:t>재증가</a:t>
            </a:r>
            <a:endParaRPr lang="en-US" altLang="ko-KR" sz="1400" b="1" dirty="0"/>
          </a:p>
        </p:txBody>
      </p:sp>
      <p:graphicFrame>
        <p:nvGraphicFramePr>
          <p:cNvPr id="19" name="차트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5367381"/>
              </p:ext>
            </p:extLst>
          </p:nvPr>
        </p:nvGraphicFramePr>
        <p:xfrm>
          <a:off x="539750" y="1504663"/>
          <a:ext cx="3995738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5" name="차트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2039057"/>
              </p:ext>
            </p:extLst>
          </p:nvPr>
        </p:nvGraphicFramePr>
        <p:xfrm>
          <a:off x="4653943" y="1504663"/>
          <a:ext cx="4035330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603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19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70238" y="1273930"/>
            <a:ext cx="3894728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70238" y="1273930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19489" y="1266806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74908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399" y="88003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18" name="직사각형 17"/>
          <p:cNvSpPr/>
          <p:nvPr/>
        </p:nvSpPr>
        <p:spPr bwMode="auto">
          <a:xfrm>
            <a:off x="4659800" y="1273930"/>
            <a:ext cx="3932109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659800" y="1266806"/>
            <a:ext cx="209468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709051" y="1259682"/>
            <a:ext cx="20454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775038" y="4001613"/>
            <a:ext cx="10080414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중국 </a:t>
            </a:r>
            <a:r>
              <a:rPr lang="en-US" altLang="ko-KR" sz="1400" b="1" dirty="0"/>
              <a:t>– 2018</a:t>
            </a:r>
            <a:r>
              <a:rPr lang="ko-KR" altLang="en-US" sz="1400" b="1" dirty="0"/>
              <a:t>년 이전까지 최소 </a:t>
            </a:r>
            <a:r>
              <a:rPr lang="en-US" altLang="ko-KR" sz="1400" b="1" dirty="0"/>
              <a:t>[60</a:t>
            </a:r>
            <a:r>
              <a:rPr lang="ko-KR" altLang="en-US" sz="1400" b="1" dirty="0"/>
              <a:t>일전</a:t>
            </a:r>
            <a:r>
              <a:rPr lang="en-US" altLang="ko-KR" sz="1400" b="1" dirty="0"/>
              <a:t>] </a:t>
            </a:r>
            <a:r>
              <a:rPr lang="ko-KR" altLang="en-US" sz="1400" b="1" dirty="0"/>
              <a:t>선행예약이 증가 추세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en-US" altLang="ko-KR" sz="1400" b="1" dirty="0"/>
              <a:t>2019</a:t>
            </a:r>
            <a:r>
              <a:rPr lang="ko-KR" altLang="en-US" sz="1400" b="1" dirty="0"/>
              <a:t>년의 경우 </a:t>
            </a:r>
            <a:r>
              <a:rPr lang="en-US" altLang="ko-KR" sz="1400" b="1" dirty="0"/>
              <a:t>[59</a:t>
            </a:r>
            <a:r>
              <a:rPr lang="ko-KR" altLang="en-US" sz="1400" b="1" dirty="0"/>
              <a:t>일전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이하 선행예약이 </a:t>
            </a:r>
            <a:r>
              <a:rPr lang="ko-KR" altLang="en-US" sz="1400" b="1" dirty="0" err="1"/>
              <a:t>재증가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-&gt; 2020</a:t>
            </a:r>
            <a:r>
              <a:rPr lang="ko-KR" altLang="en-US" sz="1400" b="1" dirty="0"/>
              <a:t>년 선행예약기간이 짧아질 것으로 전망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유럽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최소 </a:t>
            </a:r>
            <a:r>
              <a:rPr lang="en-US" altLang="ko-KR" sz="1400" b="1" dirty="0"/>
              <a:t>[90</a:t>
            </a:r>
            <a:r>
              <a:rPr lang="ko-KR" altLang="en-US" sz="1400" b="1" dirty="0"/>
              <a:t>일전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이상 선행예약이 변함없이 증가 추세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ko-KR" altLang="en-US" sz="1400" b="1" dirty="0" err="1">
                <a:solidFill>
                  <a:srgbClr val="C00000"/>
                </a:solidFill>
              </a:rPr>
              <a:t>타지역</a:t>
            </a:r>
            <a:r>
              <a:rPr lang="ko-KR" altLang="en-US" sz="1400" b="1" dirty="0">
                <a:solidFill>
                  <a:srgbClr val="C00000"/>
                </a:solidFill>
              </a:rPr>
              <a:t> 대비 </a:t>
            </a:r>
            <a:r>
              <a:rPr lang="en-US" altLang="ko-KR" sz="1400" b="1" dirty="0">
                <a:solidFill>
                  <a:srgbClr val="C00000"/>
                </a:solidFill>
              </a:rPr>
              <a:t>[90</a:t>
            </a:r>
            <a:r>
              <a:rPr lang="ko-KR" altLang="en-US" sz="1400" b="1" dirty="0">
                <a:solidFill>
                  <a:srgbClr val="C00000"/>
                </a:solidFill>
              </a:rPr>
              <a:t>일전</a:t>
            </a:r>
            <a:r>
              <a:rPr lang="en-US" altLang="ko-KR" sz="1400" b="1" dirty="0">
                <a:solidFill>
                  <a:srgbClr val="C00000"/>
                </a:solidFill>
              </a:rPr>
              <a:t>]</a:t>
            </a:r>
            <a:r>
              <a:rPr lang="ko-KR" altLang="en-US" sz="1400" b="1" dirty="0">
                <a:solidFill>
                  <a:srgbClr val="C00000"/>
                </a:solidFill>
              </a:rPr>
              <a:t>이상 예약비중이 높음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원인으로 유럽지역의 경우 지역 특성상 </a:t>
            </a:r>
            <a:r>
              <a:rPr lang="ko-KR" altLang="en-US" sz="1400" b="1" dirty="0">
                <a:solidFill>
                  <a:srgbClr val="C00000"/>
                </a:solidFill>
              </a:rPr>
              <a:t>장기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일정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</a:rPr>
              <a:t>및 높은 가격으로</a:t>
            </a:r>
            <a:r>
              <a:rPr lang="en-US" altLang="ko-KR" sz="1400" b="1" dirty="0">
                <a:solidFill>
                  <a:srgbClr val="C00000"/>
                </a:solidFill>
              </a:rPr>
              <a:t/>
            </a:r>
            <a:br>
              <a:rPr lang="en-US" altLang="ko-KR" sz="1400" b="1" dirty="0">
                <a:solidFill>
                  <a:srgbClr val="C00000"/>
                </a:solidFill>
              </a:rPr>
            </a:br>
            <a:r>
              <a:rPr lang="ko-KR" altLang="en-US" sz="1400" b="1" dirty="0">
                <a:solidFill>
                  <a:srgbClr val="C00000"/>
                </a:solidFill>
              </a:rPr>
              <a:t>금전적</a:t>
            </a:r>
            <a:r>
              <a:rPr lang="en-US" altLang="ko-KR" sz="1400" b="1" dirty="0">
                <a:solidFill>
                  <a:srgbClr val="C00000"/>
                </a:solidFill>
              </a:rPr>
              <a:t>,</a:t>
            </a:r>
            <a:r>
              <a:rPr lang="ko-KR" altLang="en-US" sz="1400" b="1" dirty="0">
                <a:solidFill>
                  <a:srgbClr val="C00000"/>
                </a:solidFill>
              </a:rPr>
              <a:t> 시간적 여유가 많은 </a:t>
            </a:r>
            <a:r>
              <a:rPr lang="ko-KR" altLang="en-US" sz="1400" b="1" dirty="0" err="1">
                <a:solidFill>
                  <a:srgbClr val="C00000"/>
                </a:solidFill>
              </a:rPr>
              <a:t>중장년층이</a:t>
            </a:r>
            <a:r>
              <a:rPr lang="ko-KR" altLang="en-US" sz="1400" b="1" dirty="0">
                <a:solidFill>
                  <a:srgbClr val="C00000"/>
                </a:solidFill>
              </a:rPr>
              <a:t> 주 고객</a:t>
            </a:r>
            <a:endParaRPr lang="en-US" altLang="ko-KR" sz="1400" b="1" dirty="0"/>
          </a:p>
        </p:txBody>
      </p:sp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096135"/>
              </p:ext>
            </p:extLst>
          </p:nvPr>
        </p:nvGraphicFramePr>
        <p:xfrm>
          <a:off x="519489" y="1543805"/>
          <a:ext cx="3894728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5374199"/>
              </p:ext>
            </p:extLst>
          </p:nvPr>
        </p:nvGraphicFramePr>
        <p:xfrm>
          <a:off x="4709051" y="1543805"/>
          <a:ext cx="3882858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2829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20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506487" y="1219114"/>
            <a:ext cx="8128555" cy="211068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06487" y="1219113"/>
            <a:ext cx="20469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5738" y="1211989"/>
            <a:ext cx="21357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예약취소시점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(2016~2019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73128" y="1220091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5485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예약취소시점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58477" y="3290754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47358" y="5593226"/>
            <a:ext cx="1505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이동으로 인한 취소 제외 </a:t>
            </a:r>
          </a:p>
        </p:txBody>
      </p:sp>
      <p:sp>
        <p:nvSpPr>
          <p:cNvPr id="15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602393"/>
              </p:ext>
            </p:extLst>
          </p:nvPr>
        </p:nvGraphicFramePr>
        <p:xfrm>
          <a:off x="555743" y="3505200"/>
          <a:ext cx="8079299" cy="2105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1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81227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10728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2019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7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상품 취소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~ 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21,611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20,304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17,208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12,295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431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 ~ 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11,635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12,289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10,418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7,123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10~ 19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43,453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54,371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45,985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34,119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 ~ 29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29,393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40,543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30,577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21,871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~ 45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37,704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56,986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42,210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28,420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 ~ 60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19,868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32,686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24,518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15,749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 ~ 90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20,896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29,617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19,185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 ~ 120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8,874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20,475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15,875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10,427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이전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8,759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24,834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16,859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12,093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5592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202,644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304,137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233,624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161,509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1791778" y="5824058"/>
            <a:ext cx="74273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취소 수수료 </a:t>
            </a:r>
            <a:r>
              <a:rPr lang="en-US" altLang="ko-KR" sz="1400" b="1" dirty="0"/>
              <a:t>15% </a:t>
            </a:r>
            <a:r>
              <a:rPr lang="ko-KR" altLang="en-US" sz="1400" b="1" dirty="0"/>
              <a:t>이하까지는 고객들이 부담하고 취소하는 경향   </a:t>
            </a:r>
            <a:endParaRPr lang="en-US" altLang="ko-KR" sz="1400" b="1" dirty="0"/>
          </a:p>
        </p:txBody>
      </p:sp>
      <p:sp>
        <p:nvSpPr>
          <p:cNvPr id="2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2" name="차트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2014888"/>
              </p:ext>
            </p:extLst>
          </p:nvPr>
        </p:nvGraphicFramePr>
        <p:xfrm>
          <a:off x="506487" y="1488988"/>
          <a:ext cx="8128555" cy="1840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593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21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506487" y="1219114"/>
            <a:ext cx="8128555" cy="218783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06487" y="1219113"/>
            <a:ext cx="217632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5737" y="1211989"/>
            <a:ext cx="25066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지역별 예약취소시점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73128" y="1220091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73120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예약취소시점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34571" y="338527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23452" y="5680018"/>
            <a:ext cx="1505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이동으로 인한 취소 제외 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772577"/>
              </p:ext>
            </p:extLst>
          </p:nvPr>
        </p:nvGraphicFramePr>
        <p:xfrm>
          <a:off x="826789" y="3616108"/>
          <a:ext cx="7487949" cy="2105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53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5282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1530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동남아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상품 취소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~ 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2,964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5,156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 ~ 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2,381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2,494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10~ 19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10,697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11,373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4,143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4,161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 ~ 29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8,285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2,194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2,680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~ 45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8,307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10,107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2,311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2,723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 ~ 60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5,090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1,406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 ~ 90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7,361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5,901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1,097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 ~ 120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4,909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2,643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121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이전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6,429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2,006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53,530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53,372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12,796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14,646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3" name="차트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5379276"/>
              </p:ext>
            </p:extLst>
          </p:nvPr>
        </p:nvGraphicFramePr>
        <p:xfrm>
          <a:off x="506486" y="1488988"/>
          <a:ext cx="8128555" cy="1896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TextBox 21"/>
          <p:cNvSpPr txBox="1">
            <a:spLocks noChangeArrowheads="1"/>
          </p:cNvSpPr>
          <p:nvPr/>
        </p:nvSpPr>
        <p:spPr bwMode="auto">
          <a:xfrm>
            <a:off x="1594651" y="5889173"/>
            <a:ext cx="6245411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유럽의 경우 </a:t>
            </a:r>
            <a:r>
              <a:rPr lang="ko-KR" altLang="en-US" sz="1400" b="1" dirty="0" err="1"/>
              <a:t>타지역</a:t>
            </a:r>
            <a:r>
              <a:rPr lang="ko-KR" altLang="en-US" sz="1400" b="1" dirty="0"/>
              <a:t> 대비 </a:t>
            </a:r>
            <a:r>
              <a:rPr lang="en-US" altLang="ko-KR" sz="1400" b="1" dirty="0"/>
              <a:t>[61~90]</a:t>
            </a:r>
            <a:r>
              <a:rPr lang="ko-KR" altLang="en-US" sz="1400" b="1" dirty="0"/>
              <a:t>일전 취소 비중이 높음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왜 높을까</a:t>
            </a:r>
            <a:r>
              <a:rPr lang="en-US" altLang="ko-KR" sz="1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665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22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4672596" y="1215950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21847" y="1208826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유럽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7399" y="87027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663362" y="1215950"/>
            <a:ext cx="4009163" cy="24984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044851" y="3721548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92601" y="5747247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57021"/>
              </p:ext>
            </p:extLst>
          </p:nvPr>
        </p:nvGraphicFramePr>
        <p:xfrm>
          <a:off x="4679535" y="3952380"/>
          <a:ext cx="4035818" cy="1772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07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51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699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150~199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101,602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31,744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31.2%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200~249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61,619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19,937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32.4%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250~299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27,869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9,675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34.7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300~349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17,868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5,547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31.0%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350~399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13,159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4,040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30.7%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400~449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4,986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1,685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33.8%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450~499</a:t>
                      </a:r>
                      <a:r>
                        <a:rPr lang="ko-KR" altLang="en-US" sz="10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2,233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39.0%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96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1,063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34.9%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433971" y="1219512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9" name="TextBox 35"/>
          <p:cNvSpPr txBox="1">
            <a:spLocks noChangeArrowheads="1"/>
          </p:cNvSpPr>
          <p:nvPr/>
        </p:nvSpPr>
        <p:spPr bwMode="auto">
          <a:xfrm>
            <a:off x="483222" y="1212388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유럽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직사각형 40"/>
          <p:cNvSpPr/>
          <p:nvPr/>
        </p:nvSpPr>
        <p:spPr bwMode="auto">
          <a:xfrm>
            <a:off x="424737" y="1219512"/>
            <a:ext cx="4009163" cy="24984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3806226" y="372511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953976" y="5747247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8924"/>
              </p:ext>
            </p:extLst>
          </p:nvPr>
        </p:nvGraphicFramePr>
        <p:xfrm>
          <a:off x="440910" y="3955942"/>
          <a:ext cx="4035818" cy="17685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07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51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699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150~199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87,697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26,803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200~249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64,705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19,346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250~299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36,763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11,807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300~349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19,463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6,318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350~399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13,365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3,601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400~449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3,117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450~499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96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</a:t>
                      </a:r>
                      <a:r>
                        <a:rPr lang="ko-KR" altLang="en-US" sz="10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2,191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5" name="차트 44"/>
          <p:cNvGraphicFramePr>
            <a:graphicFrameLocks/>
          </p:cNvGraphicFramePr>
          <p:nvPr/>
        </p:nvGraphicFramePr>
        <p:xfrm>
          <a:off x="73527" y="1489386"/>
          <a:ext cx="4618851" cy="2228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Box 21"/>
          <p:cNvSpPr txBox="1">
            <a:spLocks noChangeArrowheads="1"/>
          </p:cNvSpPr>
          <p:nvPr/>
        </p:nvSpPr>
        <p:spPr bwMode="auto">
          <a:xfrm>
            <a:off x="483222" y="6018604"/>
            <a:ext cx="84439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유럽의 경우 </a:t>
            </a:r>
            <a:r>
              <a:rPr lang="en-US" altLang="ko-KR" sz="1400" b="1" dirty="0"/>
              <a:t>300~349</a:t>
            </a:r>
            <a:r>
              <a:rPr lang="ko-KR" altLang="en-US" sz="1400" b="1" dirty="0"/>
              <a:t>만원</a:t>
            </a:r>
            <a:r>
              <a:rPr lang="en-US" altLang="ko-KR" sz="1400" b="1" dirty="0"/>
              <a:t>, 500</a:t>
            </a:r>
            <a:r>
              <a:rPr lang="ko-KR" altLang="en-US" sz="1400" b="1" dirty="0" err="1"/>
              <a:t>만원대</a:t>
            </a:r>
            <a:r>
              <a:rPr lang="ko-KR" altLang="en-US" sz="1400" b="1" dirty="0"/>
              <a:t> 이상 상품을 제외하고 작년 대비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ko-KR" altLang="en-US" sz="1400" b="1" dirty="0" err="1">
                <a:solidFill>
                  <a:srgbClr val="C00000"/>
                </a:solidFill>
              </a:rPr>
              <a:t>취소율이</a:t>
            </a:r>
            <a:r>
              <a:rPr lang="ko-KR" altLang="en-US" sz="1400" b="1" dirty="0">
                <a:solidFill>
                  <a:srgbClr val="C00000"/>
                </a:solidFill>
              </a:rPr>
              <a:t> 평균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2.9% </a:t>
            </a:r>
            <a:r>
              <a:rPr lang="ko-KR" altLang="en-US" sz="1400" b="1" dirty="0">
                <a:solidFill>
                  <a:srgbClr val="C00000"/>
                </a:solidFill>
              </a:rPr>
              <a:t>증가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7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1" name="차트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5504851"/>
              </p:ext>
            </p:extLst>
          </p:nvPr>
        </p:nvGraphicFramePr>
        <p:xfrm>
          <a:off x="4725368" y="1485825"/>
          <a:ext cx="3947157" cy="2228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0901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/>
          <p:cNvSpPr/>
          <p:nvPr/>
        </p:nvSpPr>
        <p:spPr>
          <a:xfrm>
            <a:off x="498058" y="1231352"/>
            <a:ext cx="252940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23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92379" y="1219512"/>
            <a:ext cx="4035819" cy="24984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92379" y="1219512"/>
            <a:ext cx="252940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4741630" y="1212388"/>
            <a:ext cx="24098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동남아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7399" y="87027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321518"/>
              </p:ext>
            </p:extLst>
          </p:nvPr>
        </p:nvGraphicFramePr>
        <p:xfrm>
          <a:off x="4683145" y="3948819"/>
          <a:ext cx="4035818" cy="13317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219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19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20~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32,977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11,673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35.4%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19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40~59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113,773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39,716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34.9%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19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60~79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114,490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40,570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35.4%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219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80~99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74,778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25,836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34.6%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219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0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65,387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24,504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37.5%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119433" y="371798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95830" y="5280522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sp>
        <p:nvSpPr>
          <p:cNvPr id="45" name="직사각형 44"/>
          <p:cNvSpPr/>
          <p:nvPr/>
        </p:nvSpPr>
        <p:spPr bwMode="auto">
          <a:xfrm>
            <a:off x="498058" y="1231352"/>
            <a:ext cx="4035819" cy="24984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539174" y="1224227"/>
            <a:ext cx="24098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동남아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82280"/>
              </p:ext>
            </p:extLst>
          </p:nvPr>
        </p:nvGraphicFramePr>
        <p:xfrm>
          <a:off x="488824" y="3960659"/>
          <a:ext cx="4035818" cy="1318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197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9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20~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25,863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9,678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9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40~59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106,471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39,076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19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60~79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120,183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42,116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19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80~99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69,312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23,619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19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0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59,145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23,819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3925112" y="372982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01509" y="5292362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graphicFrame>
        <p:nvGraphicFramePr>
          <p:cNvPr id="50" name="차트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994389"/>
              </p:ext>
            </p:extLst>
          </p:nvPr>
        </p:nvGraphicFramePr>
        <p:xfrm>
          <a:off x="190511" y="1570868"/>
          <a:ext cx="4710101" cy="2235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2" name="TextBox 21"/>
          <p:cNvSpPr txBox="1">
            <a:spLocks noChangeArrowheads="1"/>
          </p:cNvSpPr>
          <p:nvPr/>
        </p:nvSpPr>
        <p:spPr bwMode="auto">
          <a:xfrm>
            <a:off x="2271638" y="5616338"/>
            <a:ext cx="54531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동남아의 경우 </a:t>
            </a:r>
            <a:r>
              <a:rPr lang="en-US" altLang="ko-KR" sz="1400" b="1" dirty="0"/>
              <a:t>60~70</a:t>
            </a:r>
            <a:r>
              <a:rPr lang="ko-KR" altLang="en-US" sz="1400" b="1" dirty="0" err="1"/>
              <a:t>만원대</a:t>
            </a:r>
            <a:r>
              <a:rPr lang="ko-KR" altLang="en-US" sz="1400" b="1" dirty="0"/>
              <a:t> 중간가격 상품의 </a:t>
            </a:r>
            <a:r>
              <a:rPr lang="ko-KR" altLang="en-US" sz="1400" b="1" dirty="0" err="1"/>
              <a:t>취소율이</a:t>
            </a:r>
            <a:r>
              <a:rPr lang="ko-KR" altLang="en-US" sz="1400" b="1" dirty="0"/>
              <a:t> 상승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취소율은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작년대비</a:t>
            </a:r>
            <a:r>
              <a:rPr lang="ko-KR" altLang="en-US" sz="1400" b="1" dirty="0" smtClean="0"/>
              <a:t> 평균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-1.1% </a:t>
            </a:r>
            <a:r>
              <a:rPr lang="ko-KR" altLang="en-US" sz="1400" b="1" dirty="0">
                <a:solidFill>
                  <a:srgbClr val="C00000"/>
                </a:solidFill>
              </a:rPr>
              <a:t>감소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5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8" name="차트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9130757"/>
              </p:ext>
            </p:extLst>
          </p:nvPr>
        </p:nvGraphicFramePr>
        <p:xfrm>
          <a:off x="4692379" y="1587260"/>
          <a:ext cx="4035819" cy="2216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5624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67407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24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724556" y="1239215"/>
            <a:ext cx="4035819" cy="242476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724556" y="1239215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49181" y="1232373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중국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9744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212482"/>
              </p:ext>
            </p:extLst>
          </p:nvPr>
        </p:nvGraphicFramePr>
        <p:xfrm>
          <a:off x="4739303" y="3890066"/>
          <a:ext cx="4035818" cy="1594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16,127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6,413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39.8%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13,637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5,003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36.7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14,862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5,023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33.8%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11,358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3,829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33.7%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8,834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2,543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28.8%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 smtClean="0">
                          <a:effectLst/>
                        </a:rPr>
                        <a:t>6,124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1,859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30.4%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4,579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1,306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28.5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13,050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 smtClean="0"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3,723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28.5%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169468" y="366786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283" y="5506013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sp>
        <p:nvSpPr>
          <p:cNvPr id="43" name="직사각형 42"/>
          <p:cNvSpPr/>
          <p:nvPr/>
        </p:nvSpPr>
        <p:spPr bwMode="auto">
          <a:xfrm>
            <a:off x="539750" y="1239215"/>
            <a:ext cx="4035819" cy="242476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539750" y="1239215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5" name="TextBox 35"/>
          <p:cNvSpPr txBox="1">
            <a:spLocks noChangeArrowheads="1"/>
          </p:cNvSpPr>
          <p:nvPr/>
        </p:nvSpPr>
        <p:spPr bwMode="auto">
          <a:xfrm>
            <a:off x="564375" y="1230981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중국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482874"/>
              </p:ext>
            </p:extLst>
          </p:nvPr>
        </p:nvGraphicFramePr>
        <p:xfrm>
          <a:off x="554497" y="3890066"/>
          <a:ext cx="4035818" cy="1594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12,967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4,606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13,914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13,456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4,258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11,492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3,538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8,068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2,427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1,327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51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6,968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3984662" y="366786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061059" y="5506013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graphicFrame>
        <p:nvGraphicFramePr>
          <p:cNvPr id="49" name="차트 4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3077223"/>
              </p:ext>
            </p:extLst>
          </p:nvPr>
        </p:nvGraphicFramePr>
        <p:xfrm>
          <a:off x="296168" y="1509091"/>
          <a:ext cx="4551242" cy="2154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TextBox 21"/>
          <p:cNvSpPr txBox="1">
            <a:spLocks noChangeArrowheads="1"/>
          </p:cNvSpPr>
          <p:nvPr/>
        </p:nvSpPr>
        <p:spPr bwMode="auto">
          <a:xfrm>
            <a:off x="2073158" y="5721322"/>
            <a:ext cx="54531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중국의 경우 </a:t>
            </a:r>
            <a:r>
              <a:rPr lang="en-US" altLang="ko-KR" sz="1400" b="1" dirty="0"/>
              <a:t>70</a:t>
            </a:r>
            <a:r>
              <a:rPr lang="ko-KR" altLang="en-US" sz="1400" b="1" dirty="0"/>
              <a:t>만원</a:t>
            </a:r>
            <a:r>
              <a:rPr lang="en-US" altLang="ko-KR" sz="1400" b="1" dirty="0"/>
              <a:t>, </a:t>
            </a:r>
            <a:r>
              <a:rPr lang="en-US" altLang="ko-KR" sz="1400" b="1" dirty="0" smtClean="0"/>
              <a:t>100</a:t>
            </a:r>
            <a:r>
              <a:rPr lang="ko-KR" altLang="en-US" sz="1400" b="1" dirty="0"/>
              <a:t>만원대만 </a:t>
            </a:r>
            <a:r>
              <a:rPr lang="ko-KR" altLang="en-US" sz="1400" b="1" dirty="0" err="1"/>
              <a:t>취소율이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감소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위의 가격대 전체 </a:t>
            </a:r>
            <a:r>
              <a:rPr lang="ko-KR" altLang="en-US" sz="1400" b="1" dirty="0" err="1" smtClean="0"/>
              <a:t>취소율은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/>
              <a:t>작년대비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평균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1.7%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증가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6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1" name="차트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487826"/>
              </p:ext>
            </p:extLst>
          </p:nvPr>
        </p:nvGraphicFramePr>
        <p:xfrm>
          <a:off x="4749181" y="1507980"/>
          <a:ext cx="4011194" cy="215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4867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67407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25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3"/>
            <a:ext cx="4035819" cy="25666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4732396" y="1236208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9744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199304"/>
              </p:ext>
            </p:extLst>
          </p:nvPr>
        </p:nvGraphicFramePr>
        <p:xfrm>
          <a:off x="4683145" y="4022557"/>
          <a:ext cx="4035818" cy="1594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 </a:t>
                      </a:r>
                      <a:r>
                        <a:rPr lang="ko-KR" altLang="en-US" sz="11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            </a:t>
                      </a:r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5,694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1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                </a:t>
                      </a:r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2,324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40.8%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 </a:t>
                      </a:r>
                      <a:r>
                        <a:rPr lang="ko-KR" altLang="en-US" sz="11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            </a:t>
                      </a:r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8,478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                 </a:t>
                      </a:r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3,390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40.0%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     </a:t>
                      </a:r>
                      <a:r>
                        <a:rPr lang="ko-KR" altLang="en-US" sz="11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      </a:t>
                      </a:r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13,066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   </a:t>
                      </a:r>
                      <a:r>
                        <a:rPr lang="ko-KR" altLang="en-US" sz="11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          </a:t>
                      </a:r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5,263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40.3%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13,556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5,207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38.4%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11,802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4,158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35.2%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8,220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3,080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37.5%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5,085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1,755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34.5%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6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14,257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          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5,452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10807" y="3796701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87204" y="5611176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sp>
        <p:nvSpPr>
          <p:cNvPr id="31" name="TextBox 35"/>
          <p:cNvSpPr txBox="1">
            <a:spLocks noChangeArrowheads="1"/>
          </p:cNvSpPr>
          <p:nvPr/>
        </p:nvSpPr>
        <p:spPr bwMode="auto">
          <a:xfrm>
            <a:off x="707902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499669" y="1243332"/>
            <a:ext cx="4035819" cy="256666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499669" y="1243332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7" name="TextBox 35"/>
          <p:cNvSpPr txBox="1">
            <a:spLocks noChangeArrowheads="1"/>
          </p:cNvSpPr>
          <p:nvPr/>
        </p:nvSpPr>
        <p:spPr bwMode="auto">
          <a:xfrm>
            <a:off x="548920" y="1236208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661309"/>
              </p:ext>
            </p:extLst>
          </p:nvPr>
        </p:nvGraphicFramePr>
        <p:xfrm>
          <a:off x="499669" y="4022557"/>
          <a:ext cx="4035818" cy="1594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7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9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4,853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1,652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11,880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4,467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21,295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7,913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23,624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9,178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24,880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20,414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7,188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9,525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54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23,274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8,527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927331" y="3796701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20245" y="5643480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 이동으로 인한 취소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</a:p>
        </p:txBody>
      </p:sp>
      <p:graphicFrame>
        <p:nvGraphicFramePr>
          <p:cNvPr id="43" name="차트 4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3203723"/>
              </p:ext>
            </p:extLst>
          </p:nvPr>
        </p:nvGraphicFramePr>
        <p:xfrm>
          <a:off x="277399" y="1513207"/>
          <a:ext cx="4477763" cy="2252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TextBox 21"/>
          <p:cNvSpPr txBox="1">
            <a:spLocks noChangeArrowheads="1"/>
          </p:cNvSpPr>
          <p:nvPr/>
        </p:nvSpPr>
        <p:spPr bwMode="auto">
          <a:xfrm>
            <a:off x="2057400" y="5758896"/>
            <a:ext cx="60534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2019</a:t>
            </a:r>
            <a:r>
              <a:rPr lang="ko-KR" altLang="en-US" sz="1400" b="1" dirty="0"/>
              <a:t>년 일본 </a:t>
            </a:r>
            <a:r>
              <a:rPr lang="ko-KR" altLang="en-US" sz="1400" b="1" dirty="0" smtClean="0"/>
              <a:t>저가 </a:t>
            </a:r>
            <a:r>
              <a:rPr lang="ko-KR" altLang="en-US" sz="1400" b="1" dirty="0"/>
              <a:t>상품 </a:t>
            </a:r>
            <a:r>
              <a:rPr lang="ko-KR" altLang="en-US" sz="1400" b="1" dirty="0" err="1"/>
              <a:t>타지역</a:t>
            </a:r>
            <a:r>
              <a:rPr lang="ko-KR" altLang="en-US" sz="1400" b="1" dirty="0"/>
              <a:t> 대비 가장 높은 </a:t>
            </a:r>
            <a:r>
              <a:rPr lang="ko-KR" altLang="en-US" sz="1400" b="1" dirty="0" err="1"/>
              <a:t>취소율</a:t>
            </a:r>
            <a:r>
              <a:rPr lang="ko-KR" altLang="en-US" sz="1400" b="1" dirty="0"/>
              <a:t> 기록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/>
              <a:t>작년대비</a:t>
            </a:r>
            <a:r>
              <a:rPr lang="ko-KR" altLang="en-US" sz="1400" b="1" dirty="0"/>
              <a:t> 전체 평균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1.4% </a:t>
            </a:r>
            <a:r>
              <a:rPr lang="ko-KR" altLang="en-US" sz="1400" b="1" dirty="0" err="1">
                <a:solidFill>
                  <a:srgbClr val="C00000"/>
                </a:solidFill>
              </a:rPr>
              <a:t>취소율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증가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28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2100"/>
              </p:ext>
            </p:extLst>
          </p:nvPr>
        </p:nvGraphicFramePr>
        <p:xfrm>
          <a:off x="4683145" y="1513208"/>
          <a:ext cx="4035819" cy="2283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4038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26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707041" y="1243332"/>
            <a:ext cx="4035819" cy="24522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707041" y="1243332"/>
            <a:ext cx="293408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38222" y="1234707"/>
            <a:ext cx="29029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), 2019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090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총판매금액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89965" y="5682586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58270"/>
              </p:ext>
            </p:extLst>
          </p:nvPr>
        </p:nvGraphicFramePr>
        <p:xfrm>
          <a:off x="4764707" y="3909191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70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212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919,615,880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11,274,802,947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14,050,648,909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10,745,306,997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25,768,644,760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78,703,904,852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78,661,610,076 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14,690,242,323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234,694,552,287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101408" y="3693529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1"/>
          <p:cNvSpPr txBox="1">
            <a:spLocks noChangeArrowheads="1"/>
          </p:cNvSpPr>
          <p:nvPr/>
        </p:nvSpPr>
        <p:spPr bwMode="auto">
          <a:xfrm>
            <a:off x="2570273" y="5975833"/>
            <a:ext cx="42107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 지역 </a:t>
            </a:r>
            <a:r>
              <a:rPr lang="en-US" altLang="ko-KR" sz="1400" b="1" dirty="0" smtClean="0"/>
              <a:t>10</a:t>
            </a:r>
            <a:r>
              <a:rPr lang="ko-KR" altLang="en-US" sz="1400" b="1" dirty="0" smtClean="0"/>
              <a:t>대 및 </a:t>
            </a:r>
            <a:r>
              <a:rPr lang="en-US" altLang="ko-KR" sz="1400" b="1" dirty="0" smtClean="0"/>
              <a:t>30</a:t>
            </a:r>
            <a:r>
              <a:rPr lang="ko-KR" altLang="en-US" sz="1400" b="1" dirty="0" smtClean="0"/>
              <a:t>대 총판매금액 비중 감소</a:t>
            </a:r>
            <a:endParaRPr lang="en-US" altLang="ko-KR" sz="1400" b="1" dirty="0"/>
          </a:p>
        </p:txBody>
      </p:sp>
      <p:sp>
        <p:nvSpPr>
          <p:cNvPr id="30" name="직사각형 29"/>
          <p:cNvSpPr/>
          <p:nvPr/>
        </p:nvSpPr>
        <p:spPr bwMode="auto">
          <a:xfrm>
            <a:off x="424737" y="1243332"/>
            <a:ext cx="4035819" cy="24522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24737" y="1243332"/>
            <a:ext cx="297936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8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31946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07661" y="5682586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299203"/>
              </p:ext>
            </p:extLst>
          </p:nvPr>
        </p:nvGraphicFramePr>
        <p:xfrm>
          <a:off x="482403" y="3909191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941,384,357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10,835,609,956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13,853,888,638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12,059,650,226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26,432,513,753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79,260,214,050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77,439,518,288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14,088,997,969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234,911,777,237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819104" y="3693529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4" name="차트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2993761"/>
              </p:ext>
            </p:extLst>
          </p:nvPr>
        </p:nvGraphicFramePr>
        <p:xfrm>
          <a:off x="116103" y="1380227"/>
          <a:ext cx="4439998" cy="2491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192484"/>
              </p:ext>
            </p:extLst>
          </p:nvPr>
        </p:nvGraphicFramePr>
        <p:xfrm>
          <a:off x="4707041" y="1385180"/>
          <a:ext cx="4088788" cy="2453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9342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27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44922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98514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090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총판매금액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9420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2019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06175"/>
              </p:ext>
            </p:extLst>
          </p:nvPr>
        </p:nvGraphicFramePr>
        <p:xfrm>
          <a:off x="4717957" y="3909441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70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212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520,562,673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2,632,617,896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1,868,303,873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1,545,544,228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5,191,814,269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9,072,782,571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7,141,807,693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2,950,494,784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30,923,927,987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8112776" y="366463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2858" y="5682586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1"/>
          <p:cNvSpPr txBox="1">
            <a:spLocks noChangeArrowheads="1"/>
          </p:cNvSpPr>
          <p:nvPr/>
        </p:nvSpPr>
        <p:spPr bwMode="auto">
          <a:xfrm>
            <a:off x="690066" y="5781310"/>
            <a:ext cx="894731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일본 </a:t>
            </a:r>
            <a:r>
              <a:rPr lang="en-US" altLang="ko-KR" sz="1400" b="1" dirty="0"/>
              <a:t>– </a:t>
            </a:r>
            <a:r>
              <a:rPr lang="ko-KR" altLang="en-US" sz="1400" b="1" dirty="0" err="1"/>
              <a:t>타지역</a:t>
            </a:r>
            <a:r>
              <a:rPr lang="ko-KR" altLang="en-US" sz="1400" b="1" dirty="0"/>
              <a:t> 대비 </a:t>
            </a:r>
            <a:r>
              <a:rPr lang="en-US" altLang="ko-KR" sz="1400" b="1" dirty="0"/>
              <a:t>10</a:t>
            </a:r>
            <a:r>
              <a:rPr lang="ko-KR" altLang="en-US" sz="1400" b="1" dirty="0"/>
              <a:t>대</a:t>
            </a:r>
            <a:r>
              <a:rPr lang="en-US" altLang="ko-KR" sz="1400" b="1" dirty="0"/>
              <a:t>, 40</a:t>
            </a:r>
            <a:r>
              <a:rPr lang="ko-KR" altLang="en-US" sz="1400" b="1" dirty="0"/>
              <a:t>대 판매 비중이 높음 </a:t>
            </a:r>
            <a:r>
              <a:rPr lang="en-US" altLang="ko-KR" sz="1400" b="1" dirty="0"/>
              <a:t>-&gt;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가족여행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2019</a:t>
            </a:r>
            <a:r>
              <a:rPr lang="ko-KR" altLang="en-US" sz="1400" b="1" dirty="0" smtClean="0"/>
              <a:t>년에 접어들어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30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~ 50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 비중이 감소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,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작년대비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전체 판매금액이 약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39%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감소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619669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411436" y="1243332"/>
            <a:ext cx="4035819" cy="244922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411436" y="1243332"/>
            <a:ext cx="29386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9" name="TextBox 35"/>
          <p:cNvSpPr txBox="1">
            <a:spLocks noChangeArrowheads="1"/>
          </p:cNvSpPr>
          <p:nvPr/>
        </p:nvSpPr>
        <p:spPr bwMode="auto">
          <a:xfrm>
            <a:off x="402055" y="1227364"/>
            <a:ext cx="29386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65602"/>
              </p:ext>
            </p:extLst>
          </p:nvPr>
        </p:nvGraphicFramePr>
        <p:xfrm>
          <a:off x="446248" y="3909441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1,077,728,902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4,445,296,184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2,799,601,851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2,755,534,963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8,832,432,205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14,847,025,325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10,559,138,472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4,284,206,959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49,600,964,861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841067" y="366463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71149" y="5682586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" name="차트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346678"/>
              </p:ext>
            </p:extLst>
          </p:nvPr>
        </p:nvGraphicFramePr>
        <p:xfrm>
          <a:off x="-119691" y="1414304"/>
          <a:ext cx="4566946" cy="2406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2" name="차트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224351"/>
              </p:ext>
            </p:extLst>
          </p:nvPr>
        </p:nvGraphicFramePr>
        <p:xfrm>
          <a:off x="4726277" y="1421394"/>
          <a:ext cx="3992687" cy="2474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1909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28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43640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31185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868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73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총판매금액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(2019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44521"/>
              </p:ext>
            </p:extLst>
          </p:nvPr>
        </p:nvGraphicFramePr>
        <p:xfrm>
          <a:off x="459884" y="3897550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70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212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>
                          <a:effectLst/>
                        </a:rPr>
                        <a:t>         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276,459,627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>
                          <a:effectLst/>
                        </a:rPr>
                        <a:t>     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1,044,997,241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942,605,722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>
                          <a:effectLst/>
                        </a:rPr>
                        <a:t>     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1,248,323,983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  </a:t>
                      </a:r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3,122,925,937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</a:t>
                      </a:r>
                      <a:r>
                        <a:rPr lang="en-US" altLang="ko-KR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11,122,315,196 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    </a:t>
                      </a:r>
                      <a:r>
                        <a:rPr lang="en-US" altLang="ko-KR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11,284,896,522 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2,792,642,916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>
                          <a:effectLst/>
                        </a:rPr>
                        <a:t>   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31,835,167,144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838057" y="3654862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601" y="5649796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차트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904989"/>
              </p:ext>
            </p:extLst>
          </p:nvPr>
        </p:nvGraphicFramePr>
        <p:xfrm>
          <a:off x="424737" y="1511706"/>
          <a:ext cx="4035819" cy="2167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직사각형 28"/>
          <p:cNvSpPr/>
          <p:nvPr/>
        </p:nvSpPr>
        <p:spPr bwMode="auto">
          <a:xfrm>
            <a:off x="4716080" y="1243332"/>
            <a:ext cx="4035819" cy="243640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716080" y="1243332"/>
            <a:ext cx="316043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9" name="TextBox 35"/>
          <p:cNvSpPr txBox="1">
            <a:spLocks noChangeArrowheads="1"/>
          </p:cNvSpPr>
          <p:nvPr/>
        </p:nvSpPr>
        <p:spPr bwMode="auto">
          <a:xfrm>
            <a:off x="4747261" y="1234707"/>
            <a:ext cx="30296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2019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35414"/>
              </p:ext>
            </p:extLst>
          </p:nvPr>
        </p:nvGraphicFramePr>
        <p:xfrm>
          <a:off x="4751227" y="3897550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293,115,246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1,129,297,569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1,028,455,322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1,380,864,825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3,372,339,458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11,684,484,850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11,701,554,822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2,893,077,086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33,483,189,178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129400" y="3654862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66944" y="5649796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2" name="차트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979029"/>
              </p:ext>
            </p:extLst>
          </p:nvPr>
        </p:nvGraphicFramePr>
        <p:xfrm>
          <a:off x="4701382" y="1511706"/>
          <a:ext cx="4050517" cy="225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Box 21"/>
          <p:cNvSpPr txBox="1">
            <a:spLocks noChangeArrowheads="1"/>
          </p:cNvSpPr>
          <p:nvPr/>
        </p:nvSpPr>
        <p:spPr bwMode="auto">
          <a:xfrm>
            <a:off x="1562715" y="5753934"/>
            <a:ext cx="7202017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중국지역의 경우 </a:t>
            </a:r>
            <a:r>
              <a:rPr lang="ko-KR" altLang="en-US" sz="1400" b="1" dirty="0" err="1"/>
              <a:t>작년대비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10</a:t>
            </a:r>
            <a:r>
              <a:rPr lang="ko-KR" altLang="en-US" sz="1400" b="1" dirty="0"/>
              <a:t>대미만</a:t>
            </a:r>
            <a:r>
              <a:rPr lang="en-US" altLang="ko-KR" sz="1400" b="1" dirty="0"/>
              <a:t>, 10</a:t>
            </a:r>
            <a:r>
              <a:rPr lang="ko-KR" altLang="en-US" sz="1400" b="1" dirty="0"/>
              <a:t>대</a:t>
            </a:r>
            <a:r>
              <a:rPr lang="en-US" altLang="ko-KR" sz="1400" b="1" dirty="0"/>
              <a:t>, 30</a:t>
            </a:r>
            <a:r>
              <a:rPr lang="ko-KR" altLang="en-US" sz="1400" b="1" dirty="0"/>
              <a:t>대</a:t>
            </a:r>
            <a:r>
              <a:rPr lang="en-US" altLang="ko-KR" sz="1400" b="1" dirty="0"/>
              <a:t>, 40</a:t>
            </a:r>
            <a:r>
              <a:rPr lang="ko-KR" altLang="en-US" sz="1400" b="1" dirty="0"/>
              <a:t>대 총판매금액 비중이 상승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ko-KR" altLang="en-US" sz="1400" b="1" dirty="0"/>
              <a:t> </a:t>
            </a:r>
            <a:r>
              <a:rPr lang="en-US" altLang="ko-KR" sz="1400" b="1" dirty="0"/>
              <a:t>-&gt;</a:t>
            </a:r>
            <a:r>
              <a:rPr lang="en-US" altLang="ko-KR" sz="1400" b="1" dirty="0">
                <a:solidFill>
                  <a:srgbClr val="C00000"/>
                </a:solidFill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</a:rPr>
              <a:t>중국지역 가족여행의 증가 추세</a:t>
            </a:r>
            <a:r>
              <a:rPr lang="en-US" altLang="ko-KR" sz="1400" b="1" dirty="0">
                <a:solidFill>
                  <a:srgbClr val="C00000"/>
                </a:solidFill>
              </a:rPr>
              <a:t>? </a:t>
            </a:r>
            <a:r>
              <a:rPr lang="ko-KR" altLang="en-US" sz="1400" b="1" dirty="0">
                <a:solidFill>
                  <a:srgbClr val="C00000"/>
                </a:solidFill>
              </a:rPr>
              <a:t>그렇다면 원인은</a:t>
            </a:r>
            <a:r>
              <a:rPr lang="en-US" altLang="ko-KR" sz="1400" b="1" dirty="0">
                <a:solidFill>
                  <a:srgbClr val="C00000"/>
                </a:solidFill>
              </a:rPr>
              <a:t>?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63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29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43565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315715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73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총판매금액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(2019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31140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2019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693148"/>
              </p:ext>
            </p:extLst>
          </p:nvPr>
        </p:nvGraphicFramePr>
        <p:xfrm>
          <a:off x="4698735" y="3893774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70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212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692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동남아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4,671,280,921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11,844,797,474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8,425,232,188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10,380,332,333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25,072,188,687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6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31,765,763,978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22,324,374,285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7,285,711,769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121,769,681,635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123574" y="365631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2581" y="5649796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619555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411322" y="1243332"/>
            <a:ext cx="4035819" cy="243565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411322" y="1243332"/>
            <a:ext cx="323943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1" name="TextBox 35"/>
          <p:cNvSpPr txBox="1">
            <a:spLocks noChangeArrowheads="1"/>
          </p:cNvSpPr>
          <p:nvPr/>
        </p:nvSpPr>
        <p:spPr bwMode="auto">
          <a:xfrm>
            <a:off x="454454" y="1227365"/>
            <a:ext cx="30888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, 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384681"/>
              </p:ext>
            </p:extLst>
          </p:nvPr>
        </p:nvGraphicFramePr>
        <p:xfrm>
          <a:off x="426912" y="3893774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1692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동남아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4,547,454,729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11,119,834,667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8,131,991,062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11,247,267,525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24,999,974,211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31,368,703,355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20,260,820,489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6,290,682,769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117,966,728,807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3851751" y="365631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50758" y="5649796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" name="차트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9637324"/>
              </p:ext>
            </p:extLst>
          </p:nvPr>
        </p:nvGraphicFramePr>
        <p:xfrm>
          <a:off x="58637" y="1411566"/>
          <a:ext cx="4388504" cy="240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7266788"/>
              </p:ext>
            </p:extLst>
          </p:nvPr>
        </p:nvGraphicFramePr>
        <p:xfrm>
          <a:off x="4683145" y="1513207"/>
          <a:ext cx="4035819" cy="2298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Box 21"/>
          <p:cNvSpPr txBox="1">
            <a:spLocks noChangeArrowheads="1"/>
          </p:cNvSpPr>
          <p:nvPr/>
        </p:nvSpPr>
        <p:spPr bwMode="auto">
          <a:xfrm>
            <a:off x="1960354" y="5955718"/>
            <a:ext cx="7183646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/>
              <a:t>타지역</a:t>
            </a:r>
            <a:r>
              <a:rPr lang="ko-KR" altLang="en-US" sz="1400" b="1" dirty="0"/>
              <a:t> 대비 </a:t>
            </a:r>
            <a:r>
              <a:rPr lang="en-US" altLang="ko-KR" sz="1400" b="1" dirty="0"/>
              <a:t>10</a:t>
            </a:r>
            <a:r>
              <a:rPr lang="ko-KR" altLang="en-US" sz="1400" b="1" dirty="0"/>
              <a:t>대 미만 및 </a:t>
            </a:r>
            <a:r>
              <a:rPr lang="en-US" altLang="ko-KR" sz="1400" b="1" dirty="0"/>
              <a:t>10</a:t>
            </a:r>
            <a:r>
              <a:rPr lang="ko-KR" altLang="en-US" sz="1400" b="1" dirty="0"/>
              <a:t>대</a:t>
            </a:r>
            <a:r>
              <a:rPr lang="en-US" altLang="ko-KR" sz="1400" b="1" dirty="0"/>
              <a:t>, 30</a:t>
            </a:r>
            <a:r>
              <a:rPr lang="ko-KR" altLang="en-US" sz="1400" b="1" dirty="0"/>
              <a:t>대 </a:t>
            </a:r>
            <a:r>
              <a:rPr lang="en-US" altLang="ko-KR" sz="1400" b="1" dirty="0"/>
              <a:t>40</a:t>
            </a:r>
            <a:r>
              <a:rPr lang="ko-KR" altLang="en-US" sz="1400" b="1" dirty="0"/>
              <a:t>대 판매 비중이 높음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50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차트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934931"/>
              </p:ext>
            </p:extLst>
          </p:nvPr>
        </p:nvGraphicFramePr>
        <p:xfrm>
          <a:off x="4668559" y="1510205"/>
          <a:ext cx="4050405" cy="2457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30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74115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623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평균 판매금액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72481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269" y="87828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평균 판매금액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(2019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683145" y="1241831"/>
            <a:ext cx="274115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4714326" y="1233206"/>
            <a:ext cx="2623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평균 판매금액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07511" y="3949152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2114" y="3968151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차트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0006760"/>
              </p:ext>
            </p:extLst>
          </p:nvPr>
        </p:nvGraphicFramePr>
        <p:xfrm>
          <a:off x="455918" y="1524539"/>
          <a:ext cx="4004638" cy="2443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직사각형 35"/>
          <p:cNvSpPr/>
          <p:nvPr/>
        </p:nvSpPr>
        <p:spPr>
          <a:xfrm>
            <a:off x="3571875" y="1779661"/>
            <a:ext cx="723900" cy="2104791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7338038" y="1867143"/>
            <a:ext cx="448573" cy="1929825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1795315" y="4689569"/>
            <a:ext cx="7541776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유럽</a:t>
            </a:r>
            <a:r>
              <a:rPr lang="en-US" altLang="ko-KR" sz="1400" b="1" dirty="0"/>
              <a:t> – </a:t>
            </a:r>
            <a:r>
              <a:rPr lang="ko-KR" altLang="en-US" sz="1400" b="1" dirty="0"/>
              <a:t>연령층이 높아질수록 선호하는 상품금액이 높아지는 추세</a:t>
            </a:r>
            <a:r>
              <a:rPr lang="en-US" altLang="ko-KR" sz="1400" b="1" dirty="0">
                <a:solidFill>
                  <a:srgbClr val="C00000"/>
                </a:solidFill>
              </a:rPr>
              <a:t/>
            </a:r>
            <a:br>
              <a:rPr lang="en-US" altLang="ko-KR" sz="1400" b="1" dirty="0">
                <a:solidFill>
                  <a:srgbClr val="C00000"/>
                </a:solidFill>
              </a:rPr>
            </a:br>
            <a:r>
              <a:rPr lang="ko-KR" altLang="en-US" sz="1400" b="1" dirty="0">
                <a:solidFill>
                  <a:srgbClr val="C00000"/>
                </a:solidFill>
              </a:rPr>
              <a:t>연령층과 판매 상품금액의 상관관계</a:t>
            </a:r>
            <a:r>
              <a:rPr lang="en-US" altLang="ko-KR" sz="1400" b="1" dirty="0">
                <a:solidFill>
                  <a:srgbClr val="C00000"/>
                </a:solidFill>
              </a:rPr>
              <a:t>?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92666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차트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6053078"/>
              </p:ext>
            </p:extLst>
          </p:nvPr>
        </p:nvGraphicFramePr>
        <p:xfrm>
          <a:off x="4726277" y="1556357"/>
          <a:ext cx="3992687" cy="2411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2510520"/>
              </p:ext>
            </p:extLst>
          </p:nvPr>
        </p:nvGraphicFramePr>
        <p:xfrm>
          <a:off x="455918" y="1514284"/>
          <a:ext cx="4004638" cy="2453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31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72481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5889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267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평균 판매금액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(2019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5889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4737" y="1243332"/>
            <a:ext cx="274115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6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623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평균 판매금액 비중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07511" y="3949152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628" y="3968151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165894" y="1673362"/>
            <a:ext cx="1129881" cy="2239279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357960" y="1656110"/>
            <a:ext cx="418762" cy="2104791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36" name="TextBox 21"/>
          <p:cNvSpPr txBox="1">
            <a:spLocks noChangeArrowheads="1"/>
          </p:cNvSpPr>
          <p:nvPr/>
        </p:nvSpPr>
        <p:spPr bwMode="auto">
          <a:xfrm>
            <a:off x="1282453" y="4833661"/>
            <a:ext cx="7077344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중국</a:t>
            </a:r>
            <a:r>
              <a:rPr lang="en-US" altLang="ko-KR" sz="1400" b="1" dirty="0"/>
              <a:t>]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50</a:t>
            </a:r>
            <a:r>
              <a:rPr lang="ko-KR" altLang="en-US" sz="1400" b="1" dirty="0"/>
              <a:t>대 이상의 </a:t>
            </a:r>
            <a:r>
              <a:rPr lang="ko-KR" altLang="en-US" sz="1400" b="1" dirty="0" err="1"/>
              <a:t>중장년층이</a:t>
            </a:r>
            <a:r>
              <a:rPr lang="ko-KR" altLang="en-US" sz="1400" b="1" dirty="0"/>
              <a:t> 상대적으로 </a:t>
            </a:r>
            <a:r>
              <a:rPr lang="ko-KR" altLang="en-US" sz="1400" b="1" dirty="0">
                <a:solidFill>
                  <a:srgbClr val="C00000"/>
                </a:solidFill>
              </a:rPr>
              <a:t>높은 가격 선호 </a:t>
            </a:r>
            <a:r>
              <a:rPr lang="en-US" altLang="ko-KR" sz="1400" b="1" dirty="0">
                <a:solidFill>
                  <a:srgbClr val="C00000"/>
                </a:solidFill>
              </a:rPr>
              <a:t>-&gt; </a:t>
            </a:r>
            <a:r>
              <a:rPr lang="ko-KR" altLang="en-US" sz="1400" b="1" dirty="0">
                <a:solidFill>
                  <a:srgbClr val="C00000"/>
                </a:solidFill>
              </a:rPr>
              <a:t>어떤 상품</a:t>
            </a:r>
            <a:r>
              <a:rPr lang="en-US" altLang="ko-KR" sz="1400" b="1" dirty="0">
                <a:solidFill>
                  <a:srgbClr val="C00000"/>
                </a:solidFill>
              </a:rPr>
              <a:t>?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[</a:t>
            </a:r>
            <a:r>
              <a:rPr lang="ko-KR" altLang="en-US" sz="1400" b="1" dirty="0"/>
              <a:t>동남아</a:t>
            </a:r>
            <a:r>
              <a:rPr lang="en-US" altLang="ko-KR" sz="1400" b="1" dirty="0"/>
              <a:t>] </a:t>
            </a:r>
            <a:r>
              <a:rPr lang="ko-KR" altLang="en-US" sz="1400" b="1" dirty="0"/>
              <a:t>전 연령대 비슷한 평균 판매금액 추이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0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32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42446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42317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8820" y="1243332"/>
            <a:ext cx="25821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2018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 출발고객의 구매횟수 분포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3"/>
            <a:ext cx="4035819" cy="242194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5889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출발고객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분포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0295" y="370728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31009" y="371244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5889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2019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 출발고객의 구매횟수 분포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050441"/>
              </p:ext>
            </p:extLst>
          </p:nvPr>
        </p:nvGraphicFramePr>
        <p:xfrm>
          <a:off x="455918" y="3927579"/>
          <a:ext cx="4035819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52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52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527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구매횟수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341,908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72.8%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78,813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16.8%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27,587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5.9%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11,353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2.4%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4,854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1.0%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2,399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0.5%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1,223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0.3%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669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0.1%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357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0.1%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747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0.2%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469,910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100.0%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598932"/>
              </p:ext>
            </p:extLst>
          </p:nvPr>
        </p:nvGraphicFramePr>
        <p:xfrm>
          <a:off x="4726277" y="3927579"/>
          <a:ext cx="4029093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30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30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30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구매횟수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328,622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71.8%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78,401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27,922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11,373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5,475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2,719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1,339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457,746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100.0%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963354" y="5857394"/>
            <a:ext cx="26007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 제외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6453" y="5870679"/>
            <a:ext cx="26007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 제외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차트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913351"/>
              </p:ext>
            </p:extLst>
          </p:nvPr>
        </p:nvGraphicFramePr>
        <p:xfrm>
          <a:off x="424737" y="1520332"/>
          <a:ext cx="4035819" cy="2144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8778498"/>
              </p:ext>
            </p:extLst>
          </p:nvPr>
        </p:nvGraphicFramePr>
        <p:xfrm>
          <a:off x="4704501" y="1520332"/>
          <a:ext cx="4014463" cy="2144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315262" y="6211135"/>
            <a:ext cx="49568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200" b="1" dirty="0">
                <a:latin typeface="+mj-lt"/>
                <a:ea typeface="나눔고딕" panose="020D0604000000000000" pitchFamily="50" charset="-127"/>
              </a:rPr>
              <a:t>2018</a:t>
            </a:r>
            <a:r>
              <a:rPr lang="ko-KR" altLang="en-US" sz="1200" b="1" dirty="0">
                <a:latin typeface="+mj-lt"/>
                <a:ea typeface="나눔고딕" panose="020D0604000000000000" pitchFamily="50" charset="-127"/>
              </a:rPr>
              <a:t>년 재구매고객 비중</a:t>
            </a:r>
            <a:r>
              <a:rPr lang="en-US" altLang="ko-KR" sz="1200" b="1" dirty="0">
                <a:latin typeface="+mj-lt"/>
                <a:ea typeface="나눔고딕" panose="020D0604000000000000" pitchFamily="50" charset="-127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+mj-lt"/>
                <a:ea typeface="나눔고딕" panose="020D0604000000000000" pitchFamily="50" charset="-127"/>
              </a:rPr>
              <a:t>27.2%</a:t>
            </a:r>
            <a:r>
              <a:rPr lang="ko-KR" altLang="en-US" sz="1200" b="1" dirty="0">
                <a:solidFill>
                  <a:srgbClr val="C00000"/>
                </a:solidFill>
                <a:latin typeface="+mj-lt"/>
                <a:ea typeface="나눔고딕" panose="020D0604000000000000" pitchFamily="50" charset="-127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+mj-lt"/>
                <a:ea typeface="나눔고딕" panose="020D0604000000000000" pitchFamily="50" charset="-127"/>
              </a:rPr>
              <a:t>, </a:t>
            </a:r>
            <a:r>
              <a:rPr lang="en-US" altLang="ko-KR" sz="1200" b="1" dirty="0">
                <a:latin typeface="+mj-lt"/>
                <a:ea typeface="나눔고딕" panose="020D0604000000000000" pitchFamily="50" charset="-127"/>
              </a:rPr>
              <a:t>2019</a:t>
            </a:r>
            <a:r>
              <a:rPr lang="ko-KR" altLang="en-US" sz="1200" b="1" dirty="0">
                <a:latin typeface="+mj-lt"/>
                <a:ea typeface="나눔고딕" panose="020D0604000000000000" pitchFamily="50" charset="-127"/>
              </a:rPr>
              <a:t>년</a:t>
            </a:r>
            <a:r>
              <a:rPr lang="ko-KR" altLang="en-US" sz="1200" b="1" dirty="0">
                <a:solidFill>
                  <a:srgbClr val="C00000"/>
                </a:solidFill>
                <a:latin typeface="+mj-lt"/>
                <a:ea typeface="나눔고딕" panose="020D0604000000000000" pitchFamily="50" charset="-127"/>
              </a:rPr>
              <a:t> </a:t>
            </a:r>
            <a:r>
              <a:rPr lang="ko-KR" altLang="en-US" sz="1200" b="1" dirty="0">
                <a:latin typeface="+mj-lt"/>
                <a:ea typeface="나눔고딕" panose="020D0604000000000000" pitchFamily="50" charset="-127"/>
              </a:rPr>
              <a:t>재구매고객 비중</a:t>
            </a:r>
            <a:r>
              <a:rPr lang="en-US" altLang="ko-KR" sz="1200" b="1" dirty="0">
                <a:latin typeface="+mj-lt"/>
                <a:ea typeface="나눔고딕" panose="020D0604000000000000" pitchFamily="50" charset="-127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+mj-lt"/>
                <a:ea typeface="나눔고딕" panose="020D0604000000000000" pitchFamily="50" charset="-127"/>
              </a:rPr>
              <a:t>28.8%</a:t>
            </a:r>
            <a:r>
              <a:rPr lang="ko-KR" altLang="en-US" sz="1200" b="1" dirty="0">
                <a:solidFill>
                  <a:srgbClr val="C00000"/>
                </a:solidFill>
                <a:latin typeface="+mj-lt"/>
                <a:ea typeface="나눔고딕" panose="020D0604000000000000" pitchFamily="50" charset="-127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ko-KR" altLang="en-US" sz="1200" b="1" dirty="0">
              <a:solidFill>
                <a:srgbClr val="C00000"/>
              </a:solidFill>
              <a:latin typeface="+mj-lt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713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33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3879844" cy="223311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300857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24738" y="1232483"/>
            <a:ext cx="31106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유럽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851711"/>
              </p:ext>
            </p:extLst>
          </p:nvPr>
        </p:nvGraphicFramePr>
        <p:xfrm>
          <a:off x="414274" y="3711592"/>
          <a:ext cx="3973087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9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67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63297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713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88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7135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6,663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7,083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8,057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8,408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2,994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4,001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4,197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4,650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1,878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1,016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1,577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1,753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1,494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1,964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2,088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1,286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1,008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1,319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1,342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1,546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04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321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293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237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348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71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15,282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16,834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18,840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19,231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71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85,615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99,188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100,504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104,752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71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46186"/>
              </p:ext>
            </p:extLst>
          </p:nvPr>
        </p:nvGraphicFramePr>
        <p:xfrm>
          <a:off x="4713924" y="3714788"/>
          <a:ext cx="3991154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6494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46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465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2,391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3,229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3,768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4,236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4,713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6,661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8,585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9,906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1,739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1,335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2,255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2,865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1,338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2,590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2,829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1,967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354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212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508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634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</a:rPr>
                        <a:t>617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849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269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238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130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46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11,731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15,793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19,966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21,697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46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113,673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152,911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162,210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170,696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46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24604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36027"/>
            <a:ext cx="317489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95196" y="5562017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9968" y="3499344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35"/>
          <p:cNvSpPr txBox="1">
            <a:spLocks noChangeArrowheads="1"/>
          </p:cNvSpPr>
          <p:nvPr/>
        </p:nvSpPr>
        <p:spPr bwMode="auto">
          <a:xfrm>
            <a:off x="4752776" y="1230494"/>
            <a:ext cx="32516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동남아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53" name="TextBox 21"/>
          <p:cNvSpPr txBox="1">
            <a:spLocks noChangeArrowheads="1"/>
          </p:cNvSpPr>
          <p:nvPr/>
        </p:nvSpPr>
        <p:spPr bwMode="auto">
          <a:xfrm>
            <a:off x="1123306" y="5800360"/>
            <a:ext cx="69916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최초로 유럽 및 동남아 여행을 다녀온 고객의 경우 같은 지역을 </a:t>
            </a:r>
            <a:r>
              <a:rPr lang="ko-KR" altLang="en-US" sz="1400" b="1" dirty="0" err="1" smtClean="0"/>
              <a:t>재방문하는</a:t>
            </a:r>
            <a:r>
              <a:rPr lang="ko-KR" altLang="en-US" sz="1400" b="1" dirty="0" smtClean="0"/>
              <a:t> 경향</a:t>
            </a:r>
            <a:endParaRPr lang="en-US" altLang="ko-KR" sz="1400" b="1" dirty="0" smtClean="0"/>
          </a:p>
        </p:txBody>
      </p:sp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7" name="차트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2612080"/>
              </p:ext>
            </p:extLst>
          </p:nvPr>
        </p:nvGraphicFramePr>
        <p:xfrm>
          <a:off x="4752776" y="1513207"/>
          <a:ext cx="3879844" cy="1963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049927"/>
              </p:ext>
            </p:extLst>
          </p:nvPr>
        </p:nvGraphicFramePr>
        <p:xfrm>
          <a:off x="424737" y="1513207"/>
          <a:ext cx="3879844" cy="1963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7882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34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3879844" cy="233633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87203"/>
              </p:ext>
            </p:extLst>
          </p:nvPr>
        </p:nvGraphicFramePr>
        <p:xfrm>
          <a:off x="424362" y="3777366"/>
          <a:ext cx="3880218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0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468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6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6991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1,158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1,449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1,419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1,287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1,497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31%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2,129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2,330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37%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2,261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1,077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1,061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17%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1,076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634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955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798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150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303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187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118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4,829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5,944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6,281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5,763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50,415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36,569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42,841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43,442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13%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325507"/>
              </p:ext>
            </p:extLst>
          </p:nvPr>
        </p:nvGraphicFramePr>
        <p:xfrm>
          <a:off x="4740588" y="3774211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62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997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1,657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2,066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2,207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23%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1,593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2,675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3,414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3,810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808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663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914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1,103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1,015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1,505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2,007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1,337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311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357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261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156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183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4,918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7,439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9,479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9,447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44,455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64,170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64,980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45,864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34926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33807"/>
            <a:ext cx="308000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736859" y="1220876"/>
            <a:ext cx="3095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1962" y="5618452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8206" y="3576688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299705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7" y="1226080"/>
            <a:ext cx="3159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중국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4" name="차트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325893"/>
              </p:ext>
            </p:extLst>
          </p:nvPr>
        </p:nvGraphicFramePr>
        <p:xfrm>
          <a:off x="4752776" y="1508886"/>
          <a:ext cx="3879844" cy="2067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차트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3661013"/>
              </p:ext>
            </p:extLst>
          </p:nvPr>
        </p:nvGraphicFramePr>
        <p:xfrm>
          <a:off x="424737" y="1508886"/>
          <a:ext cx="3879844" cy="2067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Box 21"/>
          <p:cNvSpPr txBox="1">
            <a:spLocks noChangeArrowheads="1"/>
          </p:cNvSpPr>
          <p:nvPr/>
        </p:nvSpPr>
        <p:spPr bwMode="auto">
          <a:xfrm>
            <a:off x="564095" y="5753164"/>
            <a:ext cx="8654565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일본 최초 </a:t>
            </a:r>
            <a:r>
              <a:rPr lang="en-US" altLang="ko-KR" sz="1400" b="1" dirty="0"/>
              <a:t>-&gt; 2</a:t>
            </a:r>
            <a:r>
              <a:rPr lang="ko-KR" altLang="en-US" sz="1400" b="1" dirty="0"/>
              <a:t>차 일본 상품을 </a:t>
            </a:r>
            <a:r>
              <a:rPr lang="ko-KR" altLang="en-US" sz="1400" b="1" dirty="0" err="1"/>
              <a:t>재구매하는</a:t>
            </a:r>
            <a:r>
              <a:rPr lang="ko-KR" altLang="en-US" sz="1400" b="1" dirty="0"/>
              <a:t> 비율 </a:t>
            </a:r>
            <a:r>
              <a:rPr lang="en-US" altLang="ko-KR" sz="1400" b="1" dirty="0"/>
              <a:t>2019</a:t>
            </a:r>
            <a:r>
              <a:rPr lang="ko-KR" altLang="en-US" sz="1400" b="1" dirty="0"/>
              <a:t>년 접어들어 </a:t>
            </a:r>
            <a:r>
              <a:rPr lang="en-US" altLang="ko-KR" sz="1400" b="1" dirty="0"/>
              <a:t>6% </a:t>
            </a:r>
            <a:r>
              <a:rPr lang="ko-KR" altLang="en-US" sz="1400" b="1" dirty="0"/>
              <a:t>감소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일본을 주로 여행하는 고객들의 재구매 전환율은 지속적으로 상승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그렇다면 어떤 지역으로 유입</a:t>
            </a:r>
            <a:r>
              <a:rPr lang="en-US" altLang="ko-KR" sz="1400" b="1" dirty="0"/>
              <a:t>?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35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en-US" altLang="ko-KR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3879844" cy="233633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45834"/>
              </p:ext>
            </p:extLst>
          </p:nvPr>
        </p:nvGraphicFramePr>
        <p:xfrm>
          <a:off x="424362" y="3777366"/>
          <a:ext cx="3880218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0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468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5480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6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6991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465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631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182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339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27%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452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29%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523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30%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105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74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133 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165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84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149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218 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759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1,237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1,545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1,732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6,947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8,821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9,482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10,991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14%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902224"/>
              </p:ext>
            </p:extLst>
          </p:nvPr>
        </p:nvGraphicFramePr>
        <p:xfrm>
          <a:off x="4740588" y="3774211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62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520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752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999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169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150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245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313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solidFill>
                            <a:schemeClr val="accent5"/>
                          </a:solidFill>
                          <a:effectLst/>
                        </a:rPr>
                        <a:t>172</a:t>
                      </a:r>
                      <a:endParaRPr lang="en-US" altLang="ko-KR" sz="800" b="0" i="0" u="none" strike="noStrike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231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306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197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1,483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2,032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2,795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3,115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11,012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14,823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15,989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17,602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13%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14%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34926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24282"/>
            <a:ext cx="348561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752776" y="1207502"/>
            <a:ext cx="32324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미주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1962" y="5618452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8206" y="3576688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346687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7" y="1226080"/>
            <a:ext cx="33297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대양주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760775" y="5716324"/>
            <a:ext cx="7939283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년까지 </a:t>
            </a:r>
            <a:r>
              <a:rPr lang="ko-KR" altLang="en-US" sz="1400" b="1" dirty="0" err="1"/>
              <a:t>대양주</a:t>
            </a:r>
            <a:r>
              <a:rPr lang="ko-KR" altLang="en-US" sz="1400" b="1" dirty="0"/>
              <a:t> 및 미주를 방문한 </a:t>
            </a:r>
            <a:r>
              <a:rPr lang="ko-KR" altLang="en-US" sz="1400" b="1" dirty="0" smtClean="0"/>
              <a:t>여행객의 선호하는 </a:t>
            </a:r>
            <a:r>
              <a:rPr lang="en-US" altLang="ko-KR" sz="1400" b="1" dirty="0" smtClean="0"/>
              <a:t>2</a:t>
            </a:r>
            <a:r>
              <a:rPr lang="ko-KR" altLang="en-US" sz="1400" b="1" dirty="0"/>
              <a:t>차 </a:t>
            </a:r>
            <a:r>
              <a:rPr lang="ko-KR" altLang="en-US" sz="1400" b="1" dirty="0" smtClean="0"/>
              <a:t>여행지로</a:t>
            </a:r>
            <a:r>
              <a:rPr lang="en-US" altLang="ko-KR" sz="1400" b="1" dirty="0" smtClean="0"/>
              <a:t/>
            </a:r>
            <a:br>
              <a:rPr lang="en-US" altLang="ko-KR" sz="1400" b="1" dirty="0" smtClean="0"/>
            </a:br>
            <a:r>
              <a:rPr lang="ko-KR" altLang="en-US" sz="1400" b="1" dirty="0" smtClean="0"/>
              <a:t>유럽</a:t>
            </a:r>
            <a:r>
              <a:rPr lang="en-US" altLang="ko-KR" sz="1400" b="1" dirty="0" smtClean="0"/>
              <a:t> </a:t>
            </a:r>
            <a:r>
              <a:rPr lang="en-US" altLang="ko-KR" sz="1400" b="1" dirty="0"/>
              <a:t>&gt; </a:t>
            </a:r>
            <a:r>
              <a:rPr lang="ko-KR" altLang="en-US" sz="1400" b="1" dirty="0"/>
              <a:t>동남아</a:t>
            </a:r>
            <a:r>
              <a:rPr lang="en-US" altLang="ko-KR" sz="1400" b="1" dirty="0"/>
              <a:t>&gt; </a:t>
            </a:r>
            <a:r>
              <a:rPr lang="ko-KR" altLang="en-US" sz="1400" b="1" dirty="0"/>
              <a:t>일본순으로 선호하는 </a:t>
            </a:r>
            <a:r>
              <a:rPr lang="ko-KR" altLang="en-US" sz="1400" b="1" dirty="0" smtClean="0"/>
              <a:t>추세였으나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2019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년부터 </a:t>
            </a:r>
            <a:r>
              <a:rPr lang="ko-KR" altLang="en-US" sz="1400" b="1" dirty="0">
                <a:solidFill>
                  <a:srgbClr val="C00000"/>
                </a:solidFill>
              </a:rPr>
              <a:t>일본을 선택하는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비중이 </a:t>
            </a:r>
            <a:r>
              <a:rPr lang="ko-KR" altLang="en-US" sz="1400" b="1" dirty="0">
                <a:solidFill>
                  <a:srgbClr val="C00000"/>
                </a:solidFill>
              </a:rPr>
              <a:t>감소 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3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726417"/>
              </p:ext>
            </p:extLst>
          </p:nvPr>
        </p:nvGraphicFramePr>
        <p:xfrm>
          <a:off x="4752483" y="1503079"/>
          <a:ext cx="3880137" cy="2073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4" name="차트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8917066"/>
              </p:ext>
            </p:extLst>
          </p:nvPr>
        </p:nvGraphicFramePr>
        <p:xfrm>
          <a:off x="424737" y="1503079"/>
          <a:ext cx="3879844" cy="2073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502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36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3"/>
            <a:ext cx="3879844" cy="22966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30958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43332"/>
            <a:ext cx="337110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736858" y="1230401"/>
            <a:ext cx="33870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기타지역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1962" y="5548116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8206" y="3523936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351082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8" y="1226080"/>
            <a:ext cx="35122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괌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사이판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3780"/>
              </p:ext>
            </p:extLst>
          </p:nvPr>
        </p:nvGraphicFramePr>
        <p:xfrm>
          <a:off x="424737" y="3716678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62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</a:t>
                      </a:r>
                      <a:r>
                        <a:rPr lang="en-US" altLang="ko-KR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사이판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163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214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664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1,157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122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143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200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215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178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454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1,515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1,730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2,370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2,373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17,420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19,751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21,938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20,183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744946"/>
              </p:ext>
            </p:extLst>
          </p:nvPr>
        </p:nvGraphicFramePr>
        <p:xfrm>
          <a:off x="4740588" y="3712667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62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6529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4647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5588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기타지역</a:t>
                      </a:r>
                      <a:endParaRPr lang="en-US" altLang="ko-KR" sz="900" b="1" i="0" u="none" strike="noStrike" dirty="0">
                        <a:solidFill>
                          <a:schemeClr val="dk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125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</a:rPr>
                        <a:t>235</a:t>
                      </a:r>
                      <a:endParaRPr lang="en-US" altLang="ko-KR" sz="8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</a:rPr>
                        <a:t>48%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</a:rPr>
                        <a:t>307</a:t>
                      </a:r>
                      <a:endParaRPr lang="en-US" altLang="ko-KR" sz="8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solidFill>
                            <a:srgbClr val="C00000"/>
                          </a:solidFill>
                          <a:effectLst/>
                        </a:rPr>
                        <a:t>39%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308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58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78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169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44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15%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94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solidFill>
                            <a:schemeClr val="accent5"/>
                          </a:solidFill>
                          <a:effectLst/>
                        </a:rPr>
                        <a:t>49</a:t>
                      </a:r>
                      <a:endParaRPr lang="en-US" altLang="ko-KR" sz="800" b="0" i="0" u="none" strike="noStrike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53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44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93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295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488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780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1,977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3,074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3,517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3,652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923819" y="5694844"/>
            <a:ext cx="281268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기타지역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캐리비안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중동지역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아프리카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서인도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극동지역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35" name="차트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8919779"/>
              </p:ext>
            </p:extLst>
          </p:nvPr>
        </p:nvGraphicFramePr>
        <p:xfrm>
          <a:off x="4736858" y="1562398"/>
          <a:ext cx="3895762" cy="1961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" name="차트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071259"/>
              </p:ext>
            </p:extLst>
          </p:nvPr>
        </p:nvGraphicFramePr>
        <p:xfrm>
          <a:off x="402095" y="1513207"/>
          <a:ext cx="3902486" cy="2010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Box 21"/>
          <p:cNvSpPr txBox="1">
            <a:spLocks noChangeArrowheads="1"/>
          </p:cNvSpPr>
          <p:nvPr/>
        </p:nvSpPr>
        <p:spPr bwMode="auto">
          <a:xfrm>
            <a:off x="802300" y="5741733"/>
            <a:ext cx="9046595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최초로 </a:t>
            </a:r>
            <a:r>
              <a:rPr lang="ko-KR" altLang="en-US" sz="1400" b="1" dirty="0" err="1"/>
              <a:t>괌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사이판을 방문한 여행객들은 </a:t>
            </a:r>
            <a:r>
              <a:rPr lang="ko-KR" altLang="en-US" sz="1400" b="1" dirty="0">
                <a:solidFill>
                  <a:srgbClr val="C00000"/>
                </a:solidFill>
              </a:rPr>
              <a:t>절반 이상이 동남아 지역을 </a:t>
            </a:r>
            <a:r>
              <a:rPr lang="en-US" altLang="ko-KR" sz="1400" b="1" dirty="0">
                <a:solidFill>
                  <a:srgbClr val="C00000"/>
                </a:solidFill>
              </a:rPr>
              <a:t>2</a:t>
            </a:r>
            <a:r>
              <a:rPr lang="ko-KR" altLang="en-US" sz="1400" b="1" dirty="0">
                <a:solidFill>
                  <a:srgbClr val="C00000"/>
                </a:solidFill>
              </a:rPr>
              <a:t>차 여행지로 선호 </a:t>
            </a:r>
            <a:r>
              <a:rPr lang="en-US" altLang="ko-KR" sz="1400" b="1" dirty="0">
                <a:solidFill>
                  <a:srgbClr val="C00000"/>
                </a:solidFill>
              </a:rPr>
              <a:t>-&gt; </a:t>
            </a:r>
            <a:r>
              <a:rPr lang="ko-KR" altLang="en-US" sz="1400" b="1" dirty="0">
                <a:solidFill>
                  <a:srgbClr val="C00000"/>
                </a:solidFill>
              </a:rPr>
              <a:t>원인</a:t>
            </a:r>
            <a:r>
              <a:rPr lang="en-US" altLang="ko-KR" sz="1400" b="1" dirty="0">
                <a:solidFill>
                  <a:srgbClr val="C00000"/>
                </a:solidFill>
              </a:rPr>
              <a:t>?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기타지역의 경우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차 여행지 </a:t>
            </a:r>
            <a:r>
              <a:rPr lang="en-US" altLang="ko-KR" sz="1400" b="1" dirty="0"/>
              <a:t>-&gt; </a:t>
            </a:r>
            <a:r>
              <a:rPr lang="ko-KR" altLang="en-US" sz="1400" b="1" dirty="0"/>
              <a:t>유럽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동남아를 선호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중국 선호도 증가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41845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37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3"/>
            <a:ext cx="8235687" cy="233335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62301" y="5728165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8206" y="3576688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31091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8" y="1226080"/>
            <a:ext cx="31801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국내 여행고객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67130"/>
              </p:ext>
            </p:extLst>
          </p:nvPr>
        </p:nvGraphicFramePr>
        <p:xfrm>
          <a:off x="424736" y="3766188"/>
          <a:ext cx="8218097" cy="1944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5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688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75145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1383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8341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en-US" altLang="ko-KR" sz="900" b="1" i="0" u="none" strike="noStrike" dirty="0">
                        <a:solidFill>
                          <a:schemeClr val="dk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198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2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chemeClr val="accent5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834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834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9,349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11,698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9,837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4,882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834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8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graphicFrame>
        <p:nvGraphicFramePr>
          <p:cNvPr id="20" name="차트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3181158"/>
              </p:ext>
            </p:extLst>
          </p:nvPr>
        </p:nvGraphicFramePr>
        <p:xfrm>
          <a:off x="424735" y="1503079"/>
          <a:ext cx="8217819" cy="2073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993387" y="5761197"/>
            <a:ext cx="7649446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국내지역의 경우 </a:t>
            </a:r>
            <a:r>
              <a:rPr lang="en-US" altLang="ko-KR" sz="1400" b="1" dirty="0"/>
              <a:t>2018</a:t>
            </a:r>
            <a:r>
              <a:rPr lang="ko-KR" altLang="en-US" sz="1400" b="1" dirty="0"/>
              <a:t>년까지는 인기지역으로 주목받는 동남아를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차 여행지로 주로 선택 </a:t>
            </a:r>
            <a:r>
              <a:rPr lang="en-US" altLang="ko-KR" sz="1400" b="1" dirty="0"/>
              <a:t>2019</a:t>
            </a:r>
            <a:r>
              <a:rPr lang="ko-KR" altLang="en-US" sz="1400" b="1" dirty="0"/>
              <a:t>년에 접어들어서는</a:t>
            </a:r>
            <a:r>
              <a:rPr lang="en-US" altLang="ko-KR" sz="1400" b="1" dirty="0"/>
              <a:t>?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06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38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2"/>
            <a:ext cx="8356955" cy="19072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6" y="1243332"/>
            <a:ext cx="44923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5989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실제 판매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0412"/>
            <a:ext cx="55447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지역별 사용 마스터 개수 및 실제 판매된 마스터 개수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2017~2019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424341"/>
              </p:ext>
            </p:extLst>
          </p:nvPr>
        </p:nvGraphicFramePr>
        <p:xfrm>
          <a:off x="387204" y="3247553"/>
          <a:ext cx="8296568" cy="26117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58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551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551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551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5511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5511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25511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775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17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사용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/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17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실제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/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판매된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사용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/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실제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/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판매된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19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사용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/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19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실제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/>
                      </a:r>
                      <a:br>
                        <a:rPr lang="en-US" altLang="ko-KR" sz="1100" b="1" u="none" strike="noStrike" dirty="0">
                          <a:effectLst/>
                        </a:rPr>
                      </a:br>
                      <a:r>
                        <a:rPr lang="ko-KR" altLang="en-US" sz="1100" b="1" u="none" strike="noStrike" dirty="0">
                          <a:effectLst/>
                        </a:rPr>
                        <a:t>판매된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동남아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일본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국내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중국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219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대양주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미주지역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162</a:t>
                      </a:r>
                      <a:endParaRPr lang="en-US" altLang="ko-KR" sz="1000" b="0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 smtClean="0">
                          <a:effectLst/>
                        </a:rPr>
                        <a:t>괌</a:t>
                      </a:r>
                      <a:r>
                        <a:rPr lang="en-US" altLang="ko-KR" sz="1000" u="none" strike="noStrike" dirty="0" smtClean="0">
                          <a:effectLst/>
                        </a:rPr>
                        <a:t>/</a:t>
                      </a:r>
                      <a:r>
                        <a:rPr lang="ko-KR" altLang="en-US" sz="1000" u="none" strike="noStrike" dirty="0" smtClean="0">
                          <a:effectLst/>
                        </a:rPr>
                        <a:t>사이판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151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서인도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기타지역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중동지역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아프리카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극동지역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0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캐리비안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" name="차트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86742"/>
              </p:ext>
            </p:extLst>
          </p:nvPr>
        </p:nvGraphicFramePr>
        <p:xfrm>
          <a:off x="424735" y="1507410"/>
          <a:ext cx="8356956" cy="232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386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39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2500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2019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9321" y="5194225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382982"/>
              </p:ext>
            </p:extLst>
          </p:nvPr>
        </p:nvGraphicFramePr>
        <p:xfrm>
          <a:off x="664232" y="1254124"/>
          <a:ext cx="8043773" cy="3964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5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28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6436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1994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8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지역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EPP4390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바쁜 일상 속 한번의 쉼표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터벅터벅 동유럽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헝가리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오스트리아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카를로비 바리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4,674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국적기직항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터키만족도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위상품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4,415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EPP4733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프레셔스 동유럽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뜻밖의 여정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12~13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프랑스관광 뽀너스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3,312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EPP316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 일급호텔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곤돌라탑승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서유럽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베르사이유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융프라우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폼페이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베스트셀러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EPP510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기본기 탄탄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일정에 맞는 다양한 항공과 출발시간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스페인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포르투갈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2,756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JPP0808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설레는 눈꽃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그리고 북해도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삿포로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오타루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노보리베츠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3,599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JPP088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반짝반짝 빛나는 아름다운 설원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오타루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후라노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비에이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삿포로 북해도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제주항공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2,252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JPP676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북큐슈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후기 좋고 만족도 높은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후쿠오카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유후인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벳푸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쿠로카와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2,104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JPP066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기본에 마음을 더하다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후라노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비에이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삿포로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노보리베츠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2,014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JPP713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오키나와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일이라면 아깝지 않게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오키나와 전일관광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노옵션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 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1,813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CPP195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장가계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노팁노옵션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추가경비無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천문산사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귀곡잔도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천문호선쇼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유리다리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3,029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CPP345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상해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바쁜 일상 속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여유있게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노팁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노쇼핑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동방명주타워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송성가무쇼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2,321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CPP163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장가계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노팁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노옵션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노쇼핑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만족도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100%]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황석채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천문산사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귀곡잔도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천문호선쇼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유리다리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2,297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CPP230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5/6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여전히 따뜻한 그 곳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이강유람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관암동굴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서가재래시장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CPP8622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북경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꾸준한 베스트셀러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노팁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노옵션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금면왕조쇼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인력거투어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발마사지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포함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2,173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동남아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]_$60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바나산국립공원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관광형 패키지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12,636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APP123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3/4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]_■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온천호텔투숙 ■ 대만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예류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지우펀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+ 101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빌딩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발마사지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가이드경비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식사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업그레이드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5,852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APP2091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즐거움에 휴식 한스푼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$60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바나산 국립공원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관광형패키지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4,603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APP118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]_■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노쇼핑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속 자유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自由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■ 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자유시간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 관광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4,337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APP0688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호치민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판티엣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붕따우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무이네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짚차투어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씨푸드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&amp;amp;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랍스타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마사지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머드온천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반나절 자유일정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3,661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24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40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79703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2019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124880"/>
              </p:ext>
            </p:extLst>
          </p:nvPr>
        </p:nvGraphicFramePr>
        <p:xfrm>
          <a:off x="664232" y="1254124"/>
          <a:ext cx="8043773" cy="3964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5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28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6436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1994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8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지역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대양주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UP■ 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인사이드 시드니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시티워킹투어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울릉공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블루마운틴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포트스테판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2,856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PPP803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참좋은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BEST] [8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시간절약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항공이동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마운트쿡 트래킹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호주특급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뉴질랜드 남북섬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2,573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PPP282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■카카오톡 전용상품■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시드니 핵심 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울릉공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포트스테판 샌드보딩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돌핀크루즈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1,010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PPP2466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시드니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골드코스트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/AUD75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헬기투어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드림월드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코알라사진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커피 한잔의 여유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시드니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골드코스트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시드니에서 하루 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포트스테판 일정 추가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미주지역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UPP245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미서부완전일주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3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대캐니언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기차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5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대캐니언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세도나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UPP3281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기본에 충실한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베스트일정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미동부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캐나다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나이아가라폭포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1,347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UPP223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샌프란시스코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라스베이거스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특급호텔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3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대캐년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대도시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미서부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UPP4611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쉼표가 필요하죠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자연이 주는 휴식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시애틀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밴쿠버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로키일주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UPP5349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[HIT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미서부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대캐년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나이아가라 폭포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미동부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캐나다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괌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IPF560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슈페리어룸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괌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 GOLD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오전출발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IPP102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저녁출발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사이판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PIC] GOLD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아일랜드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마나가하섬 투어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1,582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IPF660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슈페리어룸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괌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 GOLD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오후출발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1,542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IPF760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슈페리어플러스룸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괌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 GOLD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NO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1,241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IPT001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SPN TKT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1,067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서인도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MPP907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대한항공직항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박호텔업그레이드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골든트라이앵글 특별한 북인도 일주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MPP946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이동거리단축 국내선포함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갠지스강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북인도 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MPP906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단독 특가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아시아나직항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골든트라이앵글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북인도 핵심일주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MPP900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회탑승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특급열차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북인도 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_KE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MPP947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짧지만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실속있는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핵심만 쏙쏙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북인도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89321" y="5194225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2990977" y="5625533"/>
            <a:ext cx="367724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각 지역 인기상품들의 공통점은 </a:t>
            </a:r>
            <a:r>
              <a:rPr lang="en-US" altLang="ko-KR" sz="1400" b="1" dirty="0"/>
              <a:t>?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0873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41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75009" y="78798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월별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66000" y="1208837"/>
          <a:ext cx="7796513" cy="4312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85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50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7777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088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07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KPP920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티몬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3,643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시들지 않는 북해도의 눈꽃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532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APP4343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증편기념 새로움을 더하다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관광형</a:t>
                      </a:r>
                      <a:r>
                        <a:rPr lang="ko-KR" altLang="en-US" sz="800" u="none" strike="noStrike" dirty="0">
                          <a:effectLst/>
                        </a:rPr>
                        <a:t> 패키지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479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찬바람도 쉬어가는 온천에서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벳부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쿠로가와</a:t>
                      </a:r>
                      <a:r>
                        <a:rPr lang="ko-KR" altLang="en-US" sz="800" u="none" strike="noStrike" dirty="0">
                          <a:effectLst/>
                        </a:rPr>
                        <a:t> 온천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히젠야호텔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) 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472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APP129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낭만야경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지우펀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+ 101</a:t>
                      </a:r>
                      <a:r>
                        <a:rPr lang="ko-KR" altLang="en-US" sz="800" u="none" strike="noStrike" dirty="0">
                          <a:effectLst/>
                        </a:rPr>
                        <a:t>빌딩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대만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야류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화련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스펀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천등띄우기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시외특급호텔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식사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회 업그레이드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446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KPP920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티몬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4,245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APP0644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푸른바다와</a:t>
                      </a:r>
                      <a:r>
                        <a:rPr lang="ko-KR" altLang="en-US" sz="800" u="none" strike="noStrike" dirty="0">
                          <a:effectLst/>
                        </a:rPr>
                        <a:t> 사막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온천을 품다 </a:t>
                      </a:r>
                      <a:r>
                        <a:rPr lang="en-US" altLang="ko-KR" sz="800" u="none" strike="noStrike" dirty="0">
                          <a:effectLst/>
                        </a:rPr>
                        <a:t>】180$ 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혜택 </a:t>
                      </a:r>
                      <a:r>
                        <a:rPr lang="en-US" altLang="ko-KR" sz="800" u="none" strike="noStrike" dirty="0">
                          <a:effectLst/>
                        </a:rPr>
                        <a:t>+ 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빈쩌유</a:t>
                      </a:r>
                      <a:r>
                        <a:rPr lang="ko-KR" altLang="en-US" sz="800" u="none" strike="noStrike" dirty="0">
                          <a:effectLst/>
                        </a:rPr>
                        <a:t> 유황온천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호치민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붕따우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무이네 </a:t>
                      </a:r>
                      <a:r>
                        <a:rPr lang="en-US" altLang="ko-KR" sz="800" u="none" strike="noStrike" dirty="0">
                          <a:effectLst/>
                        </a:rPr>
                        <a:t>-</a:t>
                      </a:r>
                      <a:r>
                        <a:rPr lang="ko-KR" altLang="en-US" sz="800" u="none" strike="noStrike" dirty="0">
                          <a:effectLst/>
                        </a:rPr>
                        <a:t>제주항공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509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EPP200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313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APP5878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바람따라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요트타고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방콕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파타야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 요트투어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코끼리트래킹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전통마사지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콜로세움쇼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306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JPP0808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시들지 않는 북해도의 눈꽃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249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옛 풍경 그대로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녹아든</a:t>
                      </a:r>
                      <a:r>
                        <a:rPr lang="ko-KR" altLang="en-US" sz="800" u="none" strike="noStrike" dirty="0">
                          <a:effectLst/>
                        </a:rPr>
                        <a:t> 새로운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큐슈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야나가와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쇼와노마치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559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●반짝반짝 빛나는● 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지다이무라</a:t>
                      </a:r>
                      <a:r>
                        <a:rPr lang="en-US" altLang="ko-KR" sz="800" u="none" strike="noStrike" dirty="0">
                          <a:effectLst/>
                        </a:rPr>
                        <a:t>+3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대게포함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APP2777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마음은 여유롭게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호텔은 편안하게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특전 제공 </a:t>
                      </a:r>
                      <a:r>
                        <a:rPr lang="en-US" altLang="ko-KR" sz="800" u="none" strike="noStrike" dirty="0">
                          <a:effectLst/>
                        </a:rPr>
                        <a:t>+  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옌뜨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451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APP5400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곳곳에 시선이 머무는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389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APP1833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집중</a:t>
                      </a:r>
                      <a:r>
                        <a:rPr lang="en-US" altLang="ko-KR" sz="800" u="none" strike="noStrike" dirty="0">
                          <a:effectLst/>
                        </a:rPr>
                        <a:t>! </a:t>
                      </a:r>
                      <a:r>
                        <a:rPr lang="ko-KR" altLang="en-US" sz="800" u="none" strike="noStrike" dirty="0">
                          <a:effectLst/>
                        </a:rPr>
                        <a:t>선착순 </a:t>
                      </a:r>
                      <a:r>
                        <a:rPr lang="en-US" altLang="ko-KR" sz="800" u="none" strike="noStrike" dirty="0">
                          <a:effectLst/>
                        </a:rPr>
                        <a:t>8</a:t>
                      </a:r>
                      <a:r>
                        <a:rPr lang="ko-KR" altLang="en-US" sz="800" u="none" strike="noStrike" dirty="0">
                          <a:effectLst/>
                        </a:rPr>
                        <a:t>명 한정</a:t>
                      </a:r>
                      <a:r>
                        <a:rPr lang="en-US" altLang="ko-KR" sz="800" u="none" strike="noStrike" dirty="0">
                          <a:effectLst/>
                        </a:rPr>
                        <a:t>】■$60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바나산포함</a:t>
                      </a:r>
                      <a:r>
                        <a:rPr lang="ko-KR" altLang="en-US" sz="800" u="none" strike="noStrike" dirty="0">
                          <a:effectLst/>
                        </a:rPr>
                        <a:t>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오후출발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332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APP2777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마음은 여유롭게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호텔은 편안하게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특전 제공 </a:t>
                      </a:r>
                      <a:r>
                        <a:rPr lang="en-US" altLang="ko-KR" sz="800" u="none" strike="noStrike" dirty="0">
                          <a:effectLst/>
                        </a:rPr>
                        <a:t>+  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옌뜨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508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JPP6640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홀가분한봄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훌쩍떠나는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ko-KR" altLang="en-US" sz="800" u="none" strike="noStrike" dirty="0">
                          <a:effectLst/>
                        </a:rPr>
                        <a:t>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467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준특급호텔에서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계림은 푸근하다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..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양삭에서도</a:t>
                      </a:r>
                      <a:r>
                        <a:rPr lang="en-US" altLang="ko-KR" sz="800" u="none" strike="noStrike" dirty="0">
                          <a:effectLst/>
                        </a:rPr>
                        <a:t>..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404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옛 풍경 그대로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녹아든</a:t>
                      </a:r>
                      <a:r>
                        <a:rPr lang="ko-KR" altLang="en-US" sz="800" u="none" strike="noStrike" dirty="0">
                          <a:effectLst/>
                        </a:rPr>
                        <a:t> 새로운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큐슈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야나가와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쇼와노마치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JPP713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단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일이라면 아깝지 않게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오키나와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379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북해도愛빠지다</a:t>
                      </a:r>
                      <a:r>
                        <a:rPr lang="ko-KR" altLang="en-US" sz="800" u="none" strike="noStrike" dirty="0">
                          <a:effectLst/>
                        </a:rPr>
                        <a:t>● 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지다이무라</a:t>
                      </a:r>
                      <a:r>
                        <a:rPr lang="en-US" altLang="ko-KR" sz="800" u="none" strike="noStrike" dirty="0">
                          <a:effectLst/>
                        </a:rPr>
                        <a:t>+3</a:t>
                      </a:r>
                      <a:r>
                        <a:rPr lang="ko-KR" altLang="en-US" sz="800" u="none" strike="noStrike" dirty="0">
                          <a:effectLst/>
                        </a:rPr>
                        <a:t>대게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맥주공장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453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445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APP9967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둘러보기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】$60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바나국립공원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 </a:t>
                      </a:r>
                      <a:r>
                        <a:rPr lang="en-US" altLang="ko-KR" sz="800" u="none" strike="noStrike" dirty="0">
                          <a:effectLst/>
                        </a:rPr>
                        <a:t>60</a:t>
                      </a:r>
                      <a:r>
                        <a:rPr lang="ko-KR" altLang="en-US" sz="800" u="none" strike="noStrike" dirty="0">
                          <a:effectLst/>
                        </a:rPr>
                        <a:t>분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투본강투어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386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EPP0141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★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가심비</a:t>
                      </a:r>
                      <a:r>
                        <a:rPr lang="ko-KR" altLang="en-US" sz="800" u="none" strike="noStrike" dirty="0">
                          <a:effectLst/>
                        </a:rPr>
                        <a:t> 높은★</a:t>
                      </a:r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뜨거운 성원에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플롬열차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100</a:t>
                      </a:r>
                      <a:r>
                        <a:rPr lang="ko-KR" altLang="en-US" sz="800" u="none" strike="noStrike" dirty="0">
                          <a:effectLst/>
                        </a:rPr>
                        <a:t>유로 옵션 포함 연장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러시아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북유럽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에스토니아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탈린</a:t>
                      </a:r>
                      <a:r>
                        <a:rPr lang="en-US" altLang="ko-KR" sz="800" u="none" strike="noStrike" dirty="0">
                          <a:effectLst/>
                        </a:rPr>
                        <a:t>) 6</a:t>
                      </a:r>
                      <a:r>
                        <a:rPr lang="ko-KR" altLang="en-US" sz="800" u="none" strike="noStrike" dirty="0">
                          <a:effectLst/>
                        </a:rPr>
                        <a:t>국 </a:t>
                      </a:r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r>
                        <a:rPr lang="ko-KR" altLang="en-US" sz="800" u="none" strike="noStrike" dirty="0">
                          <a:effectLst/>
                        </a:rPr>
                        <a:t>일 대한항공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372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준특급호텔에서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계림은 푸근하다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..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양삭에서도</a:t>
                      </a:r>
                      <a:r>
                        <a:rPr lang="en-US" altLang="ko-KR" sz="800" u="none" strike="noStrike" dirty="0">
                          <a:effectLst/>
                        </a:rPr>
                        <a:t>..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6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특급 온천호텔의 여유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노보리베츠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죠잔케이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게요리포함</a:t>
                      </a:r>
                      <a:r>
                        <a:rPr lang="ko-KR" altLang="en-US" sz="800" u="none" strike="noStrike" dirty="0">
                          <a:effectLst/>
                        </a:rPr>
                        <a:t> 북해도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498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EPP200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484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북해도愛빠지다</a:t>
                      </a:r>
                      <a:r>
                        <a:rPr lang="ko-KR" altLang="en-US" sz="800" u="none" strike="noStrike" dirty="0">
                          <a:effectLst/>
                        </a:rPr>
                        <a:t>● 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지다이무라</a:t>
                      </a:r>
                      <a:r>
                        <a:rPr lang="en-US" altLang="ko-KR" sz="800" u="none" strike="noStrike" dirty="0">
                          <a:effectLst/>
                        </a:rPr>
                        <a:t>+3</a:t>
                      </a:r>
                      <a:r>
                        <a:rPr lang="ko-KR" altLang="en-US" sz="800" u="none" strike="noStrike" dirty="0">
                          <a:effectLst/>
                        </a:rPr>
                        <a:t>대게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맥주공장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441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KPI101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묵호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강릉 출발│ 관광호텔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펜션급</a:t>
                      </a:r>
                      <a:r>
                        <a:rPr lang="en-US" altLang="ko-KR" sz="800" u="none" strike="noStrike">
                          <a:effectLst/>
                        </a:rPr>
                        <a:t>)]_</a:t>
                      </a:r>
                      <a:r>
                        <a:rPr lang="ko-KR" altLang="en-US" sz="800" u="none" strike="noStrike">
                          <a:effectLst/>
                        </a:rPr>
                        <a:t>서울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경기 매일출발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9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3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6793" y="5504776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933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42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75010" y="78798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월별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50497" y="1208842"/>
          <a:ext cx="7677510" cy="4179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59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63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828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2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145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7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샤코탄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1,074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EPP4056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발칸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보</a:t>
                      </a:r>
                      <a:r>
                        <a:rPr lang="en-US" altLang="ko-KR" sz="800" u="none" strike="noStrike">
                          <a:effectLst/>
                        </a:rPr>
                        <a:t>) +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12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</a:t>
                      </a:r>
                      <a:r>
                        <a:rPr lang="ko-KR" altLang="en-US" sz="800" u="none" strike="noStrike">
                          <a:effectLst/>
                        </a:rPr>
                        <a:t>베를린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메주고리예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327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>
                          <a:effectLst/>
                        </a:rPr>
                        <a:t>] A380</a:t>
                      </a:r>
                      <a:r>
                        <a:rPr lang="ko-KR" altLang="en-US" sz="800" u="none" strike="noStrike">
                          <a:effectLst/>
                        </a:rPr>
                        <a:t>탑승</a:t>
                      </a:r>
                      <a:r>
                        <a:rPr lang="en-US" altLang="ko-KR" sz="800" u="none" strike="noStrike">
                          <a:effectLst/>
                        </a:rPr>
                        <a:t>. 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 </a:t>
                      </a:r>
                      <a:r>
                        <a:rPr lang="ko-KR" altLang="en-US" sz="800" u="none" strike="noStrike">
                          <a:effectLst/>
                        </a:rPr>
                        <a:t>아기자기</a:t>
                      </a:r>
                      <a:r>
                        <a:rPr lang="en-US" altLang="ko-KR" sz="800" u="none" strike="noStrike">
                          <a:effectLst/>
                        </a:rPr>
                        <a:t>. </a:t>
                      </a:r>
                      <a:r>
                        <a:rPr lang="ko-KR" altLang="en-US" sz="800" u="none" strike="noStrike">
                          <a:effectLst/>
                        </a:rPr>
                        <a:t>소도시 산책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326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EPP0141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★가심비 높은★</a:t>
                      </a:r>
                      <a:r>
                        <a:rPr lang="en-US" altLang="ko-KR" sz="800" u="none" strike="noStrike">
                          <a:effectLst/>
                        </a:rPr>
                        <a:t>【</a:t>
                      </a:r>
                      <a:r>
                        <a:rPr lang="ko-KR" altLang="en-US" sz="800" u="none" strike="noStrike">
                          <a:effectLst/>
                        </a:rPr>
                        <a:t>뜨거운 성원에 플롬열차 </a:t>
                      </a:r>
                      <a:r>
                        <a:rPr lang="en-US" altLang="ko-KR" sz="800" u="none" strike="noStrike">
                          <a:effectLst/>
                        </a:rPr>
                        <a:t>100</a:t>
                      </a:r>
                      <a:r>
                        <a:rPr lang="ko-KR" altLang="en-US" sz="800" u="none" strike="noStrike">
                          <a:effectLst/>
                        </a:rPr>
                        <a:t>유로 옵션 포함 연장</a:t>
                      </a:r>
                      <a:r>
                        <a:rPr lang="en-US" altLang="ko-KR" sz="800" u="none" strike="noStrike">
                          <a:effectLst/>
                        </a:rPr>
                        <a:t>】</a:t>
                      </a:r>
                      <a:r>
                        <a:rPr lang="ko-KR" altLang="en-US" sz="800" u="none" strike="noStrike">
                          <a:effectLst/>
                        </a:rPr>
                        <a:t>러시아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북유럽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에스토니아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탈린</a:t>
                      </a:r>
                      <a:r>
                        <a:rPr lang="en-US" altLang="ko-KR" sz="800" u="none" strike="noStrike">
                          <a:effectLst/>
                        </a:rPr>
                        <a:t>) 6</a:t>
                      </a:r>
                      <a:r>
                        <a:rPr lang="ko-KR" altLang="en-US" sz="800" u="none" strike="noStrike">
                          <a:effectLst/>
                        </a:rPr>
                        <a:t>국 </a:t>
                      </a:r>
                      <a:r>
                        <a:rPr lang="en-US" altLang="ko-KR" sz="800" u="none" strike="noStrike">
                          <a:effectLst/>
                        </a:rPr>
                        <a:t>12</a:t>
                      </a:r>
                      <a:r>
                        <a:rPr lang="ko-KR" altLang="en-US" sz="800" u="none" strike="noStrike">
                          <a:effectLst/>
                        </a:rPr>
                        <a:t>일 대한항공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324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EPP4035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여행의 유행을 따르라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발칸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슬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동유럽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</a:t>
                      </a:r>
                      <a:r>
                        <a:rPr lang="ko-KR" altLang="en-US" sz="800" u="none" strike="noStrike" dirty="0">
                          <a:effectLst/>
                        </a:rPr>
                        <a:t>직항출발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/2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대야경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323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[11</a:t>
                      </a:r>
                      <a:r>
                        <a:rPr lang="ko-KR" altLang="en-US" sz="800" u="none" strike="noStrike">
                          <a:effectLst/>
                        </a:rPr>
                        <a:t>번가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국내선항공권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962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샤코탄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857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522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[11</a:t>
                      </a:r>
                      <a:r>
                        <a:rPr lang="ko-KR" altLang="en-US" sz="800" u="none" strike="noStrike" dirty="0">
                          <a:effectLst/>
                        </a:rPr>
                        <a:t>번가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357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EPP4035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여행의 유행을 따르라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발칸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슬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동유럽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</a:t>
                      </a:r>
                      <a:r>
                        <a:rPr lang="ko-KR" altLang="en-US" sz="800" u="none" strike="noStrike" dirty="0">
                          <a:effectLst/>
                        </a:rPr>
                        <a:t>직항출발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/2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대야경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318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CPP2610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전 일정 식사업그레이드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발마사지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대련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서파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백두산천지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압록강유람 </a:t>
                      </a:r>
                      <a:r>
                        <a:rPr lang="en-US" altLang="ko-KR" sz="800" u="none" strike="noStrike" dirty="0">
                          <a:effectLst/>
                        </a:rPr>
                        <a:t>_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342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APP9967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둘러보기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】$60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바나국립공원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 </a:t>
                      </a:r>
                      <a:r>
                        <a:rPr lang="en-US" altLang="ko-KR" sz="800" u="none" strike="noStrike" dirty="0">
                          <a:effectLst/>
                        </a:rPr>
                        <a:t>60</a:t>
                      </a:r>
                      <a:r>
                        <a:rPr lang="ko-KR" altLang="en-US" sz="800" u="none" strike="noStrike" dirty="0">
                          <a:effectLst/>
                        </a:rPr>
                        <a:t>분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투본강투어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289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[11</a:t>
                      </a:r>
                      <a:r>
                        <a:rPr lang="ko-KR" altLang="en-US" sz="800" u="none" strike="noStrike" dirty="0">
                          <a:effectLst/>
                        </a:rPr>
                        <a:t>번가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EPP4056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발칸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보</a:t>
                      </a:r>
                      <a:r>
                        <a:rPr lang="en-US" altLang="ko-KR" sz="800" u="none" strike="noStrike">
                          <a:effectLst/>
                        </a:rPr>
                        <a:t>) +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12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</a:t>
                      </a:r>
                      <a:r>
                        <a:rPr lang="ko-KR" altLang="en-US" sz="800" u="none" strike="noStrike">
                          <a:effectLst/>
                        </a:rPr>
                        <a:t>베를린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메주고리예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266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238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392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APP5400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골목마다 배어있는 색색의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369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APP2777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】【</a:t>
                      </a:r>
                      <a:r>
                        <a:rPr lang="ko-KR" altLang="en-US" sz="800" u="none" strike="noStrike" dirty="0">
                          <a:effectLst/>
                        </a:rPr>
                        <a:t>마음은 여유롭게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호텔은 편안하게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+$230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 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311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EPP200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309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EPP4056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발칸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보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동유럽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12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</a:t>
                      </a:r>
                      <a:r>
                        <a:rPr lang="ko-KR" altLang="en-US" sz="800" u="none" strike="noStrike" dirty="0">
                          <a:effectLst/>
                        </a:rPr>
                        <a:t>베를린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메주고리예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APP5400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골목마다 배어있는 색색의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284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PPP282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호주 시드니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블루마운틴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포트스테판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샌드보딩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돌핀크루즈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JPP6644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온천에 퐁당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쉼이 가득한 여행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히메지성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아리마온천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APP6922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보라카이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내가 선택한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리조트는</a:t>
                      </a:r>
                      <a:r>
                        <a:rPr lang="en-US" altLang="ko-KR" sz="800" u="none" strike="noStrike" dirty="0">
                          <a:effectLst/>
                        </a:rPr>
                        <a:t>? </a:t>
                      </a:r>
                      <a:r>
                        <a:rPr lang="ko-KR" altLang="en-US" sz="800" u="none" strike="noStrike" dirty="0">
                          <a:effectLst/>
                        </a:rPr>
                        <a:t>베스트셀러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여유로운 휴양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세일링보트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</a:t>
                      </a:r>
                      <a:r>
                        <a:rPr lang="en-US" altLang="ko-KR" sz="800" u="none" strike="noStrike" dirty="0">
                          <a:effectLst/>
                        </a:rPr>
                        <a:t>)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에어아시아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264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APP0810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여름의 끝에서 만난 여름</a:t>
                      </a:r>
                      <a:r>
                        <a:rPr lang="en-US" altLang="ko-KR" sz="800" u="none" strike="noStrike" dirty="0">
                          <a:effectLst/>
                        </a:rPr>
                        <a:t>】[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스톤마사지</a:t>
                      </a:r>
                      <a:r>
                        <a:rPr lang="en-US" altLang="ko-KR" sz="800" u="none" strike="noStrike" dirty="0">
                          <a:effectLst/>
                        </a:rPr>
                        <a:t>90</a:t>
                      </a:r>
                      <a:r>
                        <a:rPr lang="ko-KR" altLang="en-US" sz="800" u="none" strike="noStrike" dirty="0">
                          <a:effectLst/>
                        </a:rPr>
                        <a:t>분포함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관광패키지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236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APP6221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씨엠립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유적지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일관광</a:t>
                      </a:r>
                      <a:r>
                        <a:rPr lang="ko-KR" altLang="en-US" sz="800" u="none" strike="noStrike" dirty="0">
                          <a:effectLst/>
                        </a:rPr>
                        <a:t> 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앙코르왓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붉은사암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반데스레이</a:t>
                      </a:r>
                      <a:r>
                        <a:rPr lang="ko-KR" altLang="en-US" sz="800" u="none" strike="noStrike" dirty="0">
                          <a:effectLst/>
                        </a:rPr>
                        <a:t>■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툭툭이포함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359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CPP4034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영화의 도시 청도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럭셔리</a:t>
                      </a:r>
                      <a:r>
                        <a:rPr lang="ko-KR" altLang="en-US" sz="800" u="none" strike="noStrike" dirty="0">
                          <a:effectLst/>
                        </a:rPr>
                        <a:t> 월드체인 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무비뮤지엄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무비로드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완다몰</a:t>
                      </a:r>
                      <a:r>
                        <a:rPr lang="ko-KR" altLang="en-US" sz="800" u="none" strike="noStrike" dirty="0">
                          <a:effectLst/>
                        </a:rPr>
                        <a:t> 자유시간 포함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EPP4389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▒</a:t>
                      </a:r>
                      <a:r>
                        <a:rPr lang="en-US" altLang="ko-KR" sz="800" u="none" strike="noStrike">
                          <a:effectLst/>
                        </a:rPr>
                        <a:t>X-MAS</a:t>
                      </a:r>
                      <a:r>
                        <a:rPr lang="ko-KR" altLang="en-US" sz="800" u="none" strike="noStrike">
                          <a:effectLst/>
                        </a:rPr>
                        <a:t>마켓▒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일상을 빛나게 하는 사치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 3</a:t>
                      </a:r>
                      <a:r>
                        <a:rPr lang="ko-KR" altLang="en-US" sz="800" u="none" strike="noStrike">
                          <a:effectLst/>
                        </a:rPr>
                        <a:t>대 야경 포함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소도시 관광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▒</a:t>
                      </a:r>
                      <a:r>
                        <a:rPr lang="en-US" altLang="ko-KR" sz="800" u="none" strike="noStrike">
                          <a:effectLst/>
                        </a:rPr>
                        <a:t>X-MAS</a:t>
                      </a:r>
                      <a:r>
                        <a:rPr lang="ko-KR" altLang="en-US" sz="800" u="none" strike="noStrike">
                          <a:effectLst/>
                        </a:rPr>
                        <a:t>마켓▒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>
                          <a:effectLst/>
                        </a:rPr>
                        <a:t>] A380</a:t>
                      </a:r>
                      <a:r>
                        <a:rPr lang="ko-KR" altLang="en-US" sz="800" u="none" strike="noStrike">
                          <a:effectLst/>
                        </a:rPr>
                        <a:t>탑승</a:t>
                      </a:r>
                      <a:r>
                        <a:rPr lang="en-US" altLang="ko-KR" sz="800" u="none" strike="noStrike">
                          <a:effectLst/>
                        </a:rPr>
                        <a:t>. 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 </a:t>
                      </a:r>
                      <a:r>
                        <a:rPr lang="ko-KR" altLang="en-US" sz="800" u="none" strike="noStrike">
                          <a:effectLst/>
                        </a:rPr>
                        <a:t>아기자기</a:t>
                      </a:r>
                      <a:r>
                        <a:rPr lang="en-US" altLang="ko-KR" sz="800" u="none" strike="noStrike">
                          <a:effectLst/>
                        </a:rPr>
                        <a:t>. </a:t>
                      </a:r>
                      <a:r>
                        <a:rPr lang="ko-KR" altLang="en-US" sz="800" u="none" strike="noStrike">
                          <a:effectLst/>
                        </a:rPr>
                        <a:t>소도시 산책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9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APP8923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오전출발</a:t>
                      </a:r>
                      <a:r>
                        <a:rPr lang="en-US" altLang="ko-KR" sz="800" u="none" strike="noStrike">
                          <a:effectLst/>
                        </a:rPr>
                        <a:t>]【</a:t>
                      </a:r>
                      <a:r>
                        <a:rPr lang="ko-KR" altLang="en-US" sz="800" u="none" strike="noStrike">
                          <a:effectLst/>
                        </a:rPr>
                        <a:t>보라카이</a:t>
                      </a:r>
                      <a:r>
                        <a:rPr lang="en-US" altLang="ko-KR" sz="800" u="none" strike="noStrike">
                          <a:effectLst/>
                        </a:rPr>
                        <a:t>_20</a:t>
                      </a:r>
                      <a:r>
                        <a:rPr lang="ko-KR" altLang="en-US" sz="800" u="none" strike="noStrike">
                          <a:effectLst/>
                        </a:rPr>
                        <a:t>년전 그모습 그대로</a:t>
                      </a:r>
                      <a:r>
                        <a:rPr lang="en-US" altLang="ko-KR" sz="800" u="none" strike="noStrike">
                          <a:effectLst/>
                        </a:rPr>
                        <a:t>】</a:t>
                      </a:r>
                      <a:r>
                        <a:rPr lang="ko-KR" altLang="en-US" sz="800" u="none" strike="noStrike">
                          <a:effectLst/>
                        </a:rPr>
                        <a:t>호핑투어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스톤마사지</a:t>
                      </a:r>
                      <a:r>
                        <a:rPr lang="en-US" altLang="ko-KR" sz="800" u="none" strike="noStrike">
                          <a:effectLst/>
                        </a:rPr>
                        <a:t>UP + </a:t>
                      </a:r>
                      <a:r>
                        <a:rPr lang="ko-KR" altLang="en-US" sz="800" u="none" strike="noStrike">
                          <a:effectLst/>
                        </a:rPr>
                        <a:t>세일링보트 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_</a:t>
                      </a:r>
                      <a:r>
                        <a:rPr lang="ko-KR" altLang="en-US" sz="800" u="none" strike="noStrike">
                          <a:effectLst/>
                        </a:rPr>
                        <a:t>필리핀항공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266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30"/>
                  </a:ext>
                </a:extLst>
              </a:tr>
            </a:tbl>
          </a:graphicData>
        </a:graphic>
      </p:graphicFrame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1164502" y="5321650"/>
            <a:ext cx="746616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 북해도 상품의 경우 </a:t>
            </a:r>
            <a:r>
              <a:rPr lang="ko-KR" altLang="en-US" sz="1400" b="1" dirty="0">
                <a:solidFill>
                  <a:srgbClr val="C00000"/>
                </a:solidFill>
              </a:rPr>
              <a:t>날씨 및 시기와 크게 관계없이 </a:t>
            </a:r>
            <a:r>
              <a:rPr lang="en-US" altLang="ko-KR" sz="1400" b="1" dirty="0">
                <a:solidFill>
                  <a:srgbClr val="C00000"/>
                </a:solidFill>
              </a:rPr>
              <a:t>1</a:t>
            </a:r>
            <a:r>
              <a:rPr lang="ko-KR" altLang="en-US" sz="1400" b="1" dirty="0">
                <a:solidFill>
                  <a:srgbClr val="C00000"/>
                </a:solidFill>
              </a:rPr>
              <a:t>월</a:t>
            </a:r>
            <a:r>
              <a:rPr lang="en-US" altLang="ko-KR" sz="1400" b="1" dirty="0">
                <a:solidFill>
                  <a:srgbClr val="C00000"/>
                </a:solidFill>
              </a:rPr>
              <a:t>~8</a:t>
            </a:r>
            <a:r>
              <a:rPr lang="ko-KR" altLang="en-US" sz="1400" b="1" dirty="0">
                <a:solidFill>
                  <a:srgbClr val="C00000"/>
                </a:solidFill>
              </a:rPr>
              <a:t>월 인기 지역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 유럽의 경우 </a:t>
            </a:r>
            <a:r>
              <a:rPr lang="en-US" altLang="ko-KR" sz="1400" b="1" dirty="0">
                <a:solidFill>
                  <a:srgbClr val="C00000"/>
                </a:solidFill>
              </a:rPr>
              <a:t>5</a:t>
            </a:r>
            <a:r>
              <a:rPr lang="ko-KR" altLang="en-US" sz="1400" b="1" dirty="0">
                <a:solidFill>
                  <a:srgbClr val="C00000"/>
                </a:solidFill>
              </a:rPr>
              <a:t>월 </a:t>
            </a:r>
            <a:r>
              <a:rPr lang="en-US" altLang="ko-KR" sz="1400" b="1" dirty="0">
                <a:solidFill>
                  <a:srgbClr val="C00000"/>
                </a:solidFill>
              </a:rPr>
              <a:t>~ 12</a:t>
            </a:r>
            <a:r>
              <a:rPr lang="ko-KR" altLang="en-US" sz="1400" b="1" dirty="0">
                <a:solidFill>
                  <a:srgbClr val="C00000"/>
                </a:solidFill>
              </a:rPr>
              <a:t>월 인기지역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 동남아의 경우 </a:t>
            </a:r>
            <a:r>
              <a:rPr lang="en-US" altLang="ko-KR" sz="1400" b="1" dirty="0">
                <a:solidFill>
                  <a:srgbClr val="C00000"/>
                </a:solidFill>
              </a:rPr>
              <a:t>1</a:t>
            </a:r>
            <a:r>
              <a:rPr lang="ko-KR" altLang="en-US" sz="1400" b="1" dirty="0">
                <a:solidFill>
                  <a:srgbClr val="C00000"/>
                </a:solidFill>
              </a:rPr>
              <a:t>월 </a:t>
            </a:r>
            <a:r>
              <a:rPr lang="en-US" altLang="ko-KR" sz="1400" b="1" dirty="0">
                <a:solidFill>
                  <a:srgbClr val="C00000"/>
                </a:solidFill>
              </a:rPr>
              <a:t>~ 5</a:t>
            </a:r>
            <a:r>
              <a:rPr lang="ko-KR" altLang="en-US" sz="1400" b="1" dirty="0">
                <a:solidFill>
                  <a:srgbClr val="C00000"/>
                </a:solidFill>
              </a:rPr>
              <a:t>월 인기지역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4929" y="5375379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17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43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78798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2019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월별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61731"/>
              </p:ext>
            </p:extLst>
          </p:nvPr>
        </p:nvGraphicFramePr>
        <p:xfrm>
          <a:off x="666000" y="1208837"/>
          <a:ext cx="7796513" cy="4360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85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50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6392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4937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07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APP6221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씨엠립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캄보디아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유적지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일관광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■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앙코르왓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붉은사암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반데스레이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툭툭이포함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APP5200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같이 가니 더 좋았다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 특급호텔 투숙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전일관광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증편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JPP088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그겨울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반짝반짝 빛나는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 핵심일주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지다이무라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맥주공장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제주항공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46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APP5400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골목마다 배어있는 색색의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 일주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APP6221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씨엠립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캄보디아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유적지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일관광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■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앙코르왓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붉은사암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반데스레이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툭툭이포함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EPP4390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바쁜 일상 속 한번의 쉼표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터벅터벅 동유럽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A380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탑승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아기자기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소도시 산책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JPP676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차가운바람마저녹이는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힐튼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온천호텔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후쿠오카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유후인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벳푸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뱃놀이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JPP6655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당신을 위한 선물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김포출발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오사카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APP5200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같이 가니 더 좋았다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 특급호텔 투숙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전일관광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EPP4390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바쁜 일상 속 한번의 쉼표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터벅터벅 동유럽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A380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탑승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아기자기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소도시 산책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JPP676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봄바람 부는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힐튼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후쿠오카 유후인 벳푸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뱃놀이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EPP316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 일급호텔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곤돌라포함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융프라우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베르사유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폼페이 서유럽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APP5200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같이 가니 더 좋았다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 특급호텔 투숙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전일관광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APP2828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하노이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하롱베이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빈펄리조트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마음은 여유롭게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호텔은 편안하게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하롱베이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리조트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+$180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옵션 포함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●선착순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명한정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EPP4390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바쁜 일상 속 한번의 쉼표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터벅터벅 동유럽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A380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탑승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아기자기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소도시 산책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APP5200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같이 가니 더 좋았다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 특급호텔 투숙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전일관광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APP2448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같이가야하는 이유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베트남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캄보디아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+$190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옵션포함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캄보디아 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JPP066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기본에 마음을 더하다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 핵심일주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게요리뷔페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JPP066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기본에 마음을 더하다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후라노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비에이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북해도 여름일정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우스산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로프웨이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게요리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업그레이드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JPP0808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한폭의 수채화같은 북해도의 풍경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도야호 불꽃놀이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게요리특식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JPP088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자연의 푸르름을 마시다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비에이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후라노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오타루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니세코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대특식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신규일정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9"/>
                  </a:ext>
                </a:extLst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3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82880" y="5561926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582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44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78798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2019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월별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44988"/>
              </p:ext>
            </p:extLst>
          </p:nvPr>
        </p:nvGraphicFramePr>
        <p:xfrm>
          <a:off x="750497" y="1208842"/>
          <a:ext cx="7677510" cy="4179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59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94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8267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1527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145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JPP066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기본에 마음을 더하다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후라노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비에이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북해도 여름일정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우스산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로프웨이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게요리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업그레이드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JPP0808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꽃내음 가득 북해도의 여름날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도야호 불꽃놀이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후라노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비에이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샤코탄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APP2091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즐거움에 휴식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한스푼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$60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국립공원 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관광형패키지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lang="ko-KR" altLang="en-US" sz="8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KPP931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국내선항공권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APP2091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즐거움에 휴식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한스푼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$60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국립공원 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관광형패키지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EPP4733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프레셔스 동유럽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뜻밖의 여정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프랑스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두브로브니크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대야경포함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KPP931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번가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국내선항공권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APP0451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라오스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코끼리트래킹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정글짚라인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전신마사지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블루라군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풍등체험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EPP4884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핵심만 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담은 노하우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A380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오헝체독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대야경포함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APP0453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■얼리버드 특가■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라오스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버기카탑승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전신마사지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블루라군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풍등체험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EPP4733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프레셔스 동유럽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뜻밖의 여정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프랑스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두브로브니크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대야경포함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EPP4056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남다른 유럽여행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베를린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메주고리예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APP0453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■얼리버드 특가■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라오스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버기카탑승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전신마사지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블루라군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풍등체험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EPP200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전일정특급호텔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버스 內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보스포러스크루즈 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APP2448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같이가야하는 이유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베트남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캄보디아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+$190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옵션포함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캄보디아 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APP123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온천호텔투숙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야류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지우펀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+ 101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빌딩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발마사지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가이드경비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식사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업그레이드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APP1124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노쇼핑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가오슝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컨딩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타이난 일주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까르푸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APP9268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호이안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후에 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맛집투어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】$60 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바나산국립공원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골든브릿지포함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_3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</a:t>
                      </a:r>
                      <a:r>
                        <a:rPr lang="en-US" altLang="ko-KR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APP6868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하노이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하롱베이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빈펄리조트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마음은 여유롭게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호텔은 편안하게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하롱베이 빈펄 리조트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+$150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옵션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APP0453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■얼리버드 특가■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라오스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버기카탑승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전신마사지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준특급호텔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블루라군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풍등체험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29"/>
                  </a:ext>
                </a:extLst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APP6868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하노이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하롱베이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빈펄리조트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마음은 여유롭게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호텔은 편안하게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】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하롱베이 빈펄 리조트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+$150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상당 옵션 포함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3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82880" y="5394306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12" name="TextBox 21"/>
          <p:cNvSpPr txBox="1">
            <a:spLocks noChangeArrowheads="1"/>
          </p:cNvSpPr>
          <p:nvPr/>
        </p:nvSpPr>
        <p:spPr bwMode="auto">
          <a:xfrm>
            <a:off x="1415393" y="5573612"/>
            <a:ext cx="7466162" cy="8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/>
              <a:t>2018</a:t>
            </a:r>
            <a:r>
              <a:rPr lang="ko-KR" altLang="en-US" sz="1400" b="1" dirty="0"/>
              <a:t>년 대비 </a:t>
            </a:r>
            <a:r>
              <a:rPr lang="ko-KR" altLang="en-US" sz="1400" b="1" dirty="0">
                <a:solidFill>
                  <a:srgbClr val="C00000"/>
                </a:solidFill>
              </a:rPr>
              <a:t>북해도 및 일본 상품</a:t>
            </a:r>
            <a:r>
              <a:rPr lang="ko-KR" altLang="en-US" sz="1400" b="1" dirty="0"/>
              <a:t>이 인기 상품 비중 감소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그렇다면 </a:t>
            </a:r>
            <a:r>
              <a:rPr lang="en-US" altLang="ko-KR" sz="1400" b="1" dirty="0"/>
              <a:t>2018</a:t>
            </a:r>
            <a:r>
              <a:rPr lang="ko-KR" altLang="en-US" sz="1400" b="1" dirty="0"/>
              <a:t>년과 다르게 </a:t>
            </a:r>
            <a:r>
              <a:rPr lang="en-US" altLang="ko-KR" sz="1400" b="1" dirty="0"/>
              <a:t>2019</a:t>
            </a:r>
            <a:r>
              <a:rPr lang="ko-KR" altLang="en-US" sz="1400" b="1" dirty="0"/>
              <a:t>년에 주목받는 인기 지역 또는 상품은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무엇</a:t>
            </a:r>
            <a:r>
              <a:rPr lang="en-US" altLang="ko-KR" sz="1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8398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45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84063" y="80609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년도별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검색어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추이 비교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 err="1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검색어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및 게시판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56850"/>
              </p:ext>
            </p:extLst>
          </p:nvPr>
        </p:nvGraphicFramePr>
        <p:xfrm>
          <a:off x="1758803" y="1260424"/>
          <a:ext cx="2412574" cy="367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86">
                  <a:extLst>
                    <a:ext uri="{9D8B030D-6E8A-4147-A177-3AD203B41FA5}"/>
                  </a:extLst>
                </a:gridCol>
                <a:gridCol w="1192043">
                  <a:extLst>
                    <a:ext uri="{9D8B030D-6E8A-4147-A177-3AD203B41FA5}"/>
                  </a:extLst>
                </a:gridCol>
                <a:gridCol w="370367"/>
                <a:gridCol w="538478">
                  <a:extLst>
                    <a:ext uri="{9D8B030D-6E8A-4147-A177-3AD203B41FA5}"/>
                  </a:extLst>
                </a:gridCol>
              </a:tblGrid>
              <a:tr h="185921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</a:rPr>
                        <a:t>2018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/>
                </a:extLst>
              </a:tr>
              <a:tr h="21071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</a:rPr>
                        <a:t>검색 순위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</a:rPr>
                        <a:t>검색수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243,228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2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스페인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148,506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3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92,420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4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블라디보스톡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8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88,916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5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84,218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6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83,776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7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스위스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52,662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8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오사카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45,156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9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44,274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10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↑3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42,195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/>
                </a:extLst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11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↑1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41,132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12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북유럽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39,755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13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↑12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37,308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오키나와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↑3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35,426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15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크로아티아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35,196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16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↑2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30,956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731644" y="4946076"/>
            <a:ext cx="332946" cy="34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81043" tIns="40522" rIns="81043" bIns="40522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100" b="1" dirty="0">
                <a:latin typeface="Calibri" panose="020F0502020204030204" pitchFamily="34" charset="0"/>
              </a:rPr>
              <a:t>. </a:t>
            </a:r>
            <a:r>
              <a:rPr lang="en-US" altLang="ko-KR" sz="1100" b="1" dirty="0" smtClean="0">
                <a:latin typeface="Calibri" panose="020F0502020204030204" pitchFamily="34" charset="0"/>
              </a:rPr>
              <a:t> </a:t>
            </a:r>
            <a:r>
              <a:rPr lang="en-US" altLang="ko-KR" sz="1100" b="1" dirty="0">
                <a:latin typeface="Calibri" panose="020F0502020204030204" pitchFamily="34" charset="0"/>
              </a:rPr>
              <a:t>.</a:t>
            </a:r>
            <a:endParaRPr lang="ko-KR" altLang="en-US" sz="1100" b="1" dirty="0">
              <a:latin typeface="Calibri" panose="020F0502020204030204" pitchFamily="34" charset="0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4153267" y="4793668"/>
            <a:ext cx="1278812" cy="72055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138667"/>
              </p:ext>
            </p:extLst>
          </p:nvPr>
        </p:nvGraphicFramePr>
        <p:xfrm>
          <a:off x="1745221" y="5165577"/>
          <a:ext cx="2412574" cy="396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35"/>
                <a:gridCol w="1207394"/>
                <a:gridCol w="370367"/>
                <a:gridCol w="538478"/>
              </a:tblGrid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나트랑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↑67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28,768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장가계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28,492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797795"/>
              </p:ext>
            </p:extLst>
          </p:nvPr>
        </p:nvGraphicFramePr>
        <p:xfrm>
          <a:off x="5432076" y="1281083"/>
          <a:ext cx="2372007" cy="3648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31"/>
                <a:gridCol w="1095394"/>
                <a:gridCol w="383775"/>
                <a:gridCol w="565507"/>
              </a:tblGrid>
              <a:tr h="22901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</a:rPr>
                        <a:t>2019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01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</a:rPr>
                        <a:t>검색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</a:rPr>
                        <a:t> 순위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</a:rPr>
                        <a:t>검색수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스페인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132,558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2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121,081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3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블라디보스톡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103,789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4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동유럽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98,497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5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91,503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/>
                        <a:t>6</a:t>
                      </a:r>
                      <a:endParaRPr lang="ko-KR" altLang="en-US" sz="700" b="1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터키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87,623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7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나트랑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43,051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8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하와이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42,961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9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3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38,524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10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보라카이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38,153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11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스위스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37,014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12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이집트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37,001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13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크로아티아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32,278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14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두바이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1" i="0" u="none" strike="noStrike" dirty="0" smtClean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29,332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15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28,568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16</a:t>
                      </a:r>
                      <a:endParaRPr lang="ko-KR" altLang="en-US" sz="700" b="0" dirty="0"/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장가계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/>
                          <a:ea typeface="맑은 고딕"/>
                        </a:rPr>
                        <a:t>↑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28,178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511705" y="4927970"/>
            <a:ext cx="332946" cy="2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81043" tIns="40522" rIns="81043" bIns="40522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100" b="1" dirty="0">
                <a:latin typeface="Calibri" panose="020F0502020204030204" pitchFamily="34" charset="0"/>
              </a:rPr>
              <a:t>. </a:t>
            </a:r>
            <a:r>
              <a:rPr lang="en-US" altLang="ko-KR" sz="1100" b="1" dirty="0" smtClean="0">
                <a:latin typeface="Calibri" panose="020F0502020204030204" pitchFamily="34" charset="0"/>
              </a:rPr>
              <a:t>.</a:t>
            </a:r>
            <a:endParaRPr lang="ko-KR" altLang="en-US" sz="1100" b="1" dirty="0">
              <a:latin typeface="Calibri" panose="020F0502020204030204" pitchFamily="34" charset="0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290793"/>
              </p:ext>
            </p:extLst>
          </p:nvPr>
        </p:nvGraphicFramePr>
        <p:xfrm>
          <a:off x="5441131" y="5094753"/>
          <a:ext cx="2367309" cy="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38"/>
                <a:gridCol w="1169678"/>
                <a:gridCol w="363418"/>
                <a:gridCol w="528375"/>
              </a:tblGrid>
              <a:tr h="173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일본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11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23,515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55991"/>
              </p:ext>
            </p:extLst>
          </p:nvPr>
        </p:nvGraphicFramePr>
        <p:xfrm>
          <a:off x="5441131" y="5972930"/>
          <a:ext cx="2367309" cy="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38"/>
                <a:gridCol w="1169678"/>
                <a:gridCol w="363418"/>
                <a:gridCol w="528375"/>
              </a:tblGrid>
              <a:tr h="1827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오사카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45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12,315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8" name="직선 화살표 연결선 27"/>
          <p:cNvCxnSpPr>
            <a:endCxn id="27" idx="1"/>
          </p:cNvCxnSpPr>
          <p:nvPr/>
        </p:nvCxnSpPr>
        <p:spPr>
          <a:xfrm>
            <a:off x="4171374" y="3213982"/>
            <a:ext cx="1269757" cy="2858004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23" idx="1"/>
          </p:cNvCxnSpPr>
          <p:nvPr/>
        </p:nvCxnSpPr>
        <p:spPr>
          <a:xfrm>
            <a:off x="4171375" y="3643877"/>
            <a:ext cx="1269756" cy="1549932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21709"/>
              </p:ext>
            </p:extLst>
          </p:nvPr>
        </p:nvGraphicFramePr>
        <p:xfrm>
          <a:off x="5441131" y="5415167"/>
          <a:ext cx="2367309" cy="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38"/>
                <a:gridCol w="1169678"/>
                <a:gridCol w="363418"/>
                <a:gridCol w="528375"/>
              </a:tblGrid>
              <a:tr h="1827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북해도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19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17,885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8" name="직선 화살표 연결선 37"/>
          <p:cNvCxnSpPr>
            <a:endCxn id="34" idx="1"/>
          </p:cNvCxnSpPr>
          <p:nvPr/>
        </p:nvCxnSpPr>
        <p:spPr>
          <a:xfrm>
            <a:off x="4171374" y="4793668"/>
            <a:ext cx="1269757" cy="720555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51462"/>
              </p:ext>
            </p:extLst>
          </p:nvPr>
        </p:nvGraphicFramePr>
        <p:xfrm>
          <a:off x="5441131" y="5681711"/>
          <a:ext cx="2367309" cy="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38"/>
                <a:gridCol w="1169678"/>
                <a:gridCol w="363418"/>
                <a:gridCol w="528375"/>
              </a:tblGrid>
              <a:tr h="1827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오키나와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14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16,438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4" name="직선 화살표 연결선 43"/>
          <p:cNvCxnSpPr>
            <a:endCxn id="42" idx="1"/>
          </p:cNvCxnSpPr>
          <p:nvPr/>
        </p:nvCxnSpPr>
        <p:spPr>
          <a:xfrm>
            <a:off x="4171374" y="4372826"/>
            <a:ext cx="1269757" cy="1407941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21"/>
          <p:cNvSpPr txBox="1">
            <a:spLocks noChangeArrowheads="1"/>
          </p:cNvSpPr>
          <p:nvPr/>
        </p:nvSpPr>
        <p:spPr bwMode="auto">
          <a:xfrm>
            <a:off x="293449" y="6169312"/>
            <a:ext cx="9018831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 대비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일본 지역 하락 </a:t>
            </a:r>
            <a:r>
              <a:rPr lang="en-US" altLang="ko-KR" sz="1400" b="1" dirty="0" smtClean="0"/>
              <a:t>, </a:t>
            </a:r>
            <a:r>
              <a:rPr lang="ko-KR" altLang="en-US" sz="1400" b="1" dirty="0" err="1" smtClean="0"/>
              <a:t>장가계</a:t>
            </a:r>
            <a:r>
              <a:rPr lang="ko-KR" altLang="en-US" sz="1400" b="1" dirty="0" smtClean="0"/>
              <a:t> 상품 및 </a:t>
            </a:r>
            <a:r>
              <a:rPr lang="ko-KR" altLang="en-US" sz="1400" b="1" dirty="0" err="1" smtClean="0"/>
              <a:t>나트랑</a:t>
            </a:r>
            <a:r>
              <a:rPr lang="en-US" altLang="ko-KR" sz="1400" b="1" dirty="0" smtClean="0"/>
              <a:t>, </a:t>
            </a:r>
            <a:r>
              <a:rPr lang="ko-KR" altLang="en-US" sz="1400" b="1" dirty="0" err="1" smtClean="0"/>
              <a:t>보라카이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하와이와 같은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휴양지에 대한 관심 증가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flipV="1">
            <a:off x="4173651" y="2987644"/>
            <a:ext cx="1258428" cy="2305749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054494"/>
              </p:ext>
            </p:extLst>
          </p:nvPr>
        </p:nvGraphicFramePr>
        <p:xfrm>
          <a:off x="1740693" y="5600234"/>
          <a:ext cx="2412574" cy="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35"/>
                <a:gridCol w="1207394"/>
                <a:gridCol w="370367"/>
                <a:gridCol w="538478"/>
              </a:tblGrid>
              <a:tr h="17352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하와이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28,492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5" name="직선 화살표 연결선 54"/>
          <p:cNvCxnSpPr>
            <a:stCxn id="53" idx="3"/>
          </p:cNvCxnSpPr>
          <p:nvPr/>
        </p:nvCxnSpPr>
        <p:spPr>
          <a:xfrm flipV="1">
            <a:off x="4153267" y="3213982"/>
            <a:ext cx="1287864" cy="2485308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865581"/>
              </p:ext>
            </p:extLst>
          </p:nvPr>
        </p:nvGraphicFramePr>
        <p:xfrm>
          <a:off x="1740694" y="5855545"/>
          <a:ext cx="2412574" cy="19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35"/>
                <a:gridCol w="1207394"/>
                <a:gridCol w="370367"/>
                <a:gridCol w="538478"/>
              </a:tblGrid>
              <a:tr h="173526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6" marB="45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보라카이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↓</a:t>
                      </a:r>
                      <a:r>
                        <a:rPr lang="en-US" altLang="ko-KR" sz="800" b="1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ko-KR" altLang="en-US" sz="800" b="1" i="0" u="none" strike="noStrike" dirty="0" smtClean="0">
                        <a:solidFill>
                          <a:schemeClr val="accent5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23,611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9" name="직선 화살표 연결선 58"/>
          <p:cNvCxnSpPr>
            <a:stCxn id="58" idx="3"/>
          </p:cNvCxnSpPr>
          <p:nvPr/>
        </p:nvCxnSpPr>
        <p:spPr>
          <a:xfrm flipV="1">
            <a:off x="4153268" y="3562400"/>
            <a:ext cx="1287863" cy="2392201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90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46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84063" y="80609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년도별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검색어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추이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비교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(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타사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검색어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및 게시판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72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/>
              <a:t>2019-12-19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7660406" y="1618397"/>
            <a:ext cx="1273171" cy="3078116"/>
            <a:chOff x="7492845" y="1167139"/>
            <a:chExt cx="971551" cy="262446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95640" y="1405264"/>
              <a:ext cx="963841" cy="2386338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2845" y="1167139"/>
              <a:ext cx="971551" cy="238125"/>
            </a:xfrm>
            <a:prstGeom prst="rect">
              <a:avLst/>
            </a:prstGeom>
          </p:spPr>
        </p:pic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19" y="1654855"/>
            <a:ext cx="3731358" cy="30249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826" y="1654855"/>
            <a:ext cx="2964121" cy="1145476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 bwMode="auto">
          <a:xfrm>
            <a:off x="659219" y="1368758"/>
            <a:ext cx="3748441" cy="331100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649239" y="1373663"/>
            <a:ext cx="250136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0" name="TextBox 35"/>
          <p:cNvSpPr txBox="1">
            <a:spLocks noChangeArrowheads="1"/>
          </p:cNvSpPr>
          <p:nvPr/>
        </p:nvSpPr>
        <p:spPr bwMode="auto">
          <a:xfrm>
            <a:off x="649237" y="1354111"/>
            <a:ext cx="27135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항공권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검색 데이터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스카이스캐너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735" y="2800354"/>
            <a:ext cx="2964121" cy="1879410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 bwMode="auto">
          <a:xfrm>
            <a:off x="4537744" y="1368758"/>
            <a:ext cx="3002112" cy="331100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537745" y="1366969"/>
            <a:ext cx="207644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535030" y="1366539"/>
            <a:ext cx="2036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설문 데이터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호텔스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컴바인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7666946" y="1365272"/>
            <a:ext cx="1266631" cy="331449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652328" y="1348522"/>
            <a:ext cx="129122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9" name="TextBox 35"/>
          <p:cNvSpPr txBox="1">
            <a:spLocks noChangeArrowheads="1"/>
          </p:cNvSpPr>
          <p:nvPr/>
        </p:nvSpPr>
        <p:spPr bwMode="auto">
          <a:xfrm>
            <a:off x="7626159" y="1341398"/>
            <a:ext cx="13636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chemeClr val="bg1"/>
                </a:solidFill>
                <a:latin typeface="Calibri" panose="020F0502020204030204" pitchFamily="34" charset="0"/>
              </a:rPr>
              <a:t>숙박 검색 데이터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88721" y="1957174"/>
            <a:ext cx="2114582" cy="826476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4592241" y="1847844"/>
            <a:ext cx="605723" cy="903189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5365297" y="3536147"/>
            <a:ext cx="470709" cy="648504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5881419" y="3848986"/>
            <a:ext cx="1449590" cy="787259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7872360" y="2926917"/>
            <a:ext cx="794754" cy="762581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1"/>
          <p:cNvSpPr txBox="1">
            <a:spLocks noChangeArrowheads="1"/>
          </p:cNvSpPr>
          <p:nvPr/>
        </p:nvSpPr>
        <p:spPr bwMode="auto">
          <a:xfrm>
            <a:off x="1268345" y="5331891"/>
            <a:ext cx="7253514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타사의 경우 자사와 공통적으로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휴양지에 대한 검색어가 증가</a:t>
            </a:r>
            <a:r>
              <a:rPr lang="en-US" altLang="ko-KR" sz="1400" b="1" dirty="0">
                <a:solidFill>
                  <a:srgbClr val="C00000"/>
                </a:solidFill>
              </a:rPr>
              <a:t>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및 가족여행 선호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233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931" y="663810"/>
            <a:ext cx="6011114" cy="554432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47</a:t>
            </a:fld>
            <a:r>
              <a:rPr lang="ko-KR" altLang="en-US" dirty="0"/>
              <a:t> </a:t>
            </a:r>
            <a:r>
              <a:rPr lang="en-US" altLang="ko-KR" dirty="0" smtClean="0"/>
              <a:t>/ 46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5" y="775025"/>
            <a:ext cx="58537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2019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키워드 네트워크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 40 (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고객의 소리 불만 게시판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검색어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및 게시판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20" name="타원 19"/>
          <p:cNvSpPr/>
          <p:nvPr/>
        </p:nvSpPr>
        <p:spPr>
          <a:xfrm>
            <a:off x="2221619" y="1152841"/>
            <a:ext cx="2984123" cy="2445237"/>
          </a:xfrm>
          <a:prstGeom prst="ellips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4010156" y="2834733"/>
            <a:ext cx="3165228" cy="2553354"/>
          </a:xfrm>
          <a:prstGeom prst="ellips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5970006" y="4239269"/>
            <a:ext cx="313099" cy="16374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5875452" y="4237440"/>
            <a:ext cx="6885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smtClean="0"/>
              <a:t>선택관광</a:t>
            </a:r>
            <a:endParaRPr lang="ko-KR" altLang="en-US" sz="700" dirty="0"/>
          </a:p>
        </p:txBody>
      </p:sp>
      <p:sp>
        <p:nvSpPr>
          <p:cNvPr id="4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2019-12-19</a:t>
            </a:r>
            <a:endParaRPr lang="ko-KR" altLang="en-US" dirty="0"/>
          </a:p>
        </p:txBody>
      </p: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1617139" y="5895159"/>
            <a:ext cx="9018831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/>
              <a:t>대부분 고객들의 불만사항은 주로 </a:t>
            </a:r>
            <a:r>
              <a:rPr lang="ko-KR" altLang="en-US" sz="1400" b="1" dirty="0">
                <a:solidFill>
                  <a:srgbClr val="C00000"/>
                </a:solidFill>
              </a:rPr>
              <a:t>현지와 전화</a:t>
            </a:r>
            <a:r>
              <a:rPr lang="ko-KR" altLang="en-US" sz="1400" b="1" dirty="0"/>
              <a:t>로 크게 </a:t>
            </a:r>
            <a:r>
              <a:rPr lang="ko-KR" altLang="en-US" sz="1400" b="1" dirty="0" err="1"/>
              <a:t>두가지로</a:t>
            </a:r>
            <a:r>
              <a:rPr lang="ko-KR" altLang="en-US" sz="1400" b="1" dirty="0"/>
              <a:t> 나뉨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86731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48</a:t>
            </a:fld>
            <a:r>
              <a:rPr lang="ko-KR" altLang="en-US" dirty="0"/>
              <a:t> </a:t>
            </a:r>
            <a:r>
              <a:rPr lang="en-US" altLang="ko-KR" dirty="0" smtClean="0"/>
              <a:t>/ 49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3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Ⅶ</a:t>
            </a:r>
            <a:r>
              <a:rPr lang="en-US" altLang="ko-KR" sz="3200" b="1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시사점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31424" y="1042869"/>
            <a:ext cx="1142794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회원가입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513871" y="1321976"/>
            <a:ext cx="8820727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2019</a:t>
            </a:r>
            <a:r>
              <a:rPr lang="ko-KR" altLang="en-US" sz="1100" dirty="0" smtClean="0"/>
              <a:t>년 회원가입자수 </a:t>
            </a:r>
            <a:r>
              <a:rPr lang="en-US" altLang="ko-KR" sz="1100" dirty="0" smtClean="0"/>
              <a:t>2018</a:t>
            </a:r>
            <a:r>
              <a:rPr lang="ko-KR" altLang="en-US" sz="1100" dirty="0" smtClean="0"/>
              <a:t>년 대비 약 </a:t>
            </a:r>
            <a:r>
              <a:rPr lang="en-US" altLang="ko-KR" sz="1100" dirty="0" smtClean="0"/>
              <a:t>1.5</a:t>
            </a:r>
            <a:r>
              <a:rPr lang="ko-KR" altLang="en-US" sz="1100" dirty="0" smtClean="0"/>
              <a:t>배 감소 </a:t>
            </a:r>
            <a:r>
              <a:rPr lang="en-US" altLang="ko-KR" sz="1100" dirty="0" smtClean="0"/>
              <a:t>(SNS </a:t>
            </a:r>
            <a:r>
              <a:rPr lang="ko-KR" altLang="en-US" sz="1100" dirty="0" smtClean="0"/>
              <a:t>간편가입 비중 감소</a:t>
            </a:r>
            <a:r>
              <a:rPr lang="en-US" altLang="ko-KR" sz="1100" dirty="0" smtClean="0"/>
              <a:t>)</a:t>
            </a: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b="1" dirty="0"/>
              <a:t> </a:t>
            </a:r>
            <a:r>
              <a:rPr lang="en-US" altLang="ko-KR" sz="1100" b="1" dirty="0" smtClean="0"/>
              <a:t>    </a:t>
            </a:r>
            <a:r>
              <a:rPr lang="en-US" altLang="ko-KR" sz="1100" dirty="0" smtClean="0"/>
              <a:t>&gt;</a:t>
            </a:r>
            <a:r>
              <a:rPr lang="en-US" altLang="ko-KR" sz="1100" b="1" dirty="0" smtClean="0"/>
              <a:t> </a:t>
            </a:r>
            <a:r>
              <a:rPr lang="ko-KR" altLang="en-US" sz="1100" dirty="0" smtClean="0"/>
              <a:t>간편가입 도입 초반에 기존 아이디 존재 여부 상관없이</a:t>
            </a:r>
            <a:r>
              <a:rPr lang="ko-KR" altLang="en-US" sz="1100" b="1" dirty="0" smtClean="0"/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중복가입을 허용한 것이 원인</a:t>
            </a:r>
            <a:endParaRPr lang="en-US" altLang="ko-KR" sz="11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회원가입 및 출발자수 모두 </a:t>
            </a:r>
            <a:r>
              <a:rPr lang="en-US" altLang="ko-KR" sz="1100" dirty="0" smtClean="0"/>
              <a:t>20, 30</a:t>
            </a:r>
            <a:r>
              <a:rPr lang="ko-KR" altLang="en-US" sz="1100" dirty="0" smtClean="0"/>
              <a:t>대 감소 추세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주 소비층인</a:t>
            </a:r>
            <a:r>
              <a:rPr lang="en-US" altLang="ko-KR" sz="1100" dirty="0" smtClean="0"/>
              <a:t> </a:t>
            </a:r>
            <a:r>
              <a:rPr lang="ko-KR" altLang="en-US" sz="1100" dirty="0" err="1" smtClean="0"/>
              <a:t>중장년층</a:t>
            </a:r>
            <a:r>
              <a:rPr lang="ko-KR" altLang="en-US" sz="1100" dirty="0" smtClean="0"/>
              <a:t> 비중 증가 추세 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회원가입 비례 출발자수 증감</a:t>
            </a:r>
            <a:r>
              <a:rPr lang="en-US" altLang="ko-KR" sz="1050" dirty="0" smtClean="0"/>
              <a:t>)</a:t>
            </a: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b="1" dirty="0"/>
              <a:t> </a:t>
            </a:r>
            <a:r>
              <a:rPr lang="en-US" altLang="ko-KR" sz="1100" b="1" dirty="0" smtClean="0"/>
              <a:t>    </a:t>
            </a:r>
            <a:r>
              <a:rPr lang="en-US" altLang="ko-KR" sz="1100" dirty="0" smtClean="0"/>
              <a:t>&gt;</a:t>
            </a:r>
            <a:r>
              <a:rPr lang="en-US" altLang="ko-KR" sz="1100" b="1" dirty="0" smtClean="0"/>
              <a:t> </a:t>
            </a:r>
            <a:r>
              <a:rPr lang="ko-KR" altLang="en-US" sz="1100" b="1" dirty="0">
                <a:solidFill>
                  <a:srgbClr val="C00000"/>
                </a:solidFill>
              </a:rPr>
              <a:t>연령층의 양극화</a:t>
            </a:r>
            <a:r>
              <a:rPr lang="ko-KR" altLang="en-US" sz="1100" dirty="0"/>
              <a:t>가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ko-KR" altLang="en-US" sz="1100" dirty="0"/>
              <a:t>심화되는 </a:t>
            </a:r>
            <a:r>
              <a:rPr lang="ko-KR" altLang="en-US" sz="1100" dirty="0" smtClean="0"/>
              <a:t>추세</a:t>
            </a:r>
            <a:endParaRPr lang="en-US" altLang="ko-KR" sz="11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2018</a:t>
            </a:r>
            <a:r>
              <a:rPr lang="ko-KR" altLang="en-US" sz="1100" dirty="0" smtClean="0"/>
              <a:t>년의 경우 </a:t>
            </a:r>
            <a:r>
              <a:rPr lang="en-US" altLang="ko-KR" sz="1100" dirty="0" smtClean="0"/>
              <a:t>40</a:t>
            </a:r>
            <a:r>
              <a:rPr lang="ko-KR" altLang="en-US" sz="1100" dirty="0" smtClean="0"/>
              <a:t>대 여성의 </a:t>
            </a:r>
            <a:r>
              <a:rPr lang="ko-KR" altLang="en-US" sz="1100" dirty="0" err="1" smtClean="0"/>
              <a:t>회원가입율이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1</a:t>
            </a:r>
            <a:r>
              <a:rPr lang="ko-KR" altLang="en-US" sz="1100" dirty="0" smtClean="0"/>
              <a:t>위 </a:t>
            </a:r>
            <a:r>
              <a:rPr lang="en-US" altLang="ko-KR" sz="1100" dirty="0" smtClean="0"/>
              <a:t>-&gt; 2019</a:t>
            </a:r>
            <a:r>
              <a:rPr lang="ko-KR" altLang="en-US" sz="1100" dirty="0" smtClean="0"/>
              <a:t>년 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50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대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(1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위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), 60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대의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가입율이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 지속적으로 상승</a:t>
            </a:r>
            <a:r>
              <a:rPr lang="ko-KR" altLang="en-US" sz="1100" dirty="0" smtClean="0"/>
              <a:t>하는 추세</a:t>
            </a:r>
            <a:endParaRPr lang="en-US" altLang="ko-KR" sz="110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b="1" dirty="0"/>
              <a:t> </a:t>
            </a:r>
            <a:r>
              <a:rPr lang="en-US" altLang="ko-KR" sz="1100" b="1" dirty="0" smtClean="0"/>
              <a:t>    </a:t>
            </a:r>
            <a:r>
              <a:rPr lang="en-US" altLang="ko-KR" sz="1100" dirty="0" smtClean="0"/>
              <a:t>&gt;</a:t>
            </a:r>
            <a:r>
              <a:rPr lang="en-US" altLang="ko-KR" sz="1100" b="1" dirty="0" smtClean="0"/>
              <a:t> </a:t>
            </a:r>
            <a:r>
              <a:rPr lang="ko-KR" altLang="en-US" sz="1100" dirty="0" err="1" smtClean="0"/>
              <a:t>중장년층을</a:t>
            </a:r>
            <a:r>
              <a:rPr lang="ko-KR" altLang="en-US" sz="1100" dirty="0" smtClean="0"/>
              <a:t> 대상으로 성공적인 마케팅을 진행하고 있지만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연령층의 상승 이동에 대처할 수 있는 마케팅 강구 필요성</a:t>
            </a:r>
            <a:endParaRPr lang="en-US" altLang="ko-KR" sz="11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회원가입자 대부분이 서울 및 </a:t>
            </a:r>
            <a:r>
              <a:rPr lang="ko-KR" altLang="en-US" sz="1100" dirty="0" err="1" smtClean="0"/>
              <a:t>경기권</a:t>
            </a:r>
            <a:r>
              <a:rPr lang="ko-KR" altLang="en-US" sz="1100" dirty="0" smtClean="0"/>
              <a:t> 거주 </a:t>
            </a:r>
            <a:r>
              <a:rPr lang="en-US" altLang="ko-KR" sz="1050" dirty="0" smtClean="0"/>
              <a:t>(</a:t>
            </a:r>
            <a:r>
              <a:rPr lang="ko-KR" altLang="en-US" sz="1050" dirty="0" err="1" smtClean="0"/>
              <a:t>경기권의</a:t>
            </a:r>
            <a:r>
              <a:rPr lang="ko-KR" altLang="en-US" sz="1050" dirty="0" smtClean="0"/>
              <a:t> 지속적인 증가 추세</a:t>
            </a:r>
            <a:r>
              <a:rPr lang="en-US" altLang="ko-KR" sz="1050" dirty="0" smtClean="0"/>
              <a:t>)</a:t>
            </a:r>
            <a:r>
              <a:rPr lang="ko-KR" altLang="en-US" sz="1050" dirty="0" smtClean="0"/>
              <a:t> </a:t>
            </a:r>
            <a:endParaRPr lang="en-US" altLang="ko-KR" sz="105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b="1" dirty="0" smtClean="0"/>
              <a:t>     </a:t>
            </a:r>
            <a:r>
              <a:rPr lang="en-US" altLang="ko-KR" sz="1100" dirty="0" smtClean="0"/>
              <a:t>&gt;</a:t>
            </a:r>
            <a:r>
              <a:rPr lang="en-US" altLang="ko-KR" sz="1100" b="1" dirty="0" smtClean="0"/>
              <a:t> </a:t>
            </a:r>
            <a:r>
              <a:rPr lang="ko-KR" altLang="en-US" sz="1100" dirty="0" err="1" smtClean="0"/>
              <a:t>강남권</a:t>
            </a:r>
            <a:r>
              <a:rPr lang="ko-KR" altLang="en-US" sz="1100" dirty="0" smtClean="0"/>
              <a:t> 및 용인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성남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고양 지역에 고객이 밀집</a:t>
            </a:r>
            <a:r>
              <a:rPr lang="en-US" altLang="ko-KR" sz="1100" dirty="0" smtClean="0"/>
              <a:t>,</a:t>
            </a:r>
            <a:r>
              <a:rPr lang="ko-KR" altLang="en-US" sz="1100" dirty="0" smtClean="0"/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오프라인 마케팅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진행 시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해당지역을 중심으로 실시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ko-KR" altLang="en-US" sz="1200" b="1" dirty="0" smtClean="0"/>
              <a:t> 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31424" y="4156309"/>
            <a:ext cx="1142794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여행지역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TextBox 21"/>
          <p:cNvSpPr txBox="1">
            <a:spLocks noChangeArrowheads="1"/>
          </p:cNvSpPr>
          <p:nvPr/>
        </p:nvSpPr>
        <p:spPr bwMode="auto">
          <a:xfrm>
            <a:off x="513974" y="4453512"/>
            <a:ext cx="8820727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전 연령대에서 공통적으로 </a:t>
            </a:r>
            <a:r>
              <a:rPr lang="ko-KR" altLang="en-US" sz="1100" dirty="0" err="1" smtClean="0"/>
              <a:t>작년대비</a:t>
            </a:r>
            <a:r>
              <a:rPr lang="ko-KR" altLang="en-US" sz="1100" dirty="0" smtClean="0"/>
              <a:t> </a:t>
            </a:r>
            <a:r>
              <a:rPr lang="ko-KR" altLang="en-US" sz="1100" b="1" dirty="0" smtClean="0"/>
              <a:t>일본지역 여행비중 감소 추세</a:t>
            </a:r>
            <a:r>
              <a:rPr lang="en-US" altLang="ko-KR" sz="1100" b="1" dirty="0"/>
              <a:t> </a:t>
            </a:r>
            <a:r>
              <a:rPr lang="en-US" altLang="ko-KR" sz="1050" dirty="0" smtClean="0"/>
              <a:t>(40</a:t>
            </a:r>
            <a:r>
              <a:rPr lang="ko-KR" altLang="en-US" sz="1050" dirty="0" smtClean="0"/>
              <a:t>대 및 </a:t>
            </a:r>
            <a:r>
              <a:rPr lang="en-US" altLang="ko-KR" sz="1050" dirty="0" smtClean="0"/>
              <a:t>70</a:t>
            </a:r>
            <a:r>
              <a:rPr lang="ko-KR" altLang="en-US" sz="1050" dirty="0" smtClean="0"/>
              <a:t>대 고객 가장 큰 폭으로 감소</a:t>
            </a:r>
            <a:r>
              <a:rPr lang="en-US" altLang="ko-KR" sz="1050" dirty="0" smtClean="0"/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유럽 지역의 경우 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40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대를 제외</a:t>
            </a:r>
            <a:r>
              <a:rPr lang="ko-KR" altLang="en-US" sz="1100" dirty="0" smtClean="0"/>
              <a:t>하고 전체 연령대에서 증가 추세</a:t>
            </a:r>
            <a:endParaRPr lang="en-US" altLang="ko-KR" sz="11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동남아의 경우 지속적으로 </a:t>
            </a:r>
            <a:r>
              <a:rPr lang="ko-KR" altLang="en-US" sz="1100" b="1" dirty="0" smtClean="0"/>
              <a:t>전 연령대에서 여행비중이 증가 </a:t>
            </a:r>
            <a:r>
              <a:rPr lang="ko-KR" altLang="en-US" sz="1100" b="1" dirty="0" smtClean="0"/>
              <a:t>추세</a:t>
            </a:r>
            <a:endParaRPr lang="en-US" altLang="ko-KR" sz="11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10</a:t>
            </a:r>
            <a:r>
              <a:rPr lang="ko-KR" altLang="en-US" sz="1100" dirty="0" smtClean="0"/>
              <a:t>대 이하 고객의 </a:t>
            </a:r>
            <a:r>
              <a:rPr lang="ko-KR" altLang="en-US" sz="1100" b="1" dirty="0" err="1" smtClean="0"/>
              <a:t>괌</a:t>
            </a:r>
            <a:r>
              <a:rPr lang="ko-KR" altLang="en-US" sz="1100" b="1" dirty="0" err="1" smtClean="0"/>
              <a:t>사</a:t>
            </a:r>
            <a:r>
              <a:rPr lang="en-US" altLang="ko-KR" sz="1100" b="1" dirty="0" smtClean="0"/>
              <a:t>/</a:t>
            </a:r>
            <a:r>
              <a:rPr lang="ko-KR" altLang="en-US" sz="1100" b="1" dirty="0" err="1" smtClean="0"/>
              <a:t>대양주</a:t>
            </a:r>
            <a:r>
              <a:rPr lang="en-US" altLang="ko-KR" sz="1100" b="1" dirty="0" smtClean="0"/>
              <a:t>, </a:t>
            </a:r>
            <a:r>
              <a:rPr lang="ko-KR" altLang="en-US" sz="1100" b="1" dirty="0" smtClean="0"/>
              <a:t>동남아 여행비중</a:t>
            </a:r>
            <a:r>
              <a:rPr lang="ko-KR" altLang="en-US" sz="1100" dirty="0" smtClean="0"/>
              <a:t>이 증가의 의미 </a:t>
            </a:r>
            <a:r>
              <a:rPr lang="en-US" altLang="ko-KR" sz="1100" dirty="0" smtClean="0"/>
              <a:t>-</a:t>
            </a:r>
            <a:r>
              <a:rPr lang="ko-KR" altLang="en-US" sz="1100" dirty="0" smtClean="0"/>
              <a:t>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가족여행</a:t>
            </a:r>
            <a:endParaRPr lang="en-US" altLang="ko-KR" sz="105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50</a:t>
            </a:r>
            <a:r>
              <a:rPr lang="ko-KR" altLang="en-US" sz="1100" dirty="0" smtClean="0"/>
              <a:t>대 이상 </a:t>
            </a:r>
            <a:r>
              <a:rPr lang="ko-KR" altLang="en-US" sz="1100" dirty="0" err="1" smtClean="0"/>
              <a:t>중장년층</a:t>
            </a:r>
            <a:r>
              <a:rPr lang="ko-KR" altLang="en-US" sz="1100" dirty="0" smtClean="0"/>
              <a:t> </a:t>
            </a:r>
            <a:r>
              <a:rPr lang="ko-KR" altLang="en-US" sz="1100" b="1" dirty="0" smtClean="0"/>
              <a:t>중국지역 여행 비중 </a:t>
            </a:r>
            <a:r>
              <a:rPr lang="ko-KR" altLang="en-US" sz="1100" b="1" dirty="0" smtClean="0"/>
              <a:t>증가 </a:t>
            </a:r>
            <a:r>
              <a:rPr lang="en-US" altLang="ko-KR" sz="1100" b="1" dirty="0" smtClean="0"/>
              <a:t>-</a:t>
            </a:r>
            <a:r>
              <a:rPr lang="ko-KR" altLang="en-US" sz="1100" b="1" dirty="0" smtClean="0"/>
              <a:t>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중장년층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100" b="1" dirty="0">
                <a:solidFill>
                  <a:srgbClr val="C00000"/>
                </a:solidFill>
              </a:rPr>
              <a:t>부부동반 및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단체여행</a:t>
            </a:r>
            <a:endParaRPr lang="en-US" altLang="ko-KR" sz="1100" b="1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b="1" dirty="0"/>
              <a:t> </a:t>
            </a:r>
            <a:r>
              <a:rPr lang="en-US" altLang="ko-KR" sz="1100" b="1" dirty="0" smtClean="0"/>
              <a:t>  </a:t>
            </a:r>
            <a:r>
              <a:rPr lang="en-US" altLang="ko-KR" sz="1100" dirty="0" smtClean="0"/>
              <a:t>&gt;</a:t>
            </a:r>
            <a:r>
              <a:rPr lang="en-US" altLang="ko-KR" sz="1100" b="1" dirty="0" smtClean="0"/>
              <a:t> </a:t>
            </a:r>
            <a:r>
              <a:rPr lang="ko-KR" altLang="en-US" sz="1100" dirty="0" smtClean="0"/>
              <a:t>일본 불매운동으로 인한 여파를 극복하기 위해 고객에게 </a:t>
            </a:r>
            <a:r>
              <a:rPr lang="ko-KR" altLang="en-US" sz="1100" dirty="0" smtClean="0"/>
              <a:t>여행자 유형 </a:t>
            </a:r>
            <a:r>
              <a:rPr lang="ko-KR" altLang="en-US" sz="1100" dirty="0" err="1" smtClean="0"/>
              <a:t>타입별로</a:t>
            </a:r>
            <a:r>
              <a:rPr lang="ko-KR" altLang="en-US" sz="1100" dirty="0" smtClean="0"/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대체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가능한 지역을 분석 및 추천의 필요성</a:t>
            </a:r>
            <a:endParaRPr lang="en-US" altLang="ko-KR" sz="1100" dirty="0">
              <a:solidFill>
                <a:srgbClr val="C00000"/>
              </a:solidFill>
            </a:endParaRPr>
          </a:p>
        </p:txBody>
      </p:sp>
      <p:sp>
        <p:nvSpPr>
          <p:cNvPr id="1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2020-01-06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3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49</a:t>
            </a:fld>
            <a:r>
              <a:rPr lang="ko-KR" altLang="en-US" dirty="0"/>
              <a:t> </a:t>
            </a:r>
            <a:r>
              <a:rPr lang="en-US" altLang="ko-KR" dirty="0" smtClean="0"/>
              <a:t>/ 49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3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Ⅶ</a:t>
            </a:r>
            <a:r>
              <a:rPr lang="en-US" altLang="ko-KR" sz="3200" b="1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시사점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57302" y="1044434"/>
            <a:ext cx="2231577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총판매금액 및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취소율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576263" y="1453987"/>
            <a:ext cx="882072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유럽 및 동남아의 경우 최고가 상품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중국 및 일본의 경우 최저가 상품의 </a:t>
            </a:r>
            <a:r>
              <a:rPr lang="ko-KR" altLang="en-US" sz="1100" dirty="0" err="1" smtClean="0"/>
              <a:t>취소율</a:t>
            </a:r>
            <a:r>
              <a:rPr lang="ko-KR" altLang="en-US" sz="1100" dirty="0" smtClean="0"/>
              <a:t> 집중 관리 필요성</a:t>
            </a:r>
            <a:endParaRPr lang="en-US" altLang="ko-KR" sz="11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동남아를 제외하고 일본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유럽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중국 평균 </a:t>
            </a:r>
            <a:r>
              <a:rPr lang="ko-KR" altLang="en-US" sz="1100" dirty="0" err="1" smtClean="0"/>
              <a:t>취소율</a:t>
            </a:r>
            <a:r>
              <a:rPr lang="ko-KR" altLang="en-US" sz="1100" dirty="0" smtClean="0"/>
              <a:t> 증가</a:t>
            </a:r>
            <a:r>
              <a:rPr lang="en-US" altLang="ko-KR" sz="1100" dirty="0" smtClean="0"/>
              <a:t>,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일본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취소율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38%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로 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1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위</a:t>
            </a:r>
            <a:endParaRPr lang="en-US" altLang="ko-KR" sz="11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일본지역 </a:t>
            </a:r>
            <a:r>
              <a:rPr lang="en-US" altLang="ko-KR" sz="1100" dirty="0" smtClean="0"/>
              <a:t>-</a:t>
            </a:r>
            <a:r>
              <a:rPr lang="ko-KR" altLang="en-US" sz="1100" dirty="0" smtClean="0"/>
              <a:t> 총판매금액 </a:t>
            </a:r>
            <a:r>
              <a:rPr lang="ko-KR" altLang="en-US" sz="1100" dirty="0" err="1" smtClean="0"/>
              <a:t>작년대비</a:t>
            </a:r>
            <a:r>
              <a:rPr lang="ko-KR" altLang="en-US" sz="1100" dirty="0" smtClean="0"/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약 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1.5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배 감소</a:t>
            </a:r>
            <a:r>
              <a:rPr lang="en-US" altLang="ko-KR" sz="1100" dirty="0" smtClean="0"/>
              <a:t>, </a:t>
            </a:r>
            <a:br>
              <a:rPr lang="en-US" altLang="ko-KR" sz="1100" dirty="0" smtClean="0"/>
            </a:br>
            <a:r>
              <a:rPr lang="ko-KR" altLang="en-US" sz="1100" dirty="0" err="1" smtClean="0"/>
              <a:t>작년대비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타지역과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비교했을때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10</a:t>
            </a:r>
            <a:r>
              <a:rPr lang="ko-KR" altLang="en-US" sz="1100" dirty="0" smtClean="0"/>
              <a:t>대</a:t>
            </a:r>
            <a:r>
              <a:rPr lang="en-US" altLang="ko-KR" sz="1100" dirty="0" smtClean="0"/>
              <a:t>, 40</a:t>
            </a:r>
            <a:r>
              <a:rPr lang="ko-KR" altLang="en-US" sz="1100" dirty="0" smtClean="0"/>
              <a:t>대 비중이 지속적으로 높은 비중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가족여행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)</a:t>
            </a:r>
            <a:endParaRPr lang="en-US" altLang="ko-KR" sz="1050" b="1" dirty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중국지역 </a:t>
            </a:r>
            <a:r>
              <a:rPr lang="en-US" altLang="ko-KR" sz="1100" dirty="0" smtClean="0"/>
              <a:t>– </a:t>
            </a:r>
            <a:r>
              <a:rPr lang="ko-KR" altLang="en-US" sz="1100" dirty="0" err="1" smtClean="0"/>
              <a:t>중장년층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타지역</a:t>
            </a:r>
            <a:r>
              <a:rPr lang="ko-KR" altLang="en-US" sz="1100" dirty="0" smtClean="0"/>
              <a:t> 대비 높은 총판매금액 비중</a:t>
            </a:r>
            <a:endParaRPr lang="en-US" altLang="ko-KR" sz="11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동남아지역 </a:t>
            </a:r>
            <a:r>
              <a:rPr lang="en-US" altLang="ko-KR" sz="1100" dirty="0" smtClean="0"/>
              <a:t>– </a:t>
            </a:r>
            <a:r>
              <a:rPr lang="ko-KR" altLang="en-US" sz="1100" dirty="0" err="1" smtClean="0"/>
              <a:t>타지역</a:t>
            </a:r>
            <a:r>
              <a:rPr lang="ko-KR" altLang="en-US" sz="1100" dirty="0" smtClean="0"/>
              <a:t> 대비 여전히 </a:t>
            </a:r>
            <a:r>
              <a:rPr lang="en-US" altLang="ko-KR" sz="1100" dirty="0" smtClean="0"/>
              <a:t>10</a:t>
            </a:r>
            <a:r>
              <a:rPr lang="ko-KR" altLang="en-US" sz="1100" dirty="0" smtClean="0"/>
              <a:t>대미만</a:t>
            </a:r>
            <a:r>
              <a:rPr lang="en-US" altLang="ko-KR" sz="1100" dirty="0" smtClean="0"/>
              <a:t>, 10</a:t>
            </a:r>
            <a:r>
              <a:rPr lang="ko-KR" altLang="en-US" sz="1100" dirty="0" smtClean="0"/>
              <a:t>대</a:t>
            </a:r>
            <a:r>
              <a:rPr lang="en-US" altLang="ko-KR" sz="1100" dirty="0" smtClean="0"/>
              <a:t>, 30</a:t>
            </a:r>
            <a:r>
              <a:rPr lang="ko-KR" altLang="en-US" sz="1100" dirty="0" smtClean="0"/>
              <a:t>대</a:t>
            </a:r>
            <a:r>
              <a:rPr lang="en-US" altLang="ko-KR" sz="1100" dirty="0" smtClean="0"/>
              <a:t>, 40</a:t>
            </a:r>
            <a:r>
              <a:rPr lang="ko-KR" altLang="en-US" sz="1100" dirty="0" smtClean="0"/>
              <a:t>대 총판매금액 비중이 높음</a:t>
            </a:r>
            <a:r>
              <a:rPr lang="ko-KR" altLang="en-US" sz="1100" b="1" dirty="0" smtClean="0"/>
              <a:t>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가족여행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)</a:t>
            </a: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b="1" dirty="0" smtClean="0"/>
              <a:t>   </a:t>
            </a:r>
            <a:r>
              <a:rPr lang="en-US" altLang="ko-KR" sz="1100" dirty="0" smtClean="0"/>
              <a:t>&gt;</a:t>
            </a:r>
            <a:r>
              <a:rPr lang="en-US" altLang="ko-KR" sz="1100" b="1" dirty="0" smtClean="0"/>
              <a:t> </a:t>
            </a:r>
            <a:r>
              <a:rPr lang="ko-KR" altLang="en-US" sz="1100" dirty="0" smtClean="0"/>
              <a:t>일본 대체 </a:t>
            </a:r>
            <a:r>
              <a:rPr lang="ko-KR" altLang="en-US" sz="1100" dirty="0" smtClean="0"/>
              <a:t>가족여행지 </a:t>
            </a:r>
            <a:r>
              <a:rPr lang="en-US" altLang="ko-KR" sz="1100" dirty="0" smtClean="0"/>
              <a:t>: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동남아 지역</a:t>
            </a:r>
            <a:r>
              <a:rPr lang="en-US" altLang="ko-KR" sz="1100" dirty="0" smtClean="0"/>
              <a:t>,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100" dirty="0" err="1" smtClean="0"/>
              <a:t>중장년층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100" dirty="0" smtClean="0"/>
              <a:t>부부동반 및 단체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:</a:t>
            </a:r>
            <a:r>
              <a:rPr lang="ko-KR" altLang="en-US" sz="1100" dirty="0" smtClean="0">
                <a:solidFill>
                  <a:srgbClr val="C0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중국 여행 관심도 증가</a:t>
            </a:r>
            <a:endParaRPr lang="en-US" altLang="ko-KR" sz="1100" b="1" dirty="0" smtClean="0">
              <a:solidFill>
                <a:srgbClr val="C0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57302" y="4074929"/>
            <a:ext cx="2231577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평균 판매금액 및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재구매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576263" y="4478625"/>
            <a:ext cx="882072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중국지역 </a:t>
            </a:r>
            <a:r>
              <a:rPr lang="en-US" altLang="ko-KR" sz="1100" dirty="0" smtClean="0"/>
              <a:t>– 50</a:t>
            </a:r>
            <a:r>
              <a:rPr lang="ko-KR" altLang="en-US" sz="1100" dirty="0" smtClean="0"/>
              <a:t>대 이상의 </a:t>
            </a:r>
            <a:r>
              <a:rPr lang="ko-KR" altLang="en-US" sz="1100" dirty="0" err="1" smtClean="0"/>
              <a:t>중장년층이</a:t>
            </a:r>
            <a:r>
              <a:rPr lang="ko-KR" altLang="en-US" sz="1100" dirty="0" smtClean="0"/>
              <a:t> 높은 가격 선호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050" b="1" dirty="0" err="1" smtClean="0">
                <a:solidFill>
                  <a:srgbClr val="C00000"/>
                </a:solidFill>
              </a:rPr>
              <a:t>노팁</a:t>
            </a:r>
            <a:r>
              <a:rPr lang="en-US" altLang="ko-KR" sz="1050" b="1" dirty="0">
                <a:solidFill>
                  <a:srgbClr val="C00000"/>
                </a:solidFill>
              </a:rPr>
              <a:t>, </a:t>
            </a:r>
            <a:r>
              <a:rPr lang="ko-KR" altLang="en-US" sz="1050" b="1" dirty="0" err="1">
                <a:solidFill>
                  <a:srgbClr val="C00000"/>
                </a:solidFill>
              </a:rPr>
              <a:t>노옵션</a:t>
            </a:r>
            <a:r>
              <a:rPr lang="en-US" altLang="ko-KR" sz="1050" b="1" dirty="0">
                <a:solidFill>
                  <a:srgbClr val="C00000"/>
                </a:solidFill>
              </a:rPr>
              <a:t>, </a:t>
            </a:r>
            <a:r>
              <a:rPr lang="ko-KR" altLang="en-US" sz="1050" b="1" dirty="0" err="1">
                <a:solidFill>
                  <a:srgbClr val="C00000"/>
                </a:solidFill>
              </a:rPr>
              <a:t>노쇼핑</a:t>
            </a:r>
            <a:r>
              <a:rPr lang="ko-KR" altLang="en-US" sz="1050" b="1" dirty="0">
                <a:solidFill>
                  <a:srgbClr val="C00000"/>
                </a:solidFill>
              </a:rPr>
              <a:t> 상품으로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예상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)</a:t>
            </a:r>
            <a:endParaRPr lang="en-US" altLang="ko-KR" sz="105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dirty="0" smtClean="0"/>
              <a:t>   &gt; </a:t>
            </a:r>
            <a:r>
              <a:rPr lang="ko-KR" altLang="en-US" sz="1100" dirty="0" smtClean="0"/>
              <a:t>실제 지역별 </a:t>
            </a:r>
            <a:r>
              <a:rPr lang="en-US" altLang="ko-KR" sz="1100" dirty="0" smtClean="0"/>
              <a:t>TOP5 </a:t>
            </a:r>
            <a:r>
              <a:rPr lang="ko-KR" altLang="en-US" sz="1100" dirty="0" smtClean="0"/>
              <a:t>중국 지역 인기 상품 비중에서도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노팁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,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노옵션</a:t>
            </a:r>
            <a:r>
              <a:rPr lang="en-US" altLang="ko-KR" sz="1100" b="1" dirty="0" smtClean="0">
                <a:solidFill>
                  <a:srgbClr val="C00000"/>
                </a:solidFill>
              </a:rPr>
              <a:t>,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노쇼핑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 상품 비중이 높음</a:t>
            </a:r>
            <a:endParaRPr lang="en-US" altLang="ko-KR" sz="11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고객의 </a:t>
            </a:r>
            <a:r>
              <a:rPr lang="en-US" altLang="ko-KR" sz="1100" dirty="0" smtClean="0"/>
              <a:t>2</a:t>
            </a:r>
            <a:r>
              <a:rPr lang="ko-KR" altLang="en-US" sz="1100" dirty="0" err="1" smtClean="0"/>
              <a:t>회차</a:t>
            </a:r>
            <a:r>
              <a:rPr lang="ko-KR" altLang="en-US" sz="1100" dirty="0" smtClean="0"/>
              <a:t> 여행 데이터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공통적으로 일본상품 구매율 감소 추세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dirty="0" smtClean="0"/>
              <a:t>   &gt;</a:t>
            </a:r>
            <a:r>
              <a:rPr lang="en-US" altLang="ko-KR" sz="1100" b="1" dirty="0" smtClean="0"/>
              <a:t> </a:t>
            </a:r>
            <a:r>
              <a:rPr lang="en-US" altLang="ko-KR" sz="1100" dirty="0" smtClean="0"/>
              <a:t>[</a:t>
            </a:r>
            <a:r>
              <a:rPr lang="ko-KR" altLang="en-US" sz="1100" dirty="0" smtClean="0"/>
              <a:t>최초 여행지 일본 </a:t>
            </a:r>
            <a:r>
              <a:rPr lang="en-US" altLang="ko-KR" sz="1100" dirty="0" smtClean="0"/>
              <a:t>-&gt; 2</a:t>
            </a:r>
            <a:r>
              <a:rPr lang="ko-KR" altLang="en-US" sz="1100" dirty="0" smtClean="0"/>
              <a:t>차 여행지 일본</a:t>
            </a:r>
            <a:r>
              <a:rPr lang="en-US" altLang="ko-KR" sz="1100" dirty="0" smtClean="0"/>
              <a:t>]</a:t>
            </a:r>
            <a:r>
              <a:rPr lang="ko-KR" altLang="en-US" sz="1100" dirty="0" smtClean="0"/>
              <a:t> 감소 추세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유럽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,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동남아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,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중국 지역으로 유입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)</a:t>
            </a: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&gt;</a:t>
            </a:r>
            <a:r>
              <a:rPr lang="en-US" altLang="ko-KR" sz="1100" b="1" dirty="0" smtClean="0"/>
              <a:t> </a:t>
            </a:r>
            <a:r>
              <a:rPr lang="en-US" altLang="ko-KR" sz="1100" dirty="0" smtClean="0"/>
              <a:t>[</a:t>
            </a:r>
            <a:r>
              <a:rPr lang="ko-KR" altLang="en-US" sz="1100" dirty="0" smtClean="0"/>
              <a:t>최초 여행지 국내</a:t>
            </a:r>
            <a:r>
              <a:rPr lang="en-US" altLang="ko-KR" sz="1100" dirty="0" smtClean="0"/>
              <a:t>]</a:t>
            </a:r>
            <a:r>
              <a:rPr lang="ko-KR" altLang="en-US" sz="1100" dirty="0" smtClean="0"/>
              <a:t>의 경우 일본 및 동남아 지역 구매율 감소 </a:t>
            </a:r>
            <a:r>
              <a:rPr lang="en-US" altLang="ko-KR" sz="1100" dirty="0" smtClean="0"/>
              <a:t>-&gt;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국내를 재방문 하는 경향이 증가</a:t>
            </a:r>
            <a:endParaRPr lang="en-US" altLang="ko-KR" sz="1100" b="1" dirty="0" smtClean="0">
              <a:solidFill>
                <a:srgbClr val="C00000"/>
              </a:solidFill>
            </a:endParaRPr>
          </a:p>
        </p:txBody>
      </p:sp>
      <p:sp>
        <p:nvSpPr>
          <p:cNvPr id="1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</p:spPr>
        <p:txBody>
          <a:bodyPr/>
          <a:lstStyle/>
          <a:p>
            <a:r>
              <a:rPr lang="en-US" altLang="ko-KR" dirty="0" smtClean="0"/>
              <a:t>2020-01-06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0008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2020-01-06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50</a:t>
            </a:fld>
            <a:r>
              <a:rPr lang="ko-KR" altLang="en-US" dirty="0"/>
              <a:t> </a:t>
            </a:r>
            <a:r>
              <a:rPr lang="en-US" altLang="ko-KR" dirty="0" smtClean="0"/>
              <a:t>/ 49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3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Ⅶ</a:t>
            </a:r>
            <a:r>
              <a:rPr lang="en-US" altLang="ko-KR" sz="3200" b="1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시사점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미래전략부문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02870" y="1153234"/>
            <a:ext cx="1996188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월별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TOP5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인기 상품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576263" y="1476188"/>
            <a:ext cx="8820727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2018</a:t>
            </a:r>
            <a:r>
              <a:rPr lang="ko-KR" altLang="en-US" sz="1100" dirty="0" smtClean="0"/>
              <a:t>년 대비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북해도 및 일본 상품</a:t>
            </a:r>
            <a:r>
              <a:rPr lang="ko-KR" altLang="en-US" sz="1100" dirty="0" smtClean="0"/>
              <a:t>이 인기 상품 비중 감소</a:t>
            </a:r>
            <a:endParaRPr lang="en-US" altLang="ko-KR" sz="11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2019</a:t>
            </a:r>
            <a:r>
              <a:rPr lang="ko-KR" altLang="en-US" sz="1100" dirty="0" smtClean="0"/>
              <a:t>년 </a:t>
            </a:r>
            <a:r>
              <a:rPr lang="en-US" altLang="ko-KR" sz="1100" dirty="0" smtClean="0"/>
              <a:t>– </a:t>
            </a:r>
            <a:r>
              <a:rPr lang="ko-KR" altLang="en-US" sz="1100" b="1" dirty="0" err="1" smtClean="0">
                <a:solidFill>
                  <a:srgbClr val="C00000"/>
                </a:solidFill>
              </a:rPr>
              <a:t>다낭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상품 및 동남아</a:t>
            </a:r>
            <a:r>
              <a:rPr lang="ko-KR" altLang="en-US" sz="1100" dirty="0" smtClean="0"/>
              <a:t> 지역 비중이 증가</a:t>
            </a:r>
            <a:endParaRPr lang="en-US" altLang="ko-KR" sz="110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502869" y="2450753"/>
            <a:ext cx="1516354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err="1" smtClean="0">
                <a:solidFill>
                  <a:schemeClr val="bg1"/>
                </a:solidFill>
              </a:rPr>
              <a:t>검색어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 추이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21"/>
          <p:cNvSpPr txBox="1">
            <a:spLocks noChangeArrowheads="1"/>
          </p:cNvSpPr>
          <p:nvPr/>
        </p:nvSpPr>
        <p:spPr bwMode="auto">
          <a:xfrm>
            <a:off x="576263" y="2747956"/>
            <a:ext cx="8820727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100" dirty="0" smtClean="0"/>
              <a:t>2018</a:t>
            </a:r>
            <a:r>
              <a:rPr lang="ko-KR" altLang="en-US" sz="1100" dirty="0" smtClean="0"/>
              <a:t>년 대비 대부분 일본 지역 </a:t>
            </a:r>
            <a:r>
              <a:rPr lang="ko-KR" altLang="en-US" sz="1100" dirty="0" err="1" smtClean="0"/>
              <a:t>검색어</a:t>
            </a:r>
            <a:r>
              <a:rPr lang="ko-KR" altLang="en-US" sz="1100" dirty="0" smtClean="0"/>
              <a:t> 순위 하락</a:t>
            </a:r>
            <a:endParaRPr lang="en-US" altLang="ko-KR" sz="11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err="1" smtClean="0"/>
              <a:t>장가계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나트랑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보라카이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하와이</a:t>
            </a:r>
            <a:r>
              <a:rPr lang="en-US" altLang="ko-KR" sz="1100" dirty="0"/>
              <a:t> </a:t>
            </a:r>
            <a:r>
              <a:rPr lang="ko-KR" altLang="en-US" sz="1100" dirty="0" smtClean="0"/>
              <a:t>상위권으로 진입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상위권 </a:t>
            </a:r>
            <a:r>
              <a:rPr lang="ko-KR" altLang="en-US" sz="1050" b="1" dirty="0" err="1" smtClean="0">
                <a:solidFill>
                  <a:srgbClr val="C00000"/>
                </a:solidFill>
              </a:rPr>
              <a:t>검색어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–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휴양지 비중 상승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)</a:t>
            </a: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&gt;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일본 대체 지역</a:t>
            </a:r>
            <a:r>
              <a:rPr lang="ko-KR" altLang="en-US" sz="1100" dirty="0" smtClean="0"/>
              <a:t>의 가능성을 고려 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중국 및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동남아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, </a:t>
            </a:r>
            <a:r>
              <a:rPr lang="ko-KR" altLang="en-US" sz="1050" b="1" dirty="0" err="1" smtClean="0">
                <a:solidFill>
                  <a:srgbClr val="C00000"/>
                </a:solidFill>
              </a:rPr>
              <a:t>괌사이판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050" b="1" dirty="0" smtClean="0">
                <a:solidFill>
                  <a:srgbClr val="C00000"/>
                </a:solidFill>
              </a:rPr>
              <a:t>휴양지</a:t>
            </a:r>
            <a:r>
              <a:rPr lang="en-US" altLang="ko-KR" sz="1050" b="1" dirty="0" smtClean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02869" y="4028444"/>
            <a:ext cx="1516354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고객관리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576262" y="4326008"/>
            <a:ext cx="8820727" cy="105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100" dirty="0" smtClean="0"/>
              <a:t>고객 주요 불만 사항 </a:t>
            </a:r>
            <a:r>
              <a:rPr lang="en-US" altLang="ko-KR" sz="1100" dirty="0" smtClean="0"/>
              <a:t>–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현지</a:t>
            </a:r>
            <a:r>
              <a:rPr lang="en-US" altLang="ko-KR" sz="1100" b="1" dirty="0">
                <a:solidFill>
                  <a:srgbClr val="C0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및 전화</a:t>
            </a:r>
            <a:endParaRPr lang="en-US" altLang="ko-KR" sz="1100" b="1" dirty="0" smtClean="0">
              <a:solidFill>
                <a:srgbClr val="C00000"/>
              </a:solidFill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&gt; </a:t>
            </a:r>
            <a:r>
              <a:rPr lang="ko-KR" altLang="en-US" sz="1100" dirty="0" smtClean="0"/>
              <a:t>사내 영업직 전화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교육 강화 및 응대 매뉴얼 </a:t>
            </a:r>
            <a:r>
              <a:rPr lang="ko-KR" altLang="en-US" sz="1100" dirty="0" smtClean="0"/>
              <a:t>관련 정기 교육 개설</a:t>
            </a:r>
            <a:endParaRPr lang="en-US" altLang="ko-KR" sz="110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&gt; </a:t>
            </a:r>
            <a:r>
              <a:rPr lang="ko-KR" altLang="en-US" sz="1100" b="1" dirty="0" smtClean="0">
                <a:solidFill>
                  <a:srgbClr val="C00000"/>
                </a:solidFill>
              </a:rPr>
              <a:t>정기적인 점검 시스템 및 담당부서를 구축</a:t>
            </a:r>
            <a:r>
              <a:rPr lang="ko-KR" altLang="en-US" sz="1100" dirty="0" smtClean="0"/>
              <a:t>하여 가이드 교육 및 숙소 점검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버스 점검을 통한 현지 불만 최소화</a:t>
            </a:r>
            <a:endParaRPr lang="en-US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51158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153791</TotalTime>
  <Words>12561</Words>
  <Application>Microsoft Office PowerPoint</Application>
  <PresentationFormat>화면 슬라이드 쇼(4:3)</PresentationFormat>
  <Paragraphs>3791</Paragraphs>
  <Slides>50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굴림</vt:lpstr>
      <vt:lpstr>나눔고딕</vt:lpstr>
      <vt:lpstr>나눔고딕 ExtraBold</vt:lpstr>
      <vt:lpstr>맑은 고딕</vt:lpstr>
      <vt:lpstr>맑은고딕</vt:lpstr>
      <vt:lpstr>Arial</vt:lpstr>
      <vt:lpstr>Calibri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yeo seungeun</cp:lastModifiedBy>
  <cp:revision>5030</cp:revision>
  <cp:lastPrinted>2019-12-19T02:08:14Z</cp:lastPrinted>
  <dcterms:created xsi:type="dcterms:W3CDTF">2014-03-24T10:18:17Z</dcterms:created>
  <dcterms:modified xsi:type="dcterms:W3CDTF">2020-01-09T09:19:05Z</dcterms:modified>
</cp:coreProperties>
</file>