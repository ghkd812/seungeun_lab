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2"/>
    <p:sldId id="259" r:id="rId3"/>
    <p:sldId id="265" r:id="rId4"/>
    <p:sldId id="260" r:id="rId5"/>
    <p:sldId id="261" r:id="rId6"/>
    <p:sldId id="262" r:id="rId7"/>
    <p:sldId id="268" r:id="rId8"/>
    <p:sldId id="263" r:id="rId9"/>
    <p:sldId id="266" r:id="rId10"/>
    <p:sldId id="264" r:id="rId11"/>
    <p:sldId id="270" r:id="rId1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361" autoAdjust="0"/>
    <p:restoredTop sz="92525" autoAdjust="0"/>
  </p:normalViewPr>
  <p:slideViewPr>
    <p:cSldViewPr>
      <p:cViewPr varScale="1">
        <p:scale>
          <a:sx n="107" d="100"/>
          <a:sy n="107" d="100"/>
        </p:scale>
        <p:origin x="2010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8" d="100"/>
          <a:sy n="88" d="100"/>
        </p:scale>
        <p:origin x="382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125259-3F09-4E08-ADA0-1F08EA9210AC}" type="datetimeFigureOut">
              <a:rPr lang="ko-KR" altLang="en-US" smtClean="0"/>
              <a:pPr/>
              <a:t>2018-03-27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60602F-5EB5-4E0F-9C27-E16478FDC43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62492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BD29E4-A98E-43BD-A207-E0FDAE72207D}" type="datetimeFigureOut">
              <a:rPr lang="ko-KR" altLang="en-US" smtClean="0"/>
              <a:pPr/>
              <a:t>2018-03-27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6E5C39-11AD-4F98-A3A7-54E8409665E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860807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1" dirty="0" smtClean="0">
                <a:effectLst/>
              </a:rPr>
              <a:t>협업필터링</a:t>
            </a:r>
            <a:r>
              <a:rPr lang="ko-KR" altLang="en-US" dirty="0" smtClean="0">
                <a:effectLst/>
              </a:rPr>
              <a:t>이란 많은 사용자들로부터 얻은 </a:t>
            </a:r>
            <a:r>
              <a:rPr lang="ko-KR" altLang="en-US" dirty="0" err="1" smtClean="0">
                <a:effectLst/>
              </a:rPr>
              <a:t>기호정보에</a:t>
            </a:r>
            <a:r>
              <a:rPr lang="ko-KR" altLang="en-US" dirty="0" smtClean="0">
                <a:effectLst/>
              </a:rPr>
              <a:t> 따라 사용자들의 관심사를 자동적으로 예측하는 방법이다</a:t>
            </a:r>
            <a:r>
              <a:rPr lang="en-US" altLang="ko-KR" dirty="0" smtClean="0">
                <a:effectLst/>
              </a:rPr>
              <a:t>.</a:t>
            </a:r>
          </a:p>
          <a:p>
            <a:r>
              <a:rPr lang="ko-KR" altLang="en-US" dirty="0" err="1" smtClean="0">
                <a:effectLst/>
              </a:rPr>
              <a:t>넷플릭스</a:t>
            </a:r>
            <a:r>
              <a:rPr lang="en-US" altLang="ko-KR" dirty="0" smtClean="0">
                <a:effectLst/>
              </a:rPr>
              <a:t>, </a:t>
            </a:r>
            <a:r>
              <a:rPr lang="ko-KR" altLang="en-US" dirty="0" err="1" smtClean="0">
                <a:effectLst/>
              </a:rPr>
              <a:t>왓챠</a:t>
            </a:r>
            <a:r>
              <a:rPr lang="ko-KR" altLang="en-US" dirty="0" smtClean="0">
                <a:effectLst/>
              </a:rPr>
              <a:t> 등에서 쓰이는 방법으로 두 사람간 유사도</a:t>
            </a:r>
            <a:r>
              <a:rPr lang="en-US" altLang="ko-KR" dirty="0" smtClean="0">
                <a:effectLst/>
              </a:rPr>
              <a:t>(Similarity)</a:t>
            </a:r>
            <a:r>
              <a:rPr lang="ko-KR" altLang="en-US" dirty="0" smtClean="0">
                <a:effectLst/>
              </a:rPr>
              <a:t>를 구해 예상 평점을 구하고 비슷한 영화를 추천해주는 등의 알고리즘에 사용된다</a:t>
            </a:r>
            <a:r>
              <a:rPr lang="en-US" altLang="ko-KR" dirty="0" smtClean="0">
                <a:effectLst/>
              </a:rPr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6E5C39-11AD-4F98-A3A7-54E8409665EA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97841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1" dirty="0" smtClean="0">
                <a:effectLst/>
              </a:rPr>
              <a:t>협업필터링</a:t>
            </a:r>
            <a:r>
              <a:rPr lang="ko-KR" altLang="en-US" dirty="0" smtClean="0">
                <a:effectLst/>
              </a:rPr>
              <a:t>이란 많은 사용자들로부터 얻은 </a:t>
            </a:r>
            <a:r>
              <a:rPr lang="ko-KR" altLang="en-US" dirty="0" err="1" smtClean="0">
                <a:effectLst/>
              </a:rPr>
              <a:t>기호정보에</a:t>
            </a:r>
            <a:r>
              <a:rPr lang="ko-KR" altLang="en-US" dirty="0" smtClean="0">
                <a:effectLst/>
              </a:rPr>
              <a:t> 따라 사용자들의 관심사를 자동적으로 예측하는 방법이다</a:t>
            </a:r>
            <a:r>
              <a:rPr lang="en-US" altLang="ko-KR" dirty="0" smtClean="0">
                <a:effectLst/>
              </a:rPr>
              <a:t>.</a:t>
            </a:r>
          </a:p>
          <a:p>
            <a:r>
              <a:rPr lang="ko-KR" altLang="en-US" dirty="0" err="1" smtClean="0">
                <a:effectLst/>
              </a:rPr>
              <a:t>넷플릭스</a:t>
            </a:r>
            <a:r>
              <a:rPr lang="en-US" altLang="ko-KR" dirty="0" smtClean="0">
                <a:effectLst/>
              </a:rPr>
              <a:t>, </a:t>
            </a:r>
            <a:r>
              <a:rPr lang="ko-KR" altLang="en-US" dirty="0" err="1" smtClean="0">
                <a:effectLst/>
              </a:rPr>
              <a:t>왓챠</a:t>
            </a:r>
            <a:r>
              <a:rPr lang="ko-KR" altLang="en-US" dirty="0" smtClean="0">
                <a:effectLst/>
              </a:rPr>
              <a:t> 등에서 쓰이는 방법으로 두 사람간 유사도</a:t>
            </a:r>
            <a:r>
              <a:rPr lang="en-US" altLang="ko-KR" dirty="0" smtClean="0">
                <a:effectLst/>
              </a:rPr>
              <a:t>(Similarity)</a:t>
            </a:r>
            <a:r>
              <a:rPr lang="ko-KR" altLang="en-US" dirty="0" smtClean="0">
                <a:effectLst/>
              </a:rPr>
              <a:t>를 구해 예상 평점을 구하고 비슷한 영화를 추천해주는 등의 알고리즘에 사용된다</a:t>
            </a:r>
            <a:r>
              <a:rPr lang="en-US" altLang="ko-KR" dirty="0" smtClean="0">
                <a:effectLst/>
              </a:rPr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6E5C39-11AD-4F98-A3A7-54E8409665EA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35949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fontAlgn="base"/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사람 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오렌지를 좋아하고 사람 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오렌지를 좋아한다고 가정합니다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fontAlgn="base"/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사람 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사과를 좋아한다고 가정하십시오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fontAlgn="base"/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사람 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다른 임의의 사람보다 사과와 비슷한 의견을 가질 가능성이 높습니다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위의 데이터는 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User1,2,3,4,5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Item 1,2,3,4,5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매긴 평점을 나타내는 것이다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예를 들어 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User1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item1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대해 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점이라는 평점을 주었고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User3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item4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대해 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이라는 평점을 주었다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이제 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User1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에게 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Item5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추천하는 것이 적당한지를 판별하기 위해 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User1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과 비슷한 성향을 가진 사용자를 찾고 해당 사용자가 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Item5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준 평점이 높다면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아마도 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User1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Item5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좋아할 것이라고 생각하고 추천한다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문제는 위의 표에서 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User1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과 가장 유사한 성향을 가진 사람이 누군지를 파악하는 것이다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유사한 성향을 유사도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(Similarity)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라고 하며 유사도가 높다는 것은 그만큼 서로 유사한 성향을 가졌다고 할 수 있다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유사도는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협업 </a:t>
            </a:r>
            <a:r>
              <a:rPr lang="ko-KR" alt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필터링에서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중요한 척도이다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왜냐하면 이 척도를 이용해 사용자 간의 유사도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혹은 아이템 간의 </a:t>
            </a:r>
            <a:r>
              <a:rPr lang="ko-KR" alt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유사도를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계산할 수 있기 때문이다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계산된 </a:t>
            </a:r>
            <a:r>
              <a:rPr lang="ko-KR" alt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유사도를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이용해 가장 유사하다고 생각되는 사람이나 아이템을 선정할 수 있고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 선정된 것에 의해 사용자에게 무엇을 추천하는 것이 좋은지를 결정할 수 있다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피어슨상관계수는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비교대상이 되는 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개의 변수가 선형적인 관계를 추정하는 방법으로 변수들의 값이 동일한 방향으로 움직이는지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그렇지 않은지를 파악해 비례관계인지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반비례관계인지 아니면 관계가 없는지를 추정할 수 있다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위의 식을 이용해 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User1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과 다른 사용자들간의 </a:t>
            </a:r>
            <a:r>
              <a:rPr lang="ko-KR" alt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유사도를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계산해보면 다음과 같다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ko-K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(User1, User2) = 0.85</a:t>
            </a:r>
          </a:p>
          <a:p>
            <a:r>
              <a:rPr lang="en-US" altLang="ko-K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(User1, User3) = 0.70</a:t>
            </a:r>
          </a:p>
          <a:p>
            <a:r>
              <a:rPr lang="en-US" altLang="ko-K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(User1, User5) = -0.79</a:t>
            </a:r>
          </a:p>
          <a:p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위의 값에서 알 수 있듯이 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User1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과 가장 유사한 사람은 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User2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라는 것을 알 수 있다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b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User2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Item5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평점은 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점이라는 것을 알 수 있다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하지만 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User2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평점이 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점이라는 것을 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User1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Item5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대한 평점이라고 생각하기는 어렵다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왜냐하면 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User2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성향이 평점을 낮게 주거나 혹은 반대로 평점을 많이 준다면 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점이라는 평점을 그대로 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점의 평점으로 받아 들일 수 없기 때문이다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따라서 이를 보완한 새로운 방법이 필요하다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altLang="ko-K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ko-K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6E5C39-11AD-4F98-A3A7-54E8409665EA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18489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1" dirty="0" smtClean="0">
                <a:effectLst/>
              </a:rPr>
              <a:t>협업필터링</a:t>
            </a:r>
            <a:r>
              <a:rPr lang="ko-KR" altLang="en-US" dirty="0" smtClean="0">
                <a:effectLst/>
              </a:rPr>
              <a:t>이란 많은 사용자들로부터 얻은 </a:t>
            </a:r>
            <a:r>
              <a:rPr lang="ko-KR" altLang="en-US" dirty="0" err="1" smtClean="0">
                <a:effectLst/>
              </a:rPr>
              <a:t>기호정보에</a:t>
            </a:r>
            <a:r>
              <a:rPr lang="ko-KR" altLang="en-US" dirty="0" smtClean="0">
                <a:effectLst/>
              </a:rPr>
              <a:t> 따라 사용자들의 관심사를 자동적으로 예측하는 방법이다</a:t>
            </a:r>
            <a:r>
              <a:rPr lang="en-US" altLang="ko-KR" dirty="0" smtClean="0">
                <a:effectLst/>
              </a:rPr>
              <a:t>.</a:t>
            </a:r>
          </a:p>
          <a:p>
            <a:r>
              <a:rPr lang="ko-KR" altLang="en-US" dirty="0" err="1" smtClean="0">
                <a:effectLst/>
              </a:rPr>
              <a:t>넷플릭스</a:t>
            </a:r>
            <a:r>
              <a:rPr lang="en-US" altLang="ko-KR" dirty="0" smtClean="0">
                <a:effectLst/>
              </a:rPr>
              <a:t>, </a:t>
            </a:r>
            <a:r>
              <a:rPr lang="ko-KR" altLang="en-US" dirty="0" err="1" smtClean="0">
                <a:effectLst/>
              </a:rPr>
              <a:t>왓챠</a:t>
            </a:r>
            <a:r>
              <a:rPr lang="ko-KR" altLang="en-US" dirty="0" smtClean="0">
                <a:effectLst/>
              </a:rPr>
              <a:t> 등에서 쓰이는 방법으로 두 사람간 유사도</a:t>
            </a:r>
            <a:r>
              <a:rPr lang="en-US" altLang="ko-KR" dirty="0" smtClean="0">
                <a:effectLst/>
              </a:rPr>
              <a:t>(Similarity)</a:t>
            </a:r>
            <a:r>
              <a:rPr lang="ko-KR" altLang="en-US" dirty="0" smtClean="0">
                <a:effectLst/>
              </a:rPr>
              <a:t>를 구해 예상 평점을 구하고 비슷한 영화를 추천해주는 등의 알고리즘에 사용된다</a:t>
            </a:r>
            <a:r>
              <a:rPr lang="en-US" altLang="ko-KR" dirty="0" smtClean="0">
                <a:effectLst/>
              </a:rPr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6E5C39-11AD-4F98-A3A7-54E8409665EA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6718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위 그래프의 </a:t>
            </a:r>
            <a:r>
              <a:rPr lang="ko-KR" alt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유클리디언</a:t>
            </a:r>
            <a:r>
              <a:rPr lang="ko-KR" alt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거리를 보면</a:t>
            </a:r>
            <a:r>
              <a:rPr lang="en-US" altLang="ko-KR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endParaRPr lang="ko-KR" altLang="en-US" dirty="0" smtClean="0">
              <a:effectLst/>
            </a:endParaRPr>
          </a:p>
          <a:p>
            <a:r>
              <a:rPr lang="ko-KR" altLang="en-US" dirty="0" smtClean="0">
                <a:effectLst/>
              </a:rPr>
              <a:t>두 유저간 선호도의 거리를 나타내는 </a:t>
            </a:r>
            <a:r>
              <a:rPr lang="ko-KR" altLang="en-US" dirty="0" err="1" smtClean="0">
                <a:effectLst/>
              </a:rPr>
              <a:t>벡터값이</a:t>
            </a:r>
            <a:r>
              <a:rPr lang="ko-KR" altLang="en-US" dirty="0" smtClean="0">
                <a:effectLst/>
              </a:rPr>
              <a:t> 작다면 두 유저는 비슷한 성향을 갖고 있다고</a:t>
            </a:r>
            <a:r>
              <a:rPr lang="en-US" altLang="ko-KR" dirty="0" smtClean="0">
                <a:effectLst/>
              </a:rPr>
              <a:t>(</a:t>
            </a:r>
            <a:r>
              <a:rPr lang="ko-KR" altLang="en-US" dirty="0" smtClean="0">
                <a:effectLst/>
              </a:rPr>
              <a:t>즉 </a:t>
            </a:r>
            <a:r>
              <a:rPr lang="ko-KR" altLang="en-US" dirty="0" err="1" smtClean="0">
                <a:effectLst/>
              </a:rPr>
              <a:t>유사도가</a:t>
            </a:r>
            <a:r>
              <a:rPr lang="ko-KR" altLang="en-US" dirty="0" smtClean="0">
                <a:effectLst/>
              </a:rPr>
              <a:t> 높다고</a:t>
            </a:r>
            <a:r>
              <a:rPr lang="en-US" altLang="ko-KR" dirty="0" smtClean="0">
                <a:effectLst/>
              </a:rPr>
              <a:t>)</a:t>
            </a:r>
            <a:r>
              <a:rPr lang="ko-KR" altLang="en-US" dirty="0" smtClean="0">
                <a:effectLst/>
              </a:rPr>
              <a:t>할 수 있다</a:t>
            </a:r>
            <a:r>
              <a:rPr lang="en-US" altLang="ko-KR" dirty="0" smtClean="0">
                <a:effectLst/>
              </a:rPr>
              <a:t>. </a:t>
            </a:r>
          </a:p>
          <a:p>
            <a:r>
              <a:rPr lang="ko-KR" alt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위 그래프의 </a:t>
            </a:r>
            <a:r>
              <a:rPr lang="ko-KR" alt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피어슨</a:t>
            </a:r>
            <a:r>
              <a:rPr lang="ko-KR" alt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상관관계를 보면</a:t>
            </a:r>
            <a:r>
              <a:rPr lang="en-US" altLang="ko-KR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endParaRPr lang="ko-KR" altLang="en-US" dirty="0" smtClean="0">
              <a:effectLst/>
            </a:endParaRPr>
          </a:p>
          <a:p>
            <a:r>
              <a:rPr lang="ko-KR" altLang="en-US" dirty="0" smtClean="0">
                <a:effectLst/>
              </a:rPr>
              <a:t>두 유저간 선호도를 벡터로 그렸을 때</a:t>
            </a:r>
            <a:r>
              <a:rPr lang="en-US" altLang="ko-KR" dirty="0" smtClean="0">
                <a:effectLst/>
              </a:rPr>
              <a:t>, </a:t>
            </a:r>
            <a:r>
              <a:rPr lang="ko-KR" altLang="en-US" dirty="0" smtClean="0">
                <a:effectLst/>
              </a:rPr>
              <a:t>그 사이 코사인 값</a:t>
            </a:r>
            <a:r>
              <a:rPr lang="en-US" altLang="ko-KR" dirty="0" smtClean="0">
                <a:effectLst/>
              </a:rPr>
              <a:t>(</a:t>
            </a:r>
            <a:r>
              <a:rPr lang="ko-KR" altLang="en-US" dirty="0" err="1" smtClean="0">
                <a:effectLst/>
              </a:rPr>
              <a:t>사잇각</a:t>
            </a:r>
            <a:r>
              <a:rPr lang="en-US" altLang="ko-KR" dirty="0" smtClean="0">
                <a:effectLst/>
              </a:rPr>
              <a:t>)</a:t>
            </a:r>
            <a:r>
              <a:rPr lang="ko-KR" altLang="en-US" dirty="0" smtClean="0">
                <a:effectLst/>
              </a:rPr>
              <a:t>이 일치한다면</a:t>
            </a:r>
            <a:r>
              <a:rPr lang="en-US" altLang="ko-KR" dirty="0" smtClean="0">
                <a:effectLst/>
              </a:rPr>
              <a:t>, </a:t>
            </a:r>
            <a:r>
              <a:rPr lang="ko-KR" altLang="en-US" dirty="0" smtClean="0">
                <a:effectLst/>
              </a:rPr>
              <a:t>상관관계가 일치한다고 볼 수 있다</a:t>
            </a:r>
            <a:r>
              <a:rPr lang="en-US" altLang="ko-KR" dirty="0" smtClean="0">
                <a:effectLst/>
              </a:rPr>
              <a:t>.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6E5C39-11AD-4F98-A3A7-54E8409665EA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65193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1" dirty="0" smtClean="0">
                <a:effectLst/>
              </a:rPr>
              <a:t>사람</a:t>
            </a:r>
            <a:r>
              <a:rPr lang="en-US" altLang="ko-KR" b="1" dirty="0" smtClean="0">
                <a:effectLst/>
              </a:rPr>
              <a:t>1</a:t>
            </a:r>
            <a:r>
              <a:rPr lang="ko-KR" altLang="en-US" b="1" dirty="0" smtClean="0">
                <a:effectLst/>
              </a:rPr>
              <a:t>은 사람</a:t>
            </a:r>
            <a:r>
              <a:rPr lang="en-US" altLang="ko-KR" b="1" dirty="0" smtClean="0">
                <a:effectLst/>
              </a:rPr>
              <a:t>2</a:t>
            </a:r>
            <a:r>
              <a:rPr lang="ko-KR" altLang="en-US" b="1" dirty="0" smtClean="0">
                <a:effectLst/>
              </a:rPr>
              <a:t>보다 사람</a:t>
            </a:r>
            <a:r>
              <a:rPr lang="en-US" altLang="ko-KR" b="1" dirty="0" smtClean="0">
                <a:effectLst/>
              </a:rPr>
              <a:t>3</a:t>
            </a:r>
            <a:r>
              <a:rPr lang="ko-KR" altLang="en-US" b="1" dirty="0" smtClean="0">
                <a:effectLst/>
              </a:rPr>
              <a:t>과 거리가 더 가까운 것으로 나타남</a:t>
            </a:r>
            <a:r>
              <a:rPr lang="en-US" altLang="ko-KR" b="1" dirty="0" smtClean="0">
                <a:effectLst/>
              </a:rPr>
              <a:t>. </a:t>
            </a:r>
            <a:r>
              <a:rPr lang="ko-KR" altLang="en-US" b="1" dirty="0" smtClean="0">
                <a:effectLst/>
              </a:rPr>
              <a:t>그러면 사람</a:t>
            </a:r>
            <a:r>
              <a:rPr lang="en-US" altLang="ko-KR" b="1" dirty="0" smtClean="0">
                <a:effectLst/>
              </a:rPr>
              <a:t>1</a:t>
            </a:r>
            <a:r>
              <a:rPr lang="ko-KR" altLang="en-US" b="1" dirty="0" smtClean="0">
                <a:effectLst/>
              </a:rPr>
              <a:t>과 사람</a:t>
            </a:r>
            <a:r>
              <a:rPr lang="en-US" altLang="ko-KR" b="1" dirty="0" smtClean="0">
                <a:effectLst/>
              </a:rPr>
              <a:t>3</a:t>
            </a:r>
            <a:r>
              <a:rPr lang="ko-KR" altLang="en-US" b="1" dirty="0" smtClean="0">
                <a:effectLst/>
              </a:rPr>
              <a:t>끼리 집단화될 가능성이 높고 사람</a:t>
            </a:r>
            <a:r>
              <a:rPr lang="en-US" altLang="ko-KR" b="1" dirty="0" smtClean="0">
                <a:effectLst/>
              </a:rPr>
              <a:t>2</a:t>
            </a:r>
            <a:r>
              <a:rPr lang="ko-KR" altLang="en-US" b="1" dirty="0" smtClean="0">
                <a:effectLst/>
              </a:rPr>
              <a:t>는 다른 사람과 묶일 가능성이 높다</a:t>
            </a:r>
            <a:endParaRPr lang="en-US" altLang="ko-KR" dirty="0" smtClean="0">
              <a:effectLst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6E5C39-11AD-4F98-A3A7-54E8409665EA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50707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6E5C39-11AD-4F98-A3A7-54E8409665EA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21533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1" dirty="0" smtClean="0">
                <a:effectLst/>
              </a:rPr>
              <a:t>협업필터링</a:t>
            </a:r>
            <a:r>
              <a:rPr lang="ko-KR" altLang="en-US" dirty="0" smtClean="0">
                <a:effectLst/>
              </a:rPr>
              <a:t>이란 많은 사용자들로부터 얻은 </a:t>
            </a:r>
            <a:r>
              <a:rPr lang="ko-KR" altLang="en-US" dirty="0" err="1" smtClean="0">
                <a:effectLst/>
              </a:rPr>
              <a:t>기호정보에</a:t>
            </a:r>
            <a:r>
              <a:rPr lang="ko-KR" altLang="en-US" dirty="0" smtClean="0">
                <a:effectLst/>
              </a:rPr>
              <a:t> 따라 사용자들의 관심사를 자동적으로 예측하는 방법이다</a:t>
            </a:r>
            <a:r>
              <a:rPr lang="en-US" altLang="ko-KR" dirty="0" smtClean="0">
                <a:effectLst/>
              </a:rPr>
              <a:t>.</a:t>
            </a:r>
          </a:p>
          <a:p>
            <a:r>
              <a:rPr lang="ko-KR" altLang="en-US" dirty="0" err="1" smtClean="0">
                <a:effectLst/>
              </a:rPr>
              <a:t>넷플릭스</a:t>
            </a:r>
            <a:r>
              <a:rPr lang="en-US" altLang="ko-KR" dirty="0" smtClean="0">
                <a:effectLst/>
              </a:rPr>
              <a:t>, </a:t>
            </a:r>
            <a:r>
              <a:rPr lang="ko-KR" altLang="en-US" dirty="0" err="1" smtClean="0">
                <a:effectLst/>
              </a:rPr>
              <a:t>왓챠</a:t>
            </a:r>
            <a:r>
              <a:rPr lang="ko-KR" altLang="en-US" dirty="0" smtClean="0">
                <a:effectLst/>
              </a:rPr>
              <a:t> 등에서 쓰이는 방법으로 두 사람간 유사도</a:t>
            </a:r>
            <a:r>
              <a:rPr lang="en-US" altLang="ko-KR" dirty="0" smtClean="0">
                <a:effectLst/>
              </a:rPr>
              <a:t>(Similarity)</a:t>
            </a:r>
            <a:r>
              <a:rPr lang="ko-KR" altLang="en-US" dirty="0" smtClean="0">
                <a:effectLst/>
              </a:rPr>
              <a:t>를 구해 예상 평점을 구하고 비슷한 영화를 추천해주는 등의 알고리즘에 사용된다</a:t>
            </a:r>
            <a:r>
              <a:rPr lang="en-US" altLang="ko-KR" dirty="0" smtClean="0">
                <a:effectLst/>
              </a:rPr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6E5C39-11AD-4F98-A3A7-54E8409665EA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51300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6E5C39-11AD-4F98-A3A7-54E8409665EA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25359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날짜 개체 틀 3"/>
          <p:cNvSpPr>
            <a:spLocks noGrp="1"/>
          </p:cNvSpPr>
          <p:nvPr>
            <p:ph type="dt" sz="half" idx="2"/>
          </p:nvPr>
        </p:nvSpPr>
        <p:spPr>
          <a:xfrm>
            <a:off x="0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defRPr>
            </a:lvl1pPr>
          </a:lstStyle>
          <a:p>
            <a:r>
              <a:rPr lang="en-US" altLang="ko-KR" smtClean="0"/>
              <a:t>2017-09-18</a:t>
            </a:r>
            <a:endParaRPr lang="ko-KR" altLang="en-US"/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624840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defRPr>
            </a:lvl1pPr>
          </a:lstStyle>
          <a:p>
            <a:r>
              <a:rPr lang="en-US" altLang="ko-KR" smtClean="0"/>
              <a:t>IT</a:t>
            </a:r>
            <a:r>
              <a:rPr lang="ko-KR" altLang="en-US" smtClean="0"/>
              <a:t>기획 여승은</a:t>
            </a:r>
            <a:endParaRPr lang="ko-KR" altLang="en-US"/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3795722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defRPr>
            </a:lvl1pPr>
          </a:lstStyle>
          <a:p>
            <a:fld id="{4E52899F-B6AD-4270-801A-BD471463C794}" type="slidenum">
              <a:rPr lang="ko-KR" altLang="en-US" smtClean="0"/>
              <a:pPr/>
              <a:t>‹#›</a:t>
            </a:fld>
            <a:r>
              <a:rPr lang="ko-KR" altLang="en-US" dirty="0" smtClean="0"/>
              <a:t> </a:t>
            </a:r>
            <a:r>
              <a:rPr lang="en-US" altLang="ko-KR" dirty="0" smtClean="0"/>
              <a:t>/  17</a:t>
            </a:r>
            <a:endParaRPr lang="ko-KR" altLang="en-US" dirty="0"/>
          </a:p>
        </p:txBody>
      </p:sp>
      <p:cxnSp>
        <p:nvCxnSpPr>
          <p:cNvPr id="13" name="직선 연결선 12"/>
          <p:cNvCxnSpPr/>
          <p:nvPr userDrawn="1"/>
        </p:nvCxnSpPr>
        <p:spPr>
          <a:xfrm>
            <a:off x="214282" y="785794"/>
            <a:ext cx="8670758" cy="0"/>
          </a:xfrm>
          <a:prstGeom prst="line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 userDrawn="1"/>
        </p:nvSpPr>
        <p:spPr>
          <a:xfrm>
            <a:off x="6296245" y="451342"/>
            <a:ext cx="26649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ko-KR" altLang="en-US" sz="800" dirty="0" smtClean="0">
                <a:solidFill>
                  <a:schemeClr val="bg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로그 분석 및 페이지 유입 분석을 통한 개선방안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날짜 개체 틀 3"/>
          <p:cNvSpPr>
            <a:spLocks noGrp="1"/>
          </p:cNvSpPr>
          <p:nvPr>
            <p:ph type="dt" sz="half" idx="2"/>
          </p:nvPr>
        </p:nvSpPr>
        <p:spPr>
          <a:xfrm>
            <a:off x="0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defRPr>
            </a:lvl1pPr>
          </a:lstStyle>
          <a:p>
            <a:r>
              <a:rPr lang="en-US" altLang="ko-KR" smtClean="0"/>
              <a:t>2017-09-18</a:t>
            </a:r>
            <a:endParaRPr lang="ko-KR" altLang="en-US"/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624840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defRPr>
            </a:lvl1pPr>
          </a:lstStyle>
          <a:p>
            <a:r>
              <a:rPr lang="en-US" altLang="ko-KR" smtClean="0"/>
              <a:t>IT</a:t>
            </a:r>
            <a:r>
              <a:rPr lang="ko-KR" altLang="en-US" smtClean="0"/>
              <a:t>기획 여승은</a:t>
            </a:r>
            <a:endParaRPr lang="ko-KR" altLang="en-US"/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3795722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defRPr>
            </a:lvl1pPr>
          </a:lstStyle>
          <a:p>
            <a:fld id="{4E52899F-B6AD-4270-801A-BD471463C794}" type="slidenum">
              <a:rPr lang="ko-KR" altLang="en-US" smtClean="0"/>
              <a:pPr/>
              <a:t>‹#›</a:t>
            </a:fld>
            <a:r>
              <a:rPr lang="ko-KR" altLang="en-US" dirty="0" smtClean="0"/>
              <a:t> </a:t>
            </a:r>
            <a:r>
              <a:rPr lang="en-US" altLang="ko-KR" dirty="0" smtClean="0"/>
              <a:t>/  17</a:t>
            </a:r>
            <a:endParaRPr lang="ko-KR" altLang="en-US" dirty="0"/>
          </a:p>
        </p:txBody>
      </p:sp>
      <p:cxnSp>
        <p:nvCxnSpPr>
          <p:cNvPr id="13" name="직선 연결선 12"/>
          <p:cNvCxnSpPr/>
          <p:nvPr userDrawn="1"/>
        </p:nvCxnSpPr>
        <p:spPr>
          <a:xfrm>
            <a:off x="214282" y="785794"/>
            <a:ext cx="8670758" cy="0"/>
          </a:xfrm>
          <a:prstGeom prst="line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0" r:id="rId2"/>
    <p:sldLayoutId id="2147483649" r:id="rId3"/>
  </p:sldLayoutIdLst>
  <p:hf hdr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8"/>
          <p:cNvSpPr txBox="1"/>
          <p:nvPr/>
        </p:nvSpPr>
        <p:spPr>
          <a:xfrm>
            <a:off x="2553789" y="4294414"/>
            <a:ext cx="3899169" cy="13849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ko-KR" sz="14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2018.03</a:t>
            </a:r>
          </a:p>
          <a:p>
            <a:pPr algn="ctr">
              <a:lnSpc>
                <a:spcPct val="150000"/>
              </a:lnSpc>
            </a:pPr>
            <a:endParaRPr lang="en-US" altLang="ko-KR" sz="14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>
              <a:lnSpc>
                <a:spcPct val="150000"/>
              </a:lnSpc>
            </a:pPr>
            <a:endParaRPr lang="en-US" altLang="ko-KR" sz="1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14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IT </a:t>
            </a:r>
            <a:r>
              <a:rPr lang="ko-KR" altLang="en-US" sz="14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미래전략본부</a:t>
            </a:r>
            <a:endParaRPr lang="en-US" altLang="ko-KR" sz="14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1142976" y="2786058"/>
            <a:ext cx="6806199" cy="0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/>
          <p:cNvCxnSpPr/>
          <p:nvPr/>
        </p:nvCxnSpPr>
        <p:spPr>
          <a:xfrm>
            <a:off x="1179154" y="1243689"/>
            <a:ext cx="6806199" cy="0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214414" y="1484784"/>
            <a:ext cx="678661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3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협업 </a:t>
            </a:r>
            <a:r>
              <a:rPr lang="ko-KR" altLang="en-US" sz="32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필터링</a:t>
            </a:r>
            <a:r>
              <a:rPr lang="ko-KR" altLang="en-US" sz="3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시스템</a:t>
            </a:r>
            <a:endParaRPr lang="en-US" altLang="ko-KR" sz="3200" b="1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en-US" altLang="ko-KR" sz="3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IBCF, UBCF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altLang="ko-KR" dirty="0" smtClean="0"/>
              <a:t>2017-09-18</a:t>
            </a:r>
            <a:endParaRPr lang="ko-KR" altLang="en-US" dirty="0"/>
          </a:p>
        </p:txBody>
      </p:sp>
      <p:sp>
        <p:nvSpPr>
          <p:cNvPr id="5" name="TextBox 6"/>
          <p:cNvSpPr txBox="1"/>
          <p:nvPr/>
        </p:nvSpPr>
        <p:spPr>
          <a:xfrm>
            <a:off x="142844" y="142852"/>
            <a:ext cx="45005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0" indent="-571500">
              <a:buFont typeface="+mj-lt"/>
              <a:buAutoNum type="romanUcPeriod"/>
            </a:pPr>
            <a:r>
              <a:rPr lang="ko-KR" altLang="en-US" sz="3200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협업 </a:t>
            </a:r>
            <a:r>
              <a:rPr lang="ko-KR" altLang="en-US" sz="3200" dirty="0" err="1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필터링</a:t>
            </a:r>
            <a:endParaRPr lang="ko-KR" altLang="en-US" sz="32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6" name="TextBox 10"/>
          <p:cNvSpPr txBox="1"/>
          <p:nvPr/>
        </p:nvSpPr>
        <p:spPr>
          <a:xfrm>
            <a:off x="316075" y="1074222"/>
            <a:ext cx="4343052" cy="33855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600" b="1" dirty="0" smtClean="0">
                <a:latin typeface="나눔고딕" pitchFamily="50" charset="-127"/>
                <a:ea typeface="나눔고딕" pitchFamily="50" charset="-127"/>
              </a:rPr>
              <a:t>협업 </a:t>
            </a:r>
            <a:r>
              <a:rPr lang="ko-KR" altLang="en-US" sz="1600" b="1" dirty="0" err="1" smtClean="0">
                <a:latin typeface="나눔고딕" pitchFamily="50" charset="-127"/>
                <a:ea typeface="나눔고딕" pitchFamily="50" charset="-127"/>
              </a:rPr>
              <a:t>필터링</a:t>
            </a:r>
            <a:r>
              <a:rPr lang="en-US" altLang="ko-KR" sz="1600" b="1" dirty="0">
                <a:latin typeface="나눔고딕" pitchFamily="50" charset="-127"/>
                <a:ea typeface="나눔고딕" pitchFamily="50" charset="-127"/>
              </a:rPr>
              <a:t> </a:t>
            </a:r>
            <a:r>
              <a:rPr lang="ko-KR" altLang="en-US" sz="1600" b="1" dirty="0" smtClean="0">
                <a:latin typeface="나눔고딕" pitchFamily="50" charset="-127"/>
                <a:ea typeface="나눔고딕" pitchFamily="50" charset="-127"/>
              </a:rPr>
              <a:t>추천 시스템</a:t>
            </a:r>
            <a:r>
              <a:rPr lang="en-US" altLang="ko-KR" sz="1600" b="1" dirty="0" smtClean="0">
                <a:latin typeface="나눔고딕" pitchFamily="50" charset="-127"/>
                <a:ea typeface="나눔고딕" pitchFamily="50" charset="-127"/>
              </a:rPr>
              <a:t>(Collaborative Filtering)</a:t>
            </a:r>
          </a:p>
        </p:txBody>
      </p:sp>
      <p:sp>
        <p:nvSpPr>
          <p:cNvPr id="11" name="슬라이드 번호 개체 틀 3"/>
          <p:cNvSpPr>
            <a:spLocks noGrp="1"/>
          </p:cNvSpPr>
          <p:nvPr>
            <p:ph type="sldNum" sz="quarter" idx="4"/>
          </p:nvPr>
        </p:nvSpPr>
        <p:spPr>
          <a:xfrm>
            <a:off x="3795722" y="6492875"/>
            <a:ext cx="2133600" cy="365125"/>
          </a:xfrm>
        </p:spPr>
        <p:txBody>
          <a:bodyPr/>
          <a:lstStyle/>
          <a:p>
            <a:fld id="{4E52899F-B6AD-4270-801A-BD471463C794}" type="slidenum">
              <a:rPr lang="ko-KR" altLang="en-US" smtClean="0"/>
              <a:pPr/>
              <a:t>2</a:t>
            </a:fld>
            <a:r>
              <a:rPr lang="ko-KR" altLang="en-US" dirty="0" smtClean="0"/>
              <a:t> </a:t>
            </a:r>
            <a:r>
              <a:rPr lang="en-US" altLang="ko-KR" dirty="0" smtClean="0"/>
              <a:t>/ 17</a:t>
            </a:r>
            <a:endParaRPr lang="ko-KR" alt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611560" y="1628800"/>
            <a:ext cx="79928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많은 사용자들로부터 얻은 </a:t>
            </a:r>
            <a:r>
              <a:rPr lang="ko-KR" altLang="en-US" sz="1400" dirty="0" smtClean="0"/>
              <a:t>기호 정보에 </a:t>
            </a:r>
            <a:r>
              <a:rPr lang="ko-KR" altLang="en-US" sz="1400" dirty="0"/>
              <a:t>따라 사용자들의 관심사를 자동적으로 예측하는 </a:t>
            </a:r>
            <a:r>
              <a:rPr lang="ko-KR" altLang="en-US" sz="1400" dirty="0" smtClean="0"/>
              <a:t>방법</a:t>
            </a:r>
            <a:endParaRPr lang="en-US" altLang="ko-KR" sz="1200" dirty="0" smtClean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11560" y="2152601"/>
            <a:ext cx="79928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err="1" smtClean="0"/>
              <a:t>넷플렉스</a:t>
            </a:r>
            <a:r>
              <a:rPr lang="en-US" altLang="ko-KR" sz="1400" dirty="0" smtClean="0"/>
              <a:t>, </a:t>
            </a:r>
            <a:r>
              <a:rPr lang="ko-KR" altLang="en-US" sz="1400" dirty="0" err="1" smtClean="0"/>
              <a:t>왓챠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아마존 등에서 주로 사용하는 알고리즘</a:t>
            </a:r>
            <a:endParaRPr lang="en-US" altLang="ko-KR" sz="1200" dirty="0" smtClean="0">
              <a:latin typeface="나눔고딕" pitchFamily="50" charset="-127"/>
              <a:ea typeface="나눔고딕" pitchFamily="50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285" y="3771288"/>
            <a:ext cx="3838841" cy="2160289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2522" y="3771288"/>
            <a:ext cx="3633624" cy="216028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11560" y="2672915"/>
            <a:ext cx="79928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err="1" smtClean="0">
                <a:ea typeface="나눔고딕" panose="020D0604000000000000"/>
              </a:rPr>
              <a:t>유저기반</a:t>
            </a:r>
            <a:r>
              <a:rPr lang="en-US" altLang="ko-KR" sz="1400" dirty="0" smtClean="0">
                <a:ea typeface="나눔고딕" panose="020D0604000000000000"/>
              </a:rPr>
              <a:t>(User-based CF), </a:t>
            </a:r>
            <a:r>
              <a:rPr lang="ko-KR" altLang="en-US" sz="1400" dirty="0" err="1" smtClean="0">
                <a:ea typeface="나눔고딕" panose="020D0604000000000000"/>
              </a:rPr>
              <a:t>아이템기반</a:t>
            </a:r>
            <a:r>
              <a:rPr lang="en-US" altLang="ko-KR" sz="1400" dirty="0" smtClean="0">
                <a:ea typeface="나눔고딕" panose="020D0604000000000000"/>
              </a:rPr>
              <a:t>(Item-based CF), </a:t>
            </a:r>
            <a:r>
              <a:rPr lang="ko-KR" altLang="en-US" sz="1400" dirty="0" smtClean="0">
                <a:ea typeface="나눔고딕" panose="020D0604000000000000"/>
              </a:rPr>
              <a:t>지식기반</a:t>
            </a:r>
            <a:r>
              <a:rPr lang="en-US" altLang="ko-KR" sz="1400" dirty="0" smtClean="0">
                <a:ea typeface="나눔고딕" panose="020D0604000000000000"/>
              </a:rPr>
              <a:t>(Knowledge-based F)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1560" y="3187380"/>
            <a:ext cx="79928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err="1">
                <a:latin typeface="나눔고딕" pitchFamily="50" charset="-127"/>
                <a:ea typeface="나눔고딕" pitchFamily="50" charset="-127"/>
              </a:rPr>
              <a:t>콘텐츠기반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(Content-based CF), </a:t>
            </a:r>
            <a:r>
              <a:rPr lang="ko-KR" altLang="en-US" sz="1400" dirty="0" err="1">
                <a:latin typeface="나눔고딕" pitchFamily="50" charset="-127"/>
                <a:ea typeface="나눔고딕" pitchFamily="50" charset="-127"/>
              </a:rPr>
              <a:t>하이브리드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 </a:t>
            </a:r>
            <a:r>
              <a:rPr lang="ko-KR" altLang="en-US" sz="1400" dirty="0" err="1">
                <a:latin typeface="나눔고딕" pitchFamily="50" charset="-127"/>
                <a:ea typeface="나눔고딕" pitchFamily="50" charset="-127"/>
              </a:rPr>
              <a:t>필터링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(Hybrid F)</a:t>
            </a:r>
            <a:endParaRPr lang="en-US" altLang="ko-KR" sz="1200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3" name="바닥글 개체 틀 2"/>
          <p:cNvSpPr>
            <a:spLocks noGrp="1"/>
          </p:cNvSpPr>
          <p:nvPr>
            <p:ph type="ftr" sz="quarter" idx="3"/>
          </p:nvPr>
        </p:nvSpPr>
        <p:spPr>
          <a:xfrm>
            <a:off x="6248400" y="6492875"/>
            <a:ext cx="2895600" cy="365125"/>
          </a:xfrm>
        </p:spPr>
        <p:txBody>
          <a:bodyPr/>
          <a:lstStyle/>
          <a:p>
            <a:r>
              <a:rPr lang="en-US" altLang="ko-KR" dirty="0" smtClean="0"/>
              <a:t>IT</a:t>
            </a:r>
            <a:r>
              <a:rPr lang="ko-KR" altLang="en-US" dirty="0" smtClean="0"/>
              <a:t>미래전략본부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altLang="ko-KR" dirty="0" smtClean="0"/>
              <a:t>2017-09-18</a:t>
            </a:r>
            <a:endParaRPr lang="ko-KR" altLang="en-US" dirty="0"/>
          </a:p>
        </p:txBody>
      </p:sp>
      <p:sp>
        <p:nvSpPr>
          <p:cNvPr id="5" name="TextBox 6"/>
          <p:cNvSpPr txBox="1"/>
          <p:nvPr/>
        </p:nvSpPr>
        <p:spPr>
          <a:xfrm>
            <a:off x="142844" y="142852"/>
            <a:ext cx="45005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3200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협업 </a:t>
            </a:r>
            <a:r>
              <a:rPr lang="ko-KR" altLang="en-US" sz="3200" dirty="0" err="1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필터링</a:t>
            </a:r>
            <a:endParaRPr lang="ko-KR" altLang="en-US" sz="32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6" name="TextBox 10"/>
          <p:cNvSpPr txBox="1"/>
          <p:nvPr/>
        </p:nvSpPr>
        <p:spPr>
          <a:xfrm>
            <a:off x="316075" y="1074222"/>
            <a:ext cx="4327364" cy="33855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600" b="1" dirty="0" smtClean="0">
                <a:latin typeface="나눔고딕" pitchFamily="50" charset="-127"/>
                <a:ea typeface="나눔고딕" pitchFamily="50" charset="-127"/>
              </a:rPr>
              <a:t>협업 </a:t>
            </a:r>
            <a:r>
              <a:rPr lang="ko-KR" altLang="en-US" sz="1600" b="1" dirty="0" err="1" smtClean="0">
                <a:latin typeface="나눔고딕" pitchFamily="50" charset="-127"/>
                <a:ea typeface="나눔고딕" pitchFamily="50" charset="-127"/>
              </a:rPr>
              <a:t>필터링</a:t>
            </a:r>
            <a:r>
              <a:rPr lang="en-US" altLang="ko-KR" sz="1600" b="1" dirty="0">
                <a:latin typeface="나눔고딕" pitchFamily="50" charset="-127"/>
                <a:ea typeface="나눔고딕" pitchFamily="50" charset="-127"/>
              </a:rPr>
              <a:t> </a:t>
            </a:r>
            <a:r>
              <a:rPr lang="ko-KR" altLang="en-US" sz="1600" b="1" dirty="0" smtClean="0">
                <a:latin typeface="나눔고딕" pitchFamily="50" charset="-127"/>
                <a:ea typeface="나눔고딕" pitchFamily="50" charset="-127"/>
              </a:rPr>
              <a:t>추천 시스템</a:t>
            </a:r>
            <a:r>
              <a:rPr lang="en-US" altLang="ko-KR" sz="1600" b="1" dirty="0" smtClean="0">
                <a:latin typeface="나눔고딕" pitchFamily="50" charset="-127"/>
                <a:ea typeface="나눔고딕" pitchFamily="50" charset="-127"/>
              </a:rPr>
              <a:t>(Collaborative Filtering)</a:t>
            </a:r>
          </a:p>
        </p:txBody>
      </p:sp>
      <p:sp>
        <p:nvSpPr>
          <p:cNvPr id="11" name="슬라이드 번호 개체 틀 3"/>
          <p:cNvSpPr>
            <a:spLocks noGrp="1"/>
          </p:cNvSpPr>
          <p:nvPr>
            <p:ph type="sldNum" sz="quarter" idx="4"/>
          </p:nvPr>
        </p:nvSpPr>
        <p:spPr>
          <a:xfrm>
            <a:off x="3795722" y="6492875"/>
            <a:ext cx="2133600" cy="365125"/>
          </a:xfrm>
        </p:spPr>
        <p:txBody>
          <a:bodyPr/>
          <a:lstStyle/>
          <a:p>
            <a:fld id="{4E52899F-B6AD-4270-801A-BD471463C794}" type="slidenum">
              <a:rPr lang="ko-KR" altLang="en-US" smtClean="0"/>
              <a:pPr/>
              <a:t>3</a:t>
            </a:fld>
            <a:r>
              <a:rPr lang="ko-KR" altLang="en-US" dirty="0" smtClean="0"/>
              <a:t> </a:t>
            </a:r>
            <a:r>
              <a:rPr lang="en-US" altLang="ko-KR" dirty="0" smtClean="0"/>
              <a:t>/ 17</a:t>
            </a:r>
            <a:endParaRPr lang="ko-KR" altLang="en-US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5764" y="2329716"/>
            <a:ext cx="3280604" cy="2264636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611560" y="1609636"/>
            <a:ext cx="79928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b="1" dirty="0">
                <a:latin typeface="돋움" panose="020B0600000101010101" pitchFamily="50" charset="-127"/>
                <a:ea typeface="돋움" panose="020B0600000101010101" pitchFamily="50" charset="-127"/>
              </a:rPr>
              <a:t>추천 </a:t>
            </a:r>
            <a:r>
              <a:rPr lang="ko-KR" altLang="en-US" sz="1400" b="1" dirty="0" err="1">
                <a:latin typeface="돋움" panose="020B0600000101010101" pitchFamily="50" charset="-127"/>
                <a:ea typeface="돋움" panose="020B0600000101010101" pitchFamily="50" charset="-127"/>
              </a:rPr>
              <a:t>대상자하고</a:t>
            </a:r>
            <a:r>
              <a:rPr lang="ko-KR" altLang="en-US" sz="1400" b="1" dirty="0">
                <a:latin typeface="돋움" panose="020B0600000101010101" pitchFamily="50" charset="-127"/>
                <a:ea typeface="돋움" panose="020B0600000101010101" pitchFamily="50" charset="-127"/>
              </a:rPr>
              <a:t> 비슷한 취향을 가진 사람들을 대상으로</a:t>
            </a:r>
            <a:r>
              <a:rPr lang="en-US" altLang="ko-KR" sz="1400" b="1" dirty="0">
                <a:latin typeface="돋움" panose="020B0600000101010101" pitchFamily="50" charset="-127"/>
                <a:ea typeface="돋움" panose="020B0600000101010101" pitchFamily="50" charset="-127"/>
              </a:rPr>
              <a:t>, </a:t>
            </a:r>
            <a:r>
              <a:rPr lang="ko-KR" altLang="en-US" sz="1400" b="1" dirty="0" smtClean="0">
                <a:latin typeface="돋움" panose="020B0600000101010101" pitchFamily="50" charset="-127"/>
                <a:ea typeface="돋움" panose="020B0600000101010101" pitchFamily="50" charset="-127"/>
              </a:rPr>
              <a:t>그 </a:t>
            </a:r>
            <a:r>
              <a:rPr lang="ko-KR" altLang="en-US" sz="1400" b="1" dirty="0">
                <a:latin typeface="돋움" panose="020B0600000101010101" pitchFamily="50" charset="-127"/>
                <a:ea typeface="돋움" panose="020B0600000101010101" pitchFamily="50" charset="-127"/>
              </a:rPr>
              <a:t>사람들이 대부분 </a:t>
            </a:r>
            <a:r>
              <a:rPr lang="ko-KR" altLang="en-US" sz="1400" b="1" dirty="0" smtClean="0">
                <a:latin typeface="돋움" panose="020B0600000101010101" pitchFamily="50" charset="-127"/>
                <a:ea typeface="돋움" panose="020B0600000101010101" pitchFamily="50" charset="-127"/>
              </a:rPr>
              <a:t>좋아하는</a:t>
            </a:r>
            <a:endParaRPr lang="en-US" altLang="ko-KR" sz="1400" b="1" dirty="0" smtClean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r>
              <a:rPr lang="ko-KR" altLang="en-US" sz="1400" b="1" dirty="0">
                <a:latin typeface="돋움" panose="020B0600000101010101" pitchFamily="50" charset="-127"/>
                <a:ea typeface="돋움" panose="020B0600000101010101" pitchFamily="50" charset="-127"/>
              </a:rPr>
              <a:t> </a:t>
            </a:r>
            <a:r>
              <a:rPr lang="ko-KR" altLang="en-US" sz="1400" b="1" dirty="0" smtClean="0">
                <a:latin typeface="돋움" panose="020B0600000101010101" pitchFamily="50" charset="-127"/>
                <a:ea typeface="돋움" panose="020B0600000101010101" pitchFamily="50" charset="-127"/>
              </a:rPr>
              <a:t>    또다른 </a:t>
            </a:r>
            <a:r>
              <a:rPr lang="ko-KR" altLang="en-US" sz="1400" b="1" dirty="0">
                <a:latin typeface="돋움" panose="020B0600000101010101" pitchFamily="50" charset="-127"/>
                <a:ea typeface="돋움" panose="020B0600000101010101" pitchFamily="50" charset="-127"/>
              </a:rPr>
              <a:t>상품 및 제품을 </a:t>
            </a:r>
            <a:r>
              <a:rPr lang="ko-KR" altLang="en-US" sz="1400" b="1" dirty="0" smtClean="0">
                <a:latin typeface="돋움" panose="020B0600000101010101" pitchFamily="50" charset="-127"/>
                <a:ea typeface="돋움" panose="020B0600000101010101" pitchFamily="50" charset="-127"/>
              </a:rPr>
              <a:t>추천해 주는 것</a:t>
            </a:r>
            <a:endParaRPr lang="ko-KR" altLang="en-US" sz="1400" dirty="0">
              <a:latin typeface="Dotum" panose="020B0600000101010101" pitchFamily="50" charset="-127"/>
              <a:ea typeface="Dotum" panose="020B0600000101010101" pitchFamily="50" charset="-127"/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9672" y="4725144"/>
            <a:ext cx="5989307" cy="1359421"/>
          </a:xfrm>
          <a:prstGeom prst="rect">
            <a:avLst/>
          </a:prstGeom>
        </p:spPr>
      </p:pic>
      <p:sp>
        <p:nvSpPr>
          <p:cNvPr id="12" name="바닥글 개체 틀 2"/>
          <p:cNvSpPr>
            <a:spLocks noGrp="1"/>
          </p:cNvSpPr>
          <p:nvPr>
            <p:ph type="ftr" sz="quarter" idx="3"/>
          </p:nvPr>
        </p:nvSpPr>
        <p:spPr>
          <a:xfrm>
            <a:off x="6248400" y="6492875"/>
            <a:ext cx="2895600" cy="365125"/>
          </a:xfrm>
        </p:spPr>
        <p:txBody>
          <a:bodyPr/>
          <a:lstStyle/>
          <a:p>
            <a:r>
              <a:rPr lang="en-US" altLang="ko-KR" dirty="0" smtClean="0"/>
              <a:t>IT</a:t>
            </a:r>
            <a:r>
              <a:rPr lang="ko-KR" altLang="en-US" dirty="0" smtClean="0"/>
              <a:t>미래전략본부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61019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altLang="ko-KR" dirty="0" smtClean="0"/>
              <a:t>2017-09-18</a:t>
            </a:r>
            <a:endParaRPr lang="ko-KR" altLang="en-US" dirty="0"/>
          </a:p>
        </p:txBody>
      </p:sp>
      <p:sp>
        <p:nvSpPr>
          <p:cNvPr id="5" name="TextBox 6"/>
          <p:cNvSpPr txBox="1"/>
          <p:nvPr/>
        </p:nvSpPr>
        <p:spPr>
          <a:xfrm>
            <a:off x="251520" y="142852"/>
            <a:ext cx="45005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3200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협업 </a:t>
            </a:r>
            <a:r>
              <a:rPr lang="ko-KR" altLang="en-US" sz="3200" dirty="0" err="1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필터링</a:t>
            </a:r>
            <a:endParaRPr lang="ko-KR" altLang="en-US" sz="32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1" name="슬라이드 번호 개체 틀 3"/>
          <p:cNvSpPr>
            <a:spLocks noGrp="1"/>
          </p:cNvSpPr>
          <p:nvPr>
            <p:ph type="sldNum" sz="quarter" idx="4"/>
          </p:nvPr>
        </p:nvSpPr>
        <p:spPr>
          <a:xfrm>
            <a:off x="3795722" y="6492875"/>
            <a:ext cx="2133600" cy="365125"/>
          </a:xfrm>
        </p:spPr>
        <p:txBody>
          <a:bodyPr/>
          <a:lstStyle/>
          <a:p>
            <a:fld id="{4E52899F-B6AD-4270-801A-BD471463C794}" type="slidenum">
              <a:rPr lang="ko-KR" altLang="en-US" smtClean="0"/>
              <a:pPr/>
              <a:t>4</a:t>
            </a:fld>
            <a:r>
              <a:rPr lang="ko-KR" altLang="en-US" dirty="0" smtClean="0"/>
              <a:t> </a:t>
            </a:r>
            <a:r>
              <a:rPr lang="en-US" altLang="ko-KR" dirty="0" smtClean="0"/>
              <a:t>/ 17</a:t>
            </a:r>
            <a:endParaRPr lang="ko-KR" alt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611560" y="1628800"/>
            <a:ext cx="79928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smtClean="0"/>
              <a:t>사용자가 이전에 구매한것들과 가장 유사한 아이템 추천</a:t>
            </a:r>
            <a:endParaRPr lang="en-US" altLang="ko-KR" sz="1200" dirty="0" smtClean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10557" y="2132856"/>
            <a:ext cx="79928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smtClean="0"/>
              <a:t>기본 전제는 과거에 유사한 취향을 지닌 사람은 미래에도 유사한 항목을 좋아할 것이라는 점</a:t>
            </a:r>
            <a:endParaRPr lang="en-US" altLang="ko-KR" sz="1200" dirty="0" smtClean="0">
              <a:latin typeface="나눔고딕" pitchFamily="50" charset="-127"/>
              <a:ea typeface="나눔고딕" pitchFamily="50" charset="-127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9792" y="3872498"/>
            <a:ext cx="4176464" cy="249516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10557" y="2636912"/>
            <a:ext cx="799288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err="1" smtClean="0"/>
              <a:t>데이터양이</a:t>
            </a:r>
            <a:r>
              <a:rPr lang="ko-KR" altLang="en-US" sz="1400" dirty="0" smtClean="0"/>
              <a:t> 작고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데이터 변경이 자주 일어나는 경우</a:t>
            </a:r>
            <a:endParaRPr lang="en-US" altLang="ko-KR" sz="1400" dirty="0" smtClean="0"/>
          </a:p>
          <a:p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 </a:t>
            </a:r>
            <a:r>
              <a:rPr lang="en-US" altLang="ko-KR" sz="1400" dirty="0" smtClean="0">
                <a:latin typeface="나눔고딕" pitchFamily="50" charset="-127"/>
                <a:ea typeface="나눔고딕" pitchFamily="50" charset="-127"/>
              </a:rPr>
              <a:t>    </a:t>
            </a:r>
          </a:p>
          <a:p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 </a:t>
            </a:r>
            <a:r>
              <a:rPr lang="en-US" altLang="ko-KR" sz="1400" dirty="0" smtClean="0">
                <a:latin typeface="나눔고딕" pitchFamily="50" charset="-127"/>
                <a:ea typeface="나눔고딕" pitchFamily="50" charset="-127"/>
              </a:rPr>
              <a:t>    EX) </a:t>
            </a:r>
            <a:r>
              <a:rPr lang="ko-KR" altLang="en-US" sz="1400" dirty="0" smtClean="0">
                <a:latin typeface="나눔고딕" pitchFamily="50" charset="-127"/>
                <a:ea typeface="나눔고딕" pitchFamily="50" charset="-127"/>
              </a:rPr>
              <a:t>한 반의 모든 학생에 대한 설문조사</a:t>
            </a:r>
            <a:endParaRPr lang="en-US" altLang="ko-KR" sz="1200" dirty="0" smtClean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28468" y="3553271"/>
            <a:ext cx="79928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smtClean="0"/>
              <a:t>실시간으로 </a:t>
            </a:r>
            <a:r>
              <a:rPr lang="ko-KR" altLang="en-US" sz="1400" dirty="0" err="1" smtClean="0"/>
              <a:t>유사도를</a:t>
            </a:r>
            <a:r>
              <a:rPr lang="ko-KR" altLang="en-US" sz="1400" dirty="0" smtClean="0"/>
              <a:t> 계산</a:t>
            </a:r>
            <a:endParaRPr lang="en-US" altLang="ko-KR" sz="1200" dirty="0" smtClean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2" name="TextBox 10"/>
          <p:cNvSpPr txBox="1"/>
          <p:nvPr/>
        </p:nvSpPr>
        <p:spPr>
          <a:xfrm>
            <a:off x="251520" y="1091687"/>
            <a:ext cx="3384376" cy="33855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600" b="1" dirty="0">
                <a:latin typeface="나눔고딕" pitchFamily="50" charset="-127"/>
                <a:ea typeface="나눔고딕" pitchFamily="50" charset="-127"/>
              </a:rPr>
              <a:t>유저기반 </a:t>
            </a:r>
            <a:r>
              <a:rPr lang="ko-KR" altLang="en-US" sz="1600" b="1" dirty="0" err="1">
                <a:latin typeface="나눔고딕" pitchFamily="50" charset="-127"/>
                <a:ea typeface="나눔고딕" pitchFamily="50" charset="-127"/>
              </a:rPr>
              <a:t>협업필터링</a:t>
            </a:r>
            <a:r>
              <a:rPr lang="en-US" altLang="ko-KR" sz="1600" b="1" dirty="0">
                <a:latin typeface="나눔고딕" pitchFamily="50" charset="-127"/>
                <a:ea typeface="나눔고딕" pitchFamily="50" charset="-127"/>
              </a:rPr>
              <a:t>(User-based CF)</a:t>
            </a:r>
          </a:p>
        </p:txBody>
      </p:sp>
      <p:sp>
        <p:nvSpPr>
          <p:cNvPr id="13" name="바닥글 개체 틀 2"/>
          <p:cNvSpPr>
            <a:spLocks noGrp="1"/>
          </p:cNvSpPr>
          <p:nvPr>
            <p:ph type="ftr" sz="quarter" idx="3"/>
          </p:nvPr>
        </p:nvSpPr>
        <p:spPr>
          <a:xfrm>
            <a:off x="6248400" y="6492875"/>
            <a:ext cx="2895600" cy="365125"/>
          </a:xfrm>
        </p:spPr>
        <p:txBody>
          <a:bodyPr/>
          <a:lstStyle/>
          <a:p>
            <a:r>
              <a:rPr lang="en-US" altLang="ko-KR" dirty="0" smtClean="0"/>
              <a:t>IT</a:t>
            </a:r>
            <a:r>
              <a:rPr lang="ko-KR" altLang="en-US" dirty="0" smtClean="0"/>
              <a:t>미래전략본부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76372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altLang="ko-KR" dirty="0" smtClean="0"/>
              <a:t>2017-09-18</a:t>
            </a:r>
            <a:endParaRPr lang="ko-KR" altLang="en-US" dirty="0"/>
          </a:p>
        </p:txBody>
      </p:sp>
      <p:sp>
        <p:nvSpPr>
          <p:cNvPr id="5" name="TextBox 6"/>
          <p:cNvSpPr txBox="1"/>
          <p:nvPr/>
        </p:nvSpPr>
        <p:spPr>
          <a:xfrm>
            <a:off x="251520" y="142852"/>
            <a:ext cx="45005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3200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협업 </a:t>
            </a:r>
            <a:r>
              <a:rPr lang="ko-KR" altLang="en-US" sz="3200" dirty="0" err="1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필터링</a:t>
            </a:r>
            <a:endParaRPr lang="ko-KR" altLang="en-US" sz="32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1" name="슬라이드 번호 개체 틀 3"/>
          <p:cNvSpPr>
            <a:spLocks noGrp="1"/>
          </p:cNvSpPr>
          <p:nvPr>
            <p:ph type="sldNum" sz="quarter" idx="4"/>
          </p:nvPr>
        </p:nvSpPr>
        <p:spPr>
          <a:xfrm>
            <a:off x="3795722" y="6492875"/>
            <a:ext cx="2133600" cy="365125"/>
          </a:xfrm>
        </p:spPr>
        <p:txBody>
          <a:bodyPr/>
          <a:lstStyle/>
          <a:p>
            <a:fld id="{4E52899F-B6AD-4270-801A-BD471463C794}" type="slidenum">
              <a:rPr lang="ko-KR" altLang="en-US" smtClean="0"/>
              <a:pPr/>
              <a:t>5</a:t>
            </a:fld>
            <a:r>
              <a:rPr lang="ko-KR" altLang="en-US" dirty="0" smtClean="0"/>
              <a:t> </a:t>
            </a:r>
            <a:r>
              <a:rPr lang="en-US" altLang="ko-KR" dirty="0" smtClean="0"/>
              <a:t>/ 17</a:t>
            </a:r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611560" y="2996952"/>
            <a:ext cx="79928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smtClean="0"/>
              <a:t>항목간 </a:t>
            </a:r>
            <a:r>
              <a:rPr lang="ko-KR" altLang="en-US" sz="1400" dirty="0" err="1" smtClean="0"/>
              <a:t>유사도를</a:t>
            </a:r>
            <a:r>
              <a:rPr lang="ko-KR" altLang="en-US" sz="1400" dirty="0" smtClean="0"/>
              <a:t> 저장하여 사용</a:t>
            </a:r>
            <a:endParaRPr lang="en-US" altLang="ko-KR" sz="1200" dirty="0" smtClean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11560" y="2132856"/>
            <a:ext cx="799288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err="1" smtClean="0"/>
              <a:t>데이터양이</a:t>
            </a:r>
            <a:r>
              <a:rPr lang="ko-KR" altLang="en-US" sz="1400" dirty="0" smtClean="0"/>
              <a:t> 크고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데이터 변경이 자주 일어나지 않는 경우</a:t>
            </a:r>
            <a:endParaRPr lang="en-US" altLang="ko-KR" sz="1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>
              <a:latin typeface="나눔고딕" pitchFamily="50" charset="-127"/>
              <a:ea typeface="나눔고딕" pitchFamily="50" charset="-127"/>
            </a:endParaRPr>
          </a:p>
          <a:p>
            <a:r>
              <a:rPr lang="en-US" altLang="ko-KR" sz="1400" dirty="0" smtClean="0">
                <a:latin typeface="나눔고딕" pitchFamily="50" charset="-127"/>
                <a:ea typeface="나눔고딕" pitchFamily="50" charset="-127"/>
              </a:rPr>
              <a:t>     EX) </a:t>
            </a:r>
            <a:r>
              <a:rPr lang="ko-KR" altLang="en-US" sz="1400" dirty="0" smtClean="0">
                <a:latin typeface="나눔고딕" pitchFamily="50" charset="-127"/>
                <a:ea typeface="나눔고딕" pitchFamily="50" charset="-127"/>
              </a:rPr>
              <a:t>대형 사이트에서의 책</a:t>
            </a:r>
            <a:r>
              <a:rPr lang="en-US" altLang="ko-KR" sz="1400" dirty="0" smtClean="0"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400" dirty="0" err="1" smtClean="0">
                <a:latin typeface="나눔고딕" pitchFamily="50" charset="-127"/>
                <a:ea typeface="나눔고딕" pitchFamily="50" charset="-127"/>
              </a:rPr>
              <a:t>영화등에</a:t>
            </a:r>
            <a:r>
              <a:rPr lang="ko-KR" altLang="en-US" sz="1400" dirty="0" smtClean="0">
                <a:latin typeface="나눔고딕" pitchFamily="50" charset="-127"/>
                <a:ea typeface="나눔고딕" pitchFamily="50" charset="-127"/>
              </a:rPr>
              <a:t> 대한 추천</a:t>
            </a:r>
            <a:endParaRPr lang="en-US" altLang="ko-KR" sz="1200" dirty="0" smtClean="0">
              <a:latin typeface="나눔고딕" pitchFamily="50" charset="-127"/>
              <a:ea typeface="나눔고딕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761" y="3392712"/>
            <a:ext cx="4458252" cy="298595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11560" y="1658034"/>
            <a:ext cx="79928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smtClean="0"/>
              <a:t>사용자 기반 협업 </a:t>
            </a:r>
            <a:r>
              <a:rPr lang="ko-KR" altLang="en-US" sz="1400" dirty="0" err="1" smtClean="0"/>
              <a:t>필터링과</a:t>
            </a:r>
            <a:r>
              <a:rPr lang="ko-KR" altLang="en-US" sz="1400" dirty="0" smtClean="0"/>
              <a:t> 달리 사용자 간의 유사도 대신 아이템 간의 </a:t>
            </a:r>
            <a:r>
              <a:rPr lang="ko-KR" altLang="en-US" sz="1400" dirty="0" err="1" smtClean="0"/>
              <a:t>유사도를</a:t>
            </a:r>
            <a:r>
              <a:rPr lang="ko-KR" altLang="en-US" sz="1400" dirty="0" smtClean="0"/>
              <a:t> 이용</a:t>
            </a:r>
            <a:endParaRPr lang="en-US" altLang="ko-KR" sz="1200" dirty="0" smtClean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4" name="TextBox 10"/>
          <p:cNvSpPr txBox="1"/>
          <p:nvPr/>
        </p:nvSpPr>
        <p:spPr>
          <a:xfrm>
            <a:off x="251521" y="1074222"/>
            <a:ext cx="3672408" cy="33855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600" b="1" dirty="0">
                <a:latin typeface="나눔고딕" pitchFamily="50" charset="-127"/>
                <a:ea typeface="나눔고딕" pitchFamily="50" charset="-127"/>
              </a:rPr>
              <a:t>아이템 기반 협업 </a:t>
            </a:r>
            <a:r>
              <a:rPr lang="ko-KR" altLang="en-US" sz="1600" b="1" dirty="0" err="1">
                <a:latin typeface="나눔고딕" pitchFamily="50" charset="-127"/>
                <a:ea typeface="나눔고딕" pitchFamily="50" charset="-127"/>
              </a:rPr>
              <a:t>필터링</a:t>
            </a:r>
            <a:r>
              <a:rPr lang="en-US" altLang="ko-KR" sz="1600" b="1" dirty="0">
                <a:latin typeface="나눔고딕" pitchFamily="50" charset="-127"/>
                <a:ea typeface="나눔고딕" pitchFamily="50" charset="-127"/>
              </a:rPr>
              <a:t>(Item-based CF)</a:t>
            </a:r>
          </a:p>
        </p:txBody>
      </p:sp>
      <p:sp>
        <p:nvSpPr>
          <p:cNvPr id="16" name="바닥글 개체 틀 2"/>
          <p:cNvSpPr>
            <a:spLocks noGrp="1"/>
          </p:cNvSpPr>
          <p:nvPr>
            <p:ph type="ftr" sz="quarter" idx="3"/>
          </p:nvPr>
        </p:nvSpPr>
        <p:spPr>
          <a:xfrm>
            <a:off x="6248400" y="6492875"/>
            <a:ext cx="2895600" cy="365125"/>
          </a:xfrm>
        </p:spPr>
        <p:txBody>
          <a:bodyPr/>
          <a:lstStyle/>
          <a:p>
            <a:r>
              <a:rPr lang="en-US" altLang="ko-KR" dirty="0" smtClean="0"/>
              <a:t>IT</a:t>
            </a:r>
            <a:r>
              <a:rPr lang="ko-KR" altLang="en-US" dirty="0" smtClean="0"/>
              <a:t>미래전략본부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60339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altLang="ko-KR" dirty="0" smtClean="0"/>
              <a:t>2017-09-18</a:t>
            </a:r>
            <a:endParaRPr lang="ko-KR" altLang="en-US" dirty="0"/>
          </a:p>
        </p:txBody>
      </p:sp>
      <p:sp>
        <p:nvSpPr>
          <p:cNvPr id="5" name="TextBox 6"/>
          <p:cNvSpPr txBox="1"/>
          <p:nvPr/>
        </p:nvSpPr>
        <p:spPr>
          <a:xfrm>
            <a:off x="142844" y="142852"/>
            <a:ext cx="45005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3200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유사도 측정</a:t>
            </a:r>
            <a:endParaRPr lang="ko-KR" altLang="en-US" sz="32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1" name="슬라이드 번호 개체 틀 3"/>
          <p:cNvSpPr>
            <a:spLocks noGrp="1"/>
          </p:cNvSpPr>
          <p:nvPr>
            <p:ph type="sldNum" sz="quarter" idx="4"/>
          </p:nvPr>
        </p:nvSpPr>
        <p:spPr>
          <a:xfrm>
            <a:off x="3795722" y="6492875"/>
            <a:ext cx="2133600" cy="365125"/>
          </a:xfrm>
        </p:spPr>
        <p:txBody>
          <a:bodyPr/>
          <a:lstStyle/>
          <a:p>
            <a:fld id="{4E52899F-B6AD-4270-801A-BD471463C794}" type="slidenum">
              <a:rPr lang="ko-KR" altLang="en-US" smtClean="0"/>
              <a:pPr/>
              <a:t>6</a:t>
            </a:fld>
            <a:r>
              <a:rPr lang="ko-KR" altLang="en-US" dirty="0" smtClean="0"/>
              <a:t> </a:t>
            </a:r>
            <a:r>
              <a:rPr lang="en-US" altLang="ko-KR" dirty="0" smtClean="0"/>
              <a:t>/ 17</a:t>
            </a:r>
            <a:endParaRPr lang="ko-KR" alt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611560" y="1628800"/>
            <a:ext cx="79928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smtClean="0"/>
              <a:t>데이터 분석 문제를 해결하는 과정에서 매우 중요한 절차</a:t>
            </a:r>
            <a:endParaRPr lang="en-US" altLang="ko-KR" sz="1200" dirty="0" smtClean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18456" y="2152601"/>
            <a:ext cx="79928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smtClean="0"/>
              <a:t>데이터 정제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변환</a:t>
            </a:r>
            <a:r>
              <a:rPr lang="en-US" altLang="ko-KR" sz="1400" dirty="0" smtClean="0"/>
              <a:t>, </a:t>
            </a:r>
            <a:r>
              <a:rPr lang="ko-KR" altLang="en-US" sz="1400" dirty="0" err="1" smtClean="0"/>
              <a:t>결측지</a:t>
            </a:r>
            <a:r>
              <a:rPr lang="ko-KR" altLang="en-US" sz="1400" dirty="0" smtClean="0"/>
              <a:t> 확인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처리 방법을 포함</a:t>
            </a:r>
            <a:endParaRPr lang="en-US" altLang="ko-KR" sz="1200" dirty="0" smtClean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7" name="TextBox 10"/>
          <p:cNvSpPr txBox="1"/>
          <p:nvPr/>
        </p:nvSpPr>
        <p:spPr>
          <a:xfrm>
            <a:off x="395536" y="1074222"/>
            <a:ext cx="1951670" cy="33855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600" b="1" dirty="0" smtClean="0">
                <a:latin typeface="나눔고딕" pitchFamily="50" charset="-127"/>
                <a:ea typeface="나눔고딕" pitchFamily="50" charset="-127"/>
              </a:rPr>
              <a:t>데이터 전처리 기법</a:t>
            </a:r>
            <a:endParaRPr lang="en-US" altLang="ko-KR" sz="1600" b="1" dirty="0" smtClean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8" name="타원 7"/>
          <p:cNvSpPr/>
          <p:nvPr/>
        </p:nvSpPr>
        <p:spPr>
          <a:xfrm>
            <a:off x="948881" y="3507767"/>
            <a:ext cx="1444260" cy="1413918"/>
          </a:xfrm>
          <a:prstGeom prst="ellipse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smtClean="0"/>
              <a:t>데이터 전처리 </a:t>
            </a:r>
            <a:endParaRPr lang="ko-KR" altLang="en-US" sz="1600" dirty="0"/>
          </a:p>
        </p:txBody>
      </p:sp>
      <p:cxnSp>
        <p:nvCxnSpPr>
          <p:cNvPr id="10" name="직선 화살표 연결선 9"/>
          <p:cNvCxnSpPr>
            <a:stCxn id="8" idx="6"/>
          </p:cNvCxnSpPr>
          <p:nvPr/>
        </p:nvCxnSpPr>
        <p:spPr>
          <a:xfrm>
            <a:off x="2393141" y="4214726"/>
            <a:ext cx="10267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타원 11"/>
          <p:cNvSpPr/>
          <p:nvPr/>
        </p:nvSpPr>
        <p:spPr>
          <a:xfrm>
            <a:off x="3419872" y="3645024"/>
            <a:ext cx="1296144" cy="1224136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smtClean="0"/>
              <a:t>유사도 측정</a:t>
            </a:r>
            <a:endParaRPr lang="ko-KR" altLang="en-US" sz="1600" dirty="0"/>
          </a:p>
        </p:txBody>
      </p:sp>
      <p:cxnSp>
        <p:nvCxnSpPr>
          <p:cNvPr id="26" name="직선 화살표 연결선 25"/>
          <p:cNvCxnSpPr>
            <a:stCxn id="12" idx="7"/>
            <a:endCxn id="51" idx="1"/>
          </p:cNvCxnSpPr>
          <p:nvPr/>
        </p:nvCxnSpPr>
        <p:spPr>
          <a:xfrm flipV="1">
            <a:off x="4526200" y="3261732"/>
            <a:ext cx="2062024" cy="5625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직선 화살표 연결선 27"/>
          <p:cNvCxnSpPr>
            <a:stCxn id="12" idx="6"/>
            <a:endCxn id="48" idx="1"/>
          </p:cNvCxnSpPr>
          <p:nvPr/>
        </p:nvCxnSpPr>
        <p:spPr>
          <a:xfrm>
            <a:off x="4716016" y="4257092"/>
            <a:ext cx="1872208" cy="190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직선 화살표 연결선 29"/>
          <p:cNvCxnSpPr>
            <a:stCxn id="12" idx="5"/>
            <a:endCxn id="35" idx="1"/>
          </p:cNvCxnSpPr>
          <p:nvPr/>
        </p:nvCxnSpPr>
        <p:spPr>
          <a:xfrm>
            <a:off x="4526200" y="4689889"/>
            <a:ext cx="2062024" cy="6819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직사각형 34"/>
          <p:cNvSpPr/>
          <p:nvPr/>
        </p:nvSpPr>
        <p:spPr>
          <a:xfrm>
            <a:off x="6588224" y="5154406"/>
            <a:ext cx="1584176" cy="434834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 smtClean="0"/>
              <a:t>피어슨</a:t>
            </a:r>
            <a:r>
              <a:rPr lang="ko-KR" altLang="en-US" sz="1400" dirty="0" smtClean="0"/>
              <a:t> 상관 계수</a:t>
            </a:r>
            <a:endParaRPr lang="ko-KR" altLang="en-US" sz="1400" dirty="0"/>
          </a:p>
        </p:txBody>
      </p:sp>
      <p:sp>
        <p:nvSpPr>
          <p:cNvPr id="48" name="직사각형 47"/>
          <p:cNvSpPr/>
          <p:nvPr/>
        </p:nvSpPr>
        <p:spPr>
          <a:xfrm>
            <a:off x="6588224" y="4058695"/>
            <a:ext cx="1584176" cy="434834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/>
              <a:t>코사인 거리</a:t>
            </a:r>
            <a:endParaRPr lang="ko-KR" altLang="en-US" sz="1400" dirty="0"/>
          </a:p>
        </p:txBody>
      </p:sp>
      <p:sp>
        <p:nvSpPr>
          <p:cNvPr id="51" name="직사각형 50"/>
          <p:cNvSpPr/>
          <p:nvPr/>
        </p:nvSpPr>
        <p:spPr>
          <a:xfrm>
            <a:off x="6588224" y="3044315"/>
            <a:ext cx="1584176" cy="434834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 smtClean="0"/>
              <a:t>유클라디안</a:t>
            </a:r>
            <a:r>
              <a:rPr lang="ko-KR" altLang="en-US" sz="1400" dirty="0" smtClean="0"/>
              <a:t> 거리</a:t>
            </a:r>
            <a:endParaRPr lang="ko-KR" altLang="en-US" sz="1400" dirty="0"/>
          </a:p>
        </p:txBody>
      </p:sp>
      <p:sp>
        <p:nvSpPr>
          <p:cNvPr id="18" name="바닥글 개체 틀 2"/>
          <p:cNvSpPr>
            <a:spLocks noGrp="1"/>
          </p:cNvSpPr>
          <p:nvPr>
            <p:ph type="ftr" sz="quarter" idx="3"/>
          </p:nvPr>
        </p:nvSpPr>
        <p:spPr>
          <a:xfrm>
            <a:off x="6248400" y="6492875"/>
            <a:ext cx="2895600" cy="365125"/>
          </a:xfrm>
        </p:spPr>
        <p:txBody>
          <a:bodyPr/>
          <a:lstStyle/>
          <a:p>
            <a:r>
              <a:rPr lang="en-US" altLang="ko-KR" dirty="0" smtClean="0"/>
              <a:t>IT</a:t>
            </a:r>
            <a:r>
              <a:rPr lang="ko-KR" altLang="en-US" dirty="0" smtClean="0"/>
              <a:t>미래전략본부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6358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altLang="ko-KR" dirty="0" smtClean="0"/>
              <a:t>2017-09-18</a:t>
            </a:r>
            <a:endParaRPr lang="ko-KR" altLang="en-US" dirty="0"/>
          </a:p>
        </p:txBody>
      </p:sp>
      <p:sp>
        <p:nvSpPr>
          <p:cNvPr id="5" name="TextBox 6"/>
          <p:cNvSpPr txBox="1"/>
          <p:nvPr/>
        </p:nvSpPr>
        <p:spPr>
          <a:xfrm>
            <a:off x="251520" y="142852"/>
            <a:ext cx="45005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3200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유사도 측정</a:t>
            </a:r>
            <a:endParaRPr lang="ko-KR" altLang="en-US" sz="32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1" name="슬라이드 번호 개체 틀 3"/>
          <p:cNvSpPr>
            <a:spLocks noGrp="1"/>
          </p:cNvSpPr>
          <p:nvPr>
            <p:ph type="sldNum" sz="quarter" idx="4"/>
          </p:nvPr>
        </p:nvSpPr>
        <p:spPr>
          <a:xfrm>
            <a:off x="3795722" y="6492875"/>
            <a:ext cx="2133600" cy="365125"/>
          </a:xfrm>
        </p:spPr>
        <p:txBody>
          <a:bodyPr/>
          <a:lstStyle/>
          <a:p>
            <a:fld id="{4E52899F-B6AD-4270-801A-BD471463C794}" type="slidenum">
              <a:rPr lang="ko-KR" altLang="en-US" smtClean="0"/>
              <a:pPr/>
              <a:t>7</a:t>
            </a:fld>
            <a:r>
              <a:rPr lang="ko-KR" altLang="en-US" dirty="0" smtClean="0"/>
              <a:t> </a:t>
            </a:r>
            <a:r>
              <a:rPr lang="en-US" altLang="ko-KR" dirty="0" smtClean="0"/>
              <a:t>/ 17</a:t>
            </a:r>
            <a:endParaRPr lang="ko-KR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611560" y="1665365"/>
            <a:ext cx="79928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1. Euclidean Distance</a:t>
            </a:r>
            <a:endParaRPr lang="en-US" altLang="ko-KR" sz="1200" b="1" dirty="0" smtClean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4" name="TextBox 10"/>
          <p:cNvSpPr txBox="1"/>
          <p:nvPr/>
        </p:nvSpPr>
        <p:spPr>
          <a:xfrm>
            <a:off x="251521" y="1061568"/>
            <a:ext cx="2160239" cy="33855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b="1" dirty="0" smtClean="0">
                <a:latin typeface="나눔고딕" pitchFamily="50" charset="-127"/>
                <a:ea typeface="나눔고딕" pitchFamily="50" charset="-127"/>
              </a:rPr>
              <a:t>Similarity </a:t>
            </a:r>
            <a:r>
              <a:rPr lang="ko-KR" altLang="en-US" sz="1600" b="1" dirty="0" smtClean="0">
                <a:latin typeface="나눔고딕" pitchFamily="50" charset="-127"/>
                <a:ea typeface="나눔고딕" pitchFamily="50" charset="-127"/>
              </a:rPr>
              <a:t>유사성 이란</a:t>
            </a:r>
            <a:r>
              <a:rPr lang="en-US" altLang="ko-KR" sz="1600" b="1" dirty="0" smtClean="0">
                <a:latin typeface="나눔고딕" pitchFamily="50" charset="-127"/>
                <a:ea typeface="나눔고딕" pitchFamily="50" charset="-127"/>
              </a:rPr>
              <a:t>?</a:t>
            </a:r>
            <a:endParaRPr lang="en-US" altLang="ko-KR" sz="1600" b="1" dirty="0">
              <a:latin typeface="나눔고딕" pitchFamily="50" charset="-127"/>
              <a:ea typeface="나눔고딕" pitchFamily="50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3768" y="4051537"/>
            <a:ext cx="3888432" cy="238300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27584" y="2060848"/>
            <a:ext cx="79928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두 객체 간의 선호도 거리를 계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산</a:t>
            </a:r>
            <a:r>
              <a:rPr lang="ko-KR" altLang="en-US" sz="14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하여</a:t>
            </a:r>
            <a:r>
              <a:rPr lang="en-US" altLang="ko-KR" sz="14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4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작을 수록 비슷한 성향을 가짐</a:t>
            </a:r>
            <a:endParaRPr lang="en-US" altLang="ko-KR" sz="1200" dirty="0" smtClean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0" name="바닥글 개체 틀 2"/>
          <p:cNvSpPr>
            <a:spLocks noGrp="1"/>
          </p:cNvSpPr>
          <p:nvPr>
            <p:ph type="ftr" sz="quarter" idx="3"/>
          </p:nvPr>
        </p:nvSpPr>
        <p:spPr>
          <a:xfrm>
            <a:off x="6248400" y="6492875"/>
            <a:ext cx="2895600" cy="365125"/>
          </a:xfrm>
        </p:spPr>
        <p:txBody>
          <a:bodyPr/>
          <a:lstStyle/>
          <a:p>
            <a:r>
              <a:rPr lang="en-US" altLang="ko-KR" dirty="0" smtClean="0"/>
              <a:t>IT</a:t>
            </a:r>
            <a:r>
              <a:rPr lang="ko-KR" altLang="en-US" dirty="0" smtClean="0"/>
              <a:t>미래전략본부</a:t>
            </a:r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611560" y="2415448"/>
            <a:ext cx="79928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en-US" altLang="ko-KR" sz="14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. Cosine Similarity(=Pearson Similarity)</a:t>
            </a:r>
            <a:endParaRPr lang="en-US" altLang="ko-KR" sz="1200" b="1" dirty="0" smtClean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7584" y="2835641"/>
            <a:ext cx="79928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두 객체 간의 선호도를 벡터화 하여</a:t>
            </a:r>
            <a:r>
              <a:rPr lang="en-US" altLang="ko-KR" sz="14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4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벡터 사이의 각도가 적을 수록 유사</a:t>
            </a:r>
            <a:endParaRPr lang="en-US" altLang="ko-KR" sz="1200" dirty="0" smtClean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11560" y="3265239"/>
            <a:ext cx="79928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3. </a:t>
            </a:r>
            <a:r>
              <a:rPr lang="en-US" altLang="ko-KR" sz="1400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Jaccard</a:t>
            </a:r>
            <a:r>
              <a:rPr lang="en-US" altLang="ko-KR" sz="14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Similarity</a:t>
            </a:r>
            <a:endParaRPr lang="en-US" altLang="ko-KR" sz="1200" b="1" dirty="0" smtClean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27584" y="3685432"/>
            <a:ext cx="79928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두 객체 간의 요소들의 전체 요소들 중 </a:t>
            </a:r>
            <a:r>
              <a:rPr lang="ko-KR" altLang="en-US" sz="14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교집화되는</a:t>
            </a:r>
            <a:r>
              <a:rPr lang="ko-KR" altLang="en-US" sz="14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요소가 차지하는 비중</a:t>
            </a:r>
            <a:endParaRPr lang="en-US" altLang="ko-KR" sz="1200" dirty="0" smtClean="0"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70706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altLang="ko-KR" dirty="0" smtClean="0"/>
              <a:t>2017-09-18</a:t>
            </a:r>
            <a:endParaRPr lang="ko-KR" altLang="en-US" dirty="0"/>
          </a:p>
        </p:txBody>
      </p:sp>
      <p:sp>
        <p:nvSpPr>
          <p:cNvPr id="5" name="TextBox 6"/>
          <p:cNvSpPr txBox="1"/>
          <p:nvPr/>
        </p:nvSpPr>
        <p:spPr>
          <a:xfrm>
            <a:off x="142844" y="142852"/>
            <a:ext cx="45005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3200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유사도 측정</a:t>
            </a:r>
            <a:endParaRPr lang="ko-KR" altLang="en-US" sz="32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1" name="슬라이드 번호 개체 틀 3"/>
          <p:cNvSpPr>
            <a:spLocks noGrp="1"/>
          </p:cNvSpPr>
          <p:nvPr>
            <p:ph type="sldNum" sz="quarter" idx="4"/>
          </p:nvPr>
        </p:nvSpPr>
        <p:spPr>
          <a:xfrm>
            <a:off x="3795722" y="6492875"/>
            <a:ext cx="2133600" cy="365125"/>
          </a:xfrm>
        </p:spPr>
        <p:txBody>
          <a:bodyPr/>
          <a:lstStyle/>
          <a:p>
            <a:fld id="{4E52899F-B6AD-4270-801A-BD471463C794}" type="slidenum">
              <a:rPr lang="ko-KR" altLang="en-US" smtClean="0"/>
              <a:pPr/>
              <a:t>8</a:t>
            </a:fld>
            <a:r>
              <a:rPr lang="ko-KR" altLang="en-US" dirty="0" smtClean="0"/>
              <a:t> </a:t>
            </a:r>
            <a:r>
              <a:rPr lang="en-US" altLang="ko-KR" dirty="0" smtClean="0"/>
              <a:t>/ 17</a:t>
            </a:r>
            <a:endParaRPr lang="ko-KR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539552" y="1605482"/>
            <a:ext cx="79928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smtClean="0"/>
              <a:t>두 아이템 간의 </a:t>
            </a:r>
            <a:r>
              <a:rPr lang="ko-KR" altLang="en-US" sz="1400" dirty="0" err="1" smtClean="0"/>
              <a:t>유사도를</a:t>
            </a:r>
            <a:r>
              <a:rPr lang="ko-KR" altLang="en-US" sz="1400" dirty="0" smtClean="0"/>
              <a:t> 계산하는 가장 간단한 방법</a:t>
            </a:r>
            <a:endParaRPr lang="en-US" altLang="ko-KR" sz="1200" dirty="0" smtClean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7" name="TextBox 10"/>
          <p:cNvSpPr txBox="1"/>
          <p:nvPr/>
        </p:nvSpPr>
        <p:spPr>
          <a:xfrm>
            <a:off x="395536" y="1074222"/>
            <a:ext cx="1584176" cy="33855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600" b="1" dirty="0" err="1" smtClean="0">
                <a:latin typeface="나눔고딕" pitchFamily="50" charset="-127"/>
                <a:ea typeface="나눔고딕" pitchFamily="50" charset="-127"/>
              </a:rPr>
              <a:t>유클리디안</a:t>
            </a:r>
            <a:r>
              <a:rPr lang="ko-KR" altLang="en-US" sz="1600" b="1" dirty="0" smtClean="0">
                <a:latin typeface="나눔고딕" pitchFamily="50" charset="-127"/>
                <a:ea typeface="나눔고딕" pitchFamily="50" charset="-127"/>
              </a:rPr>
              <a:t> 거리</a:t>
            </a:r>
            <a:endParaRPr lang="en-US" altLang="ko-KR" sz="1600" b="1" dirty="0" smtClean="0">
              <a:latin typeface="나눔고딕" pitchFamily="50" charset="-127"/>
              <a:ea typeface="나눔고딕" pitchFamily="50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886" y="2105965"/>
            <a:ext cx="3893154" cy="545204"/>
          </a:xfrm>
          <a:prstGeom prst="rect">
            <a:avLst/>
          </a:prstGeom>
        </p:spPr>
      </p:pic>
      <p:sp>
        <p:nvSpPr>
          <p:cNvPr id="6" name="직각 삼각형 5"/>
          <p:cNvSpPr/>
          <p:nvPr/>
        </p:nvSpPr>
        <p:spPr>
          <a:xfrm>
            <a:off x="3347864" y="2777909"/>
            <a:ext cx="2445782" cy="1079263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3646" y="3870975"/>
            <a:ext cx="577309" cy="284214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2270" y="2625068"/>
            <a:ext cx="514350" cy="276225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6351" y="4013082"/>
            <a:ext cx="829204" cy="291342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83768" y="3127081"/>
            <a:ext cx="681608" cy="340804"/>
          </a:xfrm>
          <a:prstGeom prst="rect">
            <a:avLst/>
          </a:prstGeom>
        </p:spPr>
      </p:pic>
      <p:graphicFrame>
        <p:nvGraphicFramePr>
          <p:cNvPr id="18" name="표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6817063"/>
              </p:ext>
            </p:extLst>
          </p:nvPr>
        </p:nvGraphicFramePr>
        <p:xfrm>
          <a:off x="2076852" y="4387621"/>
          <a:ext cx="4848201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6067">
                  <a:extLst>
                    <a:ext uri="{9D8B030D-6E8A-4147-A177-3AD203B41FA5}">
                      <a16:colId xmlns="" xmlns:a16="http://schemas.microsoft.com/office/drawing/2014/main" val="1033068706"/>
                    </a:ext>
                  </a:extLst>
                </a:gridCol>
                <a:gridCol w="1616067">
                  <a:extLst>
                    <a:ext uri="{9D8B030D-6E8A-4147-A177-3AD203B41FA5}">
                      <a16:colId xmlns="" xmlns:a16="http://schemas.microsoft.com/office/drawing/2014/main" val="3717395908"/>
                    </a:ext>
                  </a:extLst>
                </a:gridCol>
                <a:gridCol w="1616067">
                  <a:extLst>
                    <a:ext uri="{9D8B030D-6E8A-4147-A177-3AD203B41FA5}">
                      <a16:colId xmlns="" xmlns:a16="http://schemas.microsoft.com/office/drawing/2014/main" val="1758091716"/>
                    </a:ext>
                  </a:extLst>
                </a:gridCol>
              </a:tblGrid>
              <a:tr h="2419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구분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 smtClean="0"/>
                        <a:t>미래낙관성</a:t>
                      </a:r>
                      <a:r>
                        <a:rPr lang="en-US" altLang="ko-KR" sz="1200" dirty="0" smtClean="0"/>
                        <a:t>(x)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 smtClean="0"/>
                        <a:t>자기존중감</a:t>
                      </a:r>
                      <a:r>
                        <a:rPr lang="en-US" altLang="ko-KR" sz="1200" dirty="0" smtClean="0"/>
                        <a:t>(y)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487387653"/>
                  </a:ext>
                </a:extLst>
              </a:tr>
              <a:tr h="22388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사람</a:t>
                      </a:r>
                      <a:r>
                        <a:rPr lang="en-US" altLang="ko-KR" sz="1200" dirty="0" smtClean="0"/>
                        <a:t>1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2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2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580221377"/>
                  </a:ext>
                </a:extLst>
              </a:tr>
              <a:tr h="22388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사람</a:t>
                      </a:r>
                      <a:r>
                        <a:rPr lang="en-US" altLang="ko-KR" sz="1200" dirty="0" smtClean="0"/>
                        <a:t>2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4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5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514101152"/>
                  </a:ext>
                </a:extLst>
              </a:tr>
              <a:tr h="22388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사람</a:t>
                      </a:r>
                      <a:r>
                        <a:rPr lang="en-US" altLang="ko-KR" sz="1200" dirty="0" smtClean="0"/>
                        <a:t>3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1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3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391154548"/>
                  </a:ext>
                </a:extLst>
              </a:tr>
            </a:tbl>
          </a:graphicData>
        </a:graphic>
      </p:graphicFrame>
      <p:cxnSp>
        <p:nvCxnSpPr>
          <p:cNvPr id="20" name="직선 화살표 연결선 19"/>
          <p:cNvCxnSpPr>
            <a:stCxn id="6" idx="5"/>
            <a:endCxn id="29" idx="1"/>
          </p:cNvCxnSpPr>
          <p:nvPr/>
        </p:nvCxnSpPr>
        <p:spPr>
          <a:xfrm flipV="1">
            <a:off x="4570755" y="2814463"/>
            <a:ext cx="707718" cy="5030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9" name="TextBox 10"/>
          <p:cNvSpPr txBox="1"/>
          <p:nvPr/>
        </p:nvSpPr>
        <p:spPr>
          <a:xfrm>
            <a:off x="5278473" y="2675963"/>
            <a:ext cx="17380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 dirty="0" err="1" smtClean="0">
                <a:latin typeface="나눔고딕" pitchFamily="50" charset="-127"/>
                <a:ea typeface="나눔고딕" pitchFamily="50" charset="-127"/>
              </a:rPr>
              <a:t>유클리디안</a:t>
            </a:r>
            <a:r>
              <a:rPr lang="ko-KR" altLang="en-US" sz="1200" b="1" dirty="0" smtClean="0">
                <a:latin typeface="나눔고딕" pitchFamily="50" charset="-127"/>
                <a:ea typeface="나눔고딕" pitchFamily="50" charset="-127"/>
              </a:rPr>
              <a:t> 거리</a:t>
            </a:r>
            <a:endParaRPr lang="en-US" altLang="ko-KR" sz="1200" b="1" dirty="0" smtClean="0">
              <a:latin typeface="나눔고딕" pitchFamily="50" charset="-127"/>
              <a:ea typeface="나눔고딕" pitchFamily="50" charset="-127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00187" y="5588665"/>
            <a:ext cx="1486502" cy="295744"/>
          </a:xfrm>
          <a:prstGeom prst="rect">
            <a:avLst/>
          </a:prstGeom>
        </p:spPr>
      </p:pic>
      <p:sp>
        <p:nvSpPr>
          <p:cNvPr id="19" name="TextBox 10"/>
          <p:cNvSpPr txBox="1"/>
          <p:nvPr/>
        </p:nvSpPr>
        <p:spPr>
          <a:xfrm>
            <a:off x="2139522" y="5598038"/>
            <a:ext cx="17380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 dirty="0" smtClean="0">
                <a:latin typeface="나눔고딕" pitchFamily="50" charset="-127"/>
                <a:ea typeface="나눔고딕" pitchFamily="50" charset="-127"/>
              </a:rPr>
              <a:t>사람</a:t>
            </a:r>
            <a:r>
              <a:rPr lang="en-US" altLang="ko-KR" sz="1200" b="1" dirty="0" smtClean="0">
                <a:latin typeface="나눔고딕" pitchFamily="50" charset="-127"/>
                <a:ea typeface="나눔고딕" pitchFamily="50" charset="-127"/>
              </a:rPr>
              <a:t>1</a:t>
            </a:r>
            <a:r>
              <a:rPr lang="ko-KR" altLang="en-US" sz="1200" b="1" dirty="0" smtClean="0">
                <a:latin typeface="나눔고딕" pitchFamily="50" charset="-127"/>
                <a:ea typeface="나눔고딕" pitchFamily="50" charset="-127"/>
              </a:rPr>
              <a:t>과 사람</a:t>
            </a:r>
            <a:r>
              <a:rPr lang="en-US" altLang="ko-KR" sz="1200" b="1" dirty="0" smtClean="0">
                <a:latin typeface="나눔고딕" pitchFamily="50" charset="-127"/>
                <a:ea typeface="나눔고딕" pitchFamily="50" charset="-127"/>
              </a:rPr>
              <a:t>2</a:t>
            </a:r>
            <a:r>
              <a:rPr lang="ko-KR" altLang="en-US" sz="1200" b="1" dirty="0" smtClean="0">
                <a:latin typeface="나눔고딕" pitchFamily="50" charset="-127"/>
                <a:ea typeface="나눔고딕" pitchFamily="50" charset="-127"/>
              </a:rPr>
              <a:t>의 거리 </a:t>
            </a:r>
            <a:r>
              <a:rPr lang="en-US" altLang="ko-KR" sz="1200" b="1" dirty="0" smtClean="0">
                <a:latin typeface="나눔고딕" pitchFamily="50" charset="-127"/>
                <a:ea typeface="나눔고딕" pitchFamily="50" charset="-127"/>
              </a:rPr>
              <a:t>=</a:t>
            </a:r>
          </a:p>
        </p:txBody>
      </p:sp>
      <p:sp>
        <p:nvSpPr>
          <p:cNvPr id="21" name="TextBox 10"/>
          <p:cNvSpPr txBox="1"/>
          <p:nvPr/>
        </p:nvSpPr>
        <p:spPr>
          <a:xfrm>
            <a:off x="2127684" y="5968402"/>
            <a:ext cx="17380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 dirty="0" smtClean="0">
                <a:latin typeface="나눔고딕" pitchFamily="50" charset="-127"/>
                <a:ea typeface="나눔고딕" pitchFamily="50" charset="-127"/>
              </a:rPr>
              <a:t>사람</a:t>
            </a:r>
            <a:r>
              <a:rPr lang="en-US" altLang="ko-KR" sz="1200" b="1" dirty="0" smtClean="0">
                <a:latin typeface="나눔고딕" pitchFamily="50" charset="-127"/>
                <a:ea typeface="나눔고딕" pitchFamily="50" charset="-127"/>
              </a:rPr>
              <a:t>1</a:t>
            </a:r>
            <a:r>
              <a:rPr lang="ko-KR" altLang="en-US" sz="1200" b="1" dirty="0" smtClean="0">
                <a:latin typeface="나눔고딕" pitchFamily="50" charset="-127"/>
                <a:ea typeface="나눔고딕" pitchFamily="50" charset="-127"/>
              </a:rPr>
              <a:t>과 사람</a:t>
            </a:r>
            <a:r>
              <a:rPr lang="en-US" altLang="ko-KR" sz="1200" b="1" dirty="0">
                <a:latin typeface="나눔고딕" pitchFamily="50" charset="-127"/>
                <a:ea typeface="나눔고딕" pitchFamily="50" charset="-127"/>
              </a:rPr>
              <a:t>3</a:t>
            </a:r>
            <a:r>
              <a:rPr lang="ko-KR" altLang="en-US" sz="1200" b="1" dirty="0" smtClean="0">
                <a:latin typeface="나눔고딕" pitchFamily="50" charset="-127"/>
                <a:ea typeface="나눔고딕" pitchFamily="50" charset="-127"/>
              </a:rPr>
              <a:t>의 거리 </a:t>
            </a:r>
            <a:r>
              <a:rPr lang="en-US" altLang="ko-KR" sz="1200" b="1" dirty="0" smtClean="0">
                <a:latin typeface="나눔고딕" pitchFamily="50" charset="-127"/>
                <a:ea typeface="나눔고딕" pitchFamily="50" charset="-127"/>
              </a:rPr>
              <a:t>=</a:t>
            </a:r>
          </a:p>
        </p:txBody>
      </p:sp>
      <p:pic>
        <p:nvPicPr>
          <p:cNvPr id="22" name="그림 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02158" y="5953244"/>
            <a:ext cx="1486502" cy="295744"/>
          </a:xfrm>
          <a:prstGeom prst="rect">
            <a:avLst/>
          </a:prstGeom>
        </p:spPr>
      </p:pic>
      <p:sp>
        <p:nvSpPr>
          <p:cNvPr id="23" name="TextBox 10"/>
          <p:cNvSpPr txBox="1"/>
          <p:nvPr/>
        </p:nvSpPr>
        <p:spPr>
          <a:xfrm>
            <a:off x="5500055" y="5607410"/>
            <a:ext cx="5822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b="1" dirty="0" smtClean="0">
                <a:latin typeface="나눔고딕" pitchFamily="50" charset="-127"/>
                <a:ea typeface="나눔고딕" pitchFamily="50" charset="-127"/>
              </a:rPr>
              <a:t>= 13</a:t>
            </a:r>
          </a:p>
        </p:txBody>
      </p:sp>
      <p:sp>
        <p:nvSpPr>
          <p:cNvPr id="24" name="TextBox 10"/>
          <p:cNvSpPr txBox="1"/>
          <p:nvPr/>
        </p:nvSpPr>
        <p:spPr>
          <a:xfrm>
            <a:off x="5488217" y="5972407"/>
            <a:ext cx="5822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b="1" dirty="0" smtClean="0">
                <a:latin typeface="나눔고딕" pitchFamily="50" charset="-127"/>
                <a:ea typeface="나눔고딕" pitchFamily="50" charset="-127"/>
              </a:rPr>
              <a:t>= 2</a:t>
            </a:r>
          </a:p>
        </p:txBody>
      </p:sp>
      <p:sp>
        <p:nvSpPr>
          <p:cNvPr id="25" name="바닥글 개체 틀 2"/>
          <p:cNvSpPr>
            <a:spLocks noGrp="1"/>
          </p:cNvSpPr>
          <p:nvPr>
            <p:ph type="ftr" sz="quarter" idx="3"/>
          </p:nvPr>
        </p:nvSpPr>
        <p:spPr>
          <a:xfrm>
            <a:off x="6248400" y="6492875"/>
            <a:ext cx="2895600" cy="365125"/>
          </a:xfrm>
        </p:spPr>
        <p:txBody>
          <a:bodyPr/>
          <a:lstStyle/>
          <a:p>
            <a:r>
              <a:rPr lang="en-US" altLang="ko-KR" dirty="0" smtClean="0"/>
              <a:t>IT</a:t>
            </a:r>
            <a:r>
              <a:rPr lang="ko-KR" altLang="en-US" dirty="0" smtClean="0"/>
              <a:t>미래전략본부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63468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altLang="ko-KR" dirty="0" smtClean="0"/>
              <a:t>2017-09-18</a:t>
            </a:r>
            <a:endParaRPr lang="ko-KR" altLang="en-US" dirty="0"/>
          </a:p>
        </p:txBody>
      </p:sp>
      <p:sp>
        <p:nvSpPr>
          <p:cNvPr id="5" name="TextBox 6"/>
          <p:cNvSpPr txBox="1"/>
          <p:nvPr/>
        </p:nvSpPr>
        <p:spPr>
          <a:xfrm>
            <a:off x="251520" y="142852"/>
            <a:ext cx="45005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3200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유사도 측정</a:t>
            </a:r>
            <a:endParaRPr lang="ko-KR" altLang="en-US" sz="32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1" name="슬라이드 번호 개체 틀 3"/>
          <p:cNvSpPr>
            <a:spLocks noGrp="1"/>
          </p:cNvSpPr>
          <p:nvPr>
            <p:ph type="sldNum" sz="quarter" idx="4"/>
          </p:nvPr>
        </p:nvSpPr>
        <p:spPr>
          <a:xfrm>
            <a:off x="3795722" y="6492875"/>
            <a:ext cx="2133600" cy="365125"/>
          </a:xfrm>
        </p:spPr>
        <p:txBody>
          <a:bodyPr/>
          <a:lstStyle/>
          <a:p>
            <a:fld id="{4E52899F-B6AD-4270-801A-BD471463C794}" type="slidenum">
              <a:rPr lang="ko-KR" altLang="en-US" smtClean="0"/>
              <a:pPr/>
              <a:t>9</a:t>
            </a:fld>
            <a:r>
              <a:rPr lang="ko-KR" altLang="en-US" dirty="0" smtClean="0"/>
              <a:t> </a:t>
            </a:r>
            <a:r>
              <a:rPr lang="en-US" altLang="ko-KR" dirty="0" smtClean="0"/>
              <a:t>/ 17</a:t>
            </a:r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611560" y="1628800"/>
            <a:ext cx="79928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IBCF</a:t>
            </a:r>
            <a:r>
              <a:rPr lang="ko-KR" altLang="en-US" sz="14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는 주로 코사인 </a:t>
            </a:r>
            <a:r>
              <a:rPr lang="ko-KR" altLang="en-US" sz="14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유사도를</a:t>
            </a:r>
            <a:r>
              <a:rPr lang="ko-KR" altLang="en-US" sz="14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바탕으로 계산</a:t>
            </a:r>
            <a:endParaRPr lang="en-US" altLang="ko-KR" sz="1200" dirty="0" smtClean="0">
              <a:latin typeface="나눔고딕" pitchFamily="50" charset="-127"/>
              <a:ea typeface="나눔고딕" pitchFamily="50" charset="-127"/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7452820"/>
              </p:ext>
            </p:extLst>
          </p:nvPr>
        </p:nvGraphicFramePr>
        <p:xfrm>
          <a:off x="1043608" y="2539092"/>
          <a:ext cx="6961584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0264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16026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160264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160264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160264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160264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289534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Item1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Item2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Item3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Item4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Item5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895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Alice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?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895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User1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3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895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User2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5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895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User3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4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2895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user4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165" y="4824794"/>
            <a:ext cx="2473957" cy="1517261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5722" y="5500298"/>
            <a:ext cx="4477050" cy="627602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251521" y="1061568"/>
            <a:ext cx="1224135" cy="33855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600" b="1" dirty="0" smtClean="0">
                <a:latin typeface="나눔고딕" pitchFamily="50" charset="-127"/>
                <a:ea typeface="나눔고딕" pitchFamily="50" charset="-127"/>
              </a:rPr>
              <a:t>코사인 거리 </a:t>
            </a:r>
            <a:endParaRPr lang="en-US" altLang="ko-KR" sz="1600" b="1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6853064" y="3238527"/>
            <a:ext cx="1152128" cy="151463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2220144" y="3238527"/>
            <a:ext cx="1152128" cy="14951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611560" y="2132856"/>
            <a:ext cx="79928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smtClean="0">
                <a:latin typeface="나눔고딕" pitchFamily="50" charset="-127"/>
                <a:ea typeface="나눔고딕" pitchFamily="50" charset="-127"/>
              </a:rPr>
              <a:t>두 </a:t>
            </a:r>
            <a:r>
              <a:rPr lang="ko-KR" altLang="en-US" sz="1400" dirty="0" err="1" smtClean="0">
                <a:latin typeface="나눔고딕" pitchFamily="50" charset="-127"/>
                <a:ea typeface="나눔고딕" pitchFamily="50" charset="-127"/>
              </a:rPr>
              <a:t>비교값이</a:t>
            </a:r>
            <a:r>
              <a:rPr lang="ko-KR" altLang="en-US" sz="1400" dirty="0" smtClean="0">
                <a:latin typeface="나눔고딕" pitchFamily="50" charset="-127"/>
                <a:ea typeface="나눔고딕" pitchFamily="50" charset="-127"/>
              </a:rPr>
              <a:t> </a:t>
            </a:r>
            <a:r>
              <a:rPr lang="en-US" altLang="ko-KR" sz="1400" dirty="0" smtClean="0">
                <a:latin typeface="나눔고딕" pitchFamily="50" charset="-127"/>
                <a:ea typeface="나눔고딕" pitchFamily="50" charset="-127"/>
              </a:rPr>
              <a:t>0</a:t>
            </a:r>
            <a:r>
              <a:rPr lang="ko-KR" altLang="en-US" sz="1400" dirty="0" smtClean="0">
                <a:latin typeface="나눔고딕" pitchFamily="50" charset="-127"/>
                <a:ea typeface="나눔고딕" pitchFamily="50" charset="-127"/>
              </a:rPr>
              <a:t>에 가까울 수록 </a:t>
            </a:r>
            <a:r>
              <a:rPr lang="en-US" altLang="ko-KR" sz="1400" dirty="0" smtClean="0">
                <a:latin typeface="나눔고딕" pitchFamily="50" charset="-127"/>
                <a:ea typeface="나눔고딕" pitchFamily="50" charset="-127"/>
              </a:rPr>
              <a:t>A</a:t>
            </a:r>
            <a:r>
              <a:rPr lang="ko-KR" altLang="en-US" sz="1400" dirty="0" smtClean="0">
                <a:latin typeface="나눔고딕" pitchFamily="50" charset="-127"/>
                <a:ea typeface="나눔고딕" pitchFamily="50" charset="-127"/>
              </a:rPr>
              <a:t>아이템과 </a:t>
            </a:r>
            <a:r>
              <a:rPr lang="en-US" altLang="ko-KR" sz="1400" dirty="0" smtClean="0">
                <a:latin typeface="나눔고딕" pitchFamily="50" charset="-127"/>
                <a:ea typeface="나눔고딕" pitchFamily="50" charset="-127"/>
              </a:rPr>
              <a:t>B</a:t>
            </a:r>
            <a:r>
              <a:rPr lang="ko-KR" altLang="en-US" sz="1400" dirty="0" smtClean="0">
                <a:latin typeface="나눔고딕" pitchFamily="50" charset="-127"/>
                <a:ea typeface="나눔고딕" pitchFamily="50" charset="-127"/>
              </a:rPr>
              <a:t>아이템이 유사하다고 볼 수 있음 </a:t>
            </a:r>
            <a:endParaRPr lang="en-US" altLang="ko-KR" sz="1400" dirty="0" smtClean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6" name="바닥글 개체 틀 2"/>
          <p:cNvSpPr>
            <a:spLocks noGrp="1"/>
          </p:cNvSpPr>
          <p:nvPr>
            <p:ph type="ftr" sz="quarter" idx="3"/>
          </p:nvPr>
        </p:nvSpPr>
        <p:spPr>
          <a:xfrm>
            <a:off x="6248400" y="6492875"/>
            <a:ext cx="2895600" cy="365125"/>
          </a:xfrm>
        </p:spPr>
        <p:txBody>
          <a:bodyPr/>
          <a:lstStyle/>
          <a:p>
            <a:r>
              <a:rPr lang="en-US" altLang="ko-KR" dirty="0" smtClean="0"/>
              <a:t>IT</a:t>
            </a:r>
            <a:r>
              <a:rPr lang="ko-KR" altLang="en-US" dirty="0" smtClean="0"/>
              <a:t>미래전략본부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09514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altLang="ko-KR" dirty="0" smtClean="0"/>
              <a:t>2017-09-18</a:t>
            </a:r>
            <a:endParaRPr lang="ko-KR" altLang="en-US" dirty="0"/>
          </a:p>
        </p:txBody>
      </p:sp>
      <p:sp>
        <p:nvSpPr>
          <p:cNvPr id="5" name="TextBox 6"/>
          <p:cNvSpPr txBox="1"/>
          <p:nvPr/>
        </p:nvSpPr>
        <p:spPr>
          <a:xfrm>
            <a:off x="142844" y="142852"/>
            <a:ext cx="45005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3200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유사도 측정</a:t>
            </a:r>
            <a:endParaRPr lang="ko-KR" altLang="en-US" sz="32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1" name="슬라이드 번호 개체 틀 3"/>
          <p:cNvSpPr>
            <a:spLocks noGrp="1"/>
          </p:cNvSpPr>
          <p:nvPr>
            <p:ph type="sldNum" sz="quarter" idx="4"/>
          </p:nvPr>
        </p:nvSpPr>
        <p:spPr>
          <a:xfrm>
            <a:off x="3795722" y="6492875"/>
            <a:ext cx="2133600" cy="365125"/>
          </a:xfrm>
        </p:spPr>
        <p:txBody>
          <a:bodyPr/>
          <a:lstStyle/>
          <a:p>
            <a:fld id="{4E52899F-B6AD-4270-801A-BD471463C794}" type="slidenum">
              <a:rPr lang="ko-KR" altLang="en-US" smtClean="0"/>
              <a:pPr/>
              <a:t>10</a:t>
            </a:fld>
            <a:r>
              <a:rPr lang="ko-KR" altLang="en-US" dirty="0" smtClean="0"/>
              <a:t> </a:t>
            </a:r>
            <a:r>
              <a:rPr lang="en-US" altLang="ko-KR" dirty="0" smtClean="0"/>
              <a:t>/ 17</a:t>
            </a:r>
            <a:endParaRPr lang="ko-KR" altLang="en-US" dirty="0"/>
          </a:p>
        </p:txBody>
      </p:sp>
      <p:sp>
        <p:nvSpPr>
          <p:cNvPr id="9" name="TextBox 10"/>
          <p:cNvSpPr txBox="1"/>
          <p:nvPr/>
        </p:nvSpPr>
        <p:spPr>
          <a:xfrm>
            <a:off x="381166" y="1124744"/>
            <a:ext cx="1670554" cy="33855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600" b="1" dirty="0" err="1" smtClean="0">
                <a:latin typeface="나눔고딕" pitchFamily="50" charset="-127"/>
                <a:ea typeface="나눔고딕" pitchFamily="50" charset="-127"/>
              </a:rPr>
              <a:t>피어슨</a:t>
            </a:r>
            <a:r>
              <a:rPr lang="ko-KR" altLang="en-US" sz="1600" b="1" dirty="0" smtClean="0">
                <a:latin typeface="나눔고딕" pitchFamily="50" charset="-127"/>
                <a:ea typeface="나눔고딕" pitchFamily="50" charset="-127"/>
              </a:rPr>
              <a:t> 상관 계수</a:t>
            </a:r>
            <a:endParaRPr lang="en-US" altLang="ko-KR" sz="1600" b="1" dirty="0" smtClean="0">
              <a:latin typeface="나눔고딕" pitchFamily="50" charset="-127"/>
              <a:ea typeface="나눔고딕" pitchFamily="50" charset="-127"/>
            </a:endParaRPr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4622357"/>
              </p:ext>
            </p:extLst>
          </p:nvPr>
        </p:nvGraphicFramePr>
        <p:xfrm>
          <a:off x="1066800" y="2467164"/>
          <a:ext cx="6840757" cy="171259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977251">
                  <a:extLst>
                    <a:ext uri="{9D8B030D-6E8A-4147-A177-3AD203B41FA5}">
                      <a16:colId xmlns="" xmlns:a16="http://schemas.microsoft.com/office/drawing/2014/main" val="3159546310"/>
                    </a:ext>
                  </a:extLst>
                </a:gridCol>
                <a:gridCol w="977251">
                  <a:extLst>
                    <a:ext uri="{9D8B030D-6E8A-4147-A177-3AD203B41FA5}">
                      <a16:colId xmlns="" xmlns:a16="http://schemas.microsoft.com/office/drawing/2014/main" val="1022097494"/>
                    </a:ext>
                  </a:extLst>
                </a:gridCol>
                <a:gridCol w="977251">
                  <a:extLst>
                    <a:ext uri="{9D8B030D-6E8A-4147-A177-3AD203B41FA5}">
                      <a16:colId xmlns="" xmlns:a16="http://schemas.microsoft.com/office/drawing/2014/main" val="2270985986"/>
                    </a:ext>
                  </a:extLst>
                </a:gridCol>
                <a:gridCol w="977251">
                  <a:extLst>
                    <a:ext uri="{9D8B030D-6E8A-4147-A177-3AD203B41FA5}">
                      <a16:colId xmlns="" xmlns:a16="http://schemas.microsoft.com/office/drawing/2014/main" val="2389046975"/>
                    </a:ext>
                  </a:extLst>
                </a:gridCol>
                <a:gridCol w="977251">
                  <a:extLst>
                    <a:ext uri="{9D8B030D-6E8A-4147-A177-3AD203B41FA5}">
                      <a16:colId xmlns="" xmlns:a16="http://schemas.microsoft.com/office/drawing/2014/main" val="1387991573"/>
                    </a:ext>
                  </a:extLst>
                </a:gridCol>
                <a:gridCol w="977251">
                  <a:extLst>
                    <a:ext uri="{9D8B030D-6E8A-4147-A177-3AD203B41FA5}">
                      <a16:colId xmlns="" xmlns:a16="http://schemas.microsoft.com/office/drawing/2014/main" val="2636577090"/>
                    </a:ext>
                  </a:extLst>
                </a:gridCol>
                <a:gridCol w="977251">
                  <a:extLst>
                    <a:ext uri="{9D8B030D-6E8A-4147-A177-3AD203B41FA5}">
                      <a16:colId xmlns="" xmlns:a16="http://schemas.microsoft.com/office/drawing/2014/main" val="3823191507"/>
                    </a:ext>
                  </a:extLst>
                </a:gridCol>
              </a:tblGrid>
              <a:tr h="24465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이름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중국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일본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유럽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동남아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u="none" strike="noStrike" dirty="0" err="1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대양주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아프리카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317808387"/>
                  </a:ext>
                </a:extLst>
              </a:tr>
              <a:tr h="24465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톰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882977524"/>
                  </a:ext>
                </a:extLst>
              </a:tr>
              <a:tr h="24465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브라운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178497365"/>
                  </a:ext>
                </a:extLst>
              </a:tr>
              <a:tr h="24465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해시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100204049"/>
                  </a:ext>
                </a:extLst>
              </a:tr>
              <a:tr h="24465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제리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607044734"/>
                  </a:ext>
                </a:extLst>
              </a:tr>
              <a:tr h="24465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미키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600259873"/>
                  </a:ext>
                </a:extLst>
              </a:tr>
              <a:tr h="24465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화이트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646572726"/>
                  </a:ext>
                </a:extLst>
              </a:tr>
            </a:tbl>
          </a:graphicData>
        </a:graphic>
      </p:graphicFrame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600" y="4473055"/>
            <a:ext cx="1970636" cy="1893357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2414" y="4473055"/>
            <a:ext cx="2000352" cy="197437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6993" y="1592385"/>
            <a:ext cx="79928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smtClean="0">
                <a:latin typeface="나눔고딕" pitchFamily="50" charset="-127"/>
                <a:ea typeface="나눔고딕" pitchFamily="50" charset="-127"/>
              </a:rPr>
              <a:t>주로 특정 유저 두 명간 상관관계</a:t>
            </a:r>
            <a:r>
              <a:rPr lang="en-US" altLang="ko-KR" sz="1400" dirty="0" smtClean="0">
                <a:latin typeface="나눔고딕" pitchFamily="50" charset="-127"/>
                <a:ea typeface="나눔고딕" pitchFamily="50" charset="-127"/>
              </a:rPr>
              <a:t>(</a:t>
            </a:r>
            <a:r>
              <a:rPr lang="ko-KR" altLang="en-US" sz="1400" dirty="0" smtClean="0">
                <a:latin typeface="나눔고딕" pitchFamily="50" charset="-127"/>
                <a:ea typeface="나눔고딕" pitchFamily="50" charset="-127"/>
              </a:rPr>
              <a:t>유사도</a:t>
            </a:r>
            <a:r>
              <a:rPr lang="en-US" altLang="ko-KR" sz="1400" dirty="0" smtClean="0">
                <a:latin typeface="나눔고딕" pitchFamily="50" charset="-127"/>
                <a:ea typeface="나눔고딕" pitchFamily="50" charset="-127"/>
              </a:rPr>
              <a:t>)</a:t>
            </a:r>
            <a:r>
              <a:rPr lang="ko-KR" altLang="en-US" sz="1400" dirty="0" smtClean="0">
                <a:latin typeface="나눔고딕" pitchFamily="50" charset="-127"/>
                <a:ea typeface="나눔고딕" pitchFamily="50" charset="-127"/>
              </a:rPr>
              <a:t>를 </a:t>
            </a:r>
            <a:r>
              <a:rPr lang="ko-KR" altLang="en-US" sz="1400" dirty="0" err="1" smtClean="0">
                <a:latin typeface="나눔고딕" pitchFamily="50" charset="-127"/>
                <a:ea typeface="나눔고딕" pitchFamily="50" charset="-127"/>
              </a:rPr>
              <a:t>피어슨스</a:t>
            </a:r>
            <a:r>
              <a:rPr lang="ko-KR" altLang="en-US" sz="1400" dirty="0" smtClean="0">
                <a:latin typeface="나눔고딕" pitchFamily="50" charset="-127"/>
                <a:ea typeface="나눔고딕" pitchFamily="50" charset="-127"/>
              </a:rPr>
              <a:t> 계수를 통해 측정</a:t>
            </a:r>
            <a:endParaRPr lang="en-US" altLang="ko-KR" sz="1400" dirty="0" smtClean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58167" y="1992481"/>
            <a:ext cx="79928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smtClean="0">
                <a:latin typeface="나눔고딕" pitchFamily="50" charset="-127"/>
                <a:ea typeface="나눔고딕" pitchFamily="50" charset="-127"/>
              </a:rPr>
              <a:t>그래프의 기울기가 </a:t>
            </a:r>
            <a:r>
              <a:rPr lang="en-US" altLang="ko-KR" sz="1400" dirty="0" smtClean="0">
                <a:latin typeface="나눔고딕" pitchFamily="50" charset="-127"/>
                <a:ea typeface="나눔고딕" pitchFamily="50" charset="-127"/>
              </a:rPr>
              <a:t>1</a:t>
            </a:r>
            <a:r>
              <a:rPr lang="ko-KR" altLang="en-US" sz="1400" dirty="0" smtClean="0">
                <a:latin typeface="나눔고딕" pitchFamily="50" charset="-127"/>
                <a:ea typeface="나눔고딕" pitchFamily="50" charset="-127"/>
              </a:rPr>
              <a:t>에 가까울수록 유사하다고 할 수 있음</a:t>
            </a:r>
            <a:endParaRPr lang="en-US" altLang="ko-KR" sz="1400" dirty="0" smtClean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696180" y="4311961"/>
            <a:ext cx="4198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smtClean="0">
                <a:latin typeface="나눔고딕" pitchFamily="50" charset="-127"/>
                <a:ea typeface="나눔고딕" pitchFamily="50" charset="-127"/>
              </a:rPr>
              <a:t>톰</a:t>
            </a:r>
            <a:endParaRPr lang="en-US" altLang="ko-KR" sz="1200" b="1" dirty="0" smtClean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792550" y="6308929"/>
            <a:ext cx="7491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smtClean="0">
                <a:latin typeface="나눔고딕" pitchFamily="50" charset="-127"/>
                <a:ea typeface="나눔고딕" pitchFamily="50" charset="-127"/>
              </a:rPr>
              <a:t>브라운</a:t>
            </a:r>
            <a:endParaRPr lang="en-US" altLang="ko-KR" sz="1200" b="1" dirty="0" smtClean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541656" y="4311833"/>
            <a:ext cx="8400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smtClean="0">
                <a:latin typeface="나눔고딕" pitchFamily="50" charset="-127"/>
                <a:ea typeface="나눔고딕" pitchFamily="50" charset="-127"/>
              </a:rPr>
              <a:t>화이트</a:t>
            </a:r>
            <a:endParaRPr lang="en-US" altLang="ko-KR" sz="1200" b="1" dirty="0" smtClean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047764" y="6308928"/>
            <a:ext cx="383808" cy="277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mtClean="0">
                <a:latin typeface="나눔고딕" pitchFamily="50" charset="-127"/>
                <a:ea typeface="나눔고딕" pitchFamily="50" charset="-127"/>
              </a:rPr>
              <a:t>톰</a:t>
            </a:r>
            <a:endParaRPr lang="en-US" altLang="ko-KR" sz="1200" b="1" dirty="0" smtClean="0">
              <a:latin typeface="나눔고딕" pitchFamily="50" charset="-127"/>
              <a:ea typeface="나눔고딕" pitchFamily="50" charset="-127"/>
            </a:endParaRPr>
          </a:p>
        </p:txBody>
      </p:sp>
      <p:pic>
        <p:nvPicPr>
          <p:cNvPr id="25" name="그림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9203" y="2135845"/>
            <a:ext cx="1797122" cy="256732"/>
          </a:xfrm>
          <a:prstGeom prst="rect">
            <a:avLst/>
          </a:prstGeom>
        </p:spPr>
      </p:pic>
      <p:sp>
        <p:nvSpPr>
          <p:cNvPr id="17" name="바닥글 개체 틀 2"/>
          <p:cNvSpPr>
            <a:spLocks noGrp="1"/>
          </p:cNvSpPr>
          <p:nvPr>
            <p:ph type="ftr" sz="quarter" idx="3"/>
          </p:nvPr>
        </p:nvSpPr>
        <p:spPr>
          <a:xfrm>
            <a:off x="6248400" y="6492875"/>
            <a:ext cx="2895600" cy="365125"/>
          </a:xfrm>
        </p:spPr>
        <p:txBody>
          <a:bodyPr/>
          <a:lstStyle/>
          <a:p>
            <a:r>
              <a:rPr lang="en-US" altLang="ko-KR" dirty="0" smtClean="0"/>
              <a:t>IT</a:t>
            </a:r>
            <a:r>
              <a:rPr lang="ko-KR" altLang="en-US" dirty="0" smtClean="0"/>
              <a:t>미래전략본부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76391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altLang="ko-KR" dirty="0" smtClean="0"/>
              <a:t>2017-09-18</a:t>
            </a:r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ko-KR" dirty="0" smtClean="0"/>
              <a:t>IT</a:t>
            </a:r>
            <a:r>
              <a:rPr lang="ko-KR" altLang="en-US" dirty="0" smtClean="0"/>
              <a:t>기획 여승은</a:t>
            </a:r>
            <a:endParaRPr lang="ko-KR" altLang="en-US" dirty="0"/>
          </a:p>
        </p:txBody>
      </p:sp>
      <p:sp>
        <p:nvSpPr>
          <p:cNvPr id="5" name="TextBox 6"/>
          <p:cNvSpPr txBox="1"/>
          <p:nvPr/>
        </p:nvSpPr>
        <p:spPr>
          <a:xfrm>
            <a:off x="251520" y="142852"/>
            <a:ext cx="45005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3200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협업 </a:t>
            </a:r>
            <a:r>
              <a:rPr lang="ko-KR" altLang="en-US" sz="3200" dirty="0" err="1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필터링</a:t>
            </a:r>
            <a:endParaRPr lang="ko-KR" altLang="en-US" sz="32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1" name="슬라이드 번호 개체 틀 3"/>
          <p:cNvSpPr>
            <a:spLocks noGrp="1"/>
          </p:cNvSpPr>
          <p:nvPr>
            <p:ph type="sldNum" sz="quarter" idx="4"/>
          </p:nvPr>
        </p:nvSpPr>
        <p:spPr>
          <a:xfrm>
            <a:off x="3795722" y="6492875"/>
            <a:ext cx="2133600" cy="365125"/>
          </a:xfrm>
        </p:spPr>
        <p:txBody>
          <a:bodyPr/>
          <a:lstStyle/>
          <a:p>
            <a:fld id="{4E52899F-B6AD-4270-801A-BD471463C794}" type="slidenum">
              <a:rPr lang="ko-KR" altLang="en-US" smtClean="0"/>
              <a:pPr/>
              <a:t>11</a:t>
            </a:fld>
            <a:r>
              <a:rPr lang="ko-KR" altLang="en-US" dirty="0" smtClean="0"/>
              <a:t> </a:t>
            </a:r>
            <a:r>
              <a:rPr lang="en-US" altLang="ko-KR" dirty="0" smtClean="0"/>
              <a:t>/ 17</a:t>
            </a:r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611560" y="1628800"/>
            <a:ext cx="79928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smtClean="0"/>
              <a:t>새로운 사용자가 아직 영화를 보지 못했다면</a:t>
            </a:r>
            <a:r>
              <a:rPr lang="en-US" altLang="ko-KR" sz="1400" dirty="0" smtClean="0"/>
              <a:t>…</a:t>
            </a:r>
            <a:r>
              <a:rPr lang="ko-KR" altLang="en-US" sz="1400" dirty="0" smtClean="0"/>
              <a:t> </a:t>
            </a:r>
            <a:endParaRPr lang="en-US" altLang="ko-KR" sz="1200" dirty="0" smtClean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3" name="TextBox 10"/>
          <p:cNvSpPr txBox="1"/>
          <p:nvPr/>
        </p:nvSpPr>
        <p:spPr>
          <a:xfrm>
            <a:off x="251521" y="1061568"/>
            <a:ext cx="1800199" cy="33855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600" b="1" dirty="0" smtClean="0">
                <a:latin typeface="나눔고딕" pitchFamily="50" charset="-127"/>
                <a:ea typeface="나눔고딕" pitchFamily="50" charset="-127"/>
              </a:rPr>
              <a:t>협업 </a:t>
            </a:r>
            <a:r>
              <a:rPr lang="ko-KR" altLang="en-US" sz="1600" b="1" dirty="0" err="1" smtClean="0">
                <a:latin typeface="나눔고딕" pitchFamily="50" charset="-127"/>
                <a:ea typeface="나눔고딕" pitchFamily="50" charset="-127"/>
              </a:rPr>
              <a:t>필터링의</a:t>
            </a:r>
            <a:r>
              <a:rPr lang="ko-KR" altLang="en-US" sz="1600" b="1" dirty="0" smtClean="0">
                <a:latin typeface="나눔고딕" pitchFamily="50" charset="-127"/>
                <a:ea typeface="나눔고딕" pitchFamily="50" charset="-127"/>
              </a:rPr>
              <a:t> 한계</a:t>
            </a:r>
            <a:endParaRPr lang="en-US" altLang="ko-KR" sz="1600" b="1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12395" y="2085017"/>
            <a:ext cx="79928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 smtClean="0"/>
              <a:t>IBCF</a:t>
            </a:r>
            <a:r>
              <a:rPr lang="ko-KR" altLang="en-US" sz="1400" dirty="0" smtClean="0"/>
              <a:t>는 새 사용자가 구매한 아이템을 알지 못하면 동작 불가능 </a:t>
            </a:r>
            <a:endParaRPr lang="en-US" altLang="ko-KR" sz="1200" dirty="0" smtClean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11560" y="2564904"/>
            <a:ext cx="79928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 smtClean="0"/>
              <a:t>UBCF</a:t>
            </a:r>
            <a:r>
              <a:rPr lang="ko-KR" altLang="en-US" sz="1400" dirty="0" smtClean="0"/>
              <a:t>는 영화 평점에 대해 알지 못하기에 기존사용자와 비교 측정 불가능</a:t>
            </a:r>
            <a:endParaRPr lang="en-US" altLang="ko-KR" sz="1200" dirty="0" smtClean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17585" y="3062086"/>
            <a:ext cx="79928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smtClean="0"/>
              <a:t>새 아이템을 다른 사람이 구매하지 않은 경우</a:t>
            </a:r>
            <a:r>
              <a:rPr lang="en-US" altLang="ko-KR" sz="1400" dirty="0" smtClean="0"/>
              <a:t>…</a:t>
            </a:r>
            <a:endParaRPr lang="en-US" altLang="ko-KR" sz="1200" dirty="0" smtClean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11560" y="3573016"/>
            <a:ext cx="79928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200" dirty="0" smtClean="0"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93063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3044</TotalTime>
  <Words>925</Words>
  <Application>Microsoft Office PowerPoint</Application>
  <PresentationFormat>화면 슬라이드 쇼(4:3)</PresentationFormat>
  <Paragraphs>238</Paragraphs>
  <Slides>11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8" baseType="lpstr">
      <vt:lpstr>나눔고딕</vt:lpstr>
      <vt:lpstr>나눔고딕 ExtraBold</vt:lpstr>
      <vt:lpstr>Dotum</vt:lpstr>
      <vt:lpstr>Dotum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p1424</dc:creator>
  <cp:lastModifiedBy>VGL_P17041</cp:lastModifiedBy>
  <cp:revision>452</cp:revision>
  <dcterms:created xsi:type="dcterms:W3CDTF">2017-09-18T08:28:24Z</dcterms:created>
  <dcterms:modified xsi:type="dcterms:W3CDTF">2018-03-27T10:59:38Z</dcterms:modified>
</cp:coreProperties>
</file>