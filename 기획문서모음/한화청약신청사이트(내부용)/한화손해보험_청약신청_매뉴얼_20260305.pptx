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81" r:id="rId2"/>
    <p:sldId id="283" r:id="rId3"/>
    <p:sldId id="285" r:id="rId4"/>
    <p:sldId id="659" r:id="rId5"/>
    <p:sldId id="282" r:id="rId6"/>
    <p:sldId id="660" r:id="rId7"/>
    <p:sldId id="664" r:id="rId8"/>
    <p:sldId id="665" r:id="rId9"/>
    <p:sldId id="666" r:id="rId10"/>
    <p:sldId id="667" r:id="rId11"/>
    <p:sldId id="668" r:id="rId12"/>
    <p:sldId id="669" r:id="rId13"/>
    <p:sldId id="671" r:id="rId14"/>
    <p:sldId id="670" r:id="rId15"/>
    <p:sldId id="673" r:id="rId16"/>
    <p:sldId id="672" r:id="rId17"/>
    <p:sldId id="674" r:id="rId18"/>
    <p:sldId id="675" r:id="rId19"/>
    <p:sldId id="676" r:id="rId20"/>
    <p:sldId id="677" r:id="rId21"/>
    <p:sldId id="678" r:id="rId22"/>
    <p:sldId id="679" r:id="rId23"/>
    <p:sldId id="680" r:id="rId24"/>
    <p:sldId id="681" r:id="rId25"/>
    <p:sldId id="682" r:id="rId26"/>
    <p:sldId id="683" r:id="rId27"/>
    <p:sldId id="684" r:id="rId28"/>
  </p:sldIdLst>
  <p:sldSz cx="18288000" cy="10287000"/>
  <p:notesSz cx="7104063" cy="10234613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나눔고딕" panose="020D0604000000000000" pitchFamily="50" charset="-127"/>
      <p:regular r:id="rId34"/>
      <p:bold r:id="rId35"/>
    </p:embeddedFont>
    <p:embeddedFont>
      <p:font typeface="나눔고딕 ExtraBold" panose="020D0904000000000000" pitchFamily="50" charset="-127"/>
      <p:bold r:id="rId36"/>
    </p:embeddedFont>
    <p:embeddedFont>
      <p:font typeface="맑은 고딕" panose="020B0503020000020004" pitchFamily="50" charset="-127"/>
      <p:regular r:id="rId37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1F3"/>
    <a:srgbClr val="FFA8BF"/>
    <a:srgbClr val="E6E6E6"/>
    <a:srgbClr val="33A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4622" autoAdjust="0"/>
  </p:normalViewPr>
  <p:slideViewPr>
    <p:cSldViewPr>
      <p:cViewPr varScale="1">
        <p:scale>
          <a:sx n="69" d="100"/>
          <a:sy n="69" d="100"/>
        </p:scale>
        <p:origin x="72" y="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5490" tIns="47745" rIns="95490" bIns="47745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5490" tIns="47745" rIns="95490" bIns="47745" rtlCol="0"/>
          <a:lstStyle>
            <a:lvl1pPr algn="r">
              <a:defRPr sz="1300"/>
            </a:lvl1pPr>
          </a:lstStyle>
          <a:p>
            <a:fld id="{8BD1B3BF-BB8C-40FA-AB38-8F3C08F4D5C2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90" tIns="47745" rIns="95490" bIns="4774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5490" tIns="47745" rIns="95490" bIns="47745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107"/>
            <a:ext cx="3078427" cy="513507"/>
          </a:xfrm>
          <a:prstGeom prst="rect">
            <a:avLst/>
          </a:prstGeom>
        </p:spPr>
        <p:txBody>
          <a:bodyPr vert="horz" lIns="95490" tIns="47745" rIns="95490" bIns="47745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5490" tIns="47745" rIns="95490" bIns="47745" rtlCol="0" anchor="b"/>
          <a:lstStyle>
            <a:lvl1pPr algn="r">
              <a:defRPr sz="1300"/>
            </a:lvl1pPr>
          </a:lstStyle>
          <a:p>
            <a:fld id="{605F5A33-4E9F-4FE8-8313-B0EE536663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734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2044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260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58:notes"/>
          <p:cNvSpPr txBox="1">
            <a:spLocks noGrp="1"/>
          </p:cNvSpPr>
          <p:nvPr>
            <p:ph type="body" idx="1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94" name="Google Shape;209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5112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6014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738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645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619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187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960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242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529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16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026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11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493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829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145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161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283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0771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0126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3196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3830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371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5510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822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5F5A33-4E9F-4FE8-8313-B0EE536663B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733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6BF6DC-CA74-40AC-A3AB-E18B49DC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9920061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7359FF20-3788-474F-BBD8-7E7588D21D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400052"/>
            <a:ext cx="18288000" cy="94869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8" name="그룹 7"/>
          <p:cNvGrpSpPr/>
          <p:nvPr userDrawn="1"/>
        </p:nvGrpSpPr>
        <p:grpSpPr>
          <a:xfrm>
            <a:off x="4979406" y="3822323"/>
            <a:ext cx="8329188" cy="1960773"/>
            <a:chOff x="1758679" y="2207101"/>
            <a:chExt cx="6338136" cy="1989413"/>
          </a:xfrm>
        </p:grpSpPr>
        <p:sp>
          <p:nvSpPr>
            <p:cNvPr id="10" name="직사각형 9"/>
            <p:cNvSpPr/>
            <p:nvPr/>
          </p:nvSpPr>
          <p:spPr>
            <a:xfrm>
              <a:off x="1758679" y="2207101"/>
              <a:ext cx="6338136" cy="1176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758679" y="4078886"/>
              <a:ext cx="6338136" cy="1176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1257300" y="4433377"/>
            <a:ext cx="15773400" cy="738664"/>
          </a:xfrm>
          <a:noFill/>
        </p:spPr>
        <p:txBody>
          <a:bodyPr wrap="square" rtlCol="0" anchor="ctr">
            <a:spAutoFit/>
          </a:bodyPr>
          <a:lstStyle>
            <a:lvl1pPr algn="ctr">
              <a:defRPr lang="ko-KR" altLang="en-US" sz="42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</a:lstStyle>
          <a:p>
            <a:pPr marL="0" lvl="0" algn="ctr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6012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슬라이드 번호 개체 틀 6">
            <a:extLst>
              <a:ext uri="{FF2B5EF4-FFF2-40B4-BE49-F238E27FC236}">
                <a16:creationId xmlns:a16="http://schemas.microsoft.com/office/drawing/2014/main" id="{87E6511B-0123-4116-B143-88AB8E59387C}"/>
              </a:ext>
            </a:extLst>
          </p:cNvPr>
          <p:cNvSpPr txBox="1">
            <a:spLocks/>
          </p:cNvSpPr>
          <p:nvPr userDrawn="1"/>
        </p:nvSpPr>
        <p:spPr>
          <a:xfrm>
            <a:off x="8686800" y="9905546"/>
            <a:ext cx="2133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59FF20-3788-474F-BBD8-7E7588D21D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arrotins.smcnc.net/logi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011909" y="7397234"/>
            <a:ext cx="4264182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algn="ctr">
              <a:defRPr sz="480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en-US" altLang="ko-KR" sz="2400" b="1">
                <a:latin typeface="나눔고딕" panose="020D0604000000000000" pitchFamily="50" charset="-127"/>
                <a:ea typeface="나눔고딕" panose="020D0604000000000000" pitchFamily="50" charset="-127"/>
              </a:rPr>
              <a:t>2026-03-06</a:t>
            </a:r>
            <a:endParaRPr lang="en-US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Version 0.4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DBF1C4-889A-42DA-89A2-AC405DF1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4048945"/>
            <a:ext cx="15773400" cy="1507529"/>
          </a:xfrm>
        </p:spPr>
        <p:txBody>
          <a:bodyPr/>
          <a:lstStyle/>
          <a:p>
            <a:pPr lvl="0">
              <a:lnSpc>
                <a:spcPct val="107899"/>
              </a:lnSpc>
            </a:pPr>
            <a:r>
              <a:rPr lang="ko-KR" altLang="en-US" sz="44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한화손해보험 </a:t>
            </a:r>
            <a:br>
              <a:rPr lang="en-US" altLang="ko-KR" sz="44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44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청약신청 </a:t>
            </a:r>
            <a:r>
              <a:rPr lang="en-US" altLang="ko-KR" sz="44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Manual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FEF2675A-3C3B-4EC3-96E6-6E8B90C4E6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3664"/>
          <a:stretch/>
        </p:blipFill>
        <p:spPr>
          <a:xfrm>
            <a:off x="6516609" y="4000500"/>
            <a:ext cx="990600" cy="9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08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목차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1219200" y="1392005"/>
            <a:ext cx="10199256" cy="11429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>
              <a:lnSpc>
                <a:spcPct val="146910"/>
              </a:lnSpc>
              <a:buAutoNum type="arabicPeriod"/>
            </a:pP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개요</a:t>
            </a:r>
            <a:endParaRPr lang="ko-KR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C879D510-47F5-4A38-B9BA-0FFEBC7981C1}"/>
              </a:ext>
            </a:extLst>
          </p:cNvPr>
          <p:cNvSpPr txBox="1"/>
          <p:nvPr/>
        </p:nvSpPr>
        <p:spPr>
          <a:xfrm>
            <a:off x="1669143" y="2194470"/>
            <a:ext cx="10199256" cy="11429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1.1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 주요 변경 사항 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[03PAGE]</a:t>
            </a:r>
          </a:p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1.2 TO-BE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FLOW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[04PAGE]</a:t>
            </a:r>
            <a:endParaRPr lang="ko-KR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1BBFFA3F-F999-409E-AA8D-715F0942ACDA}"/>
              </a:ext>
            </a:extLst>
          </p:cNvPr>
          <p:cNvSpPr txBox="1"/>
          <p:nvPr/>
        </p:nvSpPr>
        <p:spPr>
          <a:xfrm>
            <a:off x="1226680" y="3434925"/>
            <a:ext cx="10199256" cy="11429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 접속 및 화면 구성</a:t>
            </a:r>
            <a:endParaRPr lang="ko-KR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22CE270-515C-4071-B2AD-AB911DBDCD24}"/>
              </a:ext>
            </a:extLst>
          </p:cNvPr>
          <p:cNvSpPr txBox="1"/>
          <p:nvPr/>
        </p:nvSpPr>
        <p:spPr>
          <a:xfrm>
            <a:off x="1669143" y="4198559"/>
            <a:ext cx="10199256" cy="11429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2.1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시스템 주요 변경 사항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[05PAGE]</a:t>
            </a:r>
          </a:p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2.2 TO-BE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FLOW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[06PAGE]</a:t>
            </a:r>
            <a:endParaRPr lang="ko-KR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BA258998-AC7A-4B15-BE60-323F8E48B36D}"/>
              </a:ext>
            </a:extLst>
          </p:cNvPr>
          <p:cNvSpPr txBox="1"/>
          <p:nvPr/>
        </p:nvSpPr>
        <p:spPr>
          <a:xfrm>
            <a:off x="1219200" y="5448309"/>
            <a:ext cx="10199256" cy="11429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6D2010EC-4D6B-4863-A684-71A314DC1916}"/>
              </a:ext>
            </a:extLst>
          </p:cNvPr>
          <p:cNvSpPr txBox="1"/>
          <p:nvPr/>
        </p:nvSpPr>
        <p:spPr>
          <a:xfrm>
            <a:off x="1669143" y="6734619"/>
            <a:ext cx="10199256" cy="282848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3.1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데이터 입력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ERP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조회 방식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[07~08PAGE]</a:t>
            </a:r>
          </a:p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3.2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데이터 입력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엑셀 업로드 방식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[09PAGE]</a:t>
            </a:r>
          </a:p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3.3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데이터 입력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수기 작성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[10PAGE]</a:t>
            </a:r>
          </a:p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3.4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데이터 입력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ERP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조회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엑셀 업로드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수기 작성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[11PAGE]</a:t>
            </a:r>
          </a:p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3.5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조회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[12~14PAGE]</a:t>
            </a:r>
          </a:p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3.6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결제방식 선택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[15~17PAGE]</a:t>
            </a:r>
          </a:p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3.7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청약진행 화면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[18PAGE]</a:t>
            </a:r>
          </a:p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3.8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완료 화면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[19~21PAGE]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51A17101-4989-45C4-9571-919FFD492917}"/>
              </a:ext>
            </a:extLst>
          </p:cNvPr>
          <p:cNvSpPr txBox="1"/>
          <p:nvPr/>
        </p:nvSpPr>
        <p:spPr>
          <a:xfrm>
            <a:off x="9688944" y="1379918"/>
            <a:ext cx="10199256" cy="11429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계약내역</a:t>
            </a:r>
            <a:endParaRPr lang="ko-KR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071ABC62-E5FA-493B-A454-296569CB67B1}"/>
              </a:ext>
            </a:extLst>
          </p:cNvPr>
          <p:cNvSpPr txBox="1"/>
          <p:nvPr/>
        </p:nvSpPr>
        <p:spPr>
          <a:xfrm>
            <a:off x="9982200" y="2433423"/>
            <a:ext cx="10199256" cy="157299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4.1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계약내역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보험청약 신청내역 조회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[22PAGE]</a:t>
            </a:r>
          </a:p>
          <a:p>
            <a:pPr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4.2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계약내역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 해지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[23PAGE]</a:t>
            </a:r>
            <a:endParaRPr lang="ko-KR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46910"/>
              </a:lnSpc>
            </a:pPr>
            <a:endParaRPr lang="ko-KR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4691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18B3EC70-40C5-4221-9D00-DE3E24C8AE3F}"/>
              </a:ext>
            </a:extLst>
          </p:cNvPr>
          <p:cNvSpPr txBox="1"/>
          <p:nvPr/>
        </p:nvSpPr>
        <p:spPr>
          <a:xfrm>
            <a:off x="9688944" y="3382057"/>
            <a:ext cx="10199256" cy="11429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</a:t>
            </a:r>
            <a:endParaRPr lang="ko-KR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8DA21EE4-0510-47E3-884E-23D6CAC5A5CF}"/>
              </a:ext>
            </a:extLst>
          </p:cNvPr>
          <p:cNvSpPr txBox="1"/>
          <p:nvPr/>
        </p:nvSpPr>
        <p:spPr>
          <a:xfrm>
            <a:off x="9945241" y="3574196"/>
            <a:ext cx="10199256" cy="282848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5.1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 고정보험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[24PAGE]</a:t>
            </a:r>
          </a:p>
          <a:p>
            <a:pPr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5.2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 고정보험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적용 시 화면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[25PAGE]</a:t>
            </a:r>
          </a:p>
          <a:p>
            <a:pPr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5.3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 고정보험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유의사항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[26PAGE]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0B052C9D-F2F0-4169-88B0-8C493042E787}"/>
              </a:ext>
            </a:extLst>
          </p:cNvPr>
          <p:cNvSpPr txBox="1"/>
          <p:nvPr/>
        </p:nvSpPr>
        <p:spPr>
          <a:xfrm>
            <a:off x="9688944" y="5448309"/>
            <a:ext cx="10199256" cy="114299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보험플랜</a:t>
            </a:r>
            <a:endParaRPr lang="ko-KR" altLang="ko-KR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BD4985A5-308F-4AD1-AFD3-A2172E07D946}"/>
              </a:ext>
            </a:extLst>
          </p:cNvPr>
          <p:cNvSpPr txBox="1"/>
          <p:nvPr/>
        </p:nvSpPr>
        <p:spPr>
          <a:xfrm>
            <a:off x="9945241" y="6388155"/>
            <a:ext cx="10199256" cy="64051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6.1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보험플랜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[27PAGE]</a:t>
            </a:r>
          </a:p>
        </p:txBody>
      </p:sp>
    </p:spTree>
    <p:extLst>
      <p:ext uri="{BB962C8B-B14F-4D97-AF65-F5344CB8AC3E}">
        <p14:creationId xmlns:p14="http://schemas.microsoft.com/office/powerpoint/2010/main" val="724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개요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1.1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주요 변경 사항 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모서리가 둥근 직사각형 6">
            <a:extLst>
              <a:ext uri="{FF2B5EF4-FFF2-40B4-BE49-F238E27FC236}">
                <a16:creationId xmlns:a16="http://schemas.microsoft.com/office/drawing/2014/main" id="{A02663A9-3733-4D69-A046-4253E8219DF6}"/>
              </a:ext>
            </a:extLst>
          </p:cNvPr>
          <p:cNvSpPr/>
          <p:nvPr/>
        </p:nvSpPr>
        <p:spPr>
          <a:xfrm>
            <a:off x="2438400" y="3238500"/>
            <a:ext cx="13411200" cy="3546343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9993F52-AE69-487B-9B7A-C7671C296570}"/>
              </a:ext>
            </a:extLst>
          </p:cNvPr>
          <p:cNvSpPr/>
          <p:nvPr/>
        </p:nvSpPr>
        <p:spPr>
          <a:xfrm>
            <a:off x="7650098" y="2866992"/>
            <a:ext cx="2814845" cy="68232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청약신청</a:t>
            </a:r>
          </a:p>
        </p:txBody>
      </p:sp>
      <p:sp>
        <p:nvSpPr>
          <p:cNvPr id="39" name="모서리가 둥근 직사각형 16">
            <a:extLst>
              <a:ext uri="{FF2B5EF4-FFF2-40B4-BE49-F238E27FC236}">
                <a16:creationId xmlns:a16="http://schemas.microsoft.com/office/drawing/2014/main" id="{8B9F19F8-EB48-4E4E-B0F7-B2DD2D249162}"/>
              </a:ext>
            </a:extLst>
          </p:cNvPr>
          <p:cNvSpPr/>
          <p:nvPr/>
        </p:nvSpPr>
        <p:spPr>
          <a:xfrm>
            <a:off x="2819400" y="4325045"/>
            <a:ext cx="3680484" cy="179534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86147F7-62FD-4D46-BE8B-C025B5E17FBC}"/>
              </a:ext>
            </a:extLst>
          </p:cNvPr>
          <p:cNvSpPr/>
          <p:nvPr/>
        </p:nvSpPr>
        <p:spPr>
          <a:xfrm>
            <a:off x="3288726" y="4144609"/>
            <a:ext cx="2699980" cy="43919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온라인 신청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4C0FE8-302D-4F1A-9488-3D1A4D8BB638}"/>
              </a:ext>
            </a:extLst>
          </p:cNvPr>
          <p:cNvSpPr txBox="1"/>
          <p:nvPr/>
        </p:nvSpPr>
        <p:spPr>
          <a:xfrm>
            <a:off x="2918270" y="4915852"/>
            <a:ext cx="3680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j-lt"/>
              </a:rPr>
              <a:t>직접 모든 고객 정보를 작성하여 청약 신청</a:t>
            </a:r>
          </a:p>
        </p:txBody>
      </p:sp>
      <p:sp>
        <p:nvSpPr>
          <p:cNvPr id="48" name="덧셈 기호 17">
            <a:extLst>
              <a:ext uri="{FF2B5EF4-FFF2-40B4-BE49-F238E27FC236}">
                <a16:creationId xmlns:a16="http://schemas.microsoft.com/office/drawing/2014/main" id="{0EE09734-3776-4269-BC90-872D246FDE57}"/>
              </a:ext>
            </a:extLst>
          </p:cNvPr>
          <p:cNvSpPr/>
          <p:nvPr/>
        </p:nvSpPr>
        <p:spPr>
          <a:xfrm>
            <a:off x="6594970" y="4825489"/>
            <a:ext cx="703980" cy="629088"/>
          </a:xfrm>
          <a:prstGeom prst="mathPlu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50" name="덧셈 기호 17">
            <a:extLst>
              <a:ext uri="{FF2B5EF4-FFF2-40B4-BE49-F238E27FC236}">
                <a16:creationId xmlns:a16="http://schemas.microsoft.com/office/drawing/2014/main" id="{C7DFF788-D82E-4346-872A-40A678D4042D}"/>
              </a:ext>
            </a:extLst>
          </p:cNvPr>
          <p:cNvSpPr/>
          <p:nvPr/>
        </p:nvSpPr>
        <p:spPr>
          <a:xfrm>
            <a:off x="11081617" y="4915852"/>
            <a:ext cx="703980" cy="629088"/>
          </a:xfrm>
          <a:prstGeom prst="mathPlus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51" name="모서리가 둥근 직사각형 16">
            <a:extLst>
              <a:ext uri="{FF2B5EF4-FFF2-40B4-BE49-F238E27FC236}">
                <a16:creationId xmlns:a16="http://schemas.microsoft.com/office/drawing/2014/main" id="{1A8847A2-EB4D-42DC-8EFE-B962F56E09E5}"/>
              </a:ext>
            </a:extLst>
          </p:cNvPr>
          <p:cNvSpPr/>
          <p:nvPr/>
        </p:nvSpPr>
        <p:spPr>
          <a:xfrm>
            <a:off x="7298950" y="4298284"/>
            <a:ext cx="3680484" cy="179534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D97B6F2-ABD1-486F-AE9B-6E3077DD6AF3}"/>
              </a:ext>
            </a:extLst>
          </p:cNvPr>
          <p:cNvSpPr/>
          <p:nvPr/>
        </p:nvSpPr>
        <p:spPr>
          <a:xfrm>
            <a:off x="7768276" y="4117848"/>
            <a:ext cx="2699980" cy="43919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엑셀 업로드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9061EB-A5CF-4EC9-B5D0-8978311A07AD}"/>
              </a:ext>
            </a:extLst>
          </p:cNvPr>
          <p:cNvSpPr txBox="1"/>
          <p:nvPr/>
        </p:nvSpPr>
        <p:spPr>
          <a:xfrm>
            <a:off x="7397820" y="4889091"/>
            <a:ext cx="3680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+mj-lt"/>
              </a:rPr>
              <a:t>다량의 청약대상자들을 엑셀에 한번에 작성 후 업로드를 통해 청약 신청</a:t>
            </a:r>
          </a:p>
        </p:txBody>
      </p:sp>
      <p:sp>
        <p:nvSpPr>
          <p:cNvPr id="54" name="모서리가 둥근 직사각형 16">
            <a:extLst>
              <a:ext uri="{FF2B5EF4-FFF2-40B4-BE49-F238E27FC236}">
                <a16:creationId xmlns:a16="http://schemas.microsoft.com/office/drawing/2014/main" id="{FCC0291E-3E4C-4A14-B969-2005EF7802E6}"/>
              </a:ext>
            </a:extLst>
          </p:cNvPr>
          <p:cNvSpPr/>
          <p:nvPr/>
        </p:nvSpPr>
        <p:spPr>
          <a:xfrm>
            <a:off x="11864316" y="4298284"/>
            <a:ext cx="3680484" cy="179534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36F2B8C-8582-43B2-AA18-E0994D393C0C}"/>
              </a:ext>
            </a:extLst>
          </p:cNvPr>
          <p:cNvSpPr/>
          <p:nvPr/>
        </p:nvSpPr>
        <p:spPr>
          <a:xfrm>
            <a:off x="12333642" y="4117848"/>
            <a:ext cx="2699980" cy="43919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ERP </a:t>
            </a:r>
            <a:r>
              <a:rPr lang="ko-KR" altLang="en-US" sz="2000" dirty="0"/>
              <a:t>연동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CACBAE-3AA0-4441-A860-E5BA8A777EE0}"/>
              </a:ext>
            </a:extLst>
          </p:cNvPr>
          <p:cNvSpPr txBox="1"/>
          <p:nvPr/>
        </p:nvSpPr>
        <p:spPr>
          <a:xfrm>
            <a:off x="11963186" y="4889091"/>
            <a:ext cx="3680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altLang="ko-KR" sz="2000" dirty="0"/>
              <a:t>ERP </a:t>
            </a:r>
            <a:r>
              <a:rPr lang="ko-KR" altLang="en-US" sz="2000" dirty="0"/>
              <a:t>예약번호 조회를 통해 청약 대상자 일부 정보 호출 후 추가정보 작성 후 청약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610721-982D-4C69-A10A-F89796F26D8B}"/>
              </a:ext>
            </a:extLst>
          </p:cNvPr>
          <p:cNvSpPr txBox="1"/>
          <p:nvPr/>
        </p:nvSpPr>
        <p:spPr>
          <a:xfrm>
            <a:off x="3500983" y="7962058"/>
            <a:ext cx="11113074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기존에는 온라인 신청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엑셀업로드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ERP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연동 각각 사용할 수 있는 기능을 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한번에 사용할 수 있도록 통합</a:t>
            </a:r>
            <a:endParaRPr lang="en-US" altLang="ko-KR" sz="2000" b="1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393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58"/>
          <p:cNvSpPr txBox="1"/>
          <p:nvPr/>
        </p:nvSpPr>
        <p:spPr>
          <a:xfrm>
            <a:off x="13663326" y="159459"/>
            <a:ext cx="4177508" cy="87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algn="r">
              <a:lnSpc>
                <a:spcPct val="140000"/>
              </a:lnSpc>
              <a:buClr>
                <a:schemeClr val="lt1"/>
              </a:buClr>
              <a:buSzPts val="1400"/>
            </a:pPr>
            <a:r>
              <a:rPr lang="en-US" altLang="ko-KR" sz="2700" b="1">
                <a:solidFill>
                  <a:schemeClr val="lt1"/>
                </a:solidFill>
                <a:latin typeface="나눔고딕" pitchFamily="50" charset="-127"/>
                <a:ea typeface="나눔고딕" pitchFamily="50" charset="-127"/>
                <a:cs typeface="Calibri"/>
                <a:sym typeface="Calibri"/>
              </a:rPr>
              <a:t>1</a:t>
            </a:r>
            <a:r>
              <a:rPr lang="en-US" altLang="ko-KR" sz="2100" b="1">
                <a:solidFill>
                  <a:schemeClr val="lt1"/>
                </a:solidFill>
                <a:latin typeface="나눔고딕" pitchFamily="50" charset="-127"/>
                <a:ea typeface="나눔고딕" pitchFamily="50" charset="-127"/>
                <a:cs typeface="Calibri"/>
                <a:sym typeface="Calibri"/>
              </a:rPr>
              <a:t>. </a:t>
            </a:r>
            <a:r>
              <a:rPr lang="ko-KR" altLang="en-US" sz="2100" b="1">
                <a:solidFill>
                  <a:schemeClr val="lt1"/>
                </a:solidFill>
                <a:latin typeface="나눔고딕" pitchFamily="50" charset="-127"/>
                <a:ea typeface="나눔고딕" pitchFamily="50" charset="-127"/>
                <a:cs typeface="Calibri"/>
                <a:sym typeface="Calibri"/>
              </a:rPr>
              <a:t>별첨</a:t>
            </a:r>
            <a:endParaRPr sz="2100" b="1">
              <a:solidFill>
                <a:schemeClr val="lt1"/>
              </a:solidFill>
              <a:latin typeface="나눔고딕" pitchFamily="50" charset="-127"/>
              <a:ea typeface="나눔고딕" pitchFamily="50" charset="-127"/>
              <a:cs typeface="Calibri"/>
              <a:sym typeface="Calibri"/>
            </a:endParaRPr>
          </a:p>
        </p:txBody>
      </p:sp>
      <p:cxnSp>
        <p:nvCxnSpPr>
          <p:cNvPr id="119" name="직선 연결선 118"/>
          <p:cNvCxnSpPr/>
          <p:nvPr/>
        </p:nvCxnSpPr>
        <p:spPr>
          <a:xfrm flipV="1">
            <a:off x="5279460" y="463735"/>
            <a:ext cx="0" cy="827429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순서도: 수행의 시작/종료 119"/>
          <p:cNvSpPr/>
          <p:nvPr/>
        </p:nvSpPr>
        <p:spPr>
          <a:xfrm>
            <a:off x="6007744" y="394703"/>
            <a:ext cx="1638228" cy="43206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</a:t>
            </a:r>
            <a:endParaRPr lang="ko-KR" altLang="en-US" sz="12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1" name="순서도: 처리 120"/>
          <p:cNvSpPr/>
          <p:nvPr/>
        </p:nvSpPr>
        <p:spPr>
          <a:xfrm>
            <a:off x="7957971" y="394703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구 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</a:t>
            </a:r>
            <a:endParaRPr lang="ko-KR" altLang="en-US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2" name="순서도: 처리 121"/>
          <p:cNvSpPr/>
          <p:nvPr/>
        </p:nvSpPr>
        <p:spPr>
          <a:xfrm>
            <a:off x="9908194" y="394703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캐롯손해보험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페이지 연결</a:t>
            </a:r>
          </a:p>
        </p:txBody>
      </p:sp>
      <p:cxnSp>
        <p:nvCxnSpPr>
          <p:cNvPr id="123" name="직선 화살표 연결선 95"/>
          <p:cNvCxnSpPr>
            <a:cxnSpLocks/>
            <a:stCxn id="122" idx="3"/>
            <a:endCxn id="124" idx="1"/>
          </p:cNvCxnSpPr>
          <p:nvPr/>
        </p:nvCxnSpPr>
        <p:spPr>
          <a:xfrm flipV="1">
            <a:off x="11546423" y="607522"/>
            <a:ext cx="478601" cy="321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순서도: 처리 123"/>
          <p:cNvSpPr/>
          <p:nvPr/>
        </p:nvSpPr>
        <p:spPr>
          <a:xfrm>
            <a:off x="12025023" y="391491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청약신청</a:t>
            </a:r>
          </a:p>
        </p:txBody>
      </p:sp>
      <p:cxnSp>
        <p:nvCxnSpPr>
          <p:cNvPr id="125" name="직선 화살표 연결선 124"/>
          <p:cNvCxnSpPr>
            <a:stCxn id="120" idx="3"/>
            <a:endCxn id="121" idx="1"/>
          </p:cNvCxnSpPr>
          <p:nvPr/>
        </p:nvCxnSpPr>
        <p:spPr>
          <a:xfrm>
            <a:off x="7645974" y="610733"/>
            <a:ext cx="311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>
            <a:stCxn id="121" idx="3"/>
            <a:endCxn id="122" idx="1"/>
          </p:cNvCxnSpPr>
          <p:nvPr/>
        </p:nvCxnSpPr>
        <p:spPr>
          <a:xfrm>
            <a:off x="9596198" y="610733"/>
            <a:ext cx="311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/>
          <p:cNvSpPr/>
          <p:nvPr/>
        </p:nvSpPr>
        <p:spPr>
          <a:xfrm>
            <a:off x="4114800" y="170498"/>
            <a:ext cx="1152161" cy="9269444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 진행</a:t>
            </a:r>
          </a:p>
        </p:txBody>
      </p:sp>
      <p:cxnSp>
        <p:nvCxnSpPr>
          <p:cNvPr id="149" name="직선 연결선 148"/>
          <p:cNvCxnSpPr/>
          <p:nvPr/>
        </p:nvCxnSpPr>
        <p:spPr>
          <a:xfrm>
            <a:off x="4236286" y="148829"/>
            <a:ext cx="119244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>
            <a:off x="5279460" y="9439943"/>
            <a:ext cx="119244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A6C4D69B-37E2-F1D7-A347-615D3310779A}"/>
              </a:ext>
            </a:extLst>
          </p:cNvPr>
          <p:cNvSpPr/>
          <p:nvPr/>
        </p:nvSpPr>
        <p:spPr>
          <a:xfrm>
            <a:off x="12025021" y="1417800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 업로드</a:t>
            </a: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EA564BC6-5611-40D6-8FA8-5869D566E1A8}"/>
              </a:ext>
            </a:extLst>
          </p:cNvPr>
          <p:cNvSpPr/>
          <p:nvPr/>
        </p:nvSpPr>
        <p:spPr>
          <a:xfrm>
            <a:off x="16510972" y="1417800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 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연동</a:t>
            </a:r>
          </a:p>
        </p:txBody>
      </p:sp>
      <p:sp>
        <p:nvSpPr>
          <p:cNvPr id="23" name="순서도: 수행의 시작/종료 22">
            <a:extLst>
              <a:ext uri="{FF2B5EF4-FFF2-40B4-BE49-F238E27FC236}">
                <a16:creationId xmlns:a16="http://schemas.microsoft.com/office/drawing/2014/main" id="{DF81CA87-FF71-3CAB-8556-A406D041AD17}"/>
              </a:ext>
            </a:extLst>
          </p:cNvPr>
          <p:cNvSpPr/>
          <p:nvPr/>
        </p:nvSpPr>
        <p:spPr>
          <a:xfrm>
            <a:off x="14286189" y="8650359"/>
            <a:ext cx="1638228" cy="43206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1" name="순서도: 처리 90">
            <a:extLst>
              <a:ext uri="{FF2B5EF4-FFF2-40B4-BE49-F238E27FC236}">
                <a16:creationId xmlns:a16="http://schemas.microsoft.com/office/drawing/2014/main" id="{F06864A1-1717-DACB-276E-B6317DB2DE30}"/>
              </a:ext>
            </a:extLst>
          </p:cNvPr>
          <p:cNvSpPr/>
          <p:nvPr/>
        </p:nvSpPr>
        <p:spPr>
          <a:xfrm>
            <a:off x="12025098" y="3046146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 업로드</a:t>
            </a:r>
          </a:p>
        </p:txBody>
      </p:sp>
      <p:cxnSp>
        <p:nvCxnSpPr>
          <p:cNvPr id="92" name="직선 화살표 연결선 95">
            <a:extLst>
              <a:ext uri="{FF2B5EF4-FFF2-40B4-BE49-F238E27FC236}">
                <a16:creationId xmlns:a16="http://schemas.microsoft.com/office/drawing/2014/main" id="{56EF333F-4F47-647F-A77B-E816E32E316F}"/>
              </a:ext>
            </a:extLst>
          </p:cNvPr>
          <p:cNvCxnSpPr>
            <a:cxnSpLocks/>
            <a:stCxn id="5" idx="2"/>
            <a:endCxn id="2186" idx="0"/>
          </p:cNvCxnSpPr>
          <p:nvPr/>
        </p:nvCxnSpPr>
        <p:spPr>
          <a:xfrm>
            <a:off x="12844136" y="1849860"/>
            <a:ext cx="77" cy="30086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5">
            <a:extLst>
              <a:ext uri="{FF2B5EF4-FFF2-40B4-BE49-F238E27FC236}">
                <a16:creationId xmlns:a16="http://schemas.microsoft.com/office/drawing/2014/main" id="{84819201-7DA3-4F78-007A-06341557579B}"/>
              </a:ext>
            </a:extLst>
          </p:cNvPr>
          <p:cNvCxnSpPr>
            <a:cxnSpLocks/>
            <a:stCxn id="2186" idx="2"/>
            <a:endCxn id="91" idx="0"/>
          </p:cNvCxnSpPr>
          <p:nvPr/>
        </p:nvCxnSpPr>
        <p:spPr>
          <a:xfrm>
            <a:off x="12844212" y="2648792"/>
            <a:ext cx="0" cy="39735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6" name="순서도: 문서 2185">
            <a:extLst>
              <a:ext uri="{FF2B5EF4-FFF2-40B4-BE49-F238E27FC236}">
                <a16:creationId xmlns:a16="http://schemas.microsoft.com/office/drawing/2014/main" id="{F4C96266-9923-8B79-E9E6-83DD606F1781}"/>
              </a:ext>
            </a:extLst>
          </p:cNvPr>
          <p:cNvSpPr/>
          <p:nvPr/>
        </p:nvSpPr>
        <p:spPr>
          <a:xfrm>
            <a:off x="12025098" y="2150725"/>
            <a:ext cx="1638228" cy="533327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엑셀템플릿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다운로드 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작성</a:t>
            </a:r>
          </a:p>
        </p:txBody>
      </p:sp>
      <p:cxnSp>
        <p:nvCxnSpPr>
          <p:cNvPr id="2193" name="꺾인 연결선 68">
            <a:extLst>
              <a:ext uri="{FF2B5EF4-FFF2-40B4-BE49-F238E27FC236}">
                <a16:creationId xmlns:a16="http://schemas.microsoft.com/office/drawing/2014/main" id="{715C72BD-CB41-B01C-ED21-459A19CB38D9}"/>
              </a:ext>
            </a:extLst>
          </p:cNvPr>
          <p:cNvCxnSpPr>
            <a:cxnSpLocks/>
            <a:stCxn id="124" idx="2"/>
            <a:endCxn id="6" idx="0"/>
          </p:cNvCxnSpPr>
          <p:nvPr/>
        </p:nvCxnSpPr>
        <p:spPr>
          <a:xfrm rot="16200000" flipH="1">
            <a:off x="14789986" y="-1122300"/>
            <a:ext cx="594249" cy="448595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3" name="순서도: 처리 2202">
            <a:extLst>
              <a:ext uri="{FF2B5EF4-FFF2-40B4-BE49-F238E27FC236}">
                <a16:creationId xmlns:a16="http://schemas.microsoft.com/office/drawing/2014/main" id="{0ACD422A-4115-CD5E-71D0-BEA1CF8965F7}"/>
              </a:ext>
            </a:extLst>
          </p:cNvPr>
          <p:cNvSpPr/>
          <p:nvPr/>
        </p:nvSpPr>
        <p:spPr>
          <a:xfrm>
            <a:off x="16510972" y="2288795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ERP 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예약번호 입력 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</a:p>
        </p:txBody>
      </p:sp>
      <p:sp>
        <p:nvSpPr>
          <p:cNvPr id="2141" name="직사각형 2140">
            <a:extLst>
              <a:ext uri="{FF2B5EF4-FFF2-40B4-BE49-F238E27FC236}">
                <a16:creationId xmlns:a16="http://schemas.microsoft.com/office/drawing/2014/main" id="{5F9ED227-92B3-2CD4-2DF4-2AEA73A0E743}"/>
              </a:ext>
            </a:extLst>
          </p:cNvPr>
          <p:cNvSpPr/>
          <p:nvPr/>
        </p:nvSpPr>
        <p:spPr>
          <a:xfrm>
            <a:off x="4127300" y="9424511"/>
            <a:ext cx="1152161" cy="86249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 확인</a:t>
            </a:r>
          </a:p>
        </p:txBody>
      </p:sp>
      <p:cxnSp>
        <p:nvCxnSpPr>
          <p:cNvPr id="2142" name="직선 연결선 2141">
            <a:extLst>
              <a:ext uri="{FF2B5EF4-FFF2-40B4-BE49-F238E27FC236}">
                <a16:creationId xmlns:a16="http://schemas.microsoft.com/office/drawing/2014/main" id="{4497AD7F-0687-1559-91D1-902BF3E47027}"/>
              </a:ext>
            </a:extLst>
          </p:cNvPr>
          <p:cNvCxnSpPr/>
          <p:nvPr/>
        </p:nvCxnSpPr>
        <p:spPr>
          <a:xfrm>
            <a:off x="5279460" y="10287000"/>
            <a:ext cx="119244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순서도: 수행의 시작/종료 96">
            <a:extLst>
              <a:ext uri="{FF2B5EF4-FFF2-40B4-BE49-F238E27FC236}">
                <a16:creationId xmlns:a16="http://schemas.microsoft.com/office/drawing/2014/main" id="{227ACE31-ED03-A92F-B942-6EE64F7F5A05}"/>
              </a:ext>
            </a:extLst>
          </p:cNvPr>
          <p:cNvSpPr/>
          <p:nvPr/>
        </p:nvSpPr>
        <p:spPr>
          <a:xfrm>
            <a:off x="5557141" y="9676274"/>
            <a:ext cx="1638228" cy="43206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</a:t>
            </a:r>
            <a:endParaRPr lang="ko-KR" altLang="en-US" sz="12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051AC5A6-B1F7-0FFE-DAA1-7575A654C615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>
            <a:off x="7195369" y="9892304"/>
            <a:ext cx="450603" cy="72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순서도: 처리 98">
            <a:extLst>
              <a:ext uri="{FF2B5EF4-FFF2-40B4-BE49-F238E27FC236}">
                <a16:creationId xmlns:a16="http://schemas.microsoft.com/office/drawing/2014/main" id="{BF87AA32-0DA0-493C-3A41-C9AAE3845777}"/>
              </a:ext>
            </a:extLst>
          </p:cNvPr>
          <p:cNvSpPr/>
          <p:nvPr/>
        </p:nvSpPr>
        <p:spPr>
          <a:xfrm>
            <a:off x="7645972" y="9677000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계약내역</a:t>
            </a:r>
          </a:p>
        </p:txBody>
      </p:sp>
      <p:sp>
        <p:nvSpPr>
          <p:cNvPr id="103" name="순서도: 처리 102">
            <a:extLst>
              <a:ext uri="{FF2B5EF4-FFF2-40B4-BE49-F238E27FC236}">
                <a16:creationId xmlns:a16="http://schemas.microsoft.com/office/drawing/2014/main" id="{7242FB53-1DCC-DDE2-11B0-CBA3BD62B69F}"/>
              </a:ext>
            </a:extLst>
          </p:cNvPr>
          <p:cNvSpPr/>
          <p:nvPr/>
        </p:nvSpPr>
        <p:spPr>
          <a:xfrm>
            <a:off x="9628494" y="9676170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</a:t>
            </a:r>
            <a:endParaRPr lang="ko-KR" altLang="en-US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2F3D1A5-BF41-9FE1-15CD-D12BF207165B}"/>
              </a:ext>
            </a:extLst>
          </p:cNvPr>
          <p:cNvCxnSpPr>
            <a:cxnSpLocks/>
            <a:stCxn id="99" idx="3"/>
            <a:endCxn id="103" idx="1"/>
          </p:cNvCxnSpPr>
          <p:nvPr/>
        </p:nvCxnSpPr>
        <p:spPr>
          <a:xfrm flipV="1">
            <a:off x="9284201" y="9892201"/>
            <a:ext cx="344294" cy="83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순서도: 처리 108">
            <a:extLst>
              <a:ext uri="{FF2B5EF4-FFF2-40B4-BE49-F238E27FC236}">
                <a16:creationId xmlns:a16="http://schemas.microsoft.com/office/drawing/2014/main" id="{9A671210-D4A7-C9B7-40B9-61DE19D87183}"/>
              </a:ext>
            </a:extLst>
          </p:cNvPr>
          <p:cNvSpPr/>
          <p:nvPr/>
        </p:nvSpPr>
        <p:spPr>
          <a:xfrm>
            <a:off x="11636485" y="9676016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검색 결과</a:t>
            </a:r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3FD826BE-6D43-D14A-A9D9-28BB9F4A7EDE}"/>
              </a:ext>
            </a:extLst>
          </p:cNvPr>
          <p:cNvCxnSpPr>
            <a:cxnSpLocks/>
          </p:cNvCxnSpPr>
          <p:nvPr/>
        </p:nvCxnSpPr>
        <p:spPr>
          <a:xfrm flipV="1">
            <a:off x="13766793" y="9852845"/>
            <a:ext cx="541704" cy="58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순서도: 처리 111">
            <a:extLst>
              <a:ext uri="{FF2B5EF4-FFF2-40B4-BE49-F238E27FC236}">
                <a16:creationId xmlns:a16="http://schemas.microsoft.com/office/drawing/2014/main" id="{F5673217-5982-88D9-52EA-2B6B248DE3E4}"/>
              </a:ext>
            </a:extLst>
          </p:cNvPr>
          <p:cNvSpPr/>
          <p:nvPr/>
        </p:nvSpPr>
        <p:spPr>
          <a:xfrm>
            <a:off x="13663326" y="9666255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 상세</a:t>
            </a:r>
          </a:p>
        </p:txBody>
      </p:sp>
      <p:sp>
        <p:nvSpPr>
          <p:cNvPr id="113" name="순서도: 수행의 시작/종료 112">
            <a:extLst>
              <a:ext uri="{FF2B5EF4-FFF2-40B4-BE49-F238E27FC236}">
                <a16:creationId xmlns:a16="http://schemas.microsoft.com/office/drawing/2014/main" id="{AC6AD50D-0826-541E-7B56-146A99A2524F}"/>
              </a:ext>
            </a:extLst>
          </p:cNvPr>
          <p:cNvSpPr/>
          <p:nvPr/>
        </p:nvSpPr>
        <p:spPr>
          <a:xfrm>
            <a:off x="15691858" y="9657435"/>
            <a:ext cx="1638228" cy="43206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12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05920B7F-3BDA-6C16-93FD-7F9911E52201}"/>
              </a:ext>
            </a:extLst>
          </p:cNvPr>
          <p:cNvCxnSpPr>
            <a:cxnSpLocks/>
            <a:stCxn id="103" idx="3"/>
            <a:endCxn id="109" idx="1"/>
          </p:cNvCxnSpPr>
          <p:nvPr/>
        </p:nvCxnSpPr>
        <p:spPr>
          <a:xfrm flipV="1">
            <a:off x="11266722" y="9892046"/>
            <a:ext cx="369764" cy="15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C6DC3FC8-B9EE-F4FF-56AF-6FB81A91247E}"/>
              </a:ext>
            </a:extLst>
          </p:cNvPr>
          <p:cNvCxnSpPr>
            <a:cxnSpLocks/>
          </p:cNvCxnSpPr>
          <p:nvPr/>
        </p:nvCxnSpPr>
        <p:spPr>
          <a:xfrm flipV="1">
            <a:off x="13284038" y="9869393"/>
            <a:ext cx="369764" cy="15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AEB4667C-D28F-27A6-8685-2E56F681269E}"/>
              </a:ext>
            </a:extLst>
          </p:cNvPr>
          <p:cNvCxnSpPr>
            <a:cxnSpLocks/>
          </p:cNvCxnSpPr>
          <p:nvPr/>
        </p:nvCxnSpPr>
        <p:spPr>
          <a:xfrm flipV="1">
            <a:off x="15319025" y="9873466"/>
            <a:ext cx="369764" cy="15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68">
            <a:extLst>
              <a:ext uri="{FF2B5EF4-FFF2-40B4-BE49-F238E27FC236}">
                <a16:creationId xmlns:a16="http://schemas.microsoft.com/office/drawing/2014/main" id="{E8042D24-AF5D-166C-3AE1-5F798F5332B3}"/>
              </a:ext>
            </a:extLst>
          </p:cNvPr>
          <p:cNvCxnSpPr>
            <a:cxnSpLocks/>
            <a:stCxn id="23" idx="2"/>
            <a:endCxn id="99" idx="0"/>
          </p:cNvCxnSpPr>
          <p:nvPr/>
        </p:nvCxnSpPr>
        <p:spPr>
          <a:xfrm rot="5400000">
            <a:off x="11487906" y="6059602"/>
            <a:ext cx="594581" cy="6640217"/>
          </a:xfrm>
          <a:prstGeom prst="bentConnector3">
            <a:avLst>
              <a:gd name="adj1" fmla="val 30776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5">
            <a:extLst>
              <a:ext uri="{FF2B5EF4-FFF2-40B4-BE49-F238E27FC236}">
                <a16:creationId xmlns:a16="http://schemas.microsoft.com/office/drawing/2014/main" id="{F7F49406-E30C-4F42-B0A5-722340E0F93D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7330086" y="1849860"/>
            <a:ext cx="0" cy="50891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68">
            <a:extLst>
              <a:ext uri="{FF2B5EF4-FFF2-40B4-BE49-F238E27FC236}">
                <a16:creationId xmlns:a16="http://schemas.microsoft.com/office/drawing/2014/main" id="{945BE3C0-CCE3-4E05-9ABE-30A13E8FAA5D}"/>
              </a:ext>
            </a:extLst>
          </p:cNvPr>
          <p:cNvCxnSpPr>
            <a:cxnSpLocks/>
            <a:stCxn id="124" idx="2"/>
            <a:endCxn id="142" idx="0"/>
          </p:cNvCxnSpPr>
          <p:nvPr/>
        </p:nvCxnSpPr>
        <p:spPr>
          <a:xfrm rot="5400000">
            <a:off x="10170597" y="-1255740"/>
            <a:ext cx="594249" cy="475283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95">
            <a:extLst>
              <a:ext uri="{FF2B5EF4-FFF2-40B4-BE49-F238E27FC236}">
                <a16:creationId xmlns:a16="http://schemas.microsoft.com/office/drawing/2014/main" id="{F1BD0CBD-0215-4FBC-A4F7-87543662F62A}"/>
              </a:ext>
            </a:extLst>
          </p:cNvPr>
          <p:cNvCxnSpPr>
            <a:cxnSpLocks/>
            <a:stCxn id="142" idx="2"/>
            <a:endCxn id="145" idx="0"/>
          </p:cNvCxnSpPr>
          <p:nvPr/>
        </p:nvCxnSpPr>
        <p:spPr>
          <a:xfrm>
            <a:off x="8091304" y="1849861"/>
            <a:ext cx="0" cy="48838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순서도: 처리 141">
            <a:extLst>
              <a:ext uri="{FF2B5EF4-FFF2-40B4-BE49-F238E27FC236}">
                <a16:creationId xmlns:a16="http://schemas.microsoft.com/office/drawing/2014/main" id="{7860046D-2196-452C-B3F9-736504EC4CEF}"/>
              </a:ext>
            </a:extLst>
          </p:cNvPr>
          <p:cNvSpPr/>
          <p:nvPr/>
        </p:nvSpPr>
        <p:spPr>
          <a:xfrm>
            <a:off x="7272190" y="1417800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수기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작성</a:t>
            </a:r>
          </a:p>
        </p:txBody>
      </p:sp>
      <p:sp>
        <p:nvSpPr>
          <p:cNvPr id="145" name="순서도: 처리 144">
            <a:extLst>
              <a:ext uri="{FF2B5EF4-FFF2-40B4-BE49-F238E27FC236}">
                <a16:creationId xmlns:a16="http://schemas.microsoft.com/office/drawing/2014/main" id="{D397E6D8-20E6-43DF-8377-FFDBF9FE41DF}"/>
              </a:ext>
            </a:extLst>
          </p:cNvPr>
          <p:cNvSpPr/>
          <p:nvPr/>
        </p:nvSpPr>
        <p:spPr>
          <a:xfrm>
            <a:off x="7272190" y="2338244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계약자 정보 입력</a:t>
            </a:r>
          </a:p>
        </p:txBody>
      </p:sp>
      <p:sp>
        <p:nvSpPr>
          <p:cNvPr id="102" name="순서도: 판단 101">
            <a:extLst>
              <a:ext uri="{FF2B5EF4-FFF2-40B4-BE49-F238E27FC236}">
                <a16:creationId xmlns:a16="http://schemas.microsoft.com/office/drawing/2014/main" id="{10FF3772-4CE8-4F4D-8373-710F75048A1D}"/>
              </a:ext>
            </a:extLst>
          </p:cNvPr>
          <p:cNvSpPr/>
          <p:nvPr/>
        </p:nvSpPr>
        <p:spPr>
          <a:xfrm>
            <a:off x="12029692" y="3836055"/>
            <a:ext cx="1638228" cy="594927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보험료 조회</a:t>
            </a:r>
            <a:endParaRPr lang="en-US" altLang="ko-KR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5" name="직선 화살표 연결선 95">
            <a:extLst>
              <a:ext uri="{FF2B5EF4-FFF2-40B4-BE49-F238E27FC236}">
                <a16:creationId xmlns:a16="http://schemas.microsoft.com/office/drawing/2014/main" id="{2881978D-8639-4BC4-AB08-CA7031BA8A44}"/>
              </a:ext>
            </a:extLst>
          </p:cNvPr>
          <p:cNvCxnSpPr>
            <a:cxnSpLocks/>
            <a:stCxn id="91" idx="2"/>
            <a:endCxn id="102" idx="0"/>
          </p:cNvCxnSpPr>
          <p:nvPr/>
        </p:nvCxnSpPr>
        <p:spPr>
          <a:xfrm>
            <a:off x="12844212" y="3478206"/>
            <a:ext cx="4595" cy="35784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C7DC4795-1791-4A31-A185-41DFCB3971E7}"/>
              </a:ext>
            </a:extLst>
          </p:cNvPr>
          <p:cNvSpPr txBox="1"/>
          <p:nvPr/>
        </p:nvSpPr>
        <p:spPr>
          <a:xfrm>
            <a:off x="11698080" y="374701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12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896FD8B-697B-452F-BAF7-FF2DBD4DD0F7}"/>
              </a:ext>
            </a:extLst>
          </p:cNvPr>
          <p:cNvSpPr txBox="1"/>
          <p:nvPr/>
        </p:nvSpPr>
        <p:spPr>
          <a:xfrm>
            <a:off x="10721347" y="515515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12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8" name="순서도: 처리 117">
            <a:extLst>
              <a:ext uri="{FF2B5EF4-FFF2-40B4-BE49-F238E27FC236}">
                <a16:creationId xmlns:a16="http://schemas.microsoft.com/office/drawing/2014/main" id="{1EE63395-A67F-4AFF-AC77-7E1C6BB003E5}"/>
              </a:ext>
            </a:extLst>
          </p:cNvPr>
          <p:cNvSpPr/>
          <p:nvPr/>
        </p:nvSpPr>
        <p:spPr>
          <a:xfrm>
            <a:off x="12025098" y="4734500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보험료 확인</a:t>
            </a:r>
          </a:p>
        </p:txBody>
      </p:sp>
      <p:cxnSp>
        <p:nvCxnSpPr>
          <p:cNvPr id="130" name="직선 화살표 연결선 95">
            <a:extLst>
              <a:ext uri="{FF2B5EF4-FFF2-40B4-BE49-F238E27FC236}">
                <a16:creationId xmlns:a16="http://schemas.microsoft.com/office/drawing/2014/main" id="{1E61576C-2AD6-4A9B-B18D-1AE6E56D56AF}"/>
              </a:ext>
            </a:extLst>
          </p:cNvPr>
          <p:cNvCxnSpPr>
            <a:cxnSpLocks/>
            <a:stCxn id="102" idx="2"/>
            <a:endCxn id="118" idx="0"/>
          </p:cNvCxnSpPr>
          <p:nvPr/>
        </p:nvCxnSpPr>
        <p:spPr>
          <a:xfrm flipH="1">
            <a:off x="12844212" y="4430983"/>
            <a:ext cx="4595" cy="3035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순서도: 처리 140">
            <a:extLst>
              <a:ext uri="{FF2B5EF4-FFF2-40B4-BE49-F238E27FC236}">
                <a16:creationId xmlns:a16="http://schemas.microsoft.com/office/drawing/2014/main" id="{1A5DA546-3455-44CF-8892-09569AAFCFAA}"/>
              </a:ext>
            </a:extLst>
          </p:cNvPr>
          <p:cNvSpPr/>
          <p:nvPr/>
        </p:nvSpPr>
        <p:spPr>
          <a:xfrm>
            <a:off x="9813375" y="5563313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보험료 플랜</a:t>
            </a:r>
            <a:b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최종 확인 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선택</a:t>
            </a:r>
          </a:p>
        </p:txBody>
      </p:sp>
      <p:cxnSp>
        <p:nvCxnSpPr>
          <p:cNvPr id="146" name="직선 화살표 연결선 95">
            <a:extLst>
              <a:ext uri="{FF2B5EF4-FFF2-40B4-BE49-F238E27FC236}">
                <a16:creationId xmlns:a16="http://schemas.microsoft.com/office/drawing/2014/main" id="{9BE8A20E-5F72-4442-BEFB-6B9EB177DA40}"/>
              </a:ext>
            </a:extLst>
          </p:cNvPr>
          <p:cNvCxnSpPr>
            <a:cxnSpLocks/>
            <a:stCxn id="118" idx="1"/>
            <a:endCxn id="154" idx="3"/>
          </p:cNvCxnSpPr>
          <p:nvPr/>
        </p:nvCxnSpPr>
        <p:spPr>
          <a:xfrm flipH="1">
            <a:off x="11451603" y="4950530"/>
            <a:ext cx="57349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순서도: 판단 153">
            <a:extLst>
              <a:ext uri="{FF2B5EF4-FFF2-40B4-BE49-F238E27FC236}">
                <a16:creationId xmlns:a16="http://schemas.microsoft.com/office/drawing/2014/main" id="{70FDAF63-67D0-4B76-A806-7C1E51CC89C4}"/>
              </a:ext>
            </a:extLst>
          </p:cNvPr>
          <p:cNvSpPr/>
          <p:nvPr/>
        </p:nvSpPr>
        <p:spPr>
          <a:xfrm>
            <a:off x="9813375" y="4653066"/>
            <a:ext cx="1638228" cy="594927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조회</a:t>
            </a:r>
            <a:b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성공</a:t>
            </a:r>
            <a:b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여부 </a:t>
            </a:r>
            <a:endParaRPr lang="en-US" altLang="ko-KR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446ED35-8779-40C8-8CD4-8FAC2DF353E2}"/>
              </a:ext>
            </a:extLst>
          </p:cNvPr>
          <p:cNvSpPr txBox="1"/>
          <p:nvPr/>
        </p:nvSpPr>
        <p:spPr>
          <a:xfrm>
            <a:off x="12894319" y="4362956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12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F95EC1E-17D0-4706-B7A2-9205F94BAFA4}"/>
              </a:ext>
            </a:extLst>
          </p:cNvPr>
          <p:cNvSpPr txBox="1"/>
          <p:nvPr/>
        </p:nvSpPr>
        <p:spPr>
          <a:xfrm>
            <a:off x="9638721" y="4572515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12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4" name="순서도: 처리 163">
            <a:extLst>
              <a:ext uri="{FF2B5EF4-FFF2-40B4-BE49-F238E27FC236}">
                <a16:creationId xmlns:a16="http://schemas.microsoft.com/office/drawing/2014/main" id="{8917358C-5513-4B84-9779-A0535121A65F}"/>
              </a:ext>
            </a:extLst>
          </p:cNvPr>
          <p:cNvSpPr/>
          <p:nvPr/>
        </p:nvSpPr>
        <p:spPr>
          <a:xfrm>
            <a:off x="9807681" y="6368553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결제방법 선택</a:t>
            </a:r>
          </a:p>
        </p:txBody>
      </p:sp>
      <p:sp>
        <p:nvSpPr>
          <p:cNvPr id="165" name="순서도: 처리 164">
            <a:extLst>
              <a:ext uri="{FF2B5EF4-FFF2-40B4-BE49-F238E27FC236}">
                <a16:creationId xmlns:a16="http://schemas.microsoft.com/office/drawing/2014/main" id="{373572B7-AF3E-407B-A41C-45DF7DD08E4F}"/>
              </a:ext>
            </a:extLst>
          </p:cNvPr>
          <p:cNvSpPr/>
          <p:nvPr/>
        </p:nvSpPr>
        <p:spPr>
          <a:xfrm>
            <a:off x="12025021" y="5556290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총금액</a:t>
            </a: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확인</a:t>
            </a:r>
          </a:p>
        </p:txBody>
      </p:sp>
      <p:sp>
        <p:nvSpPr>
          <p:cNvPr id="166" name="순서도: 처리 165">
            <a:extLst>
              <a:ext uri="{FF2B5EF4-FFF2-40B4-BE49-F238E27FC236}">
                <a16:creationId xmlns:a16="http://schemas.microsoft.com/office/drawing/2014/main" id="{63482295-708B-453A-BBBA-518A3781C4D6}"/>
              </a:ext>
            </a:extLst>
          </p:cNvPr>
          <p:cNvSpPr/>
          <p:nvPr/>
        </p:nvSpPr>
        <p:spPr>
          <a:xfrm>
            <a:off x="12015573" y="6367247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 신청</a:t>
            </a:r>
          </a:p>
        </p:txBody>
      </p:sp>
      <p:sp>
        <p:nvSpPr>
          <p:cNvPr id="168" name="순서도: 판단 167">
            <a:extLst>
              <a:ext uri="{FF2B5EF4-FFF2-40B4-BE49-F238E27FC236}">
                <a16:creationId xmlns:a16="http://schemas.microsoft.com/office/drawing/2014/main" id="{A05FE1EC-2C61-4249-B1DE-3CC1DE26F99C}"/>
              </a:ext>
            </a:extLst>
          </p:cNvPr>
          <p:cNvSpPr/>
          <p:nvPr/>
        </p:nvSpPr>
        <p:spPr>
          <a:xfrm>
            <a:off x="12025098" y="7204047"/>
            <a:ext cx="1638228" cy="594927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</a:t>
            </a:r>
            <a:b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성공</a:t>
            </a:r>
            <a:b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여부</a:t>
            </a:r>
            <a:endParaRPr lang="en-US" altLang="ko-KR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9" name="순서도: 처리 168">
            <a:extLst>
              <a:ext uri="{FF2B5EF4-FFF2-40B4-BE49-F238E27FC236}">
                <a16:creationId xmlns:a16="http://schemas.microsoft.com/office/drawing/2014/main" id="{C0AE6BD7-17D7-4F7E-9D8B-13A74CB9FB9D}"/>
              </a:ext>
            </a:extLst>
          </p:cNvPr>
          <p:cNvSpPr/>
          <p:nvPr/>
        </p:nvSpPr>
        <p:spPr>
          <a:xfrm>
            <a:off x="9802498" y="8648528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 </a:t>
            </a:r>
            <a:r>
              <a:rPr lang="ko-KR" altLang="en-US" sz="12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재신청</a:t>
            </a:r>
            <a:endParaRPr lang="ko-KR" altLang="en-US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0" name="순서도: 처리 169">
            <a:extLst>
              <a:ext uri="{FF2B5EF4-FFF2-40B4-BE49-F238E27FC236}">
                <a16:creationId xmlns:a16="http://schemas.microsoft.com/office/drawing/2014/main" id="{4E0A34E6-1EEB-45E2-8F93-43B87929C18A}"/>
              </a:ext>
            </a:extLst>
          </p:cNvPr>
          <p:cNvSpPr/>
          <p:nvPr/>
        </p:nvSpPr>
        <p:spPr>
          <a:xfrm>
            <a:off x="9802498" y="7871084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계약자 정보 재입력 </a:t>
            </a:r>
            <a: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동일 조건 </a:t>
            </a:r>
            <a:r>
              <a:rPr lang="ko-KR" altLang="en-US" sz="12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재청약</a:t>
            </a:r>
            <a:endParaRPr lang="ko-KR" altLang="en-US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71" name="꺾인 연결선 68">
            <a:extLst>
              <a:ext uri="{FF2B5EF4-FFF2-40B4-BE49-F238E27FC236}">
                <a16:creationId xmlns:a16="http://schemas.microsoft.com/office/drawing/2014/main" id="{69CC52F3-1D06-41C7-9943-6CE15162ADEE}"/>
              </a:ext>
            </a:extLst>
          </p:cNvPr>
          <p:cNvCxnSpPr>
            <a:cxnSpLocks/>
            <a:stCxn id="124" idx="2"/>
            <a:endCxn id="5" idx="0"/>
          </p:cNvCxnSpPr>
          <p:nvPr/>
        </p:nvCxnSpPr>
        <p:spPr>
          <a:xfrm rot="5400000">
            <a:off x="12547012" y="1120676"/>
            <a:ext cx="594249" cy="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68">
            <a:extLst>
              <a:ext uri="{FF2B5EF4-FFF2-40B4-BE49-F238E27FC236}">
                <a16:creationId xmlns:a16="http://schemas.microsoft.com/office/drawing/2014/main" id="{F74BAB9F-8550-451F-8F75-57A7A95833B3}"/>
              </a:ext>
            </a:extLst>
          </p:cNvPr>
          <p:cNvCxnSpPr>
            <a:cxnSpLocks/>
            <a:stCxn id="102" idx="1"/>
            <a:endCxn id="164" idx="1"/>
          </p:cNvCxnSpPr>
          <p:nvPr/>
        </p:nvCxnSpPr>
        <p:spPr>
          <a:xfrm rot="10800000" flipV="1">
            <a:off x="9807683" y="4133518"/>
            <a:ext cx="2222012" cy="2451065"/>
          </a:xfrm>
          <a:prstGeom prst="bentConnector3">
            <a:avLst>
              <a:gd name="adj1" fmla="val 203523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68">
            <a:extLst>
              <a:ext uri="{FF2B5EF4-FFF2-40B4-BE49-F238E27FC236}">
                <a16:creationId xmlns:a16="http://schemas.microsoft.com/office/drawing/2014/main" id="{F9A193C2-D2EF-46B3-957C-30EEF76D334F}"/>
              </a:ext>
            </a:extLst>
          </p:cNvPr>
          <p:cNvCxnSpPr>
            <a:cxnSpLocks/>
            <a:stCxn id="145" idx="2"/>
          </p:cNvCxnSpPr>
          <p:nvPr/>
        </p:nvCxnSpPr>
        <p:spPr>
          <a:xfrm rot="16200000" flipH="1">
            <a:off x="10024344" y="837263"/>
            <a:ext cx="886827" cy="4752908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95">
            <a:extLst>
              <a:ext uri="{FF2B5EF4-FFF2-40B4-BE49-F238E27FC236}">
                <a16:creationId xmlns:a16="http://schemas.microsoft.com/office/drawing/2014/main" id="{A7397D10-A200-4B52-BCB3-889EF8E8E475}"/>
              </a:ext>
            </a:extLst>
          </p:cNvPr>
          <p:cNvCxnSpPr>
            <a:cxnSpLocks/>
            <a:stCxn id="154" idx="2"/>
            <a:endCxn id="141" idx="0"/>
          </p:cNvCxnSpPr>
          <p:nvPr/>
        </p:nvCxnSpPr>
        <p:spPr>
          <a:xfrm>
            <a:off x="10632489" y="5247994"/>
            <a:ext cx="0" cy="3153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화살표 연결선 95">
            <a:extLst>
              <a:ext uri="{FF2B5EF4-FFF2-40B4-BE49-F238E27FC236}">
                <a16:creationId xmlns:a16="http://schemas.microsoft.com/office/drawing/2014/main" id="{336C7582-421C-4B5E-87E1-48564BEBE12A}"/>
              </a:ext>
            </a:extLst>
          </p:cNvPr>
          <p:cNvCxnSpPr>
            <a:cxnSpLocks/>
            <a:stCxn id="164" idx="3"/>
            <a:endCxn id="166" idx="1"/>
          </p:cNvCxnSpPr>
          <p:nvPr/>
        </p:nvCxnSpPr>
        <p:spPr>
          <a:xfrm flipV="1">
            <a:off x="11445909" y="6583277"/>
            <a:ext cx="569664" cy="130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68">
            <a:extLst>
              <a:ext uri="{FF2B5EF4-FFF2-40B4-BE49-F238E27FC236}">
                <a16:creationId xmlns:a16="http://schemas.microsoft.com/office/drawing/2014/main" id="{AD563547-6243-4D13-ADFE-89E649063649}"/>
              </a:ext>
            </a:extLst>
          </p:cNvPr>
          <p:cNvCxnSpPr>
            <a:cxnSpLocks/>
            <a:stCxn id="2203" idx="2"/>
          </p:cNvCxnSpPr>
          <p:nvPr/>
        </p:nvCxnSpPr>
        <p:spPr>
          <a:xfrm rot="5400000">
            <a:off x="14644065" y="971109"/>
            <a:ext cx="936276" cy="4435767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화살표 연결선 95">
            <a:extLst>
              <a:ext uri="{FF2B5EF4-FFF2-40B4-BE49-F238E27FC236}">
                <a16:creationId xmlns:a16="http://schemas.microsoft.com/office/drawing/2014/main" id="{7DCF1842-D3E4-461B-963A-AA371784E1DF}"/>
              </a:ext>
            </a:extLst>
          </p:cNvPr>
          <p:cNvCxnSpPr>
            <a:cxnSpLocks/>
            <a:stCxn id="166" idx="2"/>
            <a:endCxn id="168" idx="0"/>
          </p:cNvCxnSpPr>
          <p:nvPr/>
        </p:nvCxnSpPr>
        <p:spPr>
          <a:xfrm>
            <a:off x="12834687" y="6799307"/>
            <a:ext cx="9525" cy="40474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A57DC8D0-8EB0-4F4B-A517-694755925D2B}"/>
              </a:ext>
            </a:extLst>
          </p:cNvPr>
          <p:cNvSpPr txBox="1"/>
          <p:nvPr/>
        </p:nvSpPr>
        <p:spPr>
          <a:xfrm>
            <a:off x="12894319" y="7744381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12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2F80ECCD-6CB6-4238-80EC-BE715DEF8624}"/>
              </a:ext>
            </a:extLst>
          </p:cNvPr>
          <p:cNvSpPr txBox="1"/>
          <p:nvPr/>
        </p:nvSpPr>
        <p:spPr>
          <a:xfrm>
            <a:off x="11811693" y="7161743"/>
            <a:ext cx="2968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12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38" name="순서도: 문서 237">
            <a:extLst>
              <a:ext uri="{FF2B5EF4-FFF2-40B4-BE49-F238E27FC236}">
                <a16:creationId xmlns:a16="http://schemas.microsoft.com/office/drawing/2014/main" id="{205362D6-2250-4364-B852-94143BDC1EA8}"/>
              </a:ext>
            </a:extLst>
          </p:cNvPr>
          <p:cNvSpPr/>
          <p:nvPr/>
        </p:nvSpPr>
        <p:spPr>
          <a:xfrm>
            <a:off x="9807681" y="7036840"/>
            <a:ext cx="1638228" cy="533327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실패인원 엑셀</a:t>
            </a:r>
            <a:br>
              <a:rPr lang="en-US" altLang="ko-KR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다운로드</a:t>
            </a:r>
          </a:p>
        </p:txBody>
      </p:sp>
      <p:cxnSp>
        <p:nvCxnSpPr>
          <p:cNvPr id="240" name="꺾인 연결선 68">
            <a:extLst>
              <a:ext uri="{FF2B5EF4-FFF2-40B4-BE49-F238E27FC236}">
                <a16:creationId xmlns:a16="http://schemas.microsoft.com/office/drawing/2014/main" id="{0B4A0FDD-4BEE-45F4-BA36-957C2F132567}"/>
              </a:ext>
            </a:extLst>
          </p:cNvPr>
          <p:cNvCxnSpPr>
            <a:cxnSpLocks/>
            <a:stCxn id="168" idx="1"/>
            <a:endCxn id="170" idx="3"/>
          </p:cNvCxnSpPr>
          <p:nvPr/>
        </p:nvCxnSpPr>
        <p:spPr>
          <a:xfrm rot="10800000" flipV="1">
            <a:off x="11440728" y="7501511"/>
            <a:ext cx="584372" cy="58560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68">
            <a:extLst>
              <a:ext uri="{FF2B5EF4-FFF2-40B4-BE49-F238E27FC236}">
                <a16:creationId xmlns:a16="http://schemas.microsoft.com/office/drawing/2014/main" id="{3E2BD75A-5512-4AD5-B0EF-8A242A278500}"/>
              </a:ext>
            </a:extLst>
          </p:cNvPr>
          <p:cNvCxnSpPr>
            <a:cxnSpLocks/>
            <a:stCxn id="168" idx="1"/>
            <a:endCxn id="238" idx="3"/>
          </p:cNvCxnSpPr>
          <p:nvPr/>
        </p:nvCxnSpPr>
        <p:spPr>
          <a:xfrm rot="10800000">
            <a:off x="11445909" y="7303505"/>
            <a:ext cx="579189" cy="19800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1" name="연결선: 꺾임 2300">
            <a:extLst>
              <a:ext uri="{FF2B5EF4-FFF2-40B4-BE49-F238E27FC236}">
                <a16:creationId xmlns:a16="http://schemas.microsoft.com/office/drawing/2014/main" id="{6BAE6417-D070-4773-8F12-29D1B8C8FCBF}"/>
              </a:ext>
            </a:extLst>
          </p:cNvPr>
          <p:cNvCxnSpPr>
            <a:cxnSpLocks/>
            <a:stCxn id="253" idx="1"/>
            <a:endCxn id="91" idx="1"/>
          </p:cNvCxnSpPr>
          <p:nvPr/>
        </p:nvCxnSpPr>
        <p:spPr>
          <a:xfrm rot="10800000" flipH="1">
            <a:off x="7289448" y="3262178"/>
            <a:ext cx="4735649" cy="4028384"/>
          </a:xfrm>
          <a:prstGeom prst="bentConnector3">
            <a:avLst>
              <a:gd name="adj1" fmla="val -7241"/>
            </a:avLst>
          </a:prstGeom>
          <a:ln w="2222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순서도: 처리 252">
            <a:extLst>
              <a:ext uri="{FF2B5EF4-FFF2-40B4-BE49-F238E27FC236}">
                <a16:creationId xmlns:a16="http://schemas.microsoft.com/office/drawing/2014/main" id="{63806126-0C6B-446B-B8A8-7FC21B3BF358}"/>
              </a:ext>
            </a:extLst>
          </p:cNvPr>
          <p:cNvSpPr/>
          <p:nvPr/>
        </p:nvSpPr>
        <p:spPr>
          <a:xfrm>
            <a:off x="7289449" y="7074530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엑셀 수정</a:t>
            </a:r>
          </a:p>
        </p:txBody>
      </p:sp>
      <p:cxnSp>
        <p:nvCxnSpPr>
          <p:cNvPr id="257" name="직선 화살표 연결선 95">
            <a:extLst>
              <a:ext uri="{FF2B5EF4-FFF2-40B4-BE49-F238E27FC236}">
                <a16:creationId xmlns:a16="http://schemas.microsoft.com/office/drawing/2014/main" id="{1E16D520-00EE-4003-BB8B-E574F6C25F3A}"/>
              </a:ext>
            </a:extLst>
          </p:cNvPr>
          <p:cNvCxnSpPr>
            <a:cxnSpLocks/>
            <a:stCxn id="238" idx="1"/>
            <a:endCxn id="253" idx="3"/>
          </p:cNvCxnSpPr>
          <p:nvPr/>
        </p:nvCxnSpPr>
        <p:spPr>
          <a:xfrm flipH="1" flipV="1">
            <a:off x="8927678" y="7290560"/>
            <a:ext cx="880004" cy="1294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직선 화살표 연결선 95">
            <a:extLst>
              <a:ext uri="{FF2B5EF4-FFF2-40B4-BE49-F238E27FC236}">
                <a16:creationId xmlns:a16="http://schemas.microsoft.com/office/drawing/2014/main" id="{55917022-7773-4159-B37B-A89C74ED8191}"/>
              </a:ext>
            </a:extLst>
          </p:cNvPr>
          <p:cNvCxnSpPr>
            <a:cxnSpLocks/>
            <a:stCxn id="170" idx="2"/>
            <a:endCxn id="169" idx="0"/>
          </p:cNvCxnSpPr>
          <p:nvPr/>
        </p:nvCxnSpPr>
        <p:spPr>
          <a:xfrm>
            <a:off x="10621612" y="8303144"/>
            <a:ext cx="0" cy="34538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순서도: 처리 284">
            <a:extLst>
              <a:ext uri="{FF2B5EF4-FFF2-40B4-BE49-F238E27FC236}">
                <a16:creationId xmlns:a16="http://schemas.microsoft.com/office/drawing/2014/main" id="{C9715CE5-2969-405D-9D25-26408FC57CE8}"/>
              </a:ext>
            </a:extLst>
          </p:cNvPr>
          <p:cNvSpPr/>
          <p:nvPr/>
        </p:nvSpPr>
        <p:spPr>
          <a:xfrm>
            <a:off x="12025098" y="8641275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청약신청 완료</a:t>
            </a:r>
          </a:p>
        </p:txBody>
      </p:sp>
      <p:cxnSp>
        <p:nvCxnSpPr>
          <p:cNvPr id="292" name="직선 화살표 연결선 95">
            <a:extLst>
              <a:ext uri="{FF2B5EF4-FFF2-40B4-BE49-F238E27FC236}">
                <a16:creationId xmlns:a16="http://schemas.microsoft.com/office/drawing/2014/main" id="{5A165642-8ABE-4A72-9F29-E5563489CAAE}"/>
              </a:ext>
            </a:extLst>
          </p:cNvPr>
          <p:cNvCxnSpPr>
            <a:cxnSpLocks/>
            <a:stCxn id="141" idx="3"/>
            <a:endCxn id="165" idx="1"/>
          </p:cNvCxnSpPr>
          <p:nvPr/>
        </p:nvCxnSpPr>
        <p:spPr>
          <a:xfrm flipV="1">
            <a:off x="11451603" y="5772320"/>
            <a:ext cx="573419" cy="702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순서도: 처리 301">
            <a:extLst>
              <a:ext uri="{FF2B5EF4-FFF2-40B4-BE49-F238E27FC236}">
                <a16:creationId xmlns:a16="http://schemas.microsoft.com/office/drawing/2014/main" id="{1408AD8B-19CE-4D4F-BBFE-70C9D511CED6}"/>
              </a:ext>
            </a:extLst>
          </p:cNvPr>
          <p:cNvSpPr/>
          <p:nvPr/>
        </p:nvSpPr>
        <p:spPr>
          <a:xfrm>
            <a:off x="7792215" y="4736246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계약자 정보 재입력</a:t>
            </a:r>
            <a:endParaRPr lang="ko-KR" altLang="en-US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303" name="직선 화살표 연결선 95">
            <a:extLst>
              <a:ext uri="{FF2B5EF4-FFF2-40B4-BE49-F238E27FC236}">
                <a16:creationId xmlns:a16="http://schemas.microsoft.com/office/drawing/2014/main" id="{598E9857-DCBE-4D2E-A845-BC7869C948E6}"/>
              </a:ext>
            </a:extLst>
          </p:cNvPr>
          <p:cNvCxnSpPr>
            <a:cxnSpLocks/>
            <a:stCxn id="154" idx="1"/>
            <a:endCxn id="302" idx="3"/>
          </p:cNvCxnSpPr>
          <p:nvPr/>
        </p:nvCxnSpPr>
        <p:spPr>
          <a:xfrm flipH="1">
            <a:off x="9430443" y="4950530"/>
            <a:ext cx="382932" cy="174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순서도: 처리 307">
            <a:extLst>
              <a:ext uri="{FF2B5EF4-FFF2-40B4-BE49-F238E27FC236}">
                <a16:creationId xmlns:a16="http://schemas.microsoft.com/office/drawing/2014/main" id="{0B11408F-53DE-4C1B-A3A6-817BE2A1C116}"/>
              </a:ext>
            </a:extLst>
          </p:cNvPr>
          <p:cNvSpPr/>
          <p:nvPr/>
        </p:nvSpPr>
        <p:spPr>
          <a:xfrm>
            <a:off x="7792215" y="5562276"/>
            <a:ext cx="1638228" cy="43206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재입력 대상 </a:t>
            </a:r>
            <a:r>
              <a:rPr lang="ko-KR" altLang="en-US" sz="12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재조회</a:t>
            </a:r>
            <a:endParaRPr lang="ko-KR" altLang="en-US" sz="12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309" name="직선 화살표 연결선 95">
            <a:extLst>
              <a:ext uri="{FF2B5EF4-FFF2-40B4-BE49-F238E27FC236}">
                <a16:creationId xmlns:a16="http://schemas.microsoft.com/office/drawing/2014/main" id="{E1EF608C-86D4-4ABB-A874-5F9BDFC865BC}"/>
              </a:ext>
            </a:extLst>
          </p:cNvPr>
          <p:cNvCxnSpPr>
            <a:cxnSpLocks/>
            <a:stCxn id="302" idx="2"/>
            <a:endCxn id="308" idx="0"/>
          </p:cNvCxnSpPr>
          <p:nvPr/>
        </p:nvCxnSpPr>
        <p:spPr>
          <a:xfrm>
            <a:off x="8611329" y="5168306"/>
            <a:ext cx="0" cy="39397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화살표 연결선 95">
            <a:extLst>
              <a:ext uri="{FF2B5EF4-FFF2-40B4-BE49-F238E27FC236}">
                <a16:creationId xmlns:a16="http://schemas.microsoft.com/office/drawing/2014/main" id="{923DCC2C-EE31-4DA1-B8B0-83CEF79BE7A3}"/>
              </a:ext>
            </a:extLst>
          </p:cNvPr>
          <p:cNvCxnSpPr>
            <a:cxnSpLocks/>
            <a:stCxn id="308" idx="3"/>
            <a:endCxn id="141" idx="1"/>
          </p:cNvCxnSpPr>
          <p:nvPr/>
        </p:nvCxnSpPr>
        <p:spPr>
          <a:xfrm>
            <a:off x="9430443" y="5778307"/>
            <a:ext cx="382932" cy="103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직선 화살표 연결선 95">
            <a:extLst>
              <a:ext uri="{FF2B5EF4-FFF2-40B4-BE49-F238E27FC236}">
                <a16:creationId xmlns:a16="http://schemas.microsoft.com/office/drawing/2014/main" id="{B8A8CC02-E534-4ED3-B475-D6979D33D074}"/>
              </a:ext>
            </a:extLst>
          </p:cNvPr>
          <p:cNvCxnSpPr>
            <a:cxnSpLocks/>
            <a:stCxn id="168" idx="2"/>
            <a:endCxn id="285" idx="0"/>
          </p:cNvCxnSpPr>
          <p:nvPr/>
        </p:nvCxnSpPr>
        <p:spPr>
          <a:xfrm>
            <a:off x="12844212" y="7798974"/>
            <a:ext cx="0" cy="84230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직선 화살표 연결선 95">
            <a:extLst>
              <a:ext uri="{FF2B5EF4-FFF2-40B4-BE49-F238E27FC236}">
                <a16:creationId xmlns:a16="http://schemas.microsoft.com/office/drawing/2014/main" id="{CA16DDAD-6007-4FEC-8395-687E5C1C3371}"/>
              </a:ext>
            </a:extLst>
          </p:cNvPr>
          <p:cNvCxnSpPr>
            <a:cxnSpLocks/>
            <a:stCxn id="169" idx="3"/>
            <a:endCxn id="285" idx="1"/>
          </p:cNvCxnSpPr>
          <p:nvPr/>
        </p:nvCxnSpPr>
        <p:spPr>
          <a:xfrm flipV="1">
            <a:off x="11440727" y="8857306"/>
            <a:ext cx="584372" cy="725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화살표 연결선 95">
            <a:extLst>
              <a:ext uri="{FF2B5EF4-FFF2-40B4-BE49-F238E27FC236}">
                <a16:creationId xmlns:a16="http://schemas.microsoft.com/office/drawing/2014/main" id="{8FC0A414-8E6F-4BF4-B918-AC66981665DA}"/>
              </a:ext>
            </a:extLst>
          </p:cNvPr>
          <p:cNvCxnSpPr>
            <a:cxnSpLocks/>
            <a:stCxn id="285" idx="3"/>
            <a:endCxn id="23" idx="1"/>
          </p:cNvCxnSpPr>
          <p:nvPr/>
        </p:nvCxnSpPr>
        <p:spPr>
          <a:xfrm>
            <a:off x="13663326" y="8857305"/>
            <a:ext cx="622863" cy="9084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>
            <a:extLst>
              <a:ext uri="{FF2B5EF4-FFF2-40B4-BE49-F238E27FC236}">
                <a16:creationId xmlns:a16="http://schemas.microsoft.com/office/drawing/2014/main" id="{25309258-7F81-425C-8826-15DDA4916C7F}"/>
              </a:ext>
            </a:extLst>
          </p:cNvPr>
          <p:cNvSpPr txBox="1"/>
          <p:nvPr/>
        </p:nvSpPr>
        <p:spPr>
          <a:xfrm>
            <a:off x="12894320" y="882601"/>
            <a:ext cx="5048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엑셀</a:t>
            </a:r>
            <a:r>
              <a:rPr lang="en-US" altLang="ko-KR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, ERP</a:t>
            </a:r>
            <a:r>
              <a:rPr lang="ko-KR" altLang="en-US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연동</a:t>
            </a:r>
            <a:r>
              <a:rPr lang="en-US" altLang="ko-KR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온라인 신청  페이지 통합</a:t>
            </a: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4E3DBB9D-4669-4CE9-836C-67473F9FD165}"/>
              </a:ext>
            </a:extLst>
          </p:cNvPr>
          <p:cNvSpPr txBox="1"/>
          <p:nvPr/>
        </p:nvSpPr>
        <p:spPr>
          <a:xfrm>
            <a:off x="13646069" y="3137860"/>
            <a:ext cx="3501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엑셀 업로드 시 보험 플랜까지 작성하여 진행 </a:t>
            </a: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14F1A879-BABC-46E0-91B6-3F26B8C459BA}"/>
              </a:ext>
            </a:extLst>
          </p:cNvPr>
          <p:cNvSpPr txBox="1"/>
          <p:nvPr/>
        </p:nvSpPr>
        <p:spPr>
          <a:xfrm>
            <a:off x="6615878" y="7867141"/>
            <a:ext cx="3369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카드결제 실패 또는 </a:t>
            </a:r>
            <a:r>
              <a:rPr lang="ko-KR" altLang="en-US" sz="1200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통신오류일때</a:t>
            </a:r>
            <a:r>
              <a:rPr lang="ko-KR" altLang="en-US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전체 실패</a:t>
            </a:r>
            <a:br>
              <a:rPr lang="en-US" altLang="ko-KR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케이스 시 동일 조건 </a:t>
            </a:r>
            <a:r>
              <a:rPr lang="ko-KR" altLang="en-US" sz="1200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재청약</a:t>
            </a:r>
            <a:r>
              <a:rPr lang="ko-KR" altLang="en-US" sz="1200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버튼으로 진행</a:t>
            </a:r>
          </a:p>
        </p:txBody>
      </p:sp>
      <p:sp>
        <p:nvSpPr>
          <p:cNvPr id="90" name="TextBox 14">
            <a:extLst>
              <a:ext uri="{FF2B5EF4-FFF2-40B4-BE49-F238E27FC236}">
                <a16:creationId xmlns:a16="http://schemas.microsoft.com/office/drawing/2014/main" id="{A0E68035-CCC3-4F9B-B040-B66E0EA6C048}"/>
              </a:ext>
            </a:extLst>
          </p:cNvPr>
          <p:cNvSpPr txBox="1"/>
          <p:nvPr/>
        </p:nvSpPr>
        <p:spPr>
          <a:xfrm>
            <a:off x="433233" y="570138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1.2 [TO-BE]</a:t>
            </a:r>
            <a:b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FLOW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7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접속 및 화면 구성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2-1.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방법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A046994-1D89-4190-8ED5-7B07C55C6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46948"/>
            <a:ext cx="13196054" cy="61978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C251B7-8FE2-4A55-B8DD-9449AC177719}"/>
              </a:ext>
            </a:extLst>
          </p:cNvPr>
          <p:cNvSpPr txBox="1"/>
          <p:nvPr/>
        </p:nvSpPr>
        <p:spPr>
          <a:xfrm>
            <a:off x="1181100" y="8286824"/>
            <a:ext cx="15925800" cy="96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다이렉트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URL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hlinkClick r:id="rId4"/>
              </a:rPr>
              <a:t>https://carrotins.smcnc.net/login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URL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통해 </a:t>
            </a:r>
            <a:r>
              <a:rPr lang="ko-KR" altLang="en-US" sz="20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바로 접근 가능</a:t>
            </a:r>
            <a:endParaRPr lang="en-US" altLang="ko-KR" sz="20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ERP -&gt;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상단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GNB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맨 오른쪽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2000" b="1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캐롯보험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클릭 시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한화손해보험으로 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자동 로그인</a:t>
            </a:r>
            <a:endParaRPr lang="en-US" altLang="ko-KR" sz="2000" b="1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C41D7B-FB0E-451C-86A8-0B2CDF53CC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575" b="91603"/>
          <a:stretch/>
        </p:blipFill>
        <p:spPr>
          <a:xfrm>
            <a:off x="14416002" y="2185445"/>
            <a:ext cx="1214011" cy="64482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A9DD77-91F9-4F9B-9010-E30F9A660980}"/>
              </a:ext>
            </a:extLst>
          </p:cNvPr>
          <p:cNvSpPr/>
          <p:nvPr/>
        </p:nvSpPr>
        <p:spPr>
          <a:xfrm>
            <a:off x="14416001" y="2185445"/>
            <a:ext cx="1214011" cy="630647"/>
          </a:xfrm>
          <a:prstGeom prst="rect">
            <a:avLst/>
          </a:prstGeom>
          <a:noFill/>
          <a:ln w="635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66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접속 및 화면 구성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2-2.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상단 메뉴 구조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C251B7-8FE2-4A55-B8DD-9449AC177719}"/>
              </a:ext>
            </a:extLst>
          </p:cNvPr>
          <p:cNvSpPr txBox="1"/>
          <p:nvPr/>
        </p:nvSpPr>
        <p:spPr>
          <a:xfrm>
            <a:off x="2209799" y="7163845"/>
            <a:ext cx="15925800" cy="2808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청약신청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ERP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연동 조회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엑셀 업로드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온라인 신청 모든 기능을 청약신청 메뉴 하나에서 통합으로 진행 가능</a:t>
            </a:r>
            <a:endParaRPr lang="en-US" altLang="ko-KR" sz="20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계약내역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내역 조회 페이지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추후 이메일 전송 기능 추가 예정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ERP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등록된 고객사명을 조회하여 원하는 고객사에 고정 플랜 설정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보험플랜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해외여행보험플랜 플랜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코드별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보장 금액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기간별 보험료 노출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가이드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 가이드 문서를 볼 수 있는 메뉴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HELP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해외여행보험 약관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보험청구서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가입요청양식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CD628D-5AE5-4777-8D5E-CC19A15CE8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5" b="9410"/>
          <a:stretch/>
        </p:blipFill>
        <p:spPr>
          <a:xfrm>
            <a:off x="2209799" y="2619261"/>
            <a:ext cx="13411201" cy="442851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D93464E-194E-491D-AF72-DF7F93D3D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799" y="2409750"/>
            <a:ext cx="8976570" cy="723917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10F54AD-D4E9-4A9F-BC6C-D603DDDA1E85}"/>
              </a:ext>
            </a:extLst>
          </p:cNvPr>
          <p:cNvSpPr/>
          <p:nvPr/>
        </p:nvSpPr>
        <p:spPr>
          <a:xfrm>
            <a:off x="1676399" y="2362720"/>
            <a:ext cx="9509969" cy="723917"/>
          </a:xfrm>
          <a:prstGeom prst="roundRect">
            <a:avLst>
              <a:gd name="adj" fmla="val 50000"/>
            </a:avLst>
          </a:prstGeom>
          <a:noFill/>
          <a:ln w="666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470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3.1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데이터 입력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ERP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방식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C57569-A8B4-4E4F-BF7A-8ED618F71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096" y="2354338"/>
            <a:ext cx="14387807" cy="5578323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42F78D-28AF-44EB-B9CD-0B3577D2102B}"/>
              </a:ext>
            </a:extLst>
          </p:cNvPr>
          <p:cNvSpPr/>
          <p:nvPr/>
        </p:nvSpPr>
        <p:spPr>
          <a:xfrm>
            <a:off x="1950096" y="3314700"/>
            <a:ext cx="8350398" cy="68580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val 35">
            <a:extLst>
              <a:ext uri="{FF2B5EF4-FFF2-40B4-BE49-F238E27FC236}">
                <a16:creationId xmlns:a16="http://schemas.microsoft.com/office/drawing/2014/main" id="{770B2F9C-2C18-432E-9AC0-7E7D0CC86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5259" y="3540963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Oval 35">
            <a:extLst>
              <a:ext uri="{FF2B5EF4-FFF2-40B4-BE49-F238E27FC236}">
                <a16:creationId xmlns:a16="http://schemas.microsoft.com/office/drawing/2014/main" id="{BFC9BC77-B5C5-4E65-9D45-1515DB667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395184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Oval 35">
            <a:extLst>
              <a:ext uri="{FF2B5EF4-FFF2-40B4-BE49-F238E27FC236}">
                <a16:creationId xmlns:a16="http://schemas.microsoft.com/office/drawing/2014/main" id="{F03A6B1F-C4AE-425F-9943-ACCD4903D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62939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Oval 35">
            <a:extLst>
              <a:ext uri="{FF2B5EF4-FFF2-40B4-BE49-F238E27FC236}">
                <a16:creationId xmlns:a16="http://schemas.microsoft.com/office/drawing/2014/main" id="{32CBEE31-D9A1-4910-912B-B97E5BC1D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6120765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167CB9E-CA66-47B4-922F-F8760AF2BD17}"/>
              </a:ext>
            </a:extLst>
          </p:cNvPr>
          <p:cNvSpPr/>
          <p:nvPr/>
        </p:nvSpPr>
        <p:spPr>
          <a:xfrm>
            <a:off x="1950096" y="8142595"/>
            <a:ext cx="12146904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인풋 박스에 예약번호를 입력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검색 버튼을 클릭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클릭 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모달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대상자 체크 박스 체크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[4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적용하기 버튼 클릭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적용하기 버튼 클릭 시 다음 페이지 참조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5873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3.1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데이터 입력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en-US" altLang="ko-KR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 </a:t>
            </a:r>
            <a:r>
              <a:rPr lang="ko-KR" altLang="en-US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방식</a:t>
            </a:r>
            <a:endParaRPr lang="ko-KR" altLang="ko-KR" sz="2500" b="1" u="sng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18C9A7-897A-4D29-8F8D-6A835CB4A9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980"/>
          <a:stretch/>
        </p:blipFill>
        <p:spPr>
          <a:xfrm>
            <a:off x="1600200" y="2338959"/>
            <a:ext cx="14325572" cy="4023737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272C297-6AB3-454C-9530-A26781ABA3EC}"/>
              </a:ext>
            </a:extLst>
          </p:cNvPr>
          <p:cNvSpPr/>
          <p:nvPr/>
        </p:nvSpPr>
        <p:spPr>
          <a:xfrm>
            <a:off x="1632856" y="4762507"/>
            <a:ext cx="14292916" cy="990593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Oval 35">
            <a:extLst>
              <a:ext uri="{FF2B5EF4-FFF2-40B4-BE49-F238E27FC236}">
                <a16:creationId xmlns:a16="http://schemas.microsoft.com/office/drawing/2014/main" id="{1F651CC9-0312-4790-8E81-65F91BC0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4725" y="4531084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743019" y="6573903"/>
            <a:ext cx="15697200" cy="2808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적용하기 버튼 클릭 시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메인화면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테이블에 선택한 대상자 정보 호출 및 노출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ㄴ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호출 정보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고객사명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한글성명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주민등록번호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생년월일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영문성명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티켓번호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보험시작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종료일시 </a:t>
            </a:r>
            <a:r>
              <a:rPr lang="en-US" altLang="ko-KR" sz="20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ERP </a:t>
            </a:r>
            <a:r>
              <a:rPr lang="ko-KR" altLang="en-US" sz="20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여행 날짜 기반 셋팅</a:t>
            </a:r>
            <a:endParaRPr lang="en-US" altLang="ko-KR" sz="2000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나머지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필수값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작성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주민등록번호 뒷자리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보험시작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종료일시 체크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플랜명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선택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ㄴ 플랜명은 해당 단계에서 선택하지 않아도 진행 가능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변경 및 선택 가능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주민등록번호 및 휴대폰 번호는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(-)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하이픈 없이 숫자만 입력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ERP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조회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대상 선택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적용하기 해당 작업을 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반복하여 누적하여 </a:t>
            </a:r>
            <a:r>
              <a:rPr lang="en-US" altLang="ko-KR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en-US" altLang="ko-KR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테이블에 추가 가능</a:t>
            </a:r>
            <a:endParaRPr lang="en-US" altLang="ko-KR" sz="2000" b="1" u="sng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Oval 35">
            <a:extLst>
              <a:ext uri="{FF2B5EF4-FFF2-40B4-BE49-F238E27FC236}">
                <a16:creationId xmlns:a16="http://schemas.microsoft.com/office/drawing/2014/main" id="{CA76BD22-079C-41E2-89F1-A89F1CDE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862556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2595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9EECD5C-A99D-4638-977C-43ADB34BA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194" y="2262577"/>
            <a:ext cx="14225153" cy="5540402"/>
          </a:xfrm>
          <a:prstGeom prst="rect">
            <a:avLst/>
          </a:prstGeom>
        </p:spPr>
      </p:pic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3.2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데이터 입력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엑셀 업로드 방식</a:t>
            </a:r>
            <a:endParaRPr lang="ko-KR" altLang="ko-KR" sz="2500" b="1" u="sng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Oval 35">
            <a:extLst>
              <a:ext uri="{FF2B5EF4-FFF2-40B4-BE49-F238E27FC236}">
                <a16:creationId xmlns:a16="http://schemas.microsoft.com/office/drawing/2014/main" id="{1F651CC9-0312-4790-8E81-65F91BC01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2933" y="3471417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981200" y="7802983"/>
            <a:ext cx="15697200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클릭하여 양식 다운로드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[1-1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양식 작성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Oval 35">
            <a:extLst>
              <a:ext uri="{FF2B5EF4-FFF2-40B4-BE49-F238E27FC236}">
                <a16:creationId xmlns:a16="http://schemas.microsoft.com/office/drawing/2014/main" id="{CA76BD22-079C-41E2-89F1-A89F1CDE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2773" y="3305681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1E1FD49-F6B5-4D81-BBC1-F99AE18AF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035" y="8390319"/>
            <a:ext cx="13249712" cy="525047"/>
          </a:xfrm>
          <a:prstGeom prst="rect">
            <a:avLst/>
          </a:prstGeom>
        </p:spPr>
      </p:pic>
      <p:sp>
        <p:nvSpPr>
          <p:cNvPr id="12" name="Oval 35">
            <a:extLst>
              <a:ext uri="{FF2B5EF4-FFF2-40B4-BE49-F238E27FC236}">
                <a16:creationId xmlns:a16="http://schemas.microsoft.com/office/drawing/2014/main" id="{41DB5F3B-EDE4-4ECE-B848-2C48BE6BA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741" y="8392133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1-1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E17F88-AB82-4F34-8E57-23662EF1ADDA}"/>
              </a:ext>
            </a:extLst>
          </p:cNvPr>
          <p:cNvSpPr/>
          <p:nvPr/>
        </p:nvSpPr>
        <p:spPr>
          <a:xfrm>
            <a:off x="1981200" y="9127539"/>
            <a:ext cx="15697200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 후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작성한 파일 선택 클릭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[4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메인 테이블에서 바로 업로드한 리스트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val 35">
            <a:extLst>
              <a:ext uri="{FF2B5EF4-FFF2-40B4-BE49-F238E27FC236}">
                <a16:creationId xmlns:a16="http://schemas.microsoft.com/office/drawing/2014/main" id="{EA933CAD-1B72-4325-9263-EE850B01C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9047" y="4558339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97709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3.3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데이터 입력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수기 작성</a:t>
            </a:r>
            <a:endParaRPr lang="ko-KR" altLang="ko-KR" sz="2500" b="1" u="sng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988457" y="8161959"/>
            <a:ext cx="15697200" cy="1885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추가버튼 클릭 시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Row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 원하는 개수만큼 추가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필수값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작성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(*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표시된 컬럼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플랜명은 해당 단계에서 작성하지 않아도 다음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STEP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진행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Row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삭제가 필요할 경우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테이블에 삭제하고자 하는 행의 체크박스 선택 후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 버튼 클릭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[4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초기화 버튼의 경우 클릭 시 전체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Row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사라짐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0A2BFE-76C4-497E-82EC-D475EA5E5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308116"/>
            <a:ext cx="14349704" cy="5532599"/>
          </a:xfrm>
          <a:prstGeom prst="rect">
            <a:avLst/>
          </a:prstGeom>
        </p:spPr>
      </p:pic>
      <p:sp>
        <p:nvSpPr>
          <p:cNvPr id="18" name="Oval 35">
            <a:extLst>
              <a:ext uri="{FF2B5EF4-FFF2-40B4-BE49-F238E27FC236}">
                <a16:creationId xmlns:a16="http://schemas.microsoft.com/office/drawing/2014/main" id="{B28E7167-3F5E-4B98-82F5-6D68E290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6906" y="4202428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Oval 35">
            <a:extLst>
              <a:ext uri="{FF2B5EF4-FFF2-40B4-BE49-F238E27FC236}">
                <a16:creationId xmlns:a16="http://schemas.microsoft.com/office/drawing/2014/main" id="{94F5FD5F-E3C9-4D67-94C5-5C8F3EE7E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053" y="494315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Oval 35">
            <a:extLst>
              <a:ext uri="{FF2B5EF4-FFF2-40B4-BE49-F238E27FC236}">
                <a16:creationId xmlns:a16="http://schemas.microsoft.com/office/drawing/2014/main" id="{90B91931-48C0-47CB-8919-1ADBB84BA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4758" y="4159665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Oval 35">
            <a:extLst>
              <a:ext uri="{FF2B5EF4-FFF2-40B4-BE49-F238E27FC236}">
                <a16:creationId xmlns:a16="http://schemas.microsoft.com/office/drawing/2014/main" id="{97610C41-D3B0-48BC-9DEE-00DA6207A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3463" y="4159665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19444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3.4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데이터 입력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en-US" altLang="ko-KR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ERP</a:t>
            </a:r>
            <a:r>
              <a:rPr lang="ko-KR" altLang="en-US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</a:t>
            </a:r>
            <a:r>
              <a:rPr lang="en-US" altLang="ko-KR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엑셀 업로드 </a:t>
            </a:r>
            <a:r>
              <a:rPr lang="en-US" altLang="ko-KR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sz="2500" b="1" u="sng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수기 작성</a:t>
            </a:r>
            <a:endParaRPr lang="ko-KR" altLang="ko-KR" sz="2500" b="1" u="sng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2140347" y="8087805"/>
            <a:ext cx="15697200" cy="1885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3.1 ERP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3.2 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엑셀 업로드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3.3 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수기 작성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세가지 방법 혼합하여 사용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세가지 방법 혼합하여 사용하더라도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테이블에 데이터가 누적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작성 완료 시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조회 버튼 클릭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조회 없이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카드로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바로결제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OR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후정산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버튼으로 바로 청약 가능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0A2BFE-76C4-497E-82EC-D475EA5E5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308116"/>
            <a:ext cx="14349704" cy="5532599"/>
          </a:xfrm>
          <a:prstGeom prst="rect">
            <a:avLst/>
          </a:prstGeom>
        </p:spPr>
      </p:pic>
      <p:sp>
        <p:nvSpPr>
          <p:cNvPr id="19" name="Oval 35">
            <a:extLst>
              <a:ext uri="{FF2B5EF4-FFF2-40B4-BE49-F238E27FC236}">
                <a16:creationId xmlns:a16="http://schemas.microsoft.com/office/drawing/2014/main" id="{94F5FD5F-E3C9-4D67-94C5-5C8F3EE7E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053" y="494315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Oval 35">
            <a:extLst>
              <a:ext uri="{FF2B5EF4-FFF2-40B4-BE49-F238E27FC236}">
                <a16:creationId xmlns:a16="http://schemas.microsoft.com/office/drawing/2014/main" id="{35082897-E9A4-4AA9-9008-479ADB030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9200" y="735330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ED65F1-E85E-49E2-9F4E-1413C783C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4438" y="5551856"/>
            <a:ext cx="4229467" cy="1348857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B22B71-CFC6-4225-9609-31EC60F93866}"/>
              </a:ext>
            </a:extLst>
          </p:cNvPr>
          <p:cNvSpPr/>
          <p:nvPr/>
        </p:nvSpPr>
        <p:spPr>
          <a:xfrm>
            <a:off x="13792199" y="7464039"/>
            <a:ext cx="2538705" cy="373155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35">
            <a:extLst>
              <a:ext uri="{FF2B5EF4-FFF2-40B4-BE49-F238E27FC236}">
                <a16:creationId xmlns:a16="http://schemas.microsoft.com/office/drawing/2014/main" id="{F1A544E9-5446-42C8-B500-B57818F9D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9800" y="7298303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74950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3.5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보험료 조회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848292" y="7729074"/>
            <a:ext cx="15697200" cy="2346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조회 버튼 클릭 시 만약에</a:t>
            </a:r>
            <a:r>
              <a:rPr lang="en-US" altLang="ko-KR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중복 데이터가 있을 경우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얼럿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창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혼합하여 사용 시 중복 데이터를 넣는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CASE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방지하고자 중복 체크 기능 추가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조회 버튼 클릭 시 데이터가 정상일 경우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로딩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모달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노출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ㄴ 진행률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{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전송 완료 개수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} / {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청약신청 대상 개수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}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ㄴ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전송에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걸리는 시간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0039D67-EAA3-46E6-B7A9-A02EE3F81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352295"/>
            <a:ext cx="15628839" cy="5080217"/>
          </a:xfrm>
          <a:prstGeom prst="rect">
            <a:avLst/>
          </a:prstGeom>
        </p:spPr>
      </p:pic>
      <p:sp>
        <p:nvSpPr>
          <p:cNvPr id="13" name="Oval 35">
            <a:extLst>
              <a:ext uri="{FF2B5EF4-FFF2-40B4-BE49-F238E27FC236}">
                <a16:creationId xmlns:a16="http://schemas.microsoft.com/office/drawing/2014/main" id="{3F1C2887-C985-4175-8554-739DBA22C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7822" y="4828381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Oval 35">
            <a:extLst>
              <a:ext uri="{FF2B5EF4-FFF2-40B4-BE49-F238E27FC236}">
                <a16:creationId xmlns:a16="http://schemas.microsoft.com/office/drawing/2014/main" id="{512B4C06-094F-4736-A47B-D60138145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5075" y="6289517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404812-41EE-4DB8-AE92-8FCE12804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7746" y="2448500"/>
            <a:ext cx="5975093" cy="188513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36ABB83-A7B2-4994-8B34-D6C2404765C3}"/>
              </a:ext>
            </a:extLst>
          </p:cNvPr>
          <p:cNvSpPr/>
          <p:nvPr/>
        </p:nvSpPr>
        <p:spPr>
          <a:xfrm>
            <a:off x="11272622" y="3012917"/>
            <a:ext cx="838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홍길동의</a:t>
            </a:r>
          </a:p>
        </p:txBody>
      </p:sp>
      <p:sp>
        <p:nvSpPr>
          <p:cNvPr id="22" name="Oval 35">
            <a:extLst>
              <a:ext uri="{FF2B5EF4-FFF2-40B4-BE49-F238E27FC236}">
                <a16:creationId xmlns:a16="http://schemas.microsoft.com/office/drawing/2014/main" id="{C93081A0-AAAA-4E22-8BC7-1D8C2ADFF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2385" y="2391836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3642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3.5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보험료 조회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981200" y="8203632"/>
            <a:ext cx="15697200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조회 완료 시 각 대상자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플랜별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금액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같이 테이블에서 보험플랜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미선택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선택에서 선택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재선택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같이 실패 메시지를 받았을 경우 다시 조회하기 버튼 클릭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재조회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페이지 참조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58241F-4009-4EB0-B41A-AC6568F048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72"/>
          <a:stretch/>
        </p:blipFill>
        <p:spPr>
          <a:xfrm>
            <a:off x="1676400" y="2291009"/>
            <a:ext cx="14290384" cy="5704982"/>
          </a:xfrm>
          <a:prstGeom prst="rect">
            <a:avLst/>
          </a:prstGeom>
        </p:spPr>
      </p:pic>
      <p:sp>
        <p:nvSpPr>
          <p:cNvPr id="17" name="Oval 35">
            <a:extLst>
              <a:ext uri="{FF2B5EF4-FFF2-40B4-BE49-F238E27FC236}">
                <a16:creationId xmlns:a16="http://schemas.microsoft.com/office/drawing/2014/main" id="{3856AC33-95F5-4385-89F4-E9998828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253" y="4977764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Oval 35">
            <a:extLst>
              <a:ext uri="{FF2B5EF4-FFF2-40B4-BE49-F238E27FC236}">
                <a16:creationId xmlns:a16="http://schemas.microsoft.com/office/drawing/2014/main" id="{B83581B0-7424-4E51-AD9B-6A8AD5C11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2200" y="270510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Oval 35">
            <a:extLst>
              <a:ext uri="{FF2B5EF4-FFF2-40B4-BE49-F238E27FC236}">
                <a16:creationId xmlns:a16="http://schemas.microsoft.com/office/drawing/2014/main" id="{5A8CDA22-4086-4D23-9638-238106CC7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053" y="681990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2180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3.5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보험료 조회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재조회하기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2514600" y="7158371"/>
            <a:ext cx="15697200" cy="2808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 모달에서 주민등록번호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보험시작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종료일시 수정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주민등록번호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(-)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하이픈 없이 입력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보험시작 </a:t>
            </a:r>
            <a:r>
              <a:rPr lang="en-US" altLang="ko-KR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종료일시는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년월일시분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(YYYYMMDDHHMM) 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형태로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작성 필요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수정 후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조회하기 버튼 클릭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 재전송 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 계산 결과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대상자를 제외하고 싶을 경우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삭제하기 버튼 클릭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※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실패 메세지를 받은 대상자를 그대로 두고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다음 스텝 진행 시도할 경우 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 불가능함으로 삭제 후 진행 필요</a:t>
            </a:r>
            <a:endParaRPr lang="en-US" altLang="ko-KR" sz="2000" b="1" u="sng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 상단 테이블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플랜명에 플랜이 선택되어 있다면 다음 단계는 진행 가능하나 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실패 메시지를 받은 대상 청약 결과는 실패</a:t>
            </a:r>
            <a:endParaRPr lang="en-US" altLang="ko-KR" sz="2000" b="1" u="sng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1AA95C-0D1D-400F-AD32-B0FC2B2181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21" r="19268"/>
          <a:stretch/>
        </p:blipFill>
        <p:spPr>
          <a:xfrm>
            <a:off x="3505200" y="2133600"/>
            <a:ext cx="9982200" cy="4991096"/>
          </a:xfrm>
          <a:prstGeom prst="rect">
            <a:avLst/>
          </a:prstGeom>
        </p:spPr>
      </p:pic>
      <p:sp>
        <p:nvSpPr>
          <p:cNvPr id="15" name="Oval 35">
            <a:extLst>
              <a:ext uri="{FF2B5EF4-FFF2-40B4-BE49-F238E27FC236}">
                <a16:creationId xmlns:a16="http://schemas.microsoft.com/office/drawing/2014/main" id="{FA9B2117-101F-4DAE-8F96-6BACF17DC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5150252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Oval 35">
            <a:extLst>
              <a:ext uri="{FF2B5EF4-FFF2-40B4-BE49-F238E27FC236}">
                <a16:creationId xmlns:a16="http://schemas.microsoft.com/office/drawing/2014/main" id="{C661526D-26E9-48A7-A669-E9F58BD9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474459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Oval 35">
            <a:extLst>
              <a:ext uri="{FF2B5EF4-FFF2-40B4-BE49-F238E27FC236}">
                <a16:creationId xmlns:a16="http://schemas.microsoft.com/office/drawing/2014/main" id="{A83B6F68-206E-4645-BCE4-228FCA090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800" y="2057396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4" name="그래픽 3" descr="느낌표">
            <a:extLst>
              <a:ext uri="{FF2B5EF4-FFF2-40B4-BE49-F238E27FC236}">
                <a16:creationId xmlns:a16="http://schemas.microsoft.com/office/drawing/2014/main" id="{AAFD2050-77DF-496A-9343-E4174F0E2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9400" y="945517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23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3.6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 방식 선택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828800" y="7967653"/>
            <a:ext cx="15697200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선택한 보험 플랜 전체 합계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카드 결제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]. [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후정산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버튼 중 진행할 방법 선택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AA586A-A4E2-4356-A382-429A7B4A8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027" y="2623642"/>
            <a:ext cx="14143946" cy="4701947"/>
          </a:xfrm>
          <a:prstGeom prst="rect">
            <a:avLst/>
          </a:prstGeom>
        </p:spPr>
      </p:pic>
      <p:sp>
        <p:nvSpPr>
          <p:cNvPr id="9" name="Oval 35">
            <a:extLst>
              <a:ext uri="{FF2B5EF4-FFF2-40B4-BE49-F238E27FC236}">
                <a16:creationId xmlns:a16="http://schemas.microsoft.com/office/drawing/2014/main" id="{1308DBD5-3C8E-4D99-85DD-A4913D3B6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0200" y="666750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Oval 35">
            <a:extLst>
              <a:ext uri="{FF2B5EF4-FFF2-40B4-BE49-F238E27FC236}">
                <a16:creationId xmlns:a16="http://schemas.microsoft.com/office/drawing/2014/main" id="{A3ABF078-9C05-4DD3-8009-826302C7B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343" y="666750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23338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3.6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 방식 선택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카드 결제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828800" y="7688287"/>
            <a:ext cx="15697200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카드 결제 정보 노출 → 카드 정보 작성 → 청약하기 버튼 클릭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카드 결제를 클릭 했으나 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후정산으로 진행하고 싶을 경우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후정산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버튼 클릭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9B84383-2DC9-4077-94AF-2DA8531F0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714" y="2925871"/>
            <a:ext cx="13964959" cy="3960212"/>
          </a:xfrm>
          <a:prstGeom prst="rect">
            <a:avLst/>
          </a:prstGeom>
        </p:spPr>
      </p:pic>
      <p:sp>
        <p:nvSpPr>
          <p:cNvPr id="10" name="Oval 35">
            <a:extLst>
              <a:ext uri="{FF2B5EF4-FFF2-40B4-BE49-F238E27FC236}">
                <a16:creationId xmlns:a16="http://schemas.microsoft.com/office/drawing/2014/main" id="{E6127F7E-A5A2-4952-8A3B-8D438B744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420" y="529590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Oval 35">
            <a:extLst>
              <a:ext uri="{FF2B5EF4-FFF2-40B4-BE49-F238E27FC236}">
                <a16:creationId xmlns:a16="http://schemas.microsoft.com/office/drawing/2014/main" id="{A9F25573-CD30-4D30-B567-288B9D9E7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2379" y="4768353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82095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3.6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결제 방식 선택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500" b="1" dirty="0" err="1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후정산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828800" y="7834439"/>
            <a:ext cx="15697200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후정산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버튼 클릭 시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얼럿이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노출되고 확인 클릭 시 즉시 청약 정보 전송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EA2540E-A151-49FF-B85E-C6F42A645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027" y="2623642"/>
            <a:ext cx="14143946" cy="470194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D589DA0-5543-4EC5-8BF3-69A4EDF98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2445808"/>
            <a:ext cx="6703570" cy="213021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7C2BAD5-6ED6-4087-8413-7303A400F210}"/>
              </a:ext>
            </a:extLst>
          </p:cNvPr>
          <p:cNvSpPr/>
          <p:nvPr/>
        </p:nvSpPr>
        <p:spPr>
          <a:xfrm>
            <a:off x="5334000" y="2687143"/>
            <a:ext cx="6703570" cy="1888883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Oval 35">
            <a:extLst>
              <a:ext uri="{FF2B5EF4-FFF2-40B4-BE49-F238E27FC236}">
                <a16:creationId xmlns:a16="http://schemas.microsoft.com/office/drawing/2014/main" id="{81CDEF62-FEEF-4185-AA71-3F42CED0A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334" y="2452561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26255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3.7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진행 화면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2209800" y="8522272"/>
            <a:ext cx="15697200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진행 화면으로 진행률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{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전송 완료 개수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} / {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청약신청 대상 총 개수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} &amp;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로딩 시간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※ 청약 진행중 창을 닫지 않도록 주의 필요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1B680C6-4777-4804-A92B-8FD273F7F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354401"/>
            <a:ext cx="12535160" cy="583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03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3.8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완료 화면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인원 청약 성공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CASE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727200" y="7277100"/>
            <a:ext cx="15697200" cy="1885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처리 완료 시 문구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문구 노출 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ㄴ 전체 인원 성공 케이스 임으로 실패 인원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진행 대상 인원 모두 성공 시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인원 데이터 다운로드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성공한 인원 데이터 다운로드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실패한 인원 데이터 다운로드 버튼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실패한 인원이 없음으로 실패한 인원 데이터 다운로드 시 엑셀에 데이터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C412BC-D24D-445C-9300-864DC9727D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975" r="-104"/>
          <a:stretch/>
        </p:blipFill>
        <p:spPr>
          <a:xfrm>
            <a:off x="1647371" y="5931423"/>
            <a:ext cx="14993257" cy="63438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5D43094-F7B0-4AFC-AE2A-58670C69969E}"/>
              </a:ext>
            </a:extLst>
          </p:cNvPr>
          <p:cNvSpPr/>
          <p:nvPr/>
        </p:nvSpPr>
        <p:spPr>
          <a:xfrm>
            <a:off x="11049000" y="5972916"/>
            <a:ext cx="5715000" cy="74587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35">
            <a:extLst>
              <a:ext uri="{FF2B5EF4-FFF2-40B4-BE49-F238E27FC236}">
                <a16:creationId xmlns:a16="http://schemas.microsoft.com/office/drawing/2014/main" id="{E6741A1F-72B0-4C39-AC31-78D17ED16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9853" y="580718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92151C-01CD-44DC-804E-A2D08217A354}"/>
              </a:ext>
            </a:extLst>
          </p:cNvPr>
          <p:cNvSpPr/>
          <p:nvPr/>
        </p:nvSpPr>
        <p:spPr>
          <a:xfrm>
            <a:off x="1745853" y="5440407"/>
            <a:ext cx="9144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</a:rPr>
              <a:t>청약 신청이 처리되었습니다. 실패한 청약이 있는 경우 아래 노란색 버튼으로 표시됩니다. </a:t>
            </a:r>
            <a:endParaRPr lang="en-US" altLang="ko-KR" sz="1400" dirty="0">
              <a:solidFill>
                <a:srgbClr val="C00000"/>
              </a:solidFill>
            </a:endParaRPr>
          </a:p>
          <a:p>
            <a:r>
              <a:rPr lang="ko-KR" altLang="en-US" sz="1400" dirty="0">
                <a:solidFill>
                  <a:srgbClr val="C00000"/>
                </a:solidFill>
              </a:rPr>
              <a:t>버튼을 클릭하여 재청약을 진행할 수 있습니다.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33E149B-0022-4BC7-B1F6-8612119443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597" r="-225" b="11193"/>
          <a:stretch/>
        </p:blipFill>
        <p:spPr>
          <a:xfrm>
            <a:off x="1766455" y="2730760"/>
            <a:ext cx="15011400" cy="2615612"/>
          </a:xfrm>
          <a:prstGeom prst="rect">
            <a:avLst/>
          </a:prstGeom>
        </p:spPr>
      </p:pic>
      <p:sp>
        <p:nvSpPr>
          <p:cNvPr id="14" name="Oval 35">
            <a:extLst>
              <a:ext uri="{FF2B5EF4-FFF2-40B4-BE49-F238E27FC236}">
                <a16:creationId xmlns:a16="http://schemas.microsoft.com/office/drawing/2014/main" id="{508C29D3-C1FE-4762-AC91-3D78498A3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8224" y="5274671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9495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3.8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완료 화면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일부 인원 실패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CASE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555353" y="7486018"/>
            <a:ext cx="15835797" cy="2808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처리 완료 시 문구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문구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실패 인원이 존재함으로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실패 인원 태그 노출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실패한 인원만 노출됩니다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실패 인원 태그 클릭 시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다시 청약하기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모달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노출 → 내용 수정 → 청약하기 버튼 클릭 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재청약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시도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진행 대상 인원 일부 인원 실패할 경우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인원 데이터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성공한 인원 데이터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실패한 인원 데이터 다운로드 버튼 노출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ㄴ 실패한 인원 데이터 다운로드로 실패 인원 확인가능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7C2E849-C975-4145-80D4-8EC2AD40F0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4" t="-33072" r="-504" b="33072"/>
          <a:stretch/>
        </p:blipFill>
        <p:spPr>
          <a:xfrm>
            <a:off x="1664803" y="1627584"/>
            <a:ext cx="15110794" cy="380998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C7B2511-9A98-4DDB-B388-5F7FCD6116A8}"/>
              </a:ext>
            </a:extLst>
          </p:cNvPr>
          <p:cNvSpPr/>
          <p:nvPr/>
        </p:nvSpPr>
        <p:spPr>
          <a:xfrm>
            <a:off x="1555353" y="5480306"/>
            <a:ext cx="9144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</a:rPr>
              <a:t>청약 신청이 처리되었습니다. 실패한 청약이 있는 경우 아래 노란색 버튼으로 표시됩니다. </a:t>
            </a:r>
            <a:endParaRPr lang="en-US" altLang="ko-KR" sz="1400" dirty="0">
              <a:solidFill>
                <a:srgbClr val="C00000"/>
              </a:solidFill>
            </a:endParaRPr>
          </a:p>
          <a:p>
            <a:r>
              <a:rPr lang="ko-KR" altLang="en-US" sz="1400" dirty="0">
                <a:solidFill>
                  <a:srgbClr val="C00000"/>
                </a:solidFill>
              </a:rPr>
              <a:t>버튼을 클릭하여 재청약을 진행할 수 있습니다.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4F5A0E6-F26A-4994-84E1-A6D482757C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715" r="1008"/>
          <a:stretch/>
        </p:blipFill>
        <p:spPr>
          <a:xfrm>
            <a:off x="1562280" y="6060223"/>
            <a:ext cx="14958394" cy="123007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D791A6-8AFE-4D16-9B4C-02516C438F1A}"/>
              </a:ext>
            </a:extLst>
          </p:cNvPr>
          <p:cNvSpPr/>
          <p:nvPr/>
        </p:nvSpPr>
        <p:spPr>
          <a:xfrm>
            <a:off x="10984397" y="6445927"/>
            <a:ext cx="5715000" cy="74587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844B3ED-73CE-4F28-81B4-093085E6B562}"/>
              </a:ext>
            </a:extLst>
          </p:cNvPr>
          <p:cNvSpPr/>
          <p:nvPr/>
        </p:nvSpPr>
        <p:spPr>
          <a:xfrm>
            <a:off x="1436203" y="6070514"/>
            <a:ext cx="2068997" cy="52322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E3886DE1-E8C4-4457-A65C-EC662CD7B4F6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3505200" y="4041532"/>
            <a:ext cx="5280656" cy="2290592"/>
          </a:xfrm>
          <a:prstGeom prst="bentConnector3">
            <a:avLst>
              <a:gd name="adj1" fmla="val 52099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35">
            <a:extLst>
              <a:ext uri="{FF2B5EF4-FFF2-40B4-BE49-F238E27FC236}">
                <a16:creationId xmlns:a16="http://schemas.microsoft.com/office/drawing/2014/main" id="{9B252EEF-1570-4C6C-8614-7D6209E4C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494" y="5951403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Oval 35">
            <a:extLst>
              <a:ext uri="{FF2B5EF4-FFF2-40B4-BE49-F238E27FC236}">
                <a16:creationId xmlns:a16="http://schemas.microsoft.com/office/drawing/2014/main" id="{0C46B14E-C425-400E-BA04-937F01731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5250" y="6301954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BF8906E-9402-48E0-AAD9-D68023551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856" y="1998923"/>
            <a:ext cx="3704607" cy="40852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3" name="Oval 35">
            <a:extLst>
              <a:ext uri="{FF2B5EF4-FFF2-40B4-BE49-F238E27FC236}">
                <a16:creationId xmlns:a16="http://schemas.microsoft.com/office/drawing/2014/main" id="{AD10D857-9238-45BC-A161-996C69987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694" y="5338823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99438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849BDA3-81F7-424C-BCFD-4EAA8E73D4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70742" r="-22"/>
          <a:stretch/>
        </p:blipFill>
        <p:spPr>
          <a:xfrm>
            <a:off x="1748971" y="5747173"/>
            <a:ext cx="15135220" cy="1099176"/>
          </a:xfrm>
          <a:prstGeom prst="rect">
            <a:avLst/>
          </a:prstGeom>
        </p:spPr>
      </p:pic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3.8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청약 완료 화면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인원 실패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CASE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727200" y="7277100"/>
            <a:ext cx="15697200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청약 신청한 대상 인원 전체 실패 했을 경우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동일 조건으로 다시 청약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버튼이 추가로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동일 조건으로 다시 청약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클릭 시 전체 청약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대상건들에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전부 다시 청약 신청 재전송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en-US" altLang="ko-KR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 </a:t>
            </a:r>
            <a:r>
              <a:rPr lang="ko-KR" altLang="en-US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통신 오류로 전체 건이 실패하는 </a:t>
            </a:r>
            <a:r>
              <a:rPr lang="en-US" altLang="ko-KR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CASE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다시 재전송 할 수 있도록 만들어진 버튼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EF46788-B121-44EE-B6E6-364DB8EAE8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9" b="29016"/>
          <a:stretch/>
        </p:blipFill>
        <p:spPr>
          <a:xfrm>
            <a:off x="1748971" y="2628901"/>
            <a:ext cx="15091229" cy="266674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B1D1C29-686E-41EF-9D3B-CFB32A9BA003}"/>
              </a:ext>
            </a:extLst>
          </p:cNvPr>
          <p:cNvSpPr/>
          <p:nvPr/>
        </p:nvSpPr>
        <p:spPr>
          <a:xfrm>
            <a:off x="9052790" y="6100472"/>
            <a:ext cx="7555397" cy="74587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Oval 35">
            <a:extLst>
              <a:ext uri="{FF2B5EF4-FFF2-40B4-BE49-F238E27FC236}">
                <a16:creationId xmlns:a16="http://schemas.microsoft.com/office/drawing/2014/main" id="{17E719C0-42D6-4BF6-9984-59CA0CC9F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663" y="5934736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ABDC32-7E5C-4294-BA65-52764EFC7511}"/>
              </a:ext>
            </a:extLst>
          </p:cNvPr>
          <p:cNvSpPr/>
          <p:nvPr/>
        </p:nvSpPr>
        <p:spPr>
          <a:xfrm>
            <a:off x="1748971" y="5295641"/>
            <a:ext cx="9144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</a:rPr>
              <a:t>청약 신청이 처리되었습니다. 실패한 청약이 있는 경우 아래 노란색 버튼으로 표시됩니다. </a:t>
            </a:r>
            <a:endParaRPr lang="en-US" altLang="ko-KR" sz="1400" dirty="0">
              <a:solidFill>
                <a:srgbClr val="C00000"/>
              </a:solidFill>
            </a:endParaRPr>
          </a:p>
          <a:p>
            <a:r>
              <a:rPr lang="ko-KR" altLang="en-US" sz="1400" dirty="0">
                <a:solidFill>
                  <a:srgbClr val="C00000"/>
                </a:solidFill>
              </a:rPr>
              <a:t>버튼을 클릭하여 재청약을 진행할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77405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계약내역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4.1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계약내역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보험청약 신청내역 조회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727200" y="7277100"/>
            <a:ext cx="15697200" cy="1885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본인의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ID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신청한 청약내역을 조회 가능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일부 관리자급 인원들은 전체 청약내역 조회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검색 기능을 통해 조회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신청내역 다운로드 가능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ㄴ 다운로드 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보안을 위한 암호 설정 필요</a:t>
            </a:r>
            <a:endParaRPr lang="en-US" altLang="ko-KR" sz="2000" b="1" u="sng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6305A5E-BFAA-4990-91D5-47440DAF4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113" y="2613099"/>
            <a:ext cx="14227773" cy="43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518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계약내역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4.2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계약내역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 해지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2731656" y="9082314"/>
            <a:ext cx="15697200" cy="500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검색 리스트에서 청약 건을 클릭 할 경우 상세내역이 노출 →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상세내역 하단 계약해지 버튼 클릭 시 해지 가능  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89F0E87-92B2-47E6-A184-C2D46F9618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114"/>
          <a:stretch/>
        </p:blipFill>
        <p:spPr>
          <a:xfrm>
            <a:off x="3886200" y="2320816"/>
            <a:ext cx="8757587" cy="6146265"/>
          </a:xfrm>
          <a:prstGeom prst="rect">
            <a:avLst/>
          </a:prstGeom>
        </p:spPr>
      </p:pic>
      <p:sp>
        <p:nvSpPr>
          <p:cNvPr id="9" name="Oval 35">
            <a:extLst>
              <a:ext uri="{FF2B5EF4-FFF2-40B4-BE49-F238E27FC236}">
                <a16:creationId xmlns:a16="http://schemas.microsoft.com/office/drawing/2014/main" id="{A1121ADD-A70F-433D-B213-F7AD02930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7752065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29105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5.1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 고정보험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1487128" y="7480648"/>
            <a:ext cx="15697200" cy="1885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추가하고자 하는 고객사가 있으면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추가버튼 클릭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추가된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Row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고객사명에 고객사명 검색 후 선택 → 고정 플랜 설정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[3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사용여부에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체크해야 해당 고객사 고정 보험 적용 완료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마지막으로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[4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적용하기 버튼 클릭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24B91C-5FFC-4C08-ACEF-A422C7A6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92" y="2713520"/>
            <a:ext cx="16115072" cy="4307295"/>
          </a:xfrm>
          <a:prstGeom prst="rect">
            <a:avLst/>
          </a:prstGeom>
        </p:spPr>
      </p:pic>
      <p:sp>
        <p:nvSpPr>
          <p:cNvPr id="13" name="Oval 35">
            <a:extLst>
              <a:ext uri="{FF2B5EF4-FFF2-40B4-BE49-F238E27FC236}">
                <a16:creationId xmlns:a16="http://schemas.microsoft.com/office/drawing/2014/main" id="{5D7287A3-6777-4E37-9006-6A25A5DAC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4200" y="331470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Oval 35">
            <a:extLst>
              <a:ext uri="{FF2B5EF4-FFF2-40B4-BE49-F238E27FC236}">
                <a16:creationId xmlns:a16="http://schemas.microsoft.com/office/drawing/2014/main" id="{46B6295D-5688-4B10-A2D1-5BC07D23A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977764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Oval 35">
            <a:extLst>
              <a:ext uri="{FF2B5EF4-FFF2-40B4-BE49-F238E27FC236}">
                <a16:creationId xmlns:a16="http://schemas.microsoft.com/office/drawing/2014/main" id="{BE04CA02-D016-43C6-9C59-6CA4439B5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9800" y="4076700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Oval 35">
            <a:extLst>
              <a:ext uri="{FF2B5EF4-FFF2-40B4-BE49-F238E27FC236}">
                <a16:creationId xmlns:a16="http://schemas.microsoft.com/office/drawing/2014/main" id="{52587E44-9D02-4A47-897A-45A20CB9C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7367" y="5609119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36987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5.2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 고정보험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적용 시 화면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2014468" y="8144098"/>
            <a:ext cx="15697200" cy="96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고객사명 필드에 고정보험 사용중인 고객사명 입력 시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[2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플랜명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필드에 고정 플랜으로 설정된 값 자동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Default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자동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Default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선택되지만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셀렉트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박스에서 클릭하여 변경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B556BA2-369A-46AD-8C6C-14DF8C9BE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498649"/>
            <a:ext cx="13301334" cy="511373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71CA66EE-9ED1-4708-A52D-02D7BB7CF1A6}"/>
              </a:ext>
            </a:extLst>
          </p:cNvPr>
          <p:cNvSpPr/>
          <p:nvPr/>
        </p:nvSpPr>
        <p:spPr>
          <a:xfrm>
            <a:off x="2693919" y="4724044"/>
            <a:ext cx="1573281" cy="522004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Oval 35">
            <a:extLst>
              <a:ext uri="{FF2B5EF4-FFF2-40B4-BE49-F238E27FC236}">
                <a16:creationId xmlns:a16="http://schemas.microsoft.com/office/drawing/2014/main" id="{4CFE9EF5-10E8-4CDD-A328-F1777351F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4772" y="4724043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C622A18-BDEE-404C-9269-1D3201C89653}"/>
              </a:ext>
            </a:extLst>
          </p:cNvPr>
          <p:cNvSpPr/>
          <p:nvPr/>
        </p:nvSpPr>
        <p:spPr>
          <a:xfrm>
            <a:off x="10022215" y="4733249"/>
            <a:ext cx="1255385" cy="522004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Oval 35">
            <a:extLst>
              <a:ext uri="{FF2B5EF4-FFF2-40B4-BE49-F238E27FC236}">
                <a16:creationId xmlns:a16="http://schemas.microsoft.com/office/drawing/2014/main" id="{9002895B-E6BE-4517-8E4F-B06331A6E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3068" y="4567513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61964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5.3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고객사관리 고정보험 </a:t>
            </a: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유의사항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2014468" y="8144098"/>
            <a:ext cx="15697200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엑셀 양식에 플랜명을 작성하여 업로드할 경우 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엑셀에 작성된 </a:t>
            </a:r>
            <a:r>
              <a:rPr lang="en-US" altLang="ko-KR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[1-1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플랜명을 우선으로 적용</a:t>
            </a:r>
            <a:endParaRPr lang="en-US" altLang="ko-KR" sz="2000" b="1" u="sng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고정 보험으로 설정된 플랜으로 자동 선택되도록 하기 위해서는 </a:t>
            </a:r>
            <a:br>
              <a:rPr lang="en-US" altLang="ko-KR" sz="2000" b="1" u="sng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→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엑셀양식의 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[1-1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플랜명을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2000" b="1" u="sng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공백으로 작성하여 업로드 </a:t>
            </a:r>
            <a:endParaRPr lang="en-US" altLang="ko-KR" sz="2000" b="1" u="sng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B9E0E9-0FBC-43E8-AE91-D765EC34B6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892" r="23255"/>
          <a:stretch/>
        </p:blipFill>
        <p:spPr>
          <a:xfrm>
            <a:off x="1992697" y="2526144"/>
            <a:ext cx="10820400" cy="546245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D04AA9B-768D-4ADC-ABC1-4C594FCB2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938" y="6743700"/>
            <a:ext cx="14605836" cy="53339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741630-4C5F-4C2F-8361-EA9787C701D9}"/>
              </a:ext>
            </a:extLst>
          </p:cNvPr>
          <p:cNvSpPr/>
          <p:nvPr/>
        </p:nvSpPr>
        <p:spPr>
          <a:xfrm>
            <a:off x="10210800" y="4947121"/>
            <a:ext cx="1371599" cy="522004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09623C-04B1-475F-BF9E-0FFB9AAA7712}"/>
              </a:ext>
            </a:extLst>
          </p:cNvPr>
          <p:cNvSpPr/>
          <p:nvPr/>
        </p:nvSpPr>
        <p:spPr>
          <a:xfrm>
            <a:off x="3531338" y="6743432"/>
            <a:ext cx="14580436" cy="53339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Oval 35">
            <a:extLst>
              <a:ext uri="{FF2B5EF4-FFF2-40B4-BE49-F238E27FC236}">
                <a16:creationId xmlns:a16="http://schemas.microsoft.com/office/drawing/2014/main" id="{A53F4D21-3C8E-49B9-BA39-910C52432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791" y="6588197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4" name="Oval 35">
            <a:extLst>
              <a:ext uri="{FF2B5EF4-FFF2-40B4-BE49-F238E27FC236}">
                <a16:creationId xmlns:a16="http://schemas.microsoft.com/office/drawing/2014/main" id="{AFD5014C-35A9-4589-840C-7E3424963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1653" y="4773232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Oval 35">
            <a:extLst>
              <a:ext uri="{FF2B5EF4-FFF2-40B4-BE49-F238E27FC236}">
                <a16:creationId xmlns:a16="http://schemas.microsoft.com/office/drawing/2014/main" id="{2F98198A-C68A-4042-B89C-69110FD6C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77009" y="6788404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1-1</a:t>
            </a:r>
          </a:p>
        </p:txBody>
      </p:sp>
    </p:spTree>
    <p:extLst>
      <p:ext uri="{BB962C8B-B14F-4D97-AF65-F5344CB8AC3E}">
        <p14:creationId xmlns:p14="http://schemas.microsoft.com/office/powerpoint/2010/main" val="3275125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4">
            <a:extLst>
              <a:ext uri="{FF2B5EF4-FFF2-40B4-BE49-F238E27FC236}">
                <a16:creationId xmlns:a16="http://schemas.microsoft.com/office/drawing/2014/main" id="{20EC9349-418A-4A0B-A6A1-05AF3D839284}"/>
              </a:ext>
            </a:extLst>
          </p:cNvPr>
          <p:cNvSpPr txBox="1"/>
          <p:nvPr/>
        </p:nvSpPr>
        <p:spPr>
          <a:xfrm>
            <a:off x="381000" y="54085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32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보험 플랜</a:t>
            </a:r>
            <a:endParaRPr lang="ko-KR" altLang="ko-KR" sz="32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D6E556F-8435-4AE7-9A5A-334ACA0349EA}"/>
              </a:ext>
            </a:extLst>
          </p:cNvPr>
          <p:cNvCxnSpPr/>
          <p:nvPr/>
        </p:nvCxnSpPr>
        <p:spPr>
          <a:xfrm>
            <a:off x="0" y="1181100"/>
            <a:ext cx="18288000" cy="0"/>
          </a:xfrm>
          <a:prstGeom prst="line">
            <a:avLst/>
          </a:prstGeom>
          <a:ln w="76200" cmpd="sng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4">
            <a:extLst>
              <a:ext uri="{FF2B5EF4-FFF2-40B4-BE49-F238E27FC236}">
                <a16:creationId xmlns:a16="http://schemas.microsoft.com/office/drawing/2014/main" id="{16EEA444-6066-44E4-B12B-2930C76FF716}"/>
              </a:ext>
            </a:extLst>
          </p:cNvPr>
          <p:cNvSpPr txBox="1"/>
          <p:nvPr/>
        </p:nvSpPr>
        <p:spPr>
          <a:xfrm>
            <a:off x="609600" y="1371634"/>
            <a:ext cx="10199256" cy="93648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46910"/>
              </a:lnSpc>
            </a:pPr>
            <a:r>
              <a:rPr lang="en-US" altLang="ko-KR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6. </a:t>
            </a:r>
            <a:r>
              <a:rPr lang="ko-KR" altLang="en-US" sz="2500" b="1" dirty="0">
                <a:solidFill>
                  <a:schemeClr val="accent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보험플랜</a:t>
            </a:r>
            <a:endParaRPr lang="ko-KR" altLang="ko-KR" sz="2500" b="1" dirty="0">
              <a:solidFill>
                <a:schemeClr val="accent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CBF88DF-BA47-45A8-B667-A81D9FA89863}"/>
              </a:ext>
            </a:extLst>
          </p:cNvPr>
          <p:cNvSpPr/>
          <p:nvPr/>
        </p:nvSpPr>
        <p:spPr>
          <a:xfrm>
            <a:off x="2731656" y="8087701"/>
            <a:ext cx="15697200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[1</a:t>
            </a:r>
            <a:r>
              <a:rPr lang="ko-KR" altLang="en-US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</a:t>
            </a:r>
            <a:r>
              <a:rPr lang="en-US" altLang="ko-KR" sz="20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GNB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보험플랜 선택 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새탭으로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위 보험 플랜 페이지 노출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플랜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코드별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보장 금액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기간별 보험료 노출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남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40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기준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2C1C626-CC0D-4255-A99F-8D03BA678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2539542"/>
            <a:ext cx="11415379" cy="539127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132CA6E-0513-4A9B-A714-080956E398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215" r="50000"/>
          <a:stretch/>
        </p:blipFill>
        <p:spPr>
          <a:xfrm>
            <a:off x="2718647" y="2391726"/>
            <a:ext cx="11552418" cy="52917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F121F7-E2A9-4B3A-AB7B-B2C47ACA8627}"/>
              </a:ext>
            </a:extLst>
          </p:cNvPr>
          <p:cNvSpPr/>
          <p:nvPr/>
        </p:nvSpPr>
        <p:spPr>
          <a:xfrm>
            <a:off x="7550547" y="2455932"/>
            <a:ext cx="907653" cy="358378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Oval 35">
            <a:extLst>
              <a:ext uri="{FF2B5EF4-FFF2-40B4-BE49-F238E27FC236}">
                <a16:creationId xmlns:a16="http://schemas.microsoft.com/office/drawing/2014/main" id="{3044AE9B-42BE-4A28-9B23-1C25FB5DF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269554"/>
            <a:ext cx="318294" cy="331472"/>
          </a:xfrm>
          <a:prstGeom prst="ellipse">
            <a:avLst/>
          </a:prstGeom>
          <a:solidFill>
            <a:srgbClr val="FF3300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defTabSz="457200" latinLnBrk="0"/>
            <a:r>
              <a:rPr lang="en-US" altLang="ko-KR" sz="2000" b="1" dirty="0">
                <a:solidFill>
                  <a:srgbClr val="FFFF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0607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10095</TotalTime>
  <Words>1905</Words>
  <Application>Microsoft Office PowerPoint</Application>
  <PresentationFormat>사용자 지정</PresentationFormat>
  <Paragraphs>277</Paragraphs>
  <Slides>27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나눔고딕</vt:lpstr>
      <vt:lpstr>나눔고딕 ExtraBold</vt:lpstr>
      <vt:lpstr>Arial</vt:lpstr>
      <vt:lpstr>Calibri</vt:lpstr>
      <vt:lpstr>맑은 고딕</vt:lpstr>
      <vt:lpstr>Office Theme</vt:lpstr>
      <vt:lpstr>한화손해보험  청약신청 Manual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jhkim58</dc:creator>
  <cp:lastModifiedBy>여 승은</cp:lastModifiedBy>
  <cp:revision>280</cp:revision>
  <cp:lastPrinted>2024-12-13T02:08:17Z</cp:lastPrinted>
  <dcterms:created xsi:type="dcterms:W3CDTF">2006-08-16T00:00:00Z</dcterms:created>
  <dcterms:modified xsi:type="dcterms:W3CDTF">2026-03-06T07:13:15Z</dcterms:modified>
</cp:coreProperties>
</file>