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5" r:id="rId1"/>
  </p:sldMasterIdLst>
  <p:notesMasterIdLst>
    <p:notesMasterId r:id="rId5"/>
  </p:notesMasterIdLst>
  <p:sldIdLst>
    <p:sldId id="260" r:id="rId2"/>
    <p:sldId id="625" r:id="rId3"/>
    <p:sldId id="622" r:id="rId4"/>
  </p:sldIdLst>
  <p:sldSz cx="12192000" cy="6858000"/>
  <p:notesSz cx="9866313" cy="673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구역" id="{715198B4-CE40-4C73-AFF6-3A03F6F9DBB8}">
          <p14:sldIdLst>
            <p14:sldId id="260"/>
            <p14:sldId id="625"/>
            <p14:sldId id="6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72" userDrawn="1">
          <p15:clr>
            <a:srgbClr val="A4A3A4"/>
          </p15:clr>
        </p15:guide>
        <p15:guide id="3" pos="778">
          <p15:clr>
            <a:srgbClr val="A4A3A4"/>
          </p15:clr>
        </p15:guide>
        <p15:guide id="4" pos="370" userDrawn="1">
          <p15:clr>
            <a:srgbClr val="A4A3A4"/>
          </p15:clr>
        </p15:guide>
        <p15:guide id="5" pos="7265" userDrawn="1">
          <p15:clr>
            <a:srgbClr val="A4A3A4"/>
          </p15:clr>
        </p15:guide>
        <p15:guide id="6" orient="horz" pos="981" userDrawn="1">
          <p15:clr>
            <a:srgbClr val="A4A3A4"/>
          </p15:clr>
        </p15:guide>
        <p15:guide id="7" orient="horz" pos="4065" userDrawn="1">
          <p15:clr>
            <a:srgbClr val="A4A3A4"/>
          </p15:clr>
        </p15:guide>
        <p15:guide id="8" pos="529">
          <p15:clr>
            <a:srgbClr val="A4A3A4"/>
          </p15:clr>
        </p15:guide>
        <p15:guide id="9" pos="1300">
          <p15:clr>
            <a:srgbClr val="A4A3A4"/>
          </p15:clr>
        </p15:guide>
        <p15:guide id="10" pos="7061">
          <p15:clr>
            <a:srgbClr val="A4A3A4"/>
          </p15:clr>
        </p15:guide>
        <p15:guide id="11" pos="779">
          <p15:clr>
            <a:srgbClr val="A4A3A4"/>
          </p15:clr>
        </p15:guide>
        <p15:guide id="12" pos="3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7" userDrawn="1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5" roundtripDataSignature="AMtx7mjR73HqTNzXwEdWLH/qzlIOuRHt9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2" clrIdx="0">
    <p:extLst>
      <p:ext uri="{19B8F6BF-5375-455C-9EA6-DF929625EA0E}">
        <p15:presenceInfo xmlns:p15="http://schemas.microsoft.com/office/powerpoint/2012/main" userId="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FFFFFF"/>
    <a:srgbClr val="F2DCDB"/>
    <a:srgbClr val="F2F2F2"/>
    <a:srgbClr val="4F81BD"/>
    <a:srgbClr val="FECB0E"/>
    <a:srgbClr val="F897AB"/>
    <a:srgbClr val="95B3D7"/>
    <a:srgbClr val="1351A5"/>
    <a:srgbClr val="FFD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B3251E-1545-4ECF-93FE-F2C1782842DC}">
  <a:tblStyle styleId="{63B3251E-1545-4ECF-93FE-F2C1782842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844F25C-C96F-40AE-9949-E4CE2838BC1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D4A5040-AA31-4F8C-B828-556E1729EF7B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CEC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CECE7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1844" autoAdjust="0"/>
  </p:normalViewPr>
  <p:slideViewPr>
    <p:cSldViewPr snapToGrid="0">
      <p:cViewPr varScale="1">
        <p:scale>
          <a:sx n="104" d="100"/>
          <a:sy n="104" d="100"/>
        </p:scale>
        <p:origin x="930" y="102"/>
      </p:cViewPr>
      <p:guideLst>
        <p:guide orient="horz" pos="2160"/>
        <p:guide pos="3772"/>
        <p:guide pos="778"/>
        <p:guide pos="370"/>
        <p:guide pos="7265"/>
        <p:guide orient="horz" pos="981"/>
        <p:guide orient="horz" pos="4065"/>
        <p:guide pos="529"/>
        <p:guide pos="1300"/>
        <p:guide pos="7061"/>
        <p:guide pos="779"/>
        <p:guide pos="3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7" d="100"/>
          <a:sy n="117" d="100"/>
        </p:scale>
        <p:origin x="-2112" y="-114"/>
      </p:cViewPr>
      <p:guideLst>
        <p:guide orient="horz" pos="2122"/>
        <p:guide pos="310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125" Type="http://customschemas.google.com/relationships/presentationmetadata" Target="metadata"/><Relationship Id="rId12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28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30" Type="http://schemas.openxmlformats.org/officeDocument/2006/relationships/tableStyles" Target="tableStyles.xml"/><Relationship Id="rId4" Type="http://schemas.openxmlformats.org/officeDocument/2006/relationships/slide" Target="slides/slide3.xml"/><Relationship Id="rId12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88628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13063" y="841375"/>
            <a:ext cx="4040187" cy="22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88628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>
                <a:buSzPts val="1200"/>
              </a:pPr>
              <a:t>‹#›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>
                <a:buSzPts val="1200"/>
              </a:pPr>
              <a:t>3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80943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3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투어익스프레스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 userDrawn="1"/>
        </p:nvSpPr>
        <p:spPr>
          <a:xfrm>
            <a:off x="406877" y="478173"/>
            <a:ext cx="5687031" cy="510889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640CCC-BD4A-4F0D-8363-28DEDD56823D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2026-03-30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B7554A-2870-4533-9A4E-75089271E3A3}"/>
              </a:ext>
            </a:extLst>
          </p:cNvPr>
          <p:cNvSpPr/>
          <p:nvPr userDrawn="1"/>
        </p:nvSpPr>
        <p:spPr>
          <a:xfrm>
            <a:off x="6096001" y="478173"/>
            <a:ext cx="5718336" cy="51070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8E41FC-32CF-44C2-8B8F-A44539F9F155}"/>
              </a:ext>
            </a:extLst>
          </p:cNvPr>
          <p:cNvSpPr/>
          <p:nvPr userDrawn="1"/>
        </p:nvSpPr>
        <p:spPr>
          <a:xfrm>
            <a:off x="6096000" y="476322"/>
            <a:ext cx="5718336" cy="2325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i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TO-BE</a:t>
            </a:r>
            <a:endParaRPr lang="ko-KR" altLang="en-US" sz="1000" b="1" i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D4449A-91B5-4D4F-AE4A-6342E036A0B6}"/>
              </a:ext>
            </a:extLst>
          </p:cNvPr>
          <p:cNvSpPr/>
          <p:nvPr userDrawn="1"/>
        </p:nvSpPr>
        <p:spPr>
          <a:xfrm>
            <a:off x="404785" y="478172"/>
            <a:ext cx="5689123" cy="23068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i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AS-IS</a:t>
            </a:r>
            <a:endParaRPr lang="ko-KR" altLang="en-US" sz="1000" b="1" i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764901-735A-48DB-94F6-263C56FA2088}"/>
              </a:ext>
            </a:extLst>
          </p:cNvPr>
          <p:cNvSpPr/>
          <p:nvPr userDrawn="1"/>
        </p:nvSpPr>
        <p:spPr>
          <a:xfrm>
            <a:off x="404785" y="5587067"/>
            <a:ext cx="11409551" cy="116607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0C0AFC-0FB6-4411-A871-7F34CB001956}"/>
              </a:ext>
            </a:extLst>
          </p:cNvPr>
          <p:cNvSpPr/>
          <p:nvPr userDrawn="1"/>
        </p:nvSpPr>
        <p:spPr>
          <a:xfrm>
            <a:off x="404785" y="5268286"/>
            <a:ext cx="11409551" cy="32651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C57F0E-38F6-4890-A11E-37ADACD67565}"/>
              </a:ext>
            </a:extLst>
          </p:cNvPr>
          <p:cNvSpPr/>
          <p:nvPr userDrawn="1"/>
        </p:nvSpPr>
        <p:spPr>
          <a:xfrm>
            <a:off x="404784" y="5268683"/>
            <a:ext cx="1479143" cy="33345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1D44C-FFE7-415D-8A45-F72D1C423C33}"/>
              </a:ext>
            </a:extLst>
          </p:cNvPr>
          <p:cNvSpPr txBox="1"/>
          <p:nvPr userDrawn="1"/>
        </p:nvSpPr>
        <p:spPr>
          <a:xfrm>
            <a:off x="776580" y="5276018"/>
            <a:ext cx="1107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PATH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3C069D-9915-46FA-BD10-4B7BDE0603CB}"/>
              </a:ext>
            </a:extLst>
          </p:cNvPr>
          <p:cNvSpPr/>
          <p:nvPr userDrawn="1"/>
        </p:nvSpPr>
        <p:spPr>
          <a:xfrm>
            <a:off x="404784" y="5602134"/>
            <a:ext cx="1479143" cy="115100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Detail Description</a:t>
            </a:r>
            <a:endParaRPr lang="ko-KR" altLang="en-US" sz="14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12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24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직사각형 17"/>
          <p:cNvSpPr/>
          <p:nvPr userDrawn="1"/>
        </p:nvSpPr>
        <p:spPr>
          <a:xfrm>
            <a:off x="3992072" y="825789"/>
            <a:ext cx="3171552" cy="579312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BCF6D4-2A69-4AB3-8356-2B916A4C00FC}"/>
              </a:ext>
            </a:extLst>
          </p:cNvPr>
          <p:cNvSpPr/>
          <p:nvPr userDrawn="1"/>
        </p:nvSpPr>
        <p:spPr>
          <a:xfrm>
            <a:off x="3992072" y="825788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573EF9-91D0-49B4-B574-E6950D73060B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07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720" r:id="rId4"/>
    <p:sldLayoutId id="2147483719" r:id="rId5"/>
    <p:sldLayoutId id="2147483706" r:id="rId6"/>
    <p:sldLayoutId id="2147483672" r:id="rId7"/>
    <p:sldLayoutId id="2147483705" r:id="rId8"/>
    <p:sldLayoutId id="214748372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ir.tourexpress.com/air/b2c/AIR/AAA/AIRAAAPAX1100100010.k1?KSESID=air:b2c:SELK138VX:SELK138VX::0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17B2C6-2D2F-4F2D-BDD2-B69F00839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495550" y="5195889"/>
            <a:ext cx="1747838" cy="23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7851" tIns="33927" rIns="67851" bIns="33927">
            <a:spAutoFit/>
          </a:bodyPr>
          <a:lstStyle/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2026.03.30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495550" y="2133601"/>
            <a:ext cx="7345363" cy="1166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851" tIns="33927" rIns="67851" bIns="33927">
            <a:spAutoFit/>
          </a:bodyPr>
          <a:lstStyle/>
          <a:p>
            <a:pPr defTabSz="592138" latinLnBrk="0">
              <a:lnSpc>
                <a:spcPct val="85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r>
              <a:rPr lang="ko-KR" altLang="en-US" sz="3200" b="1" dirty="0" err="1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투어익스프레스</a:t>
            </a:r>
            <a:r>
              <a:rPr lang="en-US" altLang="ko-KR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_</a:t>
            </a:r>
            <a:r>
              <a:rPr lang="ko-KR" altLang="en-US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예약페이지</a:t>
            </a:r>
            <a:endParaRPr lang="en-US" altLang="ko-KR" sz="3200" b="1" dirty="0">
              <a:solidFill>
                <a:schemeClr val="tx1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기획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/ IT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개발운영팀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 C&amp;C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AF3D421-1032-43A1-8937-9C554A6F7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76" y="1465192"/>
            <a:ext cx="2242706" cy="43663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713950-47AB-411D-ADAE-9CE740A2DBAD}"/>
              </a:ext>
            </a:extLst>
          </p:cNvPr>
          <p:cNvCxnSpPr>
            <a:cxnSpLocks/>
          </p:cNvCxnSpPr>
          <p:nvPr/>
        </p:nvCxnSpPr>
        <p:spPr>
          <a:xfrm>
            <a:off x="2578676" y="5089236"/>
            <a:ext cx="617107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3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BA90B04-69FB-40A9-A695-48F216614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809117"/>
              </p:ext>
            </p:extLst>
          </p:nvPr>
        </p:nvGraphicFramePr>
        <p:xfrm>
          <a:off x="554181" y="295564"/>
          <a:ext cx="11203710" cy="6321952"/>
        </p:xfrm>
        <a:graphic>
          <a:graphicData uri="http://schemas.openxmlformats.org/drawingml/2006/table">
            <a:tbl>
              <a:tblPr firstRow="1" bandRow="1">
                <a:tableStyleId>{63B3251E-1545-4ECF-93FE-F2C1782842DC}</a:tableStyleId>
              </a:tblPr>
              <a:tblGrid>
                <a:gridCol w="1985819">
                  <a:extLst>
                    <a:ext uri="{9D8B030D-6E8A-4147-A177-3AD203B41FA5}">
                      <a16:colId xmlns:a16="http://schemas.microsoft.com/office/drawing/2014/main" val="945361115"/>
                    </a:ext>
                  </a:extLst>
                </a:gridCol>
                <a:gridCol w="9217891">
                  <a:extLst>
                    <a:ext uri="{9D8B030D-6E8A-4147-A177-3AD203B41FA5}">
                      <a16:colId xmlns:a16="http://schemas.microsoft.com/office/drawing/2014/main" val="538108179"/>
                    </a:ext>
                  </a:extLst>
                </a:gridCol>
              </a:tblGrid>
              <a:tr h="340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/>
                        <a:t>요청자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김인희 과장님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299669"/>
                  </a:ext>
                </a:extLst>
              </a:tr>
              <a:tr h="340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승인자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159011"/>
                  </a:ext>
                </a:extLst>
              </a:tr>
              <a:tr h="340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작업 담당자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여승은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토파즈 담당자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566774"/>
                  </a:ext>
                </a:extLst>
              </a:tr>
              <a:tr h="3472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작성일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2026-03-30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81775"/>
                  </a:ext>
                </a:extLst>
              </a:tr>
              <a:tr h="364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배포대상 </a:t>
                      </a:r>
                      <a:r>
                        <a:rPr lang="en-US" altLang="ko-KR" sz="1000" b="1" dirty="0"/>
                        <a:t>/ URL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hlinkClick r:id="rId2"/>
                        </a:rPr>
                        <a:t>https://air.tourexpress.com/air/b2c/AIR/AAA/AIRAAAPAX1100100010.k1?KSESID=air:b2c:SELK138VX:SELK138VX::00</a:t>
                      </a:r>
                      <a:r>
                        <a:rPr lang="en-US" altLang="ko-KR" sz="1000" dirty="0"/>
                        <a:t> 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 err="1"/>
                        <a:t>예약상세</a:t>
                      </a:r>
                      <a:r>
                        <a:rPr lang="ko-KR" altLang="en-US" sz="1000" dirty="0"/>
                        <a:t>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665058"/>
                  </a:ext>
                </a:extLst>
              </a:tr>
              <a:tr h="1248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요청내용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1. 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예약 페이지 내 </a:t>
                      </a:r>
                      <a:r>
                        <a:rPr lang="ko-KR" altLang="en-US" sz="1000" b="0" i="0" u="sng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탑승객 정보 영역에 </a:t>
                      </a:r>
                      <a:r>
                        <a:rPr lang="ko-KR" altLang="en-US" sz="1000" b="1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이메일 및 연락처 입력 </a:t>
                      </a:r>
                      <a:r>
                        <a:rPr lang="ko-KR" altLang="en-US" sz="1000" b="1" i="0" kern="120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입력</a:t>
                      </a:r>
                      <a:r>
                        <a:rPr lang="ko-KR" altLang="en-US" sz="1000" b="1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 필드 추가</a:t>
                      </a:r>
                      <a:endParaRPr lang="en-US" altLang="ko-KR" sz="1000" b="1" i="0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2. 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탑승객 정보 입력 영역 </a:t>
                      </a:r>
                      <a:r>
                        <a:rPr lang="ko-KR" altLang="en-US" sz="1000" b="1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안내 사항 텍스트 추가 요청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ko-KR" altLang="en-US" sz="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05649"/>
                  </a:ext>
                </a:extLst>
              </a:tr>
              <a:tr h="1654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Background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50" b="1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&lt;</a:t>
                      </a:r>
                      <a:r>
                        <a:rPr lang="ko-KR" altLang="en-US" sz="1050" b="1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현업 요청 백그라운드</a:t>
                      </a:r>
                      <a:r>
                        <a:rPr lang="en-US" altLang="ko-KR" sz="1050" b="1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&gt;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0" i="0" kern="120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투어익스프레스</a:t>
                      </a:r>
                      <a:r>
                        <a:rPr lang="ko-KR" altLang="en-US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 사이트 내 항공 예약페이지에서 탑승객 정보를 추가 기재 할 수 있도록 요청 드립니다</a:t>
                      </a:r>
                      <a:r>
                        <a:rPr lang="en-US" altLang="ko-KR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항공사에서는 탑승객 개인정보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연락처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이메일주소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 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미확인으로 예약사항 관련 이슈가 발생하고 있다는 협조 요청을 받았습니다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kumimoji="0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l</a:t>
                      </a:r>
                      <a:r>
                        <a:rPr lang="ko-KR" altLang="en-US" sz="8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  </a:t>
                      </a:r>
                      <a:r>
                        <a:rPr lang="ko-KR" altLang="en-US" sz="10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고객 연락처 입력 필수</a:t>
                      </a: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PNR </a:t>
                      </a:r>
                      <a:r>
                        <a:rPr lang="ko-KR" altLang="en-US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 시</a:t>
                      </a: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 </a:t>
                      </a:r>
                      <a:r>
                        <a:rPr lang="ko-KR" altLang="en-US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여행사 정보 외에 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탑승객 본인의 휴대전화 번호 및 이메일 주소를 반드시 정확히 입력</a:t>
                      </a:r>
                      <a:r>
                        <a:rPr lang="ko-KR" altLang="en-US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해야 합니다</a:t>
                      </a: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105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l</a:t>
                      </a:r>
                      <a:r>
                        <a:rPr lang="ko-KR" altLang="en-US" sz="8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  </a:t>
                      </a:r>
                      <a:r>
                        <a:rPr lang="ko-KR" altLang="en-US" sz="10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예약 시스템 개선 필수</a:t>
                      </a: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 </a:t>
                      </a:r>
                      <a:r>
                        <a:rPr lang="ko-KR" altLang="en-US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예약 단계에서 </a:t>
                      </a:r>
                      <a:r>
                        <a:rPr lang="ko-KR" altLang="en-US" sz="10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연락처 </a:t>
                      </a:r>
                      <a:r>
                        <a:rPr lang="ko-KR" altLang="en-US" sz="1000" b="1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미입력</a:t>
                      </a:r>
                      <a:r>
                        <a:rPr lang="ko-KR" altLang="en-US" sz="10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 다음 단계로 진행되지 않도록 필요시 시스템 보완 조치가 필요</a:t>
                      </a:r>
                      <a:r>
                        <a:rPr lang="ko-KR" altLang="en-US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합니다</a:t>
                      </a:r>
                      <a:endParaRPr lang="en-US" altLang="ko-KR" sz="1000" b="0" i="0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또한</a:t>
                      </a:r>
                      <a:r>
                        <a:rPr lang="en-US" altLang="ko-KR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, </a:t>
                      </a:r>
                      <a:r>
                        <a:rPr lang="ko-KR" altLang="en-US" sz="1050" b="1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안내사항에 문구 추가도 </a:t>
                      </a:r>
                      <a:r>
                        <a:rPr lang="ko-KR" altLang="en-US" sz="1050" b="1" i="0" kern="120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요청드립니다</a:t>
                      </a:r>
                      <a:r>
                        <a:rPr lang="en-US" altLang="ko-KR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lang="ko-KR" altLang="en-US" sz="1050" b="0" i="0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547791"/>
                  </a:ext>
                </a:extLst>
              </a:tr>
              <a:tr h="1654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/>
                        <a:t>Etc</a:t>
                      </a:r>
                      <a:r>
                        <a:rPr lang="en-US" altLang="ko-KR" sz="1000" b="1" dirty="0"/>
                        <a:t> info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문구 정보 </a:t>
                      </a:r>
                      <a:br>
                        <a:rPr lang="en-US" altLang="ko-KR" sz="1050" dirty="0"/>
                      </a:br>
                      <a:r>
                        <a:rPr lang="en-US" altLang="ko-KR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- </a:t>
                      </a:r>
                      <a:r>
                        <a:rPr lang="ko-KR" altLang="en-US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탑승객의 연락처</a:t>
                      </a:r>
                      <a:r>
                        <a:rPr lang="en-US" altLang="ko-KR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, </a:t>
                      </a:r>
                      <a:r>
                        <a:rPr lang="ko-KR" altLang="en-US" sz="1050" b="0" i="0" kern="120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이메일주소를</a:t>
                      </a:r>
                      <a:r>
                        <a:rPr lang="ko-KR" altLang="en-US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 정확하게 입력하여 주세요</a:t>
                      </a:r>
                      <a:r>
                        <a:rPr lang="en-US" altLang="ko-KR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. </a:t>
                      </a:r>
                      <a:r>
                        <a:rPr lang="ko-KR" altLang="en-US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항공사의 긴급정보를 받을 수 있으며 </a:t>
                      </a:r>
                      <a:r>
                        <a:rPr lang="ko-KR" altLang="en-US" sz="1050" b="0" i="0" kern="120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미입력시</a:t>
                      </a:r>
                      <a:r>
                        <a:rPr lang="ko-KR" altLang="en-US" sz="105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 정보수신 누락 될 수 있습니다</a:t>
                      </a: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lang="ko-KR" altLang="en-US" sz="1000" b="0" i="0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95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86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항공권 예약 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3201" y="5300368"/>
            <a:ext cx="9786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메인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예약리스트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예약하기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예약정보 입력 페이지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1932A-8C48-4179-96F3-B7B64E43E8AD}"/>
              </a:ext>
            </a:extLst>
          </p:cNvPr>
          <p:cNvSpPr txBox="1"/>
          <p:nvPr/>
        </p:nvSpPr>
        <p:spPr>
          <a:xfrm>
            <a:off x="1914084" y="5616692"/>
            <a:ext cx="10258427" cy="144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kern="1200" dirty="0">
                <a:latin typeface="+mj-lt"/>
              </a:rPr>
              <a:t>1. </a:t>
            </a:r>
            <a:r>
              <a:rPr lang="ko-KR" altLang="en-US" sz="1200" kern="1200" dirty="0">
                <a:latin typeface="+mj-lt"/>
              </a:rPr>
              <a:t>예약 페이지 내 </a:t>
            </a:r>
            <a:r>
              <a:rPr lang="ko-KR" altLang="en-US" sz="1200" b="1" u="sng" kern="1200" dirty="0">
                <a:latin typeface="+mj-lt"/>
              </a:rPr>
              <a:t>탑승객 정보 영역에 </a:t>
            </a:r>
            <a:r>
              <a:rPr lang="ko-KR" altLang="en-US" sz="1200" b="1" kern="1200" dirty="0">
                <a:latin typeface="+mj-lt"/>
              </a:rPr>
              <a:t>이메일 및 연락처 입력 </a:t>
            </a:r>
            <a:r>
              <a:rPr lang="ko-KR" altLang="en-US" sz="1200" b="1" kern="1200" dirty="0" err="1">
                <a:latin typeface="+mj-lt"/>
              </a:rPr>
              <a:t>입력</a:t>
            </a:r>
            <a:r>
              <a:rPr lang="ko-KR" altLang="en-US" sz="1200" b="1" kern="1200" dirty="0">
                <a:latin typeface="+mj-lt"/>
              </a:rPr>
              <a:t> 필드 추가 요청 </a:t>
            </a:r>
            <a:r>
              <a:rPr lang="en-US" altLang="ko-KR" sz="1200" b="1" kern="1200" dirty="0">
                <a:latin typeface="+mj-lt"/>
              </a:rPr>
              <a:t>(</a:t>
            </a:r>
            <a:r>
              <a:rPr lang="ko-KR" altLang="en-US" sz="1200" b="1" kern="1200" dirty="0">
                <a:latin typeface="+mj-lt"/>
              </a:rPr>
              <a:t>위 테이블 형태는 이해를 돕기 위한 예시</a:t>
            </a:r>
            <a:r>
              <a:rPr lang="en-US" altLang="ko-KR" sz="1200" b="1" kern="1200" dirty="0">
                <a:latin typeface="+mj-lt"/>
              </a:rPr>
              <a:t>)</a:t>
            </a:r>
            <a:br>
              <a:rPr lang="en-US" altLang="ko-KR" sz="1200" b="1" kern="1200" dirty="0">
                <a:latin typeface="+mj-lt"/>
              </a:rPr>
            </a:br>
            <a:r>
              <a:rPr lang="en-US" altLang="ko-KR" sz="1200" b="1" kern="1200" dirty="0">
                <a:latin typeface="+mj-lt"/>
              </a:rPr>
              <a:t>    </a:t>
            </a:r>
            <a:r>
              <a:rPr lang="ko-KR" altLang="en-US" sz="1200" b="1" kern="1200" dirty="0">
                <a:latin typeface="+mj-lt"/>
              </a:rPr>
              <a:t>연락처 및 연락처 필드 필수 </a:t>
            </a:r>
            <a:r>
              <a:rPr lang="ko-KR" altLang="en-US" sz="1200" b="1" kern="1200" dirty="0" err="1">
                <a:latin typeface="+mj-lt"/>
              </a:rPr>
              <a:t>입력값</a:t>
            </a:r>
            <a:r>
              <a:rPr lang="en-US" altLang="ko-KR" sz="1200" b="1" kern="1200" dirty="0">
                <a:latin typeface="+mj-lt"/>
              </a:rPr>
              <a:t> </a:t>
            </a:r>
            <a:r>
              <a:rPr lang="ko-KR" altLang="en-US" sz="1200" b="1" kern="1200" dirty="0" err="1">
                <a:latin typeface="+mj-lt"/>
              </a:rPr>
              <a:t>미입력</a:t>
            </a:r>
            <a:r>
              <a:rPr lang="ko-KR" altLang="en-US" sz="1200" b="1" kern="1200" dirty="0">
                <a:latin typeface="+mj-lt"/>
              </a:rPr>
              <a:t> 시 </a:t>
            </a:r>
            <a:r>
              <a:rPr lang="en-US" altLang="ko-KR" sz="1200" b="1" kern="1200" dirty="0">
                <a:latin typeface="+mj-lt"/>
              </a:rPr>
              <a:t>&lt;3</a:t>
            </a:r>
            <a:r>
              <a:rPr lang="ko-KR" altLang="en-US" sz="1200" b="1" kern="1200" dirty="0">
                <a:latin typeface="+mj-lt"/>
              </a:rPr>
              <a:t>번</a:t>
            </a:r>
            <a:r>
              <a:rPr lang="en-US" altLang="ko-KR" sz="1200" b="1" kern="1200" dirty="0">
                <a:latin typeface="+mj-lt"/>
              </a:rPr>
              <a:t>&gt;</a:t>
            </a:r>
            <a:r>
              <a:rPr lang="ko-KR" altLang="en-US" sz="1200" b="1" kern="1200" dirty="0">
                <a:latin typeface="+mj-lt"/>
              </a:rPr>
              <a:t> </a:t>
            </a:r>
            <a:r>
              <a:rPr lang="en-US" altLang="ko-KR" sz="1200" b="1" kern="1200" dirty="0">
                <a:latin typeface="+mj-lt"/>
              </a:rPr>
              <a:t>alert </a:t>
            </a:r>
            <a:r>
              <a:rPr lang="ko-KR" altLang="en-US" sz="1200" b="1" kern="1200" dirty="0">
                <a:latin typeface="+mj-lt"/>
              </a:rPr>
              <a:t>노출 후 해당 필드로 포커스 이동 </a:t>
            </a:r>
            <a:r>
              <a:rPr lang="en-US" altLang="ko-KR" sz="1200" b="1" kern="1200" dirty="0">
                <a:latin typeface="+mj-lt"/>
              </a:rPr>
              <a:t>(</a:t>
            </a:r>
            <a:r>
              <a:rPr lang="ko-KR" altLang="en-US" sz="1200" b="1" kern="1200" dirty="0">
                <a:latin typeface="+mj-lt"/>
              </a:rPr>
              <a:t>현재 있는 </a:t>
            </a:r>
            <a:r>
              <a:rPr lang="ko-KR" altLang="en-US" sz="1200" b="1" kern="1200" dirty="0" err="1">
                <a:latin typeface="+mj-lt"/>
              </a:rPr>
              <a:t>다른필드와</a:t>
            </a:r>
            <a:r>
              <a:rPr lang="ko-KR" altLang="en-US" sz="1200" b="1" kern="1200" dirty="0">
                <a:latin typeface="+mj-lt"/>
              </a:rPr>
              <a:t> 동일한 로직</a:t>
            </a:r>
            <a:r>
              <a:rPr lang="en-US" altLang="ko-KR" sz="1200" b="1" kern="1200" dirty="0">
                <a:latin typeface="+mj-lt"/>
              </a:rPr>
              <a:t>)</a:t>
            </a:r>
            <a:r>
              <a:rPr lang="ko-KR" altLang="en-US" sz="1200" b="1" kern="1200" dirty="0">
                <a:latin typeface="+mj-lt"/>
              </a:rPr>
              <a:t> </a:t>
            </a:r>
            <a:endParaRPr lang="en-US" altLang="ko-KR" sz="1200" b="1" kern="12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200" kern="1200" dirty="0">
                <a:latin typeface="+mj-lt"/>
              </a:rPr>
              <a:t>2. </a:t>
            </a:r>
            <a:r>
              <a:rPr lang="ko-KR" altLang="en-US" sz="1200" kern="1200" dirty="0">
                <a:latin typeface="+mj-lt"/>
              </a:rPr>
              <a:t>탑승객 정보 입력 영역 </a:t>
            </a:r>
            <a:r>
              <a:rPr lang="ko-KR" altLang="en-US" sz="1200" b="1" kern="1200" dirty="0">
                <a:latin typeface="+mj-lt"/>
              </a:rPr>
              <a:t>안내 사항 아래 텍스트 추가 요청</a:t>
            </a:r>
            <a:br>
              <a:rPr lang="en-US" altLang="ko-KR" sz="1200" b="1" kern="1200" dirty="0">
                <a:latin typeface="+mj-lt"/>
              </a:rPr>
            </a:br>
            <a:r>
              <a:rPr lang="ko-KR" altLang="en-US" sz="1200" b="1" kern="1200" dirty="0">
                <a:latin typeface="+mj-lt"/>
              </a:rPr>
              <a:t>문구 </a:t>
            </a:r>
            <a:r>
              <a:rPr lang="en-US" altLang="ko-KR" sz="1200" b="1" kern="1200" dirty="0">
                <a:latin typeface="+mj-lt"/>
              </a:rPr>
              <a:t>: “</a:t>
            </a:r>
            <a:r>
              <a:rPr lang="en-US" altLang="ko-KR" sz="1200" kern="1200" dirty="0">
                <a:latin typeface="+mj-lt"/>
              </a:rPr>
              <a:t>- </a:t>
            </a:r>
            <a:r>
              <a:rPr lang="ko-KR" altLang="en-US" sz="1200" kern="1200" dirty="0">
                <a:latin typeface="+mj-lt"/>
              </a:rPr>
              <a:t>탑승객의 연락처</a:t>
            </a:r>
            <a:r>
              <a:rPr lang="en-US" altLang="ko-KR" sz="1200" kern="1200" dirty="0">
                <a:latin typeface="+mj-lt"/>
              </a:rPr>
              <a:t>, </a:t>
            </a:r>
            <a:r>
              <a:rPr lang="ko-KR" altLang="en-US" sz="1200" kern="1200" dirty="0" err="1">
                <a:latin typeface="+mj-lt"/>
              </a:rPr>
              <a:t>이메일주소를</a:t>
            </a:r>
            <a:r>
              <a:rPr lang="ko-KR" altLang="en-US" sz="1200" kern="1200" dirty="0">
                <a:latin typeface="+mj-lt"/>
              </a:rPr>
              <a:t> 정확하게 입력하여 주세요</a:t>
            </a:r>
            <a:r>
              <a:rPr lang="en-US" altLang="ko-KR" sz="1200" kern="1200" dirty="0">
                <a:latin typeface="+mj-lt"/>
              </a:rPr>
              <a:t>. </a:t>
            </a:r>
            <a:r>
              <a:rPr lang="ko-KR" altLang="en-US" sz="1200" kern="1200" dirty="0">
                <a:latin typeface="+mj-lt"/>
              </a:rPr>
              <a:t>항공사의 긴급정보를 받을 수 있으며 </a:t>
            </a:r>
            <a:r>
              <a:rPr lang="ko-KR" altLang="en-US" sz="1200" kern="1200" dirty="0" err="1">
                <a:latin typeface="+mj-lt"/>
              </a:rPr>
              <a:t>미입력시</a:t>
            </a:r>
            <a:r>
              <a:rPr lang="ko-KR" altLang="en-US" sz="1200" kern="1200" dirty="0">
                <a:latin typeface="+mj-lt"/>
              </a:rPr>
              <a:t> 정보수신 누락 될 수 있습니다</a:t>
            </a:r>
            <a:r>
              <a:rPr lang="en-US" altLang="ko-KR" sz="1200" kern="1200" dirty="0">
                <a:latin typeface="+mj-lt"/>
              </a:rPr>
              <a:t>.”</a:t>
            </a:r>
            <a:endParaRPr lang="en-US" altLang="ko-KR" sz="1200" b="1" kern="12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ko-KR" altLang="en-US" sz="1200" b="1" kern="1200" dirty="0"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B9C7ED8-39F0-4CD5-AD9E-8077AA4161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14248" r="824" b="18131"/>
          <a:stretch/>
        </p:blipFill>
        <p:spPr>
          <a:xfrm>
            <a:off x="460253" y="1185275"/>
            <a:ext cx="5519859" cy="3102456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AE6991-F36B-41F7-867D-094EBC0D2644}"/>
              </a:ext>
            </a:extLst>
          </p:cNvPr>
          <p:cNvSpPr/>
          <p:nvPr/>
        </p:nvSpPr>
        <p:spPr>
          <a:xfrm>
            <a:off x="460253" y="2669309"/>
            <a:ext cx="5519858" cy="4987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타원 6">
            <a:extLst>
              <a:ext uri="{FF2B5EF4-FFF2-40B4-BE49-F238E27FC236}">
                <a16:creationId xmlns:a16="http://schemas.microsoft.com/office/drawing/2014/main" id="{757C53DA-3EB2-42D8-933B-682F2B53F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002" y="2546003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3C8BF5E-B18C-4AA9-B312-3D9E4E9068C0}"/>
              </a:ext>
            </a:extLst>
          </p:cNvPr>
          <p:cNvSpPr/>
          <p:nvPr/>
        </p:nvSpPr>
        <p:spPr>
          <a:xfrm>
            <a:off x="460253" y="3225093"/>
            <a:ext cx="5519858" cy="713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타원 6">
            <a:extLst>
              <a:ext uri="{FF2B5EF4-FFF2-40B4-BE49-F238E27FC236}">
                <a16:creationId xmlns:a16="http://schemas.microsoft.com/office/drawing/2014/main" id="{C57BA789-164D-4F8A-B4AB-B597EDEE3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10" y="3747777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EE15598-6FD9-41FA-B3B1-354CD95C2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890" y="1307037"/>
            <a:ext cx="5535747" cy="3255727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A069A6-AE2B-438F-820E-8314EA5FC927}"/>
              </a:ext>
            </a:extLst>
          </p:cNvPr>
          <p:cNvSpPr/>
          <p:nvPr/>
        </p:nvSpPr>
        <p:spPr>
          <a:xfrm>
            <a:off x="10598506" y="2753990"/>
            <a:ext cx="1133241" cy="4016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5AA2B31-90DC-428F-9B71-E41AF25D478B}"/>
              </a:ext>
            </a:extLst>
          </p:cNvPr>
          <p:cNvSpPr/>
          <p:nvPr/>
        </p:nvSpPr>
        <p:spPr>
          <a:xfrm>
            <a:off x="6229393" y="3187883"/>
            <a:ext cx="3311771" cy="241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6">
            <a:extLst>
              <a:ext uri="{FF2B5EF4-FFF2-40B4-BE49-F238E27FC236}">
                <a16:creationId xmlns:a16="http://schemas.microsoft.com/office/drawing/2014/main" id="{96E828B8-50CB-46F2-9266-3773979E9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123460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7" name="타원 6">
            <a:extLst>
              <a:ext uri="{FF2B5EF4-FFF2-40B4-BE49-F238E27FC236}">
                <a16:creationId xmlns:a16="http://schemas.microsoft.com/office/drawing/2014/main" id="{15E665B5-E897-4151-9FC2-51952A868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3256" y="2641253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DE53541-EBC5-4B09-A2BF-34B72CB86E79}"/>
              </a:ext>
            </a:extLst>
          </p:cNvPr>
          <p:cNvSpPr/>
          <p:nvPr/>
        </p:nvSpPr>
        <p:spPr>
          <a:xfrm>
            <a:off x="6307140" y="4113663"/>
            <a:ext cx="3658896" cy="140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타원 6">
            <a:extLst>
              <a:ext uri="{FF2B5EF4-FFF2-40B4-BE49-F238E27FC236}">
                <a16:creationId xmlns:a16="http://schemas.microsoft.com/office/drawing/2014/main" id="{5DCA2F11-1B7B-4BDE-A5B3-D6BAA333A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945" y="3993632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52795E3-6724-465C-8D2C-68A13CD28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518" y="4374632"/>
            <a:ext cx="3215897" cy="1049516"/>
          </a:xfrm>
          <a:prstGeom prst="rect">
            <a:avLst/>
          </a:prstGeom>
        </p:spPr>
      </p:pic>
      <p:sp>
        <p:nvSpPr>
          <p:cNvPr id="31" name="타원 6">
            <a:extLst>
              <a:ext uri="{FF2B5EF4-FFF2-40B4-BE49-F238E27FC236}">
                <a16:creationId xmlns:a16="http://schemas.microsoft.com/office/drawing/2014/main" id="{6C1861C0-EA7F-406A-855D-B8C0379C4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8268" y="4346507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195347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3175"/>
      </a:spPr>
      <a:bodyPr rtlCol="0" anchor="ctr"/>
      <a:lstStyle>
        <a:defPPr algn="ctr">
          <a:defRPr sz="100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62578</TotalTime>
  <Words>331</Words>
  <Application>Microsoft Office PowerPoint</Application>
  <PresentationFormat>와이드스크린</PresentationFormat>
  <Paragraphs>38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나눔고딕</vt:lpstr>
      <vt:lpstr>맑은 고딕</vt:lpstr>
      <vt:lpstr>맑은 고딕</vt:lpstr>
      <vt:lpstr>Arial</vt:lpstr>
      <vt:lpstr>Times New Roman</vt:lpstr>
      <vt:lpstr>Wingdings</vt:lpstr>
      <vt:lpstr>디자인 사용자 지정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항공 예약 시스템 구축 제안</dc:title>
  <dc:creator>sunghlee</dc:creator>
  <cp:lastModifiedBy>여 승은</cp:lastModifiedBy>
  <cp:revision>7835</cp:revision>
  <cp:lastPrinted>2025-08-21T02:59:43Z</cp:lastPrinted>
  <dcterms:created xsi:type="dcterms:W3CDTF">2016-10-06T04:29:15Z</dcterms:created>
  <dcterms:modified xsi:type="dcterms:W3CDTF">2026-03-30T08:30:49Z</dcterms:modified>
</cp:coreProperties>
</file>