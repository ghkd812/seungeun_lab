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15" r:id="rId2"/>
    <p:sldId id="297" r:id="rId3"/>
    <p:sldId id="298" r:id="rId4"/>
    <p:sldId id="299" r:id="rId5"/>
    <p:sldId id="316" r:id="rId6"/>
    <p:sldId id="302" r:id="rId7"/>
    <p:sldId id="303" r:id="rId8"/>
    <p:sldId id="304" r:id="rId9"/>
    <p:sldId id="305" r:id="rId10"/>
    <p:sldId id="308" r:id="rId11"/>
    <p:sldId id="309" r:id="rId12"/>
    <p:sldId id="310" r:id="rId13"/>
    <p:sldId id="317" r:id="rId14"/>
    <p:sldId id="318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F95DE0A-B1E1-4BED-A04E-B0DC16A4F4AA}">
          <p14:sldIdLst>
            <p14:sldId id="315"/>
            <p14:sldId id="297"/>
            <p14:sldId id="298"/>
            <p14:sldId id="299"/>
            <p14:sldId id="316"/>
            <p14:sldId id="302"/>
            <p14:sldId id="303"/>
            <p14:sldId id="304"/>
            <p14:sldId id="305"/>
            <p14:sldId id="308"/>
            <p14:sldId id="309"/>
            <p14:sldId id="310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FD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6366" autoAdjust="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23F3D-4D62-43F9-8457-2509887437A1}" type="datetimeFigureOut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ED77F-61FF-4DF4-893E-B73277003B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26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72356D-51FC-00DE-4219-DA71698663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2856782"/>
              </p:ext>
            </p:extLst>
          </p:nvPr>
        </p:nvGraphicFramePr>
        <p:xfrm>
          <a:off x="87790" y="89350"/>
          <a:ext cx="87423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8">
                  <a:extLst>
                    <a:ext uri="{9D8B030D-6E8A-4147-A177-3AD203B41FA5}">
                      <a16:colId xmlns:a16="http://schemas.microsoft.com/office/drawing/2014/main" val="338628233"/>
                    </a:ext>
                  </a:extLst>
                </a:gridCol>
                <a:gridCol w="1457864">
                  <a:extLst>
                    <a:ext uri="{9D8B030D-6E8A-4147-A177-3AD203B41FA5}">
                      <a16:colId xmlns:a16="http://schemas.microsoft.com/office/drawing/2014/main" val="1505073367"/>
                    </a:ext>
                  </a:extLst>
                </a:gridCol>
                <a:gridCol w="879894">
                  <a:extLst>
                    <a:ext uri="{9D8B030D-6E8A-4147-A177-3AD203B41FA5}">
                      <a16:colId xmlns:a16="http://schemas.microsoft.com/office/drawing/2014/main" val="3531175620"/>
                    </a:ext>
                  </a:extLst>
                </a:gridCol>
                <a:gridCol w="3804249">
                  <a:extLst>
                    <a:ext uri="{9D8B030D-6E8A-4147-A177-3AD203B41FA5}">
                      <a16:colId xmlns:a16="http://schemas.microsoft.com/office/drawing/2014/main" val="6014753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36011974"/>
                    </a:ext>
                  </a:extLst>
                </a:gridCol>
                <a:gridCol w="1238941">
                  <a:extLst>
                    <a:ext uri="{9D8B030D-6E8A-4147-A177-3AD203B41FA5}">
                      <a16:colId xmlns:a16="http://schemas.microsoft.com/office/drawing/2014/main" val="365670307"/>
                    </a:ext>
                  </a:extLst>
                </a:gridCol>
              </a:tblGrid>
              <a:tr h="1825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Path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191528"/>
                  </a:ext>
                </a:extLst>
              </a:tr>
              <a:tr h="182563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06122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C410F4-8109-2E89-0388-F3BA4D03A8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36211545"/>
              </p:ext>
            </p:extLst>
          </p:nvPr>
        </p:nvGraphicFramePr>
        <p:xfrm>
          <a:off x="87790" y="598931"/>
          <a:ext cx="8742396" cy="6122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2396">
                  <a:extLst>
                    <a:ext uri="{9D8B030D-6E8A-4147-A177-3AD203B41FA5}">
                      <a16:colId xmlns:a16="http://schemas.microsoft.com/office/drawing/2014/main" val="1062592975"/>
                    </a:ext>
                  </a:extLst>
                </a:gridCol>
              </a:tblGrid>
              <a:tr h="612254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70661"/>
                  </a:ext>
                </a:extLst>
              </a:tr>
            </a:tbl>
          </a:graphicData>
        </a:graphic>
      </p:graphicFrame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C56BC0E-49DB-3127-45B1-F33874D4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6687" y="89350"/>
            <a:ext cx="381000" cy="228600"/>
          </a:xfrm>
        </p:spPr>
        <p:txBody>
          <a:bodyPr/>
          <a:lstStyle>
            <a:lvl1pPr>
              <a:defRPr b="1"/>
            </a:lvl1pPr>
          </a:lstStyle>
          <a:p>
            <a:fld id="{EC013157-A92D-4239-9824-F2A74EFC80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35F5BEF6-CBF8-C81F-AEA9-A9F7C8C2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9201" y="283819"/>
            <a:ext cx="1050985" cy="296862"/>
          </a:xfrm>
        </p:spPr>
        <p:txBody>
          <a:bodyPr/>
          <a:lstStyle>
            <a:lvl1pPr>
              <a:defRPr sz="1050" b="1"/>
            </a:lvl1pPr>
          </a:lstStyle>
          <a:p>
            <a:fld id="{0B9D2A03-3B06-4E0F-B9CE-294AC28C3B51}" type="datetime1">
              <a:rPr lang="ko-KR" altLang="en-US" smtClean="0"/>
              <a:pPr/>
              <a:t>2025-10-17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98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1E236-BBEC-5354-1565-BD6577A6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E2876-45BD-B201-CC63-BE120812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1B9473-4B75-37E6-7535-A09978C4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2A03-3B06-4E0F-B9CE-294AC28C3B51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F358E-E961-9DD7-F3F1-416C44AC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3892E-6870-26BA-4DA6-43F82DCD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6AEBA-A560-472A-230C-3112A338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A4E4D-6343-6490-A23D-269C6BC2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DCA03-9AE2-6EED-BD81-C1706A31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5E20-97D8-48C4-A43D-0B1FA895AC80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FA715-FADB-166E-B66E-F75E0A0A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950E0-3017-4C21-D92C-96DCB2A7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90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80D9D-27B3-429C-DFFB-1E63C842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5791E-10FE-60DA-1A3E-C85B0B59C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85FE4-5C1C-98CF-8E3B-026844E7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620769-B98F-A74E-FAFE-1C2FC316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84F4-019E-49F5-87A7-197D28C6E66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950DA1-60F4-5B04-44BD-616777C8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BE54E-24F3-1464-6CEC-38FCF6E9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65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37235-1C46-31E3-BEC3-092002C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CA46B-5A09-39C0-CC79-156DE8B3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E6FF-FC0A-AC59-2647-4D0EC36EB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A9FCDE-FEEE-3CFB-ECE9-6E9779156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CEEC10-68FC-181F-A718-C1F3767EC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D3DED3-33E4-972F-8EAB-AC19C92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5764-C7C3-40A1-A3C2-CEF90BDCFDAB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492E2-E29F-6BC0-D0F9-EEDA9714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82F22D-0CA9-307F-FADF-A2DD3277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59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9DE28-76B7-6AE1-5185-95DC1A13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107538-FAA6-89B8-AFE2-DA99647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9E93-E2C4-4C15-B0D7-A63FD8CC12E6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0BA4E-9F74-FAC3-A97D-14B29525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77DEE-1B69-28D4-5076-899FF583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9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523A03-9B7C-26CF-691B-BBAF320B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9EC4EE-D138-2C63-FE17-BB4A277C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D68D29-31EC-8776-4346-FF1E56D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37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EF63D-F21C-9AF0-8ED2-5DB1A47D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F2523-A151-B309-4EF8-93FDEC6C2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DA03B-D3F4-5606-01FE-3075368F8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B4D56-6A5B-F355-EB01-CED3D4E4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5E78-4143-4980-88E6-BED27FB689C7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5C05C-A38F-98D4-493B-701024A2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BD9C1-E500-FC8C-4F95-F60CC286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67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2D3C5-38CF-31B4-29B3-08F7C9C7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4EFB0F-7C95-84BE-C71B-84381C87B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DD846-5077-A48E-17A4-290F9BCF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969142-F755-5FC7-1E7F-250EBC3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5588-07E2-44A4-98AE-DE618ADC0FCB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D45E3-DBFE-1940-57E5-6033C43A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3C75E2-0A54-706F-3244-075C9681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27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44C55-42B0-32F5-A783-B5FB46A1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08D4A9-12C8-33A3-B05C-EBEDD2F77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D893C-81F2-9FEF-880E-8C326D5B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FE822-D21A-4A50-9484-106FA69A8DAD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65B91-B5C0-1F45-CFAD-0576BBF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48C4C-43FE-5B28-C096-2FC0C3D5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95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4BE0A-796D-CB95-871E-5A3B94B6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CDCE8F-FC0C-A9B4-FF30-14C6287A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20669-7EEB-6323-80D1-F8FAD65D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E7629-F754-4F61-AD96-F3453117C71E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90E50-536A-1494-0C71-F2A4B01D3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29E2A-0319-EBBF-D0C8-FF5289910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69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hyperlink" Target="mailto:woo@smtown.com" TargetMode="Externa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hyperlink" Target="mailto:ahn@smtown.com" TargetMode="Externa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hyperlink" Target="mailto:yeon@smtown.com" TargetMode="Externa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hyperlink" Target="mailto:song@smtown.com" TargetMode="Externa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hyperlink" Target="mailto:jeon@smtown.com" TargetMode="Externa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hyperlink" Target="mailto:min@smtown.com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mailto:min@smtown.com" TargetMode="External"/><Relationship Id="rId13" Type="http://schemas.openxmlformats.org/officeDocument/2006/relationships/image" Target="../media/image6.svg"/><Relationship Id="rId3" Type="http://schemas.openxmlformats.org/officeDocument/2006/relationships/tags" Target="../tags/tag21.xml"/><Relationship Id="rId7" Type="http://schemas.openxmlformats.org/officeDocument/2006/relationships/hyperlink" Target="mailto:woo@smtown.com" TargetMode="External"/><Relationship Id="rId12" Type="http://schemas.openxmlformats.org/officeDocument/2006/relationships/image" Target="../media/image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hyperlink" Target="mailto:yeon@smtown.com" TargetMode="External"/><Relationship Id="rId11" Type="http://schemas.openxmlformats.org/officeDocument/2006/relationships/hyperlink" Target="mailto:ahn@smtown.com" TargetMode="External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8.svg"/><Relationship Id="rId10" Type="http://schemas.openxmlformats.org/officeDocument/2006/relationships/hyperlink" Target="mailto:song@smtown.com" TargetMode="External"/><Relationship Id="rId4" Type="http://schemas.openxmlformats.org/officeDocument/2006/relationships/tags" Target="../tags/tag22.xml"/><Relationship Id="rId9" Type="http://schemas.openxmlformats.org/officeDocument/2006/relationships/hyperlink" Target="mailto:jeon@smtown.com" TargetMode="External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DDB897-00EC-4761-91E4-6F0B658E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893613"/>
              </p:ext>
            </p:extLst>
          </p:nvPr>
        </p:nvGraphicFramePr>
        <p:xfrm>
          <a:off x="198804" y="208621"/>
          <a:ext cx="11774122" cy="723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 작성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메뉴 경로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 페이지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접근 </a:t>
                      </a:r>
                      <a:r>
                        <a:rPr lang="ko-KR" altLang="en-US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가능자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영업관리자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출장관리자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900" b="1" dirty="0"/>
                        <a:t>관리자가 지정한 대상만 활성화</a:t>
                      </a:r>
                      <a:r>
                        <a:rPr lang="ko-KR" altLang="en-US" sz="900" dirty="0"/>
                        <a:t>되어 접속 가능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초기 관리자 설정은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IT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개발운영팀에게 요청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#13-14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관리자 권한 모두 설정 가능하도록 수정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#10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구분 값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&gt;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checkBox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20250604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#5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메일 관리 화면 고객사 선택 추가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20250626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#5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메일 관리 화면 고객사 선택 삭제 및 해당 기능 권한 변경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법인영업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팀 방수현님 요청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#13, #14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노출 여부 및 필터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#13PAGE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리스트에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권한 값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여승은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20251017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#10PAGE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규정결과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승인여부 필드 출장규정관리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(#6PAGE) OFF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상태일 경우 두개 필드 숨김 처리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1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7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1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0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6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2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66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18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15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8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7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956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62C65E-2479-C5B5-7A9F-0D7F243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72117C-AE00-7477-22B4-AD2553EE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0E09AE-C94B-AA2D-881B-9D866B41F539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3260BD-6BCD-F013-E3C9-2D04C6A6C923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0DF260-F66A-2A1E-7241-7B441F84E06E}"/>
              </a:ext>
            </a:extLst>
          </p:cNvPr>
          <p:cNvSpPr/>
          <p:nvPr/>
        </p:nvSpPr>
        <p:spPr>
          <a:xfrm>
            <a:off x="7306000" y="662959"/>
            <a:ext cx="144981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6943BA-6A91-9B53-4750-1B5DFD629BE7}"/>
              </a:ext>
            </a:extLst>
          </p:cNvPr>
          <p:cNvSpPr/>
          <p:nvPr/>
        </p:nvSpPr>
        <p:spPr>
          <a:xfrm>
            <a:off x="281482" y="1332036"/>
            <a:ext cx="1155357" cy="2897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고객사 관리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B6FD17-7E0F-288F-3E39-B0CC31168C64}"/>
              </a:ext>
            </a:extLst>
          </p:cNvPr>
          <p:cNvSpPr/>
          <p:nvPr/>
        </p:nvSpPr>
        <p:spPr>
          <a:xfrm>
            <a:off x="281482" y="1831192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3B8169-1172-8183-CCF4-F9FDB1E486A4}"/>
              </a:ext>
            </a:extLst>
          </p:cNvPr>
          <p:cNvSpPr/>
          <p:nvPr/>
        </p:nvSpPr>
        <p:spPr>
          <a:xfrm>
            <a:off x="1528536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FCE7EA4-6D1F-B889-B92E-EF02BDAAED67}"/>
              </a:ext>
            </a:extLst>
          </p:cNvPr>
          <p:cNvSpPr/>
          <p:nvPr/>
        </p:nvSpPr>
        <p:spPr>
          <a:xfrm>
            <a:off x="2750541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7E1E4D-3A9C-9535-E2D9-24CEDADDFD02}"/>
              </a:ext>
            </a:extLst>
          </p:cNvPr>
          <p:cNvSpPr/>
          <p:nvPr/>
        </p:nvSpPr>
        <p:spPr>
          <a:xfrm>
            <a:off x="3988202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84E18B-0AA1-D304-7BF4-07F8EF6B99E9}"/>
              </a:ext>
            </a:extLst>
          </p:cNvPr>
          <p:cNvSpPr/>
          <p:nvPr/>
        </p:nvSpPr>
        <p:spPr>
          <a:xfrm>
            <a:off x="5215169" y="1332036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CCC808-990D-6F0B-6A6F-9B0ACCFF2706}"/>
              </a:ext>
            </a:extLst>
          </p:cNvPr>
          <p:cNvSpPr/>
          <p:nvPr/>
        </p:nvSpPr>
        <p:spPr>
          <a:xfrm>
            <a:off x="238525" y="1220586"/>
            <a:ext cx="6251833" cy="4772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4D3940-D1B7-9179-B1A4-1CEF0FBB7EE5}"/>
              </a:ext>
            </a:extLst>
          </p:cNvPr>
          <p:cNvSpPr/>
          <p:nvPr/>
        </p:nvSpPr>
        <p:spPr>
          <a:xfrm>
            <a:off x="8021815" y="2112780"/>
            <a:ext cx="547165" cy="25358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F3F59BC-82A6-EA10-579A-E75066C7BB51}"/>
              </a:ext>
            </a:extLst>
          </p:cNvPr>
          <p:cNvGrpSpPr/>
          <p:nvPr/>
        </p:nvGrpSpPr>
        <p:grpSpPr>
          <a:xfrm>
            <a:off x="367885" y="2521868"/>
            <a:ext cx="8201095" cy="4122372"/>
            <a:chOff x="729090" y="2356796"/>
            <a:chExt cx="8071050" cy="367086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2819BE0-4F1B-42C4-8709-27E60B8C443D}"/>
                </a:ext>
              </a:extLst>
            </p:cNvPr>
            <p:cNvSpPr/>
            <p:nvPr/>
          </p:nvSpPr>
          <p:spPr>
            <a:xfrm>
              <a:off x="730664" y="2356796"/>
              <a:ext cx="1686533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고객사명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D813687-8979-3923-CEE0-DF187A596698}"/>
                </a:ext>
              </a:extLst>
            </p:cNvPr>
            <p:cNvSpPr/>
            <p:nvPr/>
          </p:nvSpPr>
          <p:spPr>
            <a:xfrm>
              <a:off x="2417197" y="2356796"/>
              <a:ext cx="1686533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구</a:t>
              </a:r>
              <a:r>
                <a:rPr lang="en-US" altLang="ko-KR" sz="900" dirty="0">
                  <a:solidFill>
                    <a:schemeClr val="tx1"/>
                  </a:solidFill>
                </a:rPr>
                <a:t>ERP </a:t>
              </a:r>
              <a:r>
                <a:rPr lang="ko-KR" altLang="en-US" sz="900" dirty="0">
                  <a:solidFill>
                    <a:schemeClr val="tx1"/>
                  </a:solidFill>
                </a:rPr>
                <a:t>코드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4908774-96EA-856B-29F7-82AC16019DED}"/>
                </a:ext>
              </a:extLst>
            </p:cNvPr>
            <p:cNvSpPr/>
            <p:nvPr/>
          </p:nvSpPr>
          <p:spPr>
            <a:xfrm>
              <a:off x="4102943" y="2356796"/>
              <a:ext cx="1686533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아이디 식별자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8FDE5EC-7EC0-79A2-6494-CBAF801238BD}"/>
                </a:ext>
              </a:extLst>
            </p:cNvPr>
            <p:cNvSpPr/>
            <p:nvPr/>
          </p:nvSpPr>
          <p:spPr>
            <a:xfrm>
              <a:off x="5789476" y="2356796"/>
              <a:ext cx="3010664" cy="31534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도메인</a:t>
              </a: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887BE83-A66A-658E-D95F-D3A11DA40E0E}"/>
                </a:ext>
              </a:extLst>
            </p:cNvPr>
            <p:cNvSpPr/>
            <p:nvPr/>
          </p:nvSpPr>
          <p:spPr>
            <a:xfrm>
              <a:off x="729877" y="2651070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BTMS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757B0C2-9112-E26F-ADE1-809C80C33ED3}"/>
                </a:ext>
              </a:extLst>
            </p:cNvPr>
            <p:cNvSpPr/>
            <p:nvPr/>
          </p:nvSpPr>
          <p:spPr>
            <a:xfrm>
              <a:off x="2416410" y="2651070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12115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57A4497-7790-9D2D-6AF9-4D446BA9CD9F}"/>
                </a:ext>
              </a:extLst>
            </p:cNvPr>
            <p:cNvSpPr/>
            <p:nvPr/>
          </p:nvSpPr>
          <p:spPr>
            <a:xfrm>
              <a:off x="4102156" y="2651070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BTMS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7AC191A-6925-CBBD-C3F5-79425C249D6E}"/>
                </a:ext>
              </a:extLst>
            </p:cNvPr>
            <p:cNvSpPr/>
            <p:nvPr/>
          </p:nvSpPr>
          <p:spPr>
            <a:xfrm>
              <a:off x="5788689" y="2651070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3A98FCB4-EF59-465E-1C67-6A9017FE9316}"/>
                </a:ext>
              </a:extLst>
            </p:cNvPr>
            <p:cNvSpPr/>
            <p:nvPr/>
          </p:nvSpPr>
          <p:spPr>
            <a:xfrm>
              <a:off x="729877" y="2966413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PACIFICO ENERGY KOREA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7A88932-79E0-F6D3-1D56-901CBAE095F1}"/>
                </a:ext>
              </a:extLst>
            </p:cNvPr>
            <p:cNvSpPr/>
            <p:nvPr/>
          </p:nvSpPr>
          <p:spPr>
            <a:xfrm>
              <a:off x="2416410" y="2966413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CORP20240605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76C6AF0-29BB-FD27-6F62-6CAB5CB8388C}"/>
                </a:ext>
              </a:extLst>
            </p:cNvPr>
            <p:cNvSpPr/>
            <p:nvPr/>
          </p:nvSpPr>
          <p:spPr>
            <a:xfrm>
              <a:off x="4102156" y="2966413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PCF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8C7F9C1-FB49-C0A9-9D13-9BDF1E0C5039}"/>
                </a:ext>
              </a:extLst>
            </p:cNvPr>
            <p:cNvSpPr/>
            <p:nvPr/>
          </p:nvSpPr>
          <p:spPr>
            <a:xfrm>
              <a:off x="5788689" y="2966413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92F9243-3017-9531-DEE5-76BA68697CDF}"/>
                </a:ext>
              </a:extLst>
            </p:cNvPr>
            <p:cNvSpPr/>
            <p:nvPr/>
          </p:nvSpPr>
          <p:spPr>
            <a:xfrm>
              <a:off x="730664" y="326876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HEXAGON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E8F69A2-768B-90BE-23D8-7867883D3625}"/>
                </a:ext>
              </a:extLst>
            </p:cNvPr>
            <p:cNvSpPr/>
            <p:nvPr/>
          </p:nvSpPr>
          <p:spPr>
            <a:xfrm>
              <a:off x="2417197" y="326876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CORP20241018001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83C40E-A5FB-AF8B-D587-6CBDC2B4D3FE}"/>
                </a:ext>
              </a:extLst>
            </p:cNvPr>
            <p:cNvSpPr/>
            <p:nvPr/>
          </p:nvSpPr>
          <p:spPr>
            <a:xfrm>
              <a:off x="4102943" y="326876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HEX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36BECAB-1323-A916-00E0-281EB7433433}"/>
                </a:ext>
              </a:extLst>
            </p:cNvPr>
            <p:cNvSpPr/>
            <p:nvPr/>
          </p:nvSpPr>
          <p:spPr>
            <a:xfrm>
              <a:off x="5789476" y="3268761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BCFEF55-1897-317A-1537-CA45B203D775}"/>
                </a:ext>
              </a:extLst>
            </p:cNvPr>
            <p:cNvSpPr/>
            <p:nvPr/>
          </p:nvSpPr>
          <p:spPr>
            <a:xfrm>
              <a:off x="729877" y="356303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 Linde Engineering Korea Ltd.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271B818-7D05-5B9E-E3DB-FBBE0A3B47E4}"/>
                </a:ext>
              </a:extLst>
            </p:cNvPr>
            <p:cNvSpPr/>
            <p:nvPr/>
          </p:nvSpPr>
          <p:spPr>
            <a:xfrm>
              <a:off x="2416410" y="356303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CORP20241120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AD2D676-8A1E-09E1-B42C-C914D587E0BA}"/>
                </a:ext>
              </a:extLst>
            </p:cNvPr>
            <p:cNvSpPr/>
            <p:nvPr/>
          </p:nvSpPr>
          <p:spPr>
            <a:xfrm>
              <a:off x="4102156" y="356303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LEK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A32CF6C-594D-9F55-9321-8FF11C6F7834}"/>
                </a:ext>
              </a:extLst>
            </p:cNvPr>
            <p:cNvSpPr/>
            <p:nvPr/>
          </p:nvSpPr>
          <p:spPr>
            <a:xfrm>
              <a:off x="5788689" y="3563035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B9392890-0845-C5E6-5BAC-B966D70F45F7}"/>
                </a:ext>
              </a:extLst>
            </p:cNvPr>
            <p:cNvSpPr/>
            <p:nvPr/>
          </p:nvSpPr>
          <p:spPr>
            <a:xfrm>
              <a:off x="729877" y="387837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DELOITTE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E23B205-2C0D-90C9-EAF5-260F8007CFA6}"/>
                </a:ext>
              </a:extLst>
            </p:cNvPr>
            <p:cNvSpPr/>
            <p:nvPr/>
          </p:nvSpPr>
          <p:spPr>
            <a:xfrm>
              <a:off x="2416410" y="387837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CORP20250101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E9E09EA-D9CE-F91D-65B6-5BDF770DB5AC}"/>
                </a:ext>
              </a:extLst>
            </p:cNvPr>
            <p:cNvSpPr/>
            <p:nvPr/>
          </p:nvSpPr>
          <p:spPr>
            <a:xfrm>
              <a:off x="4102156" y="387837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DK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B64E4E9-317F-84CB-4205-793A12D9CE21}"/>
                </a:ext>
              </a:extLst>
            </p:cNvPr>
            <p:cNvSpPr/>
            <p:nvPr/>
          </p:nvSpPr>
          <p:spPr>
            <a:xfrm>
              <a:off x="5788689" y="3878378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441D7C5-F437-22C5-D551-28DDFD2A24D4}"/>
                </a:ext>
              </a:extLst>
            </p:cNvPr>
            <p:cNvSpPr/>
            <p:nvPr/>
          </p:nvSpPr>
          <p:spPr>
            <a:xfrm>
              <a:off x="729877" y="4189227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ASICS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8CE99B56-8E4A-5DB8-5A0E-FEDEE101A2AB}"/>
                </a:ext>
              </a:extLst>
            </p:cNvPr>
            <p:cNvSpPr/>
            <p:nvPr/>
          </p:nvSpPr>
          <p:spPr>
            <a:xfrm>
              <a:off x="2416410" y="4189227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CORP221220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3C63BBD-13DE-C943-98E4-EE21C9592CC7}"/>
                </a:ext>
              </a:extLst>
            </p:cNvPr>
            <p:cNvSpPr/>
            <p:nvPr/>
          </p:nvSpPr>
          <p:spPr>
            <a:xfrm>
              <a:off x="4102156" y="4189227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AKR,OKR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35B1EB4-5672-7267-65A3-0B261F04518E}"/>
                </a:ext>
              </a:extLst>
            </p:cNvPr>
            <p:cNvSpPr/>
            <p:nvPr/>
          </p:nvSpPr>
          <p:spPr>
            <a:xfrm>
              <a:off x="5788689" y="4189227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DFBCA6E-888C-EF3C-AE44-A3C6ECA8E260}"/>
                </a:ext>
              </a:extLst>
            </p:cNvPr>
            <p:cNvSpPr/>
            <p:nvPr/>
          </p:nvSpPr>
          <p:spPr>
            <a:xfrm>
              <a:off x="733614" y="4483500"/>
              <a:ext cx="1690497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LF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94AFAB7-53BD-3379-5F0D-674EE4F96CF5}"/>
                </a:ext>
              </a:extLst>
            </p:cNvPr>
            <p:cNvSpPr/>
            <p:nvPr/>
          </p:nvSpPr>
          <p:spPr>
            <a:xfrm>
              <a:off x="2415623" y="448350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CORP2310002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D3A9E31-781C-3B70-0730-003241748A67}"/>
                </a:ext>
              </a:extLst>
            </p:cNvPr>
            <p:cNvSpPr/>
            <p:nvPr/>
          </p:nvSpPr>
          <p:spPr>
            <a:xfrm>
              <a:off x="4101369" y="448350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LF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A4F1C30-C5EA-B37A-D3B7-C97EDB7963D6}"/>
                </a:ext>
              </a:extLst>
            </p:cNvPr>
            <p:cNvSpPr/>
            <p:nvPr/>
          </p:nvSpPr>
          <p:spPr>
            <a:xfrm>
              <a:off x="5787902" y="4483501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43B8434-EEAB-60C3-340C-77C9B8C7F308}"/>
                </a:ext>
              </a:extLst>
            </p:cNvPr>
            <p:cNvSpPr/>
            <p:nvPr/>
          </p:nvSpPr>
          <p:spPr>
            <a:xfrm>
              <a:off x="733613" y="4798844"/>
              <a:ext cx="1690499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>
                  <a:solidFill>
                    <a:schemeClr val="tx1"/>
                  </a:solidFill>
                </a:rPr>
                <a:t>효성</a:t>
              </a:r>
              <a:r>
                <a:rPr lang="en-US" altLang="ko-KR" sz="900">
                  <a:solidFill>
                    <a:schemeClr val="tx1"/>
                  </a:solidFill>
                </a:rPr>
                <a:t>TNS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482AF98-F09B-DD3D-3B5C-452BC5B1B0BF}"/>
                </a:ext>
              </a:extLst>
            </p:cNvPr>
            <p:cNvSpPr/>
            <p:nvPr/>
          </p:nvSpPr>
          <p:spPr>
            <a:xfrm>
              <a:off x="2415623" y="4798844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CORP2402002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357607C-051F-771B-F842-4A15743AAF48}"/>
                </a:ext>
              </a:extLst>
            </p:cNvPr>
            <p:cNvSpPr/>
            <p:nvPr/>
          </p:nvSpPr>
          <p:spPr>
            <a:xfrm>
              <a:off x="4101369" y="4798844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TNS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9F82F70-A311-8130-D870-AAD1BED79921}"/>
                </a:ext>
              </a:extLst>
            </p:cNvPr>
            <p:cNvSpPr/>
            <p:nvPr/>
          </p:nvSpPr>
          <p:spPr>
            <a:xfrm>
              <a:off x="5787902" y="4798844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6732AD6-58D0-2CC2-E65C-54C2A4459ADD}"/>
                </a:ext>
              </a:extLst>
            </p:cNvPr>
            <p:cNvSpPr/>
            <p:nvPr/>
          </p:nvSpPr>
          <p:spPr>
            <a:xfrm>
              <a:off x="734402" y="5099721"/>
              <a:ext cx="1690498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MUSINSA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92AA97B-D068-D29B-0700-4AB7542A1596}"/>
                </a:ext>
              </a:extLst>
            </p:cNvPr>
            <p:cNvSpPr/>
            <p:nvPr/>
          </p:nvSpPr>
          <p:spPr>
            <a:xfrm>
              <a:off x="2416410" y="509972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CORP2404002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CC79EB79-16DD-725D-986F-0696AA47025B}"/>
                </a:ext>
              </a:extLst>
            </p:cNvPr>
            <p:cNvSpPr/>
            <p:nvPr/>
          </p:nvSpPr>
          <p:spPr>
            <a:xfrm>
              <a:off x="4102156" y="509972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MMS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1956B0CC-2F18-4F38-1093-92C9CC3A9BB5}"/>
                </a:ext>
              </a:extLst>
            </p:cNvPr>
            <p:cNvSpPr/>
            <p:nvPr/>
          </p:nvSpPr>
          <p:spPr>
            <a:xfrm>
              <a:off x="5788690" y="5099721"/>
              <a:ext cx="3009876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B4385B2-E3C0-FBCE-ED47-6DCA5BC0835F}"/>
                </a:ext>
              </a:extLst>
            </p:cNvPr>
            <p:cNvSpPr/>
            <p:nvPr/>
          </p:nvSpPr>
          <p:spPr>
            <a:xfrm>
              <a:off x="729090" y="539399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F&amp;CO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4E2C1EB-0EA0-3E4B-84B7-FF6D857E0AB0}"/>
                </a:ext>
              </a:extLst>
            </p:cNvPr>
            <p:cNvSpPr/>
            <p:nvPr/>
          </p:nvSpPr>
          <p:spPr>
            <a:xfrm>
              <a:off x="2415623" y="539399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CORP2412001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2BF2B9B8-D2C2-3DD6-7219-C118B71B81FB}"/>
                </a:ext>
              </a:extLst>
            </p:cNvPr>
            <p:cNvSpPr/>
            <p:nvPr/>
          </p:nvSpPr>
          <p:spPr>
            <a:xfrm>
              <a:off x="4101369" y="5393995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FNC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0E73CE3-9FD7-97AA-84B8-67823E6CFDE1}"/>
                </a:ext>
              </a:extLst>
            </p:cNvPr>
            <p:cNvSpPr/>
            <p:nvPr/>
          </p:nvSpPr>
          <p:spPr>
            <a:xfrm>
              <a:off x="5787902" y="5393995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760AE2F5-330D-15CA-7662-B8D7F5697F2F}"/>
                </a:ext>
              </a:extLst>
            </p:cNvPr>
            <p:cNvSpPr/>
            <p:nvPr/>
          </p:nvSpPr>
          <p:spPr>
            <a:xfrm>
              <a:off x="729090" y="570933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KIDO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E4F1E94E-60A3-5E74-966A-BC672DADB04C}"/>
                </a:ext>
              </a:extLst>
            </p:cNvPr>
            <p:cNvSpPr/>
            <p:nvPr/>
          </p:nvSpPr>
          <p:spPr>
            <a:xfrm>
              <a:off x="2415623" y="5709338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CORP2412002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419AD4A6-7C12-2C53-131F-49489F7FADDF}"/>
                </a:ext>
              </a:extLst>
            </p:cNvPr>
            <p:cNvSpPr/>
            <p:nvPr/>
          </p:nvSpPr>
          <p:spPr>
            <a:xfrm>
              <a:off x="4100582" y="5712321"/>
              <a:ext cx="1686533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>
                  <a:solidFill>
                    <a:schemeClr val="tx1"/>
                  </a:solidFill>
                </a:rPr>
                <a:t>KIDO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CF4F6D8-0623-8D7A-2560-6C33E8374FE3}"/>
                </a:ext>
              </a:extLst>
            </p:cNvPr>
            <p:cNvSpPr/>
            <p:nvPr/>
          </p:nvSpPr>
          <p:spPr>
            <a:xfrm>
              <a:off x="5787902" y="5709338"/>
              <a:ext cx="3010664" cy="31534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</a:rPr>
                <a:t>smtown.com</a:t>
              </a:r>
              <a:endParaRPr lang="ko-KR" alt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3F8C46-8ACC-AB8A-B8C0-DC50DDE65FC5}"/>
              </a:ext>
            </a:extLst>
          </p:cNvPr>
          <p:cNvSpPr/>
          <p:nvPr/>
        </p:nvSpPr>
        <p:spPr>
          <a:xfrm>
            <a:off x="8030904" y="2071410"/>
            <a:ext cx="547165" cy="2943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B3D8B37-0EA1-8AFC-7B83-42AC2F9153BF}"/>
              </a:ext>
            </a:extLst>
          </p:cNvPr>
          <p:cNvSpPr/>
          <p:nvPr/>
        </p:nvSpPr>
        <p:spPr>
          <a:xfrm>
            <a:off x="7948282" y="1981927"/>
            <a:ext cx="165244" cy="1983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938DB2D-C957-04A3-3514-606ECE2C8627}"/>
              </a:ext>
            </a:extLst>
          </p:cNvPr>
          <p:cNvSpPr/>
          <p:nvPr/>
        </p:nvSpPr>
        <p:spPr>
          <a:xfrm>
            <a:off x="364656" y="2818653"/>
            <a:ext cx="8202725" cy="3272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CF21F52-2497-7B2F-6DC6-9F3FFD33DD1C}"/>
              </a:ext>
            </a:extLst>
          </p:cNvPr>
          <p:cNvSpPr/>
          <p:nvPr/>
        </p:nvSpPr>
        <p:spPr>
          <a:xfrm>
            <a:off x="281481" y="2714499"/>
            <a:ext cx="183588" cy="1983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FB9331C-0A55-5FC7-1DC7-8D04A20E97C7}"/>
              </a:ext>
            </a:extLst>
          </p:cNvPr>
          <p:cNvSpPr/>
          <p:nvPr/>
        </p:nvSpPr>
        <p:spPr>
          <a:xfrm>
            <a:off x="189780" y="1139088"/>
            <a:ext cx="186623" cy="22479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777B4E0-0BBD-E3A6-C454-09A078691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096664"/>
              </p:ext>
            </p:extLst>
          </p:nvPr>
        </p:nvGraphicFramePr>
        <p:xfrm>
          <a:off x="8895426" y="89350"/>
          <a:ext cx="3208784" cy="4893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085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‘</a:t>
                      </a:r>
                      <a:r>
                        <a:rPr lang="ko-KR" altLang="en-US" sz="900" b="1" dirty="0"/>
                        <a:t>고객사 관리</a:t>
                      </a:r>
                      <a:r>
                        <a:rPr lang="en-US" altLang="ko-KR" sz="900" b="1" dirty="0"/>
                        <a:t>’</a:t>
                      </a:r>
                      <a:r>
                        <a:rPr lang="ko-KR" altLang="en-US" sz="900" b="1" dirty="0"/>
                        <a:t> 메뉴의 경우 </a:t>
                      </a:r>
                      <a:r>
                        <a:rPr lang="en-US" altLang="ko-KR" sz="900" b="1" dirty="0"/>
                        <a:t>standard </a:t>
                      </a:r>
                      <a:r>
                        <a:rPr lang="ko-KR" altLang="en-US" sz="900" b="1" dirty="0"/>
                        <a:t>에서만 노출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b="1" dirty="0"/>
                        <a:t>권한 별 메뉴 접근</a:t>
                      </a:r>
                      <a:endParaRPr lang="en-US" altLang="ko-KR" sz="900" b="1" dirty="0"/>
                    </a:p>
                    <a:p>
                      <a:pPr marL="0" indent="0" algn="l">
                        <a:buNone/>
                      </a:pPr>
                      <a:r>
                        <a:rPr lang="en-US" altLang="ko-KR" sz="900" b="1" dirty="0"/>
                        <a:t>[ </a:t>
                      </a:r>
                      <a:r>
                        <a:rPr lang="ko-KR" altLang="en-US" sz="900" b="1" dirty="0"/>
                        <a:t>관리자</a:t>
                      </a:r>
                      <a:r>
                        <a:rPr lang="en-US" altLang="ko-KR" sz="900" b="1" dirty="0"/>
                        <a:t>&gt;</a:t>
                      </a:r>
                      <a:r>
                        <a:rPr lang="ko-KR" altLang="en-US" sz="900" b="1" dirty="0"/>
                        <a:t>영업관리자</a:t>
                      </a:r>
                      <a:r>
                        <a:rPr lang="en-US" altLang="ko-KR" sz="900" b="1" dirty="0"/>
                        <a:t>&gt;</a:t>
                      </a:r>
                      <a:r>
                        <a:rPr lang="ko-KR" altLang="en-US" sz="900" b="1" dirty="0"/>
                        <a:t>출장관리자</a:t>
                      </a:r>
                      <a:r>
                        <a:rPr lang="en-US" altLang="ko-KR" sz="900" b="1" dirty="0"/>
                        <a:t>&gt;</a:t>
                      </a:r>
                      <a:r>
                        <a:rPr lang="ko-KR" altLang="en-US" sz="900" b="1" dirty="0"/>
                        <a:t>회원 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b="1" dirty="0"/>
                    </a:p>
                    <a:p>
                      <a:pPr lvl="0" algn="l"/>
                      <a:r>
                        <a:rPr lang="en-US" altLang="ko-KR" sz="900" b="1" dirty="0"/>
                        <a:t> 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1) </a:t>
                      </a:r>
                      <a:r>
                        <a:rPr lang="ko-KR" altLang="en-US" sz="900" b="1" dirty="0"/>
                        <a:t>관리자 </a:t>
                      </a:r>
                      <a:r>
                        <a:rPr lang="en-US" altLang="ko-KR" sz="900" b="1" dirty="0"/>
                        <a:t>(IT</a:t>
                      </a:r>
                      <a:r>
                        <a:rPr lang="ko-KR" altLang="en-US" sz="900" b="1" dirty="0"/>
                        <a:t>개발운영팀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en-US" altLang="ko-KR" sz="900" dirty="0"/>
                        <a:t>: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모든 메뉴에 접근 가능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2) </a:t>
                      </a:r>
                      <a:r>
                        <a:rPr lang="ko-KR" altLang="en-US" sz="900" b="1" dirty="0"/>
                        <a:t>영업 관리자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법인영업팀</a:t>
                      </a:r>
                      <a:r>
                        <a:rPr lang="en-US" altLang="ko-KR" sz="900" b="1" dirty="0"/>
                        <a:t>)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항공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호텔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요청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관리</a:t>
                      </a:r>
                      <a:r>
                        <a:rPr lang="en-US" altLang="ko-KR" sz="900" dirty="0"/>
                        <a:t> (</a:t>
                      </a:r>
                      <a:r>
                        <a:rPr lang="ko-KR" altLang="en-US" sz="900" dirty="0" err="1"/>
                        <a:t>전담팀관리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출장규정관리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항공예약관리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계정권한관리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3) </a:t>
                      </a:r>
                      <a:r>
                        <a:rPr lang="ko-KR" altLang="en-US" sz="900" b="1" dirty="0"/>
                        <a:t>고객사 출장 관리자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항공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호텔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요청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관리</a:t>
                      </a:r>
                      <a:r>
                        <a:rPr lang="en-US" altLang="ko-KR" sz="900" dirty="0"/>
                        <a:t> (</a:t>
                      </a:r>
                      <a:r>
                        <a:rPr lang="ko-KR" altLang="en-US" sz="900" dirty="0"/>
                        <a:t>출장규정관리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항공예약관리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계정권한관리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4) </a:t>
                      </a:r>
                      <a:r>
                        <a:rPr lang="ko-KR" altLang="en-US" sz="900" b="1" dirty="0"/>
                        <a:t>회원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일반 사용자</a:t>
                      </a:r>
                      <a:r>
                        <a:rPr lang="en-US" altLang="ko-KR" sz="900" b="1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- </a:t>
                      </a:r>
                      <a:r>
                        <a:rPr lang="ko-KR" altLang="en-US" sz="900" dirty="0"/>
                        <a:t>항공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호텔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요청</a:t>
                      </a:r>
                      <a:endParaRPr lang="ko-KR" altLang="en-US" sz="900" b="1" dirty="0"/>
                    </a:p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고객사 등록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0" dirty="0"/>
                        <a:t> - </a:t>
                      </a:r>
                      <a:r>
                        <a:rPr lang="ko-KR" altLang="en-US" sz="900" b="0" dirty="0"/>
                        <a:t>클릭 시 고객사 등록 페이지로 이동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( #3page 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고객사 수정 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- row </a:t>
                      </a:r>
                      <a:r>
                        <a:rPr lang="ko-KR" altLang="en-US" sz="900" b="0" dirty="0"/>
                        <a:t>클릭 시 고객사 수정 페이지로 이동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( #4page 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리스트 항목은 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변경 될 가능성 있음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4E05F98-6A3E-E0A5-9C40-F379F0EA9A7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고객사 관리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8EF8E6-E4EC-FC1B-0906-5FEE2E0C0760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관리</a:t>
            </a:r>
          </a:p>
        </p:txBody>
      </p:sp>
    </p:spTree>
    <p:extLst>
      <p:ext uri="{BB962C8B-B14F-4D97-AF65-F5344CB8AC3E}">
        <p14:creationId xmlns:p14="http://schemas.microsoft.com/office/powerpoint/2010/main" val="3404856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DC4F-A30C-2AAD-C6CF-FFCB057D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E884C3-8E52-D334-75E5-041D4024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A53415-4325-D7C4-9342-BB887086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9EDB76-7098-4464-556F-426F1F0B0632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고객사 등록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EF56B-8BFB-DFE1-F9B5-2CD7DE7F6A60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등록</a:t>
            </a: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5EA278DD-EF7A-7D24-05C2-DA7D65DA560F}"/>
              </a:ext>
            </a:extLst>
          </p:cNvPr>
          <p:cNvGrpSpPr/>
          <p:nvPr/>
        </p:nvGrpSpPr>
        <p:grpSpPr>
          <a:xfrm>
            <a:off x="232913" y="729794"/>
            <a:ext cx="8488393" cy="5907167"/>
            <a:chOff x="379673" y="963934"/>
            <a:chExt cx="8222789" cy="5374490"/>
          </a:xfrm>
        </p:grpSpPr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461E6231-0869-0B67-EF36-A08409370762}"/>
                </a:ext>
              </a:extLst>
            </p:cNvPr>
            <p:cNvSpPr/>
            <p:nvPr/>
          </p:nvSpPr>
          <p:spPr>
            <a:xfrm>
              <a:off x="398134" y="963934"/>
              <a:ext cx="868241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C7314E99-8447-0F90-73CD-097C5B95ED81}"/>
                </a:ext>
              </a:extLst>
            </p:cNvPr>
            <p:cNvSpPr/>
            <p:nvPr/>
          </p:nvSpPr>
          <p:spPr>
            <a:xfrm>
              <a:off x="7198844" y="963934"/>
              <a:ext cx="1403618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BF197916-1ABB-1759-00D3-43A881F01E23}"/>
                </a:ext>
              </a:extLst>
            </p:cNvPr>
            <p:cNvSpPr/>
            <p:nvPr/>
          </p:nvSpPr>
          <p:spPr>
            <a:xfrm>
              <a:off x="379673" y="1945469"/>
              <a:ext cx="1619036" cy="2807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고객사 등록</a:t>
              </a:r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A038F0E7-0CD2-626E-1703-1531CEF04A72}"/>
                </a:ext>
              </a:extLst>
            </p:cNvPr>
            <p:cNvGrpSpPr/>
            <p:nvPr/>
          </p:nvGrpSpPr>
          <p:grpSpPr>
            <a:xfrm>
              <a:off x="398134" y="2340365"/>
              <a:ext cx="8108304" cy="3998059"/>
              <a:chOff x="318527" y="2231391"/>
              <a:chExt cx="8187911" cy="4107033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5DCCF289-601B-4602-3CFB-9655DC326525}"/>
                  </a:ext>
                </a:extLst>
              </p:cNvPr>
              <p:cNvSpPr/>
              <p:nvPr/>
            </p:nvSpPr>
            <p:spPr>
              <a:xfrm>
                <a:off x="4684163" y="6100561"/>
                <a:ext cx="535212" cy="2378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등록</a:t>
                </a:r>
              </a:p>
            </p:txBody>
          </p:sp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C18BAB3E-801D-F412-DB79-E2B2AFD22440}"/>
                  </a:ext>
                </a:extLst>
              </p:cNvPr>
              <p:cNvCxnSpPr/>
              <p:nvPr/>
            </p:nvCxnSpPr>
            <p:spPr>
              <a:xfrm>
                <a:off x="382247" y="2231391"/>
                <a:ext cx="812419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794B0621-80ED-7169-8924-7D97BAB7A15E}"/>
                  </a:ext>
                </a:extLst>
              </p:cNvPr>
              <p:cNvSpPr/>
              <p:nvPr/>
            </p:nvSpPr>
            <p:spPr>
              <a:xfrm>
                <a:off x="318527" y="3080536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아이디 식별자</a:t>
                </a:r>
              </a:p>
            </p:txBody>
          </p: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031A7769-9E52-A0F2-DFB3-AE0AA48090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8527" y="238147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고객사명</a:t>
                </a: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93ABE3CA-7250-18D2-00D9-465C829F7C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8527" y="2731005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AZONE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5BC47BBA-ABE7-06AD-8ABE-E0EDCA0254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8527" y="3779598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호텔 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셀프예약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991D14E8-9126-BD4A-6D36-16239323E086}"/>
                  </a:ext>
                </a:extLst>
              </p:cNvPr>
              <p:cNvSpPr/>
              <p:nvPr/>
            </p:nvSpPr>
            <p:spPr>
              <a:xfrm>
                <a:off x="318527" y="4129130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로고 이미지</a:t>
                </a: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43D5770F-EBCB-84B8-C82B-F09C8DC175C3}"/>
                  </a:ext>
                </a:extLst>
              </p:cNvPr>
              <p:cNvSpPr/>
              <p:nvPr/>
            </p:nvSpPr>
            <p:spPr>
              <a:xfrm>
                <a:off x="318527" y="4478661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배경 색상</a:t>
                </a: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4AD9DB44-BFE5-C681-1172-B8F0D3913B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3101223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E6537A4D-3A03-A618-B67E-C08310323B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50090" y="2378808"/>
                <a:ext cx="2062279" cy="24221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20556996-98A4-197A-984F-3456AFD845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2746597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C82FD314-3F65-25C8-E11E-64B5FE5263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4165100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25321CBB-AB10-D6E0-8090-8B7D5BD6A4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3279" y="4523532"/>
                <a:ext cx="6390475" cy="202943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60C18359-C066-C28F-067E-DBCDD5FF16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3810476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73A715FF-4923-114F-AA52-CB61B0ED25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312146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Backoffice Code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직사각형 166">
                <a:extLst>
                  <a:ext uri="{FF2B5EF4-FFF2-40B4-BE49-F238E27FC236}">
                    <a16:creationId xmlns:a16="http://schemas.microsoft.com/office/drawing/2014/main" id="{E161025F-0CE3-2C91-5B5C-2D103A473F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2396165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ERP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168" name="직사각형 167">
                <a:extLst>
                  <a:ext uri="{FF2B5EF4-FFF2-40B4-BE49-F238E27FC236}">
                    <a16:creationId xmlns:a16="http://schemas.microsoft.com/office/drawing/2014/main" id="{A96259D6-0BE0-E165-75E1-2CD10DA877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275881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회사 도메인</a:t>
                </a: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7AE84394-200C-EE3F-37B6-53427C60A9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3846763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>
                    <a:solidFill>
                      <a:schemeClr val="tx1"/>
                    </a:solidFill>
                  </a:rPr>
                  <a:t>계열사</a:t>
                </a:r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82EF8A4A-145C-B077-0CC2-9E8E6015CC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3484113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기업 할인코드</a:t>
                </a:r>
              </a:p>
            </p:txBody>
          </p:sp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900A047B-56BB-6C35-9D1B-5390AF980A9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87605" y="4209414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배경 이미지</a:t>
                </a: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6EBFB255-E96C-497D-67D4-D1980EEBB42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3147407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E0CE2D9F-43F1-89F0-5237-12626F0433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2426" y="2445989"/>
                <a:ext cx="2062279" cy="24221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BF79393F-3288-3838-A7E9-9913EC9B71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2803279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C2AB0976-FD3E-C8A2-92BF-E78F170A49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3491535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13DC4398-448D-C741-F102-384B331C69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4179791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49E778B4-C441-850B-2605-116F389044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50115" y="3835663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AC86A477-F7CA-384A-6704-1A5B21A6FD26}"/>
                  </a:ext>
                </a:extLst>
              </p:cNvPr>
              <p:cNvSpPr/>
              <p:nvPr/>
            </p:nvSpPr>
            <p:spPr>
              <a:xfrm>
                <a:off x="318527" y="3430067"/>
                <a:ext cx="1189504" cy="24221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COSTCENTER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28F393D0-2AA2-B7B9-45C3-383BEE5577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47779" y="3455849"/>
                <a:ext cx="2066903" cy="22905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0DE08F27-E28B-3C04-FFE9-296570A3E8EA}"/>
                  </a:ext>
                </a:extLst>
              </p:cNvPr>
              <p:cNvSpPr/>
              <p:nvPr/>
            </p:nvSpPr>
            <p:spPr>
              <a:xfrm>
                <a:off x="3872954" y="6100561"/>
                <a:ext cx="535212" cy="2378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목록</a:t>
                </a:r>
              </a:p>
            </p:txBody>
          </p:sp>
          <p:sp>
            <p:nvSpPr>
              <p:cNvPr id="183" name="직사각형 182">
                <a:extLst>
                  <a:ext uri="{FF2B5EF4-FFF2-40B4-BE49-F238E27FC236}">
                    <a16:creationId xmlns:a16="http://schemas.microsoft.com/office/drawing/2014/main" id="{70B863EE-BA13-9121-F53A-18AB15D92503}"/>
                  </a:ext>
                </a:extLst>
              </p:cNvPr>
              <p:cNvSpPr/>
              <p:nvPr/>
            </p:nvSpPr>
            <p:spPr>
              <a:xfrm>
                <a:off x="318527" y="5234534"/>
                <a:ext cx="1189504" cy="2990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비고</a:t>
                </a:r>
              </a:p>
            </p:txBody>
          </p:sp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AFF23DAD-B58F-393C-E6B3-82F3BFAEBEB8}"/>
                  </a:ext>
                </a:extLst>
              </p:cNvPr>
              <p:cNvSpPr/>
              <p:nvPr/>
            </p:nvSpPr>
            <p:spPr>
              <a:xfrm>
                <a:off x="318527" y="4828192"/>
                <a:ext cx="1189504" cy="29902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URL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9A04A84F-D8EE-652C-40A8-0A4B79EEAC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3279" y="5245268"/>
                <a:ext cx="6390476" cy="68191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0B81FE76-C757-55BF-9A3C-3A1860DE84C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23279" y="4833979"/>
                <a:ext cx="6390476" cy="299021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btms.smtowntravel.com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49BD8861-0AD4-6911-2C9C-4A8C07E2B29B}"/>
                  </a:ext>
                </a:extLst>
              </p:cNvPr>
              <p:cNvGrpSpPr/>
              <p:nvPr/>
            </p:nvGrpSpPr>
            <p:grpSpPr>
              <a:xfrm>
                <a:off x="1624484" y="2252307"/>
                <a:ext cx="253571" cy="242795"/>
                <a:chOff x="86588" y="3051774"/>
                <a:chExt cx="255124" cy="261610"/>
              </a:xfrm>
            </p:grpSpPr>
            <p:sp>
              <p:nvSpPr>
                <p:cNvPr id="230" name="타원 229">
                  <a:extLst>
                    <a:ext uri="{FF2B5EF4-FFF2-40B4-BE49-F238E27FC236}">
                      <a16:creationId xmlns:a16="http://schemas.microsoft.com/office/drawing/2014/main" id="{D5F541A0-2B9E-B041-2D4C-D153E2F180EB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A806C68E-74DB-2587-766E-764F19A89851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1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534E331F-0D82-F36D-A1E1-941ABDFDD937}"/>
                  </a:ext>
                </a:extLst>
              </p:cNvPr>
              <p:cNvGrpSpPr/>
              <p:nvPr/>
            </p:nvGrpSpPr>
            <p:grpSpPr>
              <a:xfrm>
                <a:off x="1624484" y="2622553"/>
                <a:ext cx="253571" cy="242795"/>
                <a:chOff x="86588" y="3051774"/>
                <a:chExt cx="255124" cy="261610"/>
              </a:xfrm>
            </p:grpSpPr>
            <p:sp>
              <p:nvSpPr>
                <p:cNvPr id="228" name="타원 227">
                  <a:extLst>
                    <a:ext uri="{FF2B5EF4-FFF2-40B4-BE49-F238E27FC236}">
                      <a16:creationId xmlns:a16="http://schemas.microsoft.com/office/drawing/2014/main" id="{51B7296B-7CB4-BD18-B211-061CF41D284F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497CFBD5-FF62-6DF6-DB88-091A9CCEEBC3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3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F4CFFA1A-0CDE-2F39-F3A4-4B894E67B437}"/>
                  </a:ext>
                </a:extLst>
              </p:cNvPr>
              <p:cNvGrpSpPr/>
              <p:nvPr/>
            </p:nvGrpSpPr>
            <p:grpSpPr>
              <a:xfrm>
                <a:off x="1624484" y="2992799"/>
                <a:ext cx="253571" cy="242795"/>
                <a:chOff x="86588" y="3051774"/>
                <a:chExt cx="255124" cy="261610"/>
              </a:xfrm>
            </p:grpSpPr>
            <p:sp>
              <p:nvSpPr>
                <p:cNvPr id="226" name="타원 225">
                  <a:extLst>
                    <a:ext uri="{FF2B5EF4-FFF2-40B4-BE49-F238E27FC236}">
                      <a16:creationId xmlns:a16="http://schemas.microsoft.com/office/drawing/2014/main" id="{BC6DAFD8-D4C0-A945-A1B6-DBE551E20B94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F1E03FA2-328B-4878-4414-2D933021ECE6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5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3CB3B18A-90B5-B3F4-E093-344C077C29F5}"/>
                  </a:ext>
                </a:extLst>
              </p:cNvPr>
              <p:cNvGrpSpPr/>
              <p:nvPr/>
            </p:nvGrpSpPr>
            <p:grpSpPr>
              <a:xfrm>
                <a:off x="1624484" y="3363045"/>
                <a:ext cx="253571" cy="242795"/>
                <a:chOff x="86588" y="3051774"/>
                <a:chExt cx="255124" cy="261610"/>
              </a:xfrm>
            </p:grpSpPr>
            <p:sp>
              <p:nvSpPr>
                <p:cNvPr id="224" name="타원 223">
                  <a:extLst>
                    <a:ext uri="{FF2B5EF4-FFF2-40B4-BE49-F238E27FC236}">
                      <a16:creationId xmlns:a16="http://schemas.microsoft.com/office/drawing/2014/main" id="{8C0AD175-1120-1FCC-D305-E95F840C1A0D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3944C69C-43AA-EE31-B02D-1CCF19A7FD84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7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1" name="그룹 190">
                <a:extLst>
                  <a:ext uri="{FF2B5EF4-FFF2-40B4-BE49-F238E27FC236}">
                    <a16:creationId xmlns:a16="http://schemas.microsoft.com/office/drawing/2014/main" id="{54E4CE1D-1DF6-C447-A0AF-96DDAC98B654}"/>
                  </a:ext>
                </a:extLst>
              </p:cNvPr>
              <p:cNvGrpSpPr/>
              <p:nvPr/>
            </p:nvGrpSpPr>
            <p:grpSpPr>
              <a:xfrm>
                <a:off x="1624484" y="3733291"/>
                <a:ext cx="253571" cy="242795"/>
                <a:chOff x="86588" y="3051774"/>
                <a:chExt cx="255124" cy="261610"/>
              </a:xfrm>
            </p:grpSpPr>
            <p:sp>
              <p:nvSpPr>
                <p:cNvPr id="222" name="타원 221">
                  <a:extLst>
                    <a:ext uri="{FF2B5EF4-FFF2-40B4-BE49-F238E27FC236}">
                      <a16:creationId xmlns:a16="http://schemas.microsoft.com/office/drawing/2014/main" id="{6B92DCA1-8495-9404-A4C9-F29B0211DFA9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5781D780-4DD3-D349-2483-919475CDAE89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9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CB8EDEDF-C90C-6B09-BAE3-A0F0EC4FE7E3}"/>
                  </a:ext>
                </a:extLst>
              </p:cNvPr>
              <p:cNvGrpSpPr/>
              <p:nvPr/>
            </p:nvGrpSpPr>
            <p:grpSpPr>
              <a:xfrm>
                <a:off x="5921017" y="2277916"/>
                <a:ext cx="253571" cy="242795"/>
                <a:chOff x="86588" y="3051774"/>
                <a:chExt cx="255124" cy="261610"/>
              </a:xfrm>
            </p:grpSpPr>
            <p:sp>
              <p:nvSpPr>
                <p:cNvPr id="220" name="타원 219">
                  <a:extLst>
                    <a:ext uri="{FF2B5EF4-FFF2-40B4-BE49-F238E27FC236}">
                      <a16:creationId xmlns:a16="http://schemas.microsoft.com/office/drawing/2014/main" id="{5936955E-CD90-59BC-3755-59FE6834E1A1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57A57962-F590-F398-A4F2-460353C6ABD0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2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233ECB69-1C37-9510-AB13-D4AA00F55D12}"/>
                  </a:ext>
                </a:extLst>
              </p:cNvPr>
              <p:cNvGrpSpPr/>
              <p:nvPr/>
            </p:nvGrpSpPr>
            <p:grpSpPr>
              <a:xfrm>
                <a:off x="5921017" y="2640127"/>
                <a:ext cx="253571" cy="242795"/>
                <a:chOff x="86588" y="3051774"/>
                <a:chExt cx="255124" cy="261610"/>
              </a:xfrm>
            </p:grpSpPr>
            <p:sp>
              <p:nvSpPr>
                <p:cNvPr id="218" name="타원 217">
                  <a:extLst>
                    <a:ext uri="{FF2B5EF4-FFF2-40B4-BE49-F238E27FC236}">
                      <a16:creationId xmlns:a16="http://schemas.microsoft.com/office/drawing/2014/main" id="{242B233C-76ED-5C06-12EE-D07B457911C9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6EC47374-CBBA-00FD-76E6-613351F34AC0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4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4" name="그룹 193">
                <a:extLst>
                  <a:ext uri="{FF2B5EF4-FFF2-40B4-BE49-F238E27FC236}">
                    <a16:creationId xmlns:a16="http://schemas.microsoft.com/office/drawing/2014/main" id="{01F97DB1-DA7E-8113-83DA-97964586AAC9}"/>
                  </a:ext>
                </a:extLst>
              </p:cNvPr>
              <p:cNvGrpSpPr/>
              <p:nvPr/>
            </p:nvGrpSpPr>
            <p:grpSpPr>
              <a:xfrm>
                <a:off x="5921017" y="3002339"/>
                <a:ext cx="253571" cy="242795"/>
                <a:chOff x="86588" y="3051774"/>
                <a:chExt cx="255124" cy="26161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5F394E05-C0C5-CE15-3D28-1B545E3AAE6B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564582DD-61F2-D8E0-66AC-48253B0C30E4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6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5" name="그룹 194">
                <a:extLst>
                  <a:ext uri="{FF2B5EF4-FFF2-40B4-BE49-F238E27FC236}">
                    <a16:creationId xmlns:a16="http://schemas.microsoft.com/office/drawing/2014/main" id="{877CA85A-63D9-BD3A-0680-F5739E9D7318}"/>
                  </a:ext>
                </a:extLst>
              </p:cNvPr>
              <p:cNvGrpSpPr/>
              <p:nvPr/>
            </p:nvGrpSpPr>
            <p:grpSpPr>
              <a:xfrm>
                <a:off x="5921017" y="3364550"/>
                <a:ext cx="253571" cy="242795"/>
                <a:chOff x="86588" y="3051774"/>
                <a:chExt cx="255124" cy="261610"/>
              </a:xfrm>
            </p:grpSpPr>
            <p:sp>
              <p:nvSpPr>
                <p:cNvPr id="214" name="타원 213">
                  <a:extLst>
                    <a:ext uri="{FF2B5EF4-FFF2-40B4-BE49-F238E27FC236}">
                      <a16:creationId xmlns:a16="http://schemas.microsoft.com/office/drawing/2014/main" id="{5B2330EE-1CE7-FBB5-5CBD-10DB3D1F31A6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FFED7B97-7B2F-CC33-EBA0-845A48EF75B9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8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8E24397C-79CB-F897-BD7F-5F6F9D909CB5}"/>
                  </a:ext>
                </a:extLst>
              </p:cNvPr>
              <p:cNvGrpSpPr/>
              <p:nvPr/>
            </p:nvGrpSpPr>
            <p:grpSpPr>
              <a:xfrm>
                <a:off x="5884433" y="3744092"/>
                <a:ext cx="344259" cy="214231"/>
                <a:chOff x="49780" y="3070447"/>
                <a:chExt cx="346367" cy="230832"/>
              </a:xfrm>
            </p:grpSpPr>
            <p:sp>
              <p:nvSpPr>
                <p:cNvPr id="212" name="타원 211">
                  <a:extLst>
                    <a:ext uri="{FF2B5EF4-FFF2-40B4-BE49-F238E27FC236}">
                      <a16:creationId xmlns:a16="http://schemas.microsoft.com/office/drawing/2014/main" id="{AF014D3C-9B6C-6029-F730-801CE45B36EE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8E131A0B-7333-D417-4CEC-FBBAE2A1D2B2}"/>
                    </a:ext>
                  </a:extLst>
                </p:cNvPr>
                <p:cNvSpPr txBox="1"/>
                <p:nvPr/>
              </p:nvSpPr>
              <p:spPr>
                <a:xfrm>
                  <a:off x="49780" y="3070447"/>
                  <a:ext cx="346367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b="1" dirty="0">
                      <a:solidFill>
                        <a:schemeClr val="bg1"/>
                      </a:solidFill>
                    </a:rPr>
                    <a:t>10</a:t>
                  </a:r>
                  <a:endParaRPr lang="ko-KR" altLang="en-US" sz="9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7" name="그룹 196">
                <a:extLst>
                  <a:ext uri="{FF2B5EF4-FFF2-40B4-BE49-F238E27FC236}">
                    <a16:creationId xmlns:a16="http://schemas.microsoft.com/office/drawing/2014/main" id="{3D24ED81-219A-B0E4-1638-CFE1ABBBEE65}"/>
                  </a:ext>
                </a:extLst>
              </p:cNvPr>
              <p:cNvGrpSpPr/>
              <p:nvPr/>
            </p:nvGrpSpPr>
            <p:grpSpPr>
              <a:xfrm>
                <a:off x="1561905" y="4427846"/>
                <a:ext cx="366487" cy="214231"/>
                <a:chOff x="59019" y="3072160"/>
                <a:chExt cx="368731" cy="230832"/>
              </a:xfrm>
            </p:grpSpPr>
            <p:sp>
              <p:nvSpPr>
                <p:cNvPr id="210" name="타원 209">
                  <a:extLst>
                    <a:ext uri="{FF2B5EF4-FFF2-40B4-BE49-F238E27FC236}">
                      <a16:creationId xmlns:a16="http://schemas.microsoft.com/office/drawing/2014/main" id="{7564BE4C-07C6-D1CE-03DB-45B58735342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96E67079-15B4-6EB6-43CF-C381C0691A44}"/>
                    </a:ext>
                  </a:extLst>
                </p:cNvPr>
                <p:cNvSpPr txBox="1"/>
                <p:nvPr/>
              </p:nvSpPr>
              <p:spPr>
                <a:xfrm>
                  <a:off x="59019" y="3072160"/>
                  <a:ext cx="36873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b="1" dirty="0">
                      <a:solidFill>
                        <a:schemeClr val="bg1"/>
                      </a:solidFill>
                    </a:rPr>
                    <a:t>11</a:t>
                  </a:r>
                  <a:endParaRPr lang="ko-KR" altLang="en-US" sz="9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8" name="그룹 197">
                <a:extLst>
                  <a:ext uri="{FF2B5EF4-FFF2-40B4-BE49-F238E27FC236}">
                    <a16:creationId xmlns:a16="http://schemas.microsoft.com/office/drawing/2014/main" id="{FA2A065B-0199-4656-ED23-5210115BFDEA}"/>
                  </a:ext>
                </a:extLst>
              </p:cNvPr>
              <p:cNvGrpSpPr/>
              <p:nvPr/>
            </p:nvGrpSpPr>
            <p:grpSpPr>
              <a:xfrm>
                <a:off x="1561905" y="4778164"/>
                <a:ext cx="344259" cy="228513"/>
                <a:chOff x="47729" y="3073137"/>
                <a:chExt cx="346367" cy="246221"/>
              </a:xfrm>
            </p:grpSpPr>
            <p:sp>
              <p:nvSpPr>
                <p:cNvPr id="208" name="타원 207">
                  <a:extLst>
                    <a:ext uri="{FF2B5EF4-FFF2-40B4-BE49-F238E27FC236}">
                      <a16:creationId xmlns:a16="http://schemas.microsoft.com/office/drawing/2014/main" id="{56987D29-0ECD-3BFD-BCAF-FC3102758382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02389F1D-013E-B643-9518-811A3A31D00B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12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99" name="그룹 198">
                <a:extLst>
                  <a:ext uri="{FF2B5EF4-FFF2-40B4-BE49-F238E27FC236}">
                    <a16:creationId xmlns:a16="http://schemas.microsoft.com/office/drawing/2014/main" id="{FD43ADE1-DF27-48AE-EC12-3A10E326B91C}"/>
                  </a:ext>
                </a:extLst>
              </p:cNvPr>
              <p:cNvGrpSpPr/>
              <p:nvPr/>
            </p:nvGrpSpPr>
            <p:grpSpPr>
              <a:xfrm>
                <a:off x="1573451" y="5151612"/>
                <a:ext cx="344259" cy="228513"/>
                <a:chOff x="47729" y="3073137"/>
                <a:chExt cx="346367" cy="246221"/>
              </a:xfrm>
            </p:grpSpPr>
            <p:sp>
              <p:nvSpPr>
                <p:cNvPr id="206" name="타원 205">
                  <a:extLst>
                    <a:ext uri="{FF2B5EF4-FFF2-40B4-BE49-F238E27FC236}">
                      <a16:creationId xmlns:a16="http://schemas.microsoft.com/office/drawing/2014/main" id="{B369A267-D664-271E-2D05-30F130312CB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63000F9C-B4BC-03ED-14B3-436D776E9308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13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7DB61F16-B407-4F81-031B-7C3AEA3D586C}"/>
                  </a:ext>
                </a:extLst>
              </p:cNvPr>
              <p:cNvGrpSpPr/>
              <p:nvPr/>
            </p:nvGrpSpPr>
            <p:grpSpPr>
              <a:xfrm>
                <a:off x="4503032" y="6002958"/>
                <a:ext cx="413067" cy="228513"/>
                <a:chOff x="47729" y="3073137"/>
                <a:chExt cx="415596" cy="246221"/>
              </a:xfrm>
            </p:grpSpPr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14367255-1C28-03B5-4F4B-1420AE3BB4A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A208857C-716D-EDFB-3090-45CDABFC77A6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41559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15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C5B8DC21-956E-F6DD-E9F2-0322BF3F5E4E}"/>
                  </a:ext>
                </a:extLst>
              </p:cNvPr>
              <p:cNvGrpSpPr/>
              <p:nvPr/>
            </p:nvGrpSpPr>
            <p:grpSpPr>
              <a:xfrm>
                <a:off x="3700824" y="5985916"/>
                <a:ext cx="344259" cy="228513"/>
                <a:chOff x="47729" y="3073137"/>
                <a:chExt cx="346367" cy="246221"/>
              </a:xfrm>
            </p:grpSpPr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60634FD0-C04A-E610-87F3-BCA50AF519ED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98D712DC-07D3-95F1-6C50-18182AAF660D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14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A7482DB7-E2AE-B34C-FC8B-3DE1E4B86BEF}"/>
                </a:ext>
              </a:extLst>
            </p:cNvPr>
            <p:cNvSpPr/>
            <p:nvPr/>
          </p:nvSpPr>
          <p:spPr>
            <a:xfrm>
              <a:off x="398134" y="1560692"/>
              <a:ext cx="1118546" cy="25845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고객사 관리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AEEE8BF6-0DB8-60E6-01E7-0DDA36503190}"/>
                </a:ext>
              </a:extLst>
            </p:cNvPr>
            <p:cNvSpPr/>
            <p:nvPr/>
          </p:nvSpPr>
          <p:spPr>
            <a:xfrm>
              <a:off x="160545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FE5A9CC-DF60-50EC-71DB-3C06628ACEF7}"/>
                </a:ext>
              </a:extLst>
            </p:cNvPr>
            <p:cNvSpPr/>
            <p:nvPr/>
          </p:nvSpPr>
          <p:spPr>
            <a:xfrm>
              <a:off x="278852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출장규정관리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B1572D1A-9180-F377-2A42-49A4A27DAAE5}"/>
                </a:ext>
              </a:extLst>
            </p:cNvPr>
            <p:cNvSpPr/>
            <p:nvPr/>
          </p:nvSpPr>
          <p:spPr>
            <a:xfrm>
              <a:off x="3986754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2C1AD773-27A6-ECB4-FA7F-17D36278474C}"/>
                </a:ext>
              </a:extLst>
            </p:cNvPr>
            <p:cNvSpPr/>
            <p:nvPr/>
          </p:nvSpPr>
          <p:spPr>
            <a:xfrm>
              <a:off x="5174629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</p:grpSp>
      <p:graphicFrame>
        <p:nvGraphicFramePr>
          <p:cNvPr id="232" name="표 231">
            <a:extLst>
              <a:ext uri="{FF2B5EF4-FFF2-40B4-BE49-F238E27FC236}">
                <a16:creationId xmlns:a16="http://schemas.microsoft.com/office/drawing/2014/main" id="{338BA396-2E75-7EFC-1532-846F7695B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759624"/>
              </p:ext>
            </p:extLst>
          </p:nvPr>
        </p:nvGraphicFramePr>
        <p:xfrm>
          <a:off x="8895426" y="89350"/>
          <a:ext cx="3208784" cy="6284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20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842764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고객사명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이메일 발송 시 노출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구</a:t>
                      </a:r>
                      <a:r>
                        <a:rPr lang="en-US" altLang="ko-KR" sz="900" b="0" dirty="0"/>
                        <a:t>ERP </a:t>
                      </a:r>
                      <a:r>
                        <a:rPr lang="ko-KR" altLang="en-US" sz="900" b="0" dirty="0"/>
                        <a:t>코드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AZONE </a:t>
                      </a:r>
                      <a:r>
                        <a:rPr lang="ko-KR" altLang="en-US" sz="900" b="0" dirty="0"/>
                        <a:t>코드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도메인</a:t>
                      </a:r>
                      <a:r>
                        <a:rPr lang="en-US" altLang="ko-KR" sz="900" b="0" dirty="0"/>
                        <a:t>: @ </a:t>
                      </a:r>
                      <a:r>
                        <a:rPr lang="ko-KR" altLang="en-US" sz="900" b="0" dirty="0"/>
                        <a:t>제외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이메일만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57778"/>
                  </a:ext>
                </a:extLst>
              </a:tr>
              <a:tr h="3633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아이디식별자 </a:t>
                      </a:r>
                      <a:r>
                        <a:rPr lang="en-US" altLang="ko-KR" sz="900" b="0" dirty="0"/>
                        <a:t>: 2-3 </a:t>
                      </a:r>
                      <a:r>
                        <a:rPr lang="ko-KR" altLang="en-US" sz="900" b="0" dirty="0"/>
                        <a:t>자릿수 작성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* </a:t>
                      </a:r>
                      <a:r>
                        <a:rPr lang="ko-KR" altLang="en-US" sz="900" b="0" dirty="0" err="1"/>
                        <a:t>아식스와</a:t>
                      </a:r>
                      <a:r>
                        <a:rPr lang="ko-KR" altLang="en-US" sz="900" b="0" dirty="0"/>
                        <a:t> 같은 경우일 경우 </a:t>
                      </a:r>
                      <a:r>
                        <a:rPr lang="en-US" altLang="ko-KR" sz="900" b="0" dirty="0"/>
                        <a:t>‘,’ </a:t>
                      </a:r>
                      <a:r>
                        <a:rPr lang="ko-KR" altLang="en-US" sz="900" b="0" dirty="0"/>
                        <a:t>로 구분하여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12895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err="1"/>
                        <a:t>backoffice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거래처 생성 후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7284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91360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 기업 할인코드</a:t>
                      </a:r>
                      <a:r>
                        <a:rPr lang="en-US" altLang="ko-KR" sz="900" b="0" dirty="0"/>
                        <a:t> :  ‘,’</a:t>
                      </a:r>
                      <a:r>
                        <a:rPr lang="ko-KR" altLang="en-US" sz="900" b="0" dirty="0"/>
                        <a:t>로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구분하여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0274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9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사용여부 </a:t>
                      </a:r>
                      <a:r>
                        <a:rPr lang="en-US" altLang="ko-KR" sz="900" b="0" dirty="0"/>
                        <a:t>default ‘Y’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29854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10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계열사 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14669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/>
                        <a:t>색상바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초기 로그인 페이지 백그라운드 색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76818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BTMS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URL </a:t>
                      </a:r>
                      <a:r>
                        <a:rPr lang="ko-KR" altLang="en-US" sz="900" b="0" dirty="0"/>
                        <a:t>작성 </a:t>
                      </a:r>
                      <a:r>
                        <a:rPr lang="en-US" altLang="ko-KR" sz="900" b="0" dirty="0"/>
                        <a:t>: https://</a:t>
                      </a:r>
                      <a:r>
                        <a:rPr lang="ko-KR" altLang="en-US" sz="900" b="1" dirty="0"/>
                        <a:t> </a:t>
                      </a:r>
                      <a:r>
                        <a:rPr lang="ko-KR" altLang="en-US" sz="900" b="0" dirty="0"/>
                        <a:t>제외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03263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항공수수료 등 참고 자료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5425"/>
                  </a:ext>
                </a:extLst>
              </a:tr>
              <a:tr h="4996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 </a:t>
                      </a:r>
                      <a:r>
                        <a:rPr lang="ko-KR" altLang="en-US" sz="900" b="0" dirty="0"/>
                        <a:t>창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작성 중인 내용이 저장되지 않습니다</a:t>
                      </a:r>
                      <a:r>
                        <a:rPr lang="en-US" altLang="ko-KR" sz="900" b="0" dirty="0"/>
                        <a:t>.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      </a:t>
                      </a:r>
                      <a:r>
                        <a:rPr lang="ko-KR" altLang="en-US" sz="900" b="0" dirty="0"/>
                        <a:t>목록으로 돌아가시겠습니까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036695"/>
                  </a:ext>
                </a:extLst>
              </a:tr>
              <a:tr h="3633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</a:t>
                      </a:r>
                      <a:r>
                        <a:rPr lang="ko-KR" altLang="en-US" sz="900" b="0" dirty="0"/>
                        <a:t>창 노출</a:t>
                      </a:r>
                      <a:r>
                        <a:rPr lang="en-US" altLang="ko-KR" sz="900" b="0" dirty="0"/>
                        <a:t>,  </a:t>
                      </a:r>
                      <a:r>
                        <a:rPr lang="ko-KR" altLang="en-US" sz="900" b="0" dirty="0"/>
                        <a:t>등록 후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목록 페이지로 전환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등록 하시겠습니까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589451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필수 항목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0" dirty="0"/>
                        <a:t>고객사명</a:t>
                      </a:r>
                      <a:r>
                        <a:rPr lang="en-US" altLang="ko-KR" sz="900" b="0" dirty="0"/>
                        <a:t>/URL/ERP</a:t>
                      </a:r>
                      <a:r>
                        <a:rPr lang="ko-KR" altLang="en-US" sz="900" b="0" dirty="0"/>
                        <a:t>코드</a:t>
                      </a:r>
                      <a:r>
                        <a:rPr lang="en-US" altLang="ko-KR" sz="900" b="0" dirty="0"/>
                        <a:t>/AZONE</a:t>
                      </a:r>
                      <a:r>
                        <a:rPr lang="ko-KR" altLang="en-US" sz="900" b="0" dirty="0"/>
                        <a:t>코드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en-US" altLang="ko-KR" sz="900" b="0" dirty="0" err="1"/>
                        <a:t>backofficeCode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회사이메일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아이디식별자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로고이미지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계열사여부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로그인이미지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배경색상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모든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셀렉트박스는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'Y'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와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'N’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의 두 옵션만 제공합니다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ko-KR" altLang="en-US" sz="900" b="0" dirty="0" err="1">
                          <a:solidFill>
                            <a:srgbClr val="FF0000"/>
                          </a:solidFill>
                        </a:rPr>
                        <a:t>셀렉트박스의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 초기 설정은 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default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값 참고하여 세팅</a:t>
                      </a:r>
                      <a:br>
                        <a:rPr lang="en-US" altLang="ko-KR" sz="900" b="0" dirty="0"/>
                      </a:b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233" name="직사각형 232">
            <a:extLst>
              <a:ext uri="{FF2B5EF4-FFF2-40B4-BE49-F238E27FC236}">
                <a16:creationId xmlns:a16="http://schemas.microsoft.com/office/drawing/2014/main" id="{3040A19A-271B-0018-E50B-9D40EA267979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pic>
        <p:nvPicPr>
          <p:cNvPr id="4" name="그래픽 3" descr="위쪽 캐럿 단색으로 채워진">
            <a:extLst>
              <a:ext uri="{FF2B5EF4-FFF2-40B4-BE49-F238E27FC236}">
                <a16:creationId xmlns:a16="http://schemas.microsoft.com/office/drawing/2014/main" id="{097FB42F-6B42-F7FB-6675-96BD991B8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23803" y="3525482"/>
            <a:ext cx="277000" cy="277000"/>
          </a:xfrm>
          <a:prstGeom prst="rect">
            <a:avLst/>
          </a:prstGeom>
        </p:spPr>
      </p:pic>
      <p:pic>
        <p:nvPicPr>
          <p:cNvPr id="5" name="그래픽 4" descr="위쪽 캐럿 단색으로 채워진">
            <a:extLst>
              <a:ext uri="{FF2B5EF4-FFF2-40B4-BE49-F238E27FC236}">
                <a16:creationId xmlns:a16="http://schemas.microsoft.com/office/drawing/2014/main" id="{77B7E581-3B8A-EE68-CAE9-178C66349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516046" y="3911386"/>
            <a:ext cx="277000" cy="277000"/>
          </a:xfrm>
          <a:prstGeom prst="rect">
            <a:avLst/>
          </a:prstGeom>
        </p:spPr>
      </p:pic>
      <p:pic>
        <p:nvPicPr>
          <p:cNvPr id="6" name="그래픽 5" descr="위쪽 캐럿 단색으로 채워진">
            <a:extLst>
              <a:ext uri="{FF2B5EF4-FFF2-40B4-BE49-F238E27FC236}">
                <a16:creationId xmlns:a16="http://schemas.microsoft.com/office/drawing/2014/main" id="{A5FB59A5-DD04-BFC3-C680-70E6F57E0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936820" y="3937445"/>
            <a:ext cx="277000" cy="2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126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DF7F-C488-19C2-32B0-48DF624C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1038544-BF2B-489D-8615-3D1A5CE1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D89A75-CAB3-3470-8896-DC27771C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B7A1BA-142E-08FD-1669-155ABEF6EEA3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고객사 수정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2AD3D0-403F-30AF-2F84-0ADFA1AA4F2F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고객사 수정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1F6FBD7-D9E1-9D99-243B-F1C734BAF2C8}"/>
              </a:ext>
            </a:extLst>
          </p:cNvPr>
          <p:cNvGrpSpPr/>
          <p:nvPr/>
        </p:nvGrpSpPr>
        <p:grpSpPr>
          <a:xfrm>
            <a:off x="163903" y="737980"/>
            <a:ext cx="8583282" cy="5763487"/>
            <a:chOff x="387243" y="963934"/>
            <a:chExt cx="8215219" cy="537448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1247681-16E1-AA5C-E0CC-088A0A270802}"/>
                </a:ext>
              </a:extLst>
            </p:cNvPr>
            <p:cNvSpPr/>
            <p:nvPr/>
          </p:nvSpPr>
          <p:spPr>
            <a:xfrm>
              <a:off x="398134" y="963934"/>
              <a:ext cx="868241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0BEAAA4-1392-1242-1B50-F46DAF0DA33E}"/>
                </a:ext>
              </a:extLst>
            </p:cNvPr>
            <p:cNvSpPr/>
            <p:nvPr/>
          </p:nvSpPr>
          <p:spPr>
            <a:xfrm>
              <a:off x="7198844" y="963934"/>
              <a:ext cx="1403618" cy="419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573594E-E1A9-96CA-4E5F-BAFAB44716C4}"/>
                </a:ext>
              </a:extLst>
            </p:cNvPr>
            <p:cNvSpPr/>
            <p:nvPr/>
          </p:nvSpPr>
          <p:spPr>
            <a:xfrm>
              <a:off x="387243" y="1961522"/>
              <a:ext cx="1242178" cy="2804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고객사 수정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6E41D0C-0B49-5C8F-A10C-7204EDFF8DCD}"/>
                </a:ext>
              </a:extLst>
            </p:cNvPr>
            <p:cNvGrpSpPr/>
            <p:nvPr/>
          </p:nvGrpSpPr>
          <p:grpSpPr>
            <a:xfrm>
              <a:off x="398133" y="2345611"/>
              <a:ext cx="8108303" cy="3992811"/>
              <a:chOff x="372389" y="2236251"/>
              <a:chExt cx="8134048" cy="4102172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0CDAC8A-18DC-94B0-40E6-5A802D36B350}"/>
                  </a:ext>
                </a:extLst>
              </p:cNvPr>
              <p:cNvSpPr/>
              <p:nvPr/>
            </p:nvSpPr>
            <p:spPr>
              <a:xfrm>
                <a:off x="4709306" y="6100841"/>
                <a:ext cx="531691" cy="2375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수정</a:t>
                </a:r>
              </a:p>
            </p:txBody>
          </p: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DE7681C3-B5BD-5E4D-3C2F-41F7EE2FE594}"/>
                  </a:ext>
                </a:extLst>
              </p:cNvPr>
              <p:cNvCxnSpPr/>
              <p:nvPr/>
            </p:nvCxnSpPr>
            <p:spPr>
              <a:xfrm>
                <a:off x="435689" y="2236251"/>
                <a:ext cx="807074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0EC55DE1-4DD2-F021-71FE-F54175B093AE}"/>
                  </a:ext>
                </a:extLst>
              </p:cNvPr>
              <p:cNvSpPr/>
              <p:nvPr/>
            </p:nvSpPr>
            <p:spPr>
              <a:xfrm>
                <a:off x="372389" y="3084391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아이디 식별자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2845F380-6C9D-9496-8C50-8679D19097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2389" y="2386156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고객사명</a:t>
                </a:r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179B4BA8-BCAD-CDB9-D985-1912A84B41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2389" y="2735274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AZONE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76BD2D3E-9BD3-4484-F5E5-6F29A40D6D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2389" y="3782626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호텔 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셀프예약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3888AC55-0D43-7C99-6A0E-B80FB1D447AD}"/>
                  </a:ext>
                </a:extLst>
              </p:cNvPr>
              <p:cNvSpPr/>
              <p:nvPr/>
            </p:nvSpPr>
            <p:spPr>
              <a:xfrm>
                <a:off x="372389" y="4131743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로고 이미지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F5897D91-F663-90D6-64CC-57EC3479D39F}"/>
                  </a:ext>
                </a:extLst>
              </p:cNvPr>
              <p:cNvSpPr/>
              <p:nvPr/>
            </p:nvSpPr>
            <p:spPr>
              <a:xfrm>
                <a:off x="372389" y="4480861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배경 색상</a:t>
                </a: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BE8BA41-2E20-E02A-D379-B1CF13C1A7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4535" y="2383494"/>
                <a:ext cx="2048713" cy="24192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49394D7F-9DCA-9D16-87D6-29C5A48BD5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2238" y="4167671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40BD4BD-766C-89DD-70F8-C704617547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67899" y="4525679"/>
                <a:ext cx="6348436" cy="202702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545657D-B44B-FEDE-4567-F6E56AAE36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2238" y="3813467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Y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68054349-69CA-59D2-9249-F303C25ECF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3125270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Backoffice Code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7E5EFF38-96D6-5CC8-81E3-E9741CFC819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2400829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ERP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코드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15854E3-3C85-C174-168A-A9D2176374D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2763050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회사 도메인</a:t>
                </a: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15ED74D-4B3E-D96F-EAE0-993AB711CC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3849711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</a:rPr>
                  <a:t>계열사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7AB6127-6BAF-B0DC-B899-6CC78ABC32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3487490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기업 할인코드</a:t>
                </a: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EC1F1CB-43E9-A833-6F61-F5839EE9DE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2726" y="4211933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>
                    <a:solidFill>
                      <a:schemeClr val="tx1"/>
                    </a:solidFill>
                  </a:rPr>
                  <a:t>배경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BE6DE3D9-37D7-8344-68BA-BA4EB09C4F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8569" y="2450595"/>
                <a:ext cx="2048713" cy="24192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CORP20240605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7A003827-B09E-43A0-6771-1B9DFCB4B7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6272" y="3494904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9C20BB6D-EB28-47E8-552A-26ED66742B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6272" y="4182345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파일 선택</a:t>
                </a: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21E1956-0DC0-3F27-3468-174C001427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66272" y="3838624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73A4F2ED-FD23-0B2D-B088-A6A291D8E506}"/>
                  </a:ext>
                </a:extLst>
              </p:cNvPr>
              <p:cNvSpPr/>
              <p:nvPr/>
            </p:nvSpPr>
            <p:spPr>
              <a:xfrm>
                <a:off x="372389" y="3433509"/>
                <a:ext cx="1181679" cy="2419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COSTCENTER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52DF1237-0BCE-08D4-B47A-AB28682AE9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92238" y="3459260"/>
                <a:ext cx="2053306" cy="22877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N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31DD3BE-D361-2E65-CFEA-F7E62D475948}"/>
                  </a:ext>
                </a:extLst>
              </p:cNvPr>
              <p:cNvSpPr/>
              <p:nvPr/>
            </p:nvSpPr>
            <p:spPr>
              <a:xfrm>
                <a:off x="3903433" y="6100842"/>
                <a:ext cx="531691" cy="23758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목록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943A9607-E2C9-78C7-A481-7B5BFC0400E3}"/>
                  </a:ext>
                </a:extLst>
              </p:cNvPr>
              <p:cNvSpPr/>
              <p:nvPr/>
            </p:nvSpPr>
            <p:spPr>
              <a:xfrm>
                <a:off x="372389" y="5235839"/>
                <a:ext cx="1181679" cy="2986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비고</a:t>
                </a: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1E3F8539-2731-5922-F07E-4C4770F96F6B}"/>
                  </a:ext>
                </a:extLst>
              </p:cNvPr>
              <p:cNvSpPr/>
              <p:nvPr/>
            </p:nvSpPr>
            <p:spPr>
              <a:xfrm>
                <a:off x="372389" y="4829978"/>
                <a:ext cx="1181679" cy="2986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URL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AAA4CDF2-95DA-A71F-4C6C-4EBF7C19A6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67899" y="5246561"/>
                <a:ext cx="6348437" cy="68110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4CCBD849-1D46-E31C-A704-3AA3CE91EC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67899" y="4835759"/>
                <a:ext cx="6348437" cy="2986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1000" dirty="0">
                    <a:solidFill>
                      <a:schemeClr val="bg1">
                        <a:lumMod val="50000"/>
                      </a:schemeClr>
                    </a:solidFill>
                  </a:rPr>
                  <a:t>btms.smtowntravel.com</a:t>
                </a:r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14BB0E66-B079-0679-52A2-8C833B90AA43}"/>
                  </a:ext>
                </a:extLst>
              </p:cNvPr>
              <p:cNvGrpSpPr/>
              <p:nvPr/>
            </p:nvGrpSpPr>
            <p:grpSpPr>
              <a:xfrm>
                <a:off x="1669754" y="3366566"/>
                <a:ext cx="251903" cy="242508"/>
                <a:chOff x="86588" y="3051774"/>
                <a:chExt cx="255124" cy="261610"/>
              </a:xfrm>
            </p:grpSpPr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9E892117-BA92-6D55-9EC0-C9D9CE9DAEBD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424E71D1-FF9B-6B70-FA49-D8A333BDAF61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2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15766512-8462-BBD6-3EC2-283EBCCD8B53}"/>
                  </a:ext>
                </a:extLst>
              </p:cNvPr>
              <p:cNvGrpSpPr/>
              <p:nvPr/>
            </p:nvGrpSpPr>
            <p:grpSpPr>
              <a:xfrm>
                <a:off x="1669754" y="3744150"/>
                <a:ext cx="251903" cy="242508"/>
                <a:chOff x="86588" y="3060163"/>
                <a:chExt cx="255124" cy="261610"/>
              </a:xfrm>
            </p:grpSpPr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F52C7E19-4460-5670-9A9A-28E15C962DC5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0BF7DCAC-1A67-B25B-07B5-E7188BEDCE96}"/>
                    </a:ext>
                  </a:extLst>
                </p:cNvPr>
                <p:cNvSpPr txBox="1"/>
                <p:nvPr/>
              </p:nvSpPr>
              <p:spPr>
                <a:xfrm>
                  <a:off x="86588" y="3060163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4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284F988C-C5EA-9A59-0D43-4E7CB9F19FF6}"/>
                  </a:ext>
                </a:extLst>
              </p:cNvPr>
              <p:cNvGrpSpPr/>
              <p:nvPr/>
            </p:nvGrpSpPr>
            <p:grpSpPr>
              <a:xfrm>
                <a:off x="5938024" y="3368069"/>
                <a:ext cx="251903" cy="242508"/>
                <a:chOff x="86588" y="3051774"/>
                <a:chExt cx="255124" cy="261610"/>
              </a:xfrm>
            </p:grpSpPr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76FC659C-EDF4-A219-101F-D6EECF0FFD30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6E95735-1949-3B6D-BE25-033F34ABCE45}"/>
                    </a:ext>
                  </a:extLst>
                </p:cNvPr>
                <p:cNvSpPr txBox="1"/>
                <p:nvPr/>
              </p:nvSpPr>
              <p:spPr>
                <a:xfrm>
                  <a:off x="86588" y="3051774"/>
                  <a:ext cx="25512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3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ACC5F0DC-51D9-C8CA-D1F8-5017C1374BBE}"/>
                  </a:ext>
                </a:extLst>
              </p:cNvPr>
              <p:cNvGrpSpPr/>
              <p:nvPr/>
            </p:nvGrpSpPr>
            <p:grpSpPr>
              <a:xfrm>
                <a:off x="5938023" y="3747161"/>
                <a:ext cx="305651" cy="242508"/>
                <a:chOff x="86587" y="3070447"/>
                <a:chExt cx="309559" cy="261610"/>
              </a:xfrm>
            </p:grpSpPr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5EA47D79-F02B-4BA6-9E29-DE257A0433D2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759B0F94-3551-AA09-5E06-0AFE78BEEA45}"/>
                    </a:ext>
                  </a:extLst>
                </p:cNvPr>
                <p:cNvSpPr txBox="1"/>
                <p:nvPr/>
              </p:nvSpPr>
              <p:spPr>
                <a:xfrm>
                  <a:off x="86587" y="3070447"/>
                  <a:ext cx="30955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100" b="1" dirty="0">
                      <a:solidFill>
                        <a:schemeClr val="bg1"/>
                      </a:solidFill>
                    </a:rPr>
                    <a:t>5</a:t>
                  </a:r>
                  <a:endParaRPr lang="ko-KR" altLang="en-US" sz="11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827B14D5-1BCC-1709-9A14-4FA6A03CBA5D}"/>
                  </a:ext>
                </a:extLst>
              </p:cNvPr>
              <p:cNvGrpSpPr/>
              <p:nvPr/>
            </p:nvGrpSpPr>
            <p:grpSpPr>
              <a:xfrm>
                <a:off x="1607587" y="4430106"/>
                <a:ext cx="364076" cy="213977"/>
                <a:chOff x="59019" y="3072160"/>
                <a:chExt cx="368731" cy="230832"/>
              </a:xfrm>
            </p:grpSpPr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9CE4E308-B1DB-BEA7-54C3-FC55CB360BA1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866B940-47C6-4866-1A6B-BF9B61B57E26}"/>
                    </a:ext>
                  </a:extLst>
                </p:cNvPr>
                <p:cNvSpPr txBox="1"/>
                <p:nvPr/>
              </p:nvSpPr>
              <p:spPr>
                <a:xfrm>
                  <a:off x="59019" y="3072160"/>
                  <a:ext cx="368731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900" b="1" dirty="0">
                      <a:solidFill>
                        <a:schemeClr val="bg1"/>
                      </a:solidFill>
                    </a:rPr>
                    <a:t> 6</a:t>
                  </a:r>
                  <a:endParaRPr lang="ko-KR" altLang="en-US" sz="9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63E5CDDB-98A1-2530-4FD7-1217A495DF17}"/>
                  </a:ext>
                </a:extLst>
              </p:cNvPr>
              <p:cNvGrpSpPr/>
              <p:nvPr/>
            </p:nvGrpSpPr>
            <p:grpSpPr>
              <a:xfrm>
                <a:off x="1619058" y="5153016"/>
                <a:ext cx="341994" cy="228243"/>
                <a:chOff x="47729" y="3073137"/>
                <a:chExt cx="346367" cy="246221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8782CB70-B8AD-EC04-982A-F05FA9950A44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CCE2222-4DA1-E3B2-9AD5-F6D945856092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 7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5853528A-8264-0CED-6572-C14985BD4FAA}"/>
                  </a:ext>
                </a:extLst>
              </p:cNvPr>
              <p:cNvGrpSpPr/>
              <p:nvPr/>
            </p:nvGrpSpPr>
            <p:grpSpPr>
              <a:xfrm>
                <a:off x="4529367" y="6003354"/>
                <a:ext cx="410349" cy="228243"/>
                <a:chOff x="47729" y="3073137"/>
                <a:chExt cx="415596" cy="246221"/>
              </a:xfrm>
            </p:grpSpPr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6CA59A1E-389B-33DA-E6D4-D0D9F00DDB12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A84265E4-369C-EEA7-A226-E32D238BC791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41559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 9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A2A26D5C-F0B7-69DC-1625-705399A9FF21}"/>
                  </a:ext>
                </a:extLst>
              </p:cNvPr>
              <p:cNvGrpSpPr/>
              <p:nvPr/>
            </p:nvGrpSpPr>
            <p:grpSpPr>
              <a:xfrm>
                <a:off x="3732436" y="5986332"/>
                <a:ext cx="341994" cy="228243"/>
                <a:chOff x="47729" y="3073137"/>
                <a:chExt cx="346367" cy="246221"/>
              </a:xfrm>
            </p:grpSpPr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E96D5CCF-A167-C96A-C52D-9A8400C69E3A}"/>
                    </a:ext>
                  </a:extLst>
                </p:cNvPr>
                <p:cNvSpPr/>
                <p:nvPr/>
              </p:nvSpPr>
              <p:spPr>
                <a:xfrm>
                  <a:off x="130224" y="3094974"/>
                  <a:ext cx="180677" cy="20049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b="1" dirty="0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3B344481-5BD9-88F5-5F0D-795AD2CAE60B}"/>
                    </a:ext>
                  </a:extLst>
                </p:cNvPr>
                <p:cNvSpPr txBox="1"/>
                <p:nvPr/>
              </p:nvSpPr>
              <p:spPr>
                <a:xfrm>
                  <a:off x="47729" y="3073137"/>
                  <a:ext cx="34636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00" b="1" dirty="0">
                      <a:solidFill>
                        <a:schemeClr val="bg1"/>
                      </a:solidFill>
                    </a:rPr>
                    <a:t> 8</a:t>
                  </a:r>
                  <a:endParaRPr lang="ko-KR" altLang="en-US" sz="1000" b="1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B2235461-2636-6538-4D01-734B8BF72ACF}"/>
                  </a:ext>
                </a:extLst>
              </p:cNvPr>
              <p:cNvSpPr/>
              <p:nvPr/>
            </p:nvSpPr>
            <p:spPr>
              <a:xfrm>
                <a:off x="1692655" y="2300371"/>
                <a:ext cx="177739" cy="16401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/>
                  <a:t>1</a:t>
                </a:r>
                <a:endParaRPr lang="ko-KR" altLang="en-US" sz="1100" b="1" dirty="0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101E8B7-0ACE-25A5-41E8-AFE61A1DA57D}"/>
                </a:ext>
              </a:extLst>
            </p:cNvPr>
            <p:cNvSpPr/>
            <p:nvPr/>
          </p:nvSpPr>
          <p:spPr>
            <a:xfrm>
              <a:off x="398134" y="1560692"/>
              <a:ext cx="1118546" cy="25845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고객사 관리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CAB70FD-42BC-1A62-22F0-499D74E024F4}"/>
                </a:ext>
              </a:extLst>
            </p:cNvPr>
            <p:cNvSpPr/>
            <p:nvPr/>
          </p:nvSpPr>
          <p:spPr>
            <a:xfrm>
              <a:off x="160545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71FEEF8-B878-6583-E0A1-5681389DF4E1}"/>
                </a:ext>
              </a:extLst>
            </p:cNvPr>
            <p:cNvSpPr/>
            <p:nvPr/>
          </p:nvSpPr>
          <p:spPr>
            <a:xfrm>
              <a:off x="2788526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출장규정관리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1942DD4-FFCE-4E03-FD7F-52E5FAA76E57}"/>
                </a:ext>
              </a:extLst>
            </p:cNvPr>
            <p:cNvSpPr/>
            <p:nvPr/>
          </p:nvSpPr>
          <p:spPr>
            <a:xfrm>
              <a:off x="3986754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2D69FA9-15A4-5780-55CB-1347256E3035}"/>
                </a:ext>
              </a:extLst>
            </p:cNvPr>
            <p:cNvSpPr/>
            <p:nvPr/>
          </p:nvSpPr>
          <p:spPr>
            <a:xfrm>
              <a:off x="5174629" y="1560692"/>
              <a:ext cx="1118546" cy="25845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1158504-0820-9B6E-ADCB-92E5ACEAA3BF}"/>
                </a:ext>
              </a:extLst>
            </p:cNvPr>
            <p:cNvSpPr>
              <a:spLocks/>
            </p:cNvSpPr>
            <p:nvPr/>
          </p:nvSpPr>
          <p:spPr>
            <a:xfrm>
              <a:off x="1823256" y="2822800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BTMSHOTEL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543AAB8-EB99-8DB1-CA50-64C3E814BD86}"/>
                </a:ext>
              </a:extLst>
            </p:cNvPr>
            <p:cNvSpPr>
              <a:spLocks/>
            </p:cNvSpPr>
            <p:nvPr/>
          </p:nvSpPr>
          <p:spPr>
            <a:xfrm>
              <a:off x="1785510" y="3167421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BTMS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90C6408-9540-ED66-8253-8B25F0F36DA8}"/>
                </a:ext>
              </a:extLst>
            </p:cNvPr>
            <p:cNvSpPr>
              <a:spLocks/>
            </p:cNvSpPr>
            <p:nvPr/>
          </p:nvSpPr>
          <p:spPr>
            <a:xfrm>
              <a:off x="6071705" y="2858248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smtown.com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03050A7-7A3A-709B-FF7F-25ED74BDE29C}"/>
                </a:ext>
              </a:extLst>
            </p:cNvPr>
            <p:cNvSpPr>
              <a:spLocks/>
            </p:cNvSpPr>
            <p:nvPr/>
          </p:nvSpPr>
          <p:spPr>
            <a:xfrm>
              <a:off x="6071704" y="3201367"/>
              <a:ext cx="2042229" cy="235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OBT001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FD099C5E-F6A3-885E-BCF9-1C09231A0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925142"/>
              </p:ext>
            </p:extLst>
          </p:nvPr>
        </p:nvGraphicFramePr>
        <p:xfrm>
          <a:off x="8913072" y="89350"/>
          <a:ext cx="3208784" cy="5488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20">
                  <a:extLst>
                    <a:ext uri="{9D8B030D-6E8A-4147-A177-3AD203B41FA5}">
                      <a16:colId xmlns:a16="http://schemas.microsoft.com/office/drawing/2014/main" val="3106938995"/>
                    </a:ext>
                  </a:extLst>
                </a:gridCol>
                <a:gridCol w="2842764">
                  <a:extLst>
                    <a:ext uri="{9D8B030D-6E8A-4147-A177-3AD203B41FA5}">
                      <a16:colId xmlns:a16="http://schemas.microsoft.com/office/drawing/2014/main" val="1390605019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85852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고객사명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이메일 발송 시 노출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39939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96935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 기업 할인코드</a:t>
                      </a:r>
                      <a:r>
                        <a:rPr lang="en-US" altLang="ko-KR" sz="900" b="0" dirty="0"/>
                        <a:t> :  ‘,’</a:t>
                      </a:r>
                      <a:r>
                        <a:rPr lang="ko-KR" altLang="en-US" sz="900" b="0" dirty="0"/>
                        <a:t>로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구분하여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75615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사용여부 </a:t>
                      </a:r>
                      <a:r>
                        <a:rPr lang="en-US" altLang="ko-KR" sz="900" b="0" dirty="0"/>
                        <a:t>default ‘Y’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305050"/>
                  </a:ext>
                </a:extLst>
              </a:tr>
              <a:tr h="285326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계열사 사용여부 </a:t>
                      </a:r>
                      <a:r>
                        <a:rPr lang="en-US" altLang="ko-KR" sz="900" b="0" dirty="0"/>
                        <a:t>default ‘N’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22717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초기 로그인 페이지 백그라운드 색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06378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항공수수료 등 참고 자료 작성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02988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 </a:t>
                      </a:r>
                      <a:r>
                        <a:rPr lang="ko-KR" altLang="en-US" sz="900" b="0" dirty="0"/>
                        <a:t>창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작성 중인 내용이 저장되지 않습니다</a:t>
                      </a:r>
                      <a:r>
                        <a:rPr lang="en-US" altLang="ko-KR" sz="900" b="0" dirty="0"/>
                        <a:t>.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      </a:t>
                      </a:r>
                      <a:r>
                        <a:rPr lang="ko-KR" altLang="en-US" sz="900" b="0" dirty="0"/>
                        <a:t>목록으로 돌아가시겠습니까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44777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</a:t>
                      </a:r>
                      <a:r>
                        <a:rPr lang="en-US" altLang="ko-KR" sz="900" b="0" dirty="0"/>
                        <a:t>alert</a:t>
                      </a:r>
                      <a:r>
                        <a:rPr lang="ko-KR" altLang="en-US" sz="900" b="0" dirty="0"/>
                        <a:t>창 노출</a:t>
                      </a:r>
                      <a:r>
                        <a:rPr lang="en-US" altLang="ko-KR" sz="900" b="0" dirty="0"/>
                        <a:t>,  </a:t>
                      </a:r>
                      <a:r>
                        <a:rPr lang="ko-KR" altLang="en-US" sz="900" b="0" dirty="0"/>
                        <a:t>수정 후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목록 페이지로 전환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수정 하시겠습니까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461028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87668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수정 가능 항목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0" dirty="0"/>
                        <a:t>고객사명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en-US" altLang="ko-KR" sz="900" b="0" dirty="0" err="1"/>
                        <a:t>costcenter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계열사여부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기업할인코드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로그인이미지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로고이미지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배경색상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비고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코드 및 </a:t>
                      </a:r>
                      <a:r>
                        <a:rPr lang="en-US" altLang="ko-KR" sz="900" b="0" dirty="0"/>
                        <a:t>URL</a:t>
                      </a:r>
                      <a:r>
                        <a:rPr lang="ko-KR" altLang="en-US" sz="900" b="0" dirty="0"/>
                        <a:t>의 경우 변경 시</a:t>
                      </a:r>
                      <a:r>
                        <a:rPr lang="en-US" altLang="ko-KR" sz="900" b="0" dirty="0"/>
                        <a:t>, 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기존 데이터를 못 가져올 수 있기 </a:t>
                      </a:r>
                      <a:r>
                        <a:rPr lang="ko-KR" altLang="en-US" sz="900" b="0" dirty="0" err="1"/>
                        <a:t>떄문에</a:t>
                      </a:r>
                      <a:r>
                        <a:rPr lang="ko-KR" altLang="en-US" sz="900" b="0" dirty="0"/>
                        <a:t> 변경 불가함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모든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셀렉트박스는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'Y'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와 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'N’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의 두 옵션만 제공합니다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ko-KR" altLang="en-US" sz="900" b="0" dirty="0" err="1">
                          <a:solidFill>
                            <a:srgbClr val="FF0000"/>
                          </a:solidFill>
                        </a:rPr>
                        <a:t>셀렉트박스의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 초기 설정은 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default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값 참고하여 세팅</a:t>
                      </a:r>
                      <a:br>
                        <a:rPr lang="en-US" altLang="ko-KR" sz="900" b="0" dirty="0"/>
                      </a:b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15584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C1650B1A-B7DF-6460-2D58-69246AC32C29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pic>
        <p:nvPicPr>
          <p:cNvPr id="6" name="그래픽 5" descr="위쪽 캐럿 단색으로 채워진">
            <a:extLst>
              <a:ext uri="{FF2B5EF4-FFF2-40B4-BE49-F238E27FC236}">
                <a16:creationId xmlns:a16="http://schemas.microsoft.com/office/drawing/2014/main" id="{866BCD42-64D1-1556-3502-FAD5B054F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72047" y="3465100"/>
            <a:ext cx="277000" cy="277000"/>
          </a:xfrm>
          <a:prstGeom prst="rect">
            <a:avLst/>
          </a:prstGeom>
        </p:spPr>
      </p:pic>
      <p:pic>
        <p:nvPicPr>
          <p:cNvPr id="80" name="그래픽 79" descr="위쪽 캐럿 단색으로 채워진">
            <a:extLst>
              <a:ext uri="{FF2B5EF4-FFF2-40B4-BE49-F238E27FC236}">
                <a16:creationId xmlns:a16="http://schemas.microsoft.com/office/drawing/2014/main" id="{A73A634A-4AF0-9A84-93EB-36AE9B14E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481542" y="3833752"/>
            <a:ext cx="277000" cy="277000"/>
          </a:xfrm>
          <a:prstGeom prst="rect">
            <a:avLst/>
          </a:prstGeom>
        </p:spPr>
      </p:pic>
      <p:pic>
        <p:nvPicPr>
          <p:cNvPr id="81" name="그래픽 80" descr="위쪽 캐럿 단색으로 채워진">
            <a:extLst>
              <a:ext uri="{FF2B5EF4-FFF2-40B4-BE49-F238E27FC236}">
                <a16:creationId xmlns:a16="http://schemas.microsoft.com/office/drawing/2014/main" id="{A9AAF087-1B7F-B0E5-F1FB-450581253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945446" y="3851185"/>
            <a:ext cx="277000" cy="2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9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6C38-21AE-2C92-72A7-E2D21282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9046CB9-FEDF-80E1-3A13-D8B248F7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10D20A-E910-0D6D-FA03-3564618E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BCA3FB-7C65-E05D-A868-A8CA9F77D7D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 err="1"/>
              <a:t>전담팀</a:t>
            </a:r>
            <a:r>
              <a:rPr lang="ko-KR" altLang="en-US" sz="1000" b="1" dirty="0"/>
              <a:t>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44DE24-74A7-1561-5068-9CA99D68A066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관리</a:t>
            </a: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542EB9FB-D29D-2845-397F-80ED03A79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034014"/>
              </p:ext>
            </p:extLst>
          </p:nvPr>
        </p:nvGraphicFramePr>
        <p:xfrm>
          <a:off x="8903862" y="89351"/>
          <a:ext cx="3208784" cy="3739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대표자 및 메일을 설정 할 수 있는 페이지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항공 대표 </a:t>
                      </a:r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정보 작성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각 업무별 수신 받을 </a:t>
                      </a:r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메일 설정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95037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 로우 생성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5</a:t>
                      </a:r>
                      <a:r>
                        <a:rPr lang="ko-KR" altLang="en-US" sz="900" b="0" dirty="0"/>
                        <a:t>개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98447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로우 삭제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4385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alert</a:t>
                      </a:r>
                      <a:r>
                        <a:rPr lang="ko-KR" altLang="en-US" sz="900" b="0" dirty="0"/>
                        <a:t> 후 저장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dirty="0"/>
                        <a:t>설정을 저장하시겠습니까</a:t>
                      </a:r>
                      <a:r>
                        <a:rPr lang="en-US" altLang="ko-KR" sz="900" dirty="0"/>
                        <a:t>?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저장 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즉시 메일 발송에 반영됩니다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40492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고객사 리스트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선택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고객사에 해당하는 메일정보가 하단에 실시간 노출 되도록 함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654822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err="1"/>
                        <a:t>전담팀</a:t>
                      </a:r>
                      <a:r>
                        <a:rPr lang="ko-KR" altLang="en-US" sz="900" b="1" dirty="0"/>
                        <a:t> 메일은 각 업무별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항공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호텔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영업</a:t>
                      </a:r>
                      <a:r>
                        <a:rPr lang="en-US" altLang="ko-KR" sz="900" b="1" dirty="0"/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최소 </a:t>
                      </a:r>
                      <a:r>
                        <a:rPr lang="ko-KR" altLang="en-US" sz="900" b="1" dirty="0" err="1"/>
                        <a:t>한명</a:t>
                      </a:r>
                      <a:r>
                        <a:rPr lang="ko-KR" altLang="en-US" sz="900" b="1" dirty="0"/>
                        <a:t> 이상은 있어야 등록 가능하도록 함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기능은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Standard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버전에서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IT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개발운영팀 관리자 권한에만 노출되며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그 외 권한 사용자에게는 본인 고객사 정보만 조회 가능하도록 구현되어 있습니다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845E3FC-280A-B15F-06B9-663979F12FF1}"/>
              </a:ext>
            </a:extLst>
          </p:cNvPr>
          <p:cNvSpPr/>
          <p:nvPr/>
        </p:nvSpPr>
        <p:spPr>
          <a:xfrm>
            <a:off x="261455" y="2339189"/>
            <a:ext cx="8429545" cy="7803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300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항공 대표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정보</a:t>
            </a:r>
            <a:endParaRPr lang="en-US" altLang="ko-KR" sz="1000" b="1" dirty="0">
              <a:solidFill>
                <a:schemeClr val="tx1"/>
              </a:solidFill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AB43A00A-96BB-017D-71FA-CB97A07820EA}"/>
              </a:ext>
            </a:extLst>
          </p:cNvPr>
          <p:cNvSpPr/>
          <p:nvPr/>
        </p:nvSpPr>
        <p:spPr>
          <a:xfrm>
            <a:off x="261455" y="662552"/>
            <a:ext cx="899847" cy="447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5F98FE67-7DCF-2227-1DDE-0307C0AE22F6}"/>
              </a:ext>
            </a:extLst>
          </p:cNvPr>
          <p:cNvSpPr/>
          <p:nvPr/>
        </p:nvSpPr>
        <p:spPr>
          <a:xfrm>
            <a:off x="7309725" y="662552"/>
            <a:ext cx="1454713" cy="447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E76493F-F535-8553-272B-B225F68F1EBA}"/>
              </a:ext>
            </a:extLst>
          </p:cNvPr>
          <p:cNvSpPr/>
          <p:nvPr/>
        </p:nvSpPr>
        <p:spPr>
          <a:xfrm>
            <a:off x="225330" y="1672107"/>
            <a:ext cx="1431926" cy="4474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400" b="1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A615A5A-EBEF-B9F0-43E2-C6052CD6D450}"/>
              </a:ext>
            </a:extLst>
          </p:cNvPr>
          <p:cNvSpPr/>
          <p:nvPr/>
        </p:nvSpPr>
        <p:spPr>
          <a:xfrm>
            <a:off x="261455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56130BD-B822-9EBA-91ED-6D4C8AC63643}"/>
              </a:ext>
            </a:extLst>
          </p:cNvPr>
          <p:cNvSpPr/>
          <p:nvPr/>
        </p:nvSpPr>
        <p:spPr>
          <a:xfrm>
            <a:off x="1512726" y="1299662"/>
            <a:ext cx="1159263" cy="27593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</a:rPr>
              <a:t>전담팀</a:t>
            </a:r>
            <a:r>
              <a:rPr lang="ko-KR" altLang="en-US" sz="1000" dirty="0">
                <a:solidFill>
                  <a:schemeClr val="bg1"/>
                </a:solidFill>
              </a:rPr>
              <a:t> 관리</a:t>
            </a: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8225B80C-34B0-CE5B-A454-2F6D15A81504}"/>
              </a:ext>
            </a:extLst>
          </p:cNvPr>
          <p:cNvSpPr/>
          <p:nvPr/>
        </p:nvSpPr>
        <p:spPr>
          <a:xfrm>
            <a:off x="3950687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0DBC193D-196E-6491-3F83-77ABCCE6B314}"/>
              </a:ext>
            </a:extLst>
          </p:cNvPr>
          <p:cNvSpPr/>
          <p:nvPr/>
        </p:nvSpPr>
        <p:spPr>
          <a:xfrm>
            <a:off x="5192533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3AC1FF2B-3878-9069-14CB-BF2F2CBA3815}"/>
              </a:ext>
            </a:extLst>
          </p:cNvPr>
          <p:cNvSpPr/>
          <p:nvPr/>
        </p:nvSpPr>
        <p:spPr>
          <a:xfrm>
            <a:off x="6423649" y="1299662"/>
            <a:ext cx="1159263" cy="27593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378DC25D-7311-EBDB-1EF3-7598E74033C9}"/>
              </a:ext>
            </a:extLst>
          </p:cNvPr>
          <p:cNvSpPr/>
          <p:nvPr/>
        </p:nvSpPr>
        <p:spPr>
          <a:xfrm>
            <a:off x="225330" y="2015036"/>
            <a:ext cx="875487" cy="2793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Standard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3C1B2CA8-19AD-D20F-3736-9CEB6B067689}"/>
              </a:ext>
            </a:extLst>
          </p:cNvPr>
          <p:cNvSpPr/>
          <p:nvPr/>
        </p:nvSpPr>
        <p:spPr>
          <a:xfrm>
            <a:off x="261455" y="3223809"/>
            <a:ext cx="8429545" cy="313424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sz="300" b="1" dirty="0">
              <a:solidFill>
                <a:schemeClr val="tx1"/>
              </a:solidFill>
            </a:endParaRPr>
          </a:p>
          <a:p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메일 설정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B07601CE-B8C8-1B83-6BDE-763B2A068730}"/>
              </a:ext>
            </a:extLst>
          </p:cNvPr>
          <p:cNvSpPr/>
          <p:nvPr/>
        </p:nvSpPr>
        <p:spPr>
          <a:xfrm>
            <a:off x="366142" y="2641087"/>
            <a:ext cx="2582228" cy="354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관리자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D551A9F6-1F68-ADD3-7A17-6B6FD46A0BFE}"/>
              </a:ext>
            </a:extLst>
          </p:cNvPr>
          <p:cNvSpPr/>
          <p:nvPr/>
        </p:nvSpPr>
        <p:spPr>
          <a:xfrm>
            <a:off x="3085250" y="2633064"/>
            <a:ext cx="2582228" cy="354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02-2635-5982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58A2A489-1EA2-2E69-125E-ED09CC5200A3}"/>
              </a:ext>
            </a:extLst>
          </p:cNvPr>
          <p:cNvSpPr/>
          <p:nvPr/>
        </p:nvSpPr>
        <p:spPr>
          <a:xfrm>
            <a:off x="5772165" y="2633062"/>
            <a:ext cx="2805809" cy="3547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admin@smtown.com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2A256445-614C-5525-E731-61EC52D630F3}"/>
              </a:ext>
            </a:extLst>
          </p:cNvPr>
          <p:cNvSpPr/>
          <p:nvPr/>
        </p:nvSpPr>
        <p:spPr>
          <a:xfrm>
            <a:off x="4160329" y="6405663"/>
            <a:ext cx="549015" cy="24147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7FB0BAF8-E806-BE5B-8110-2D90C93232B4}"/>
              </a:ext>
            </a:extLst>
          </p:cNvPr>
          <p:cNvSpPr/>
          <p:nvPr/>
        </p:nvSpPr>
        <p:spPr>
          <a:xfrm>
            <a:off x="301101" y="2396994"/>
            <a:ext cx="8389900" cy="6748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타원 197">
            <a:extLst>
              <a:ext uri="{FF2B5EF4-FFF2-40B4-BE49-F238E27FC236}">
                <a16:creationId xmlns:a16="http://schemas.microsoft.com/office/drawing/2014/main" id="{0E421A6E-DC2A-EF72-9B43-D6CB3D8F183A}"/>
              </a:ext>
            </a:extLst>
          </p:cNvPr>
          <p:cNvSpPr/>
          <p:nvPr/>
        </p:nvSpPr>
        <p:spPr>
          <a:xfrm>
            <a:off x="225330" y="235815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6B60B58-1DE5-A9B6-27A9-E3BCEC5994F5}"/>
              </a:ext>
            </a:extLst>
          </p:cNvPr>
          <p:cNvSpPr/>
          <p:nvPr/>
        </p:nvSpPr>
        <p:spPr>
          <a:xfrm>
            <a:off x="301101" y="3306928"/>
            <a:ext cx="8389900" cy="30287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0" name="타원 199">
            <a:extLst>
              <a:ext uri="{FF2B5EF4-FFF2-40B4-BE49-F238E27FC236}">
                <a16:creationId xmlns:a16="http://schemas.microsoft.com/office/drawing/2014/main" id="{90C947C3-C3F3-9B01-E797-49CA23B8A189}"/>
              </a:ext>
            </a:extLst>
          </p:cNvPr>
          <p:cNvSpPr/>
          <p:nvPr/>
        </p:nvSpPr>
        <p:spPr>
          <a:xfrm>
            <a:off x="209288" y="3204286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3B94E57-BBBE-5102-6A6C-812B749954FD}"/>
              </a:ext>
            </a:extLst>
          </p:cNvPr>
          <p:cNvSpPr txBox="1"/>
          <p:nvPr/>
        </p:nvSpPr>
        <p:spPr>
          <a:xfrm>
            <a:off x="1688656" y="2401155"/>
            <a:ext cx="3564690" cy="235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*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항공예약 이메일 발송 시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하단에 노출되는 정보입니다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3" name="직사각형 202">
            <a:extLst>
              <a:ext uri="{FF2B5EF4-FFF2-40B4-BE49-F238E27FC236}">
                <a16:creationId xmlns:a16="http://schemas.microsoft.com/office/drawing/2014/main" id="{F387DD11-172E-F58F-47C2-B9DB6DF3EA11}"/>
              </a:ext>
            </a:extLst>
          </p:cNvPr>
          <p:cNvSpPr/>
          <p:nvPr/>
        </p:nvSpPr>
        <p:spPr>
          <a:xfrm>
            <a:off x="4068318" y="6396902"/>
            <a:ext cx="744995" cy="27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타원 203">
            <a:extLst>
              <a:ext uri="{FF2B5EF4-FFF2-40B4-BE49-F238E27FC236}">
                <a16:creationId xmlns:a16="http://schemas.microsoft.com/office/drawing/2014/main" id="{53CC0669-D474-0754-DD4E-EB3BD0C5640E}"/>
              </a:ext>
            </a:extLst>
          </p:cNvPr>
          <p:cNvSpPr/>
          <p:nvPr/>
        </p:nvSpPr>
        <p:spPr>
          <a:xfrm>
            <a:off x="3976505" y="6254609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5</a:t>
            </a:r>
            <a:endParaRPr lang="ko-KR" altLang="en-US" sz="1100" b="1" dirty="0"/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DC213C13-3939-0D96-8D82-F87C932AA6D8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3CB70-82B8-D5DB-5FDE-38E66A74252A}"/>
              </a:ext>
            </a:extLst>
          </p:cNvPr>
          <p:cNvSpPr txBox="1"/>
          <p:nvPr/>
        </p:nvSpPr>
        <p:spPr>
          <a:xfrm>
            <a:off x="293105" y="4230382"/>
            <a:ext cx="431111" cy="241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항공</a:t>
            </a:r>
            <a:endParaRPr lang="en-US" altLang="ko-KR" sz="9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B8F406-5594-AD2D-BAB8-F8F42F14A8D8}"/>
              </a:ext>
            </a:extLst>
          </p:cNvPr>
          <p:cNvSpPr/>
          <p:nvPr/>
        </p:nvSpPr>
        <p:spPr>
          <a:xfrm>
            <a:off x="358278" y="4477003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BA3B0-AC6E-F7E4-271E-EABD9AD4C264}"/>
              </a:ext>
            </a:extLst>
          </p:cNvPr>
          <p:cNvSpPr txBox="1"/>
          <p:nvPr/>
        </p:nvSpPr>
        <p:spPr>
          <a:xfrm>
            <a:off x="3008603" y="4248863"/>
            <a:ext cx="431111" cy="2414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호텔</a:t>
            </a:r>
            <a:endParaRPr lang="en-US" altLang="ko-KR" sz="9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2E8C3D-BC5D-8371-8224-9635629EAD60}"/>
              </a:ext>
            </a:extLst>
          </p:cNvPr>
          <p:cNvSpPr/>
          <p:nvPr/>
        </p:nvSpPr>
        <p:spPr>
          <a:xfrm>
            <a:off x="3121026" y="4477002"/>
            <a:ext cx="2585152" cy="3476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4FDDE-A2E4-0AFE-A9EA-37D8243C10AD}"/>
              </a:ext>
            </a:extLst>
          </p:cNvPr>
          <p:cNvSpPr txBox="1"/>
          <p:nvPr/>
        </p:nvSpPr>
        <p:spPr>
          <a:xfrm>
            <a:off x="5774701" y="4243297"/>
            <a:ext cx="431111" cy="241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영업</a:t>
            </a:r>
            <a:endParaRPr lang="en-US" altLang="ko-KR" sz="9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2A1CEA-2671-93EB-6055-099AA5ABD12C}"/>
              </a:ext>
            </a:extLst>
          </p:cNvPr>
          <p:cNvSpPr/>
          <p:nvPr/>
        </p:nvSpPr>
        <p:spPr>
          <a:xfrm>
            <a:off x="5882338" y="4475406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래픽 11" descr="추가">
            <a:extLst>
              <a:ext uri="{FF2B5EF4-FFF2-40B4-BE49-F238E27FC236}">
                <a16:creationId xmlns:a16="http://schemas.microsoft.com/office/drawing/2014/main" id="{0BC0A463-4187-06DE-1C8C-17BF02744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7802" y="4580313"/>
            <a:ext cx="171765" cy="173190"/>
          </a:xfrm>
          <a:prstGeom prst="rect">
            <a:avLst/>
          </a:prstGeom>
        </p:spPr>
      </p:pic>
      <p:pic>
        <p:nvPicPr>
          <p:cNvPr id="13" name="그래픽 12" descr="추가">
            <a:extLst>
              <a:ext uri="{FF2B5EF4-FFF2-40B4-BE49-F238E27FC236}">
                <a16:creationId xmlns:a16="http://schemas.microsoft.com/office/drawing/2014/main" id="{702991CE-3D1F-32E0-1638-C798E80B8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331" y="4580313"/>
            <a:ext cx="171765" cy="173190"/>
          </a:xfrm>
          <a:prstGeom prst="rect">
            <a:avLst/>
          </a:prstGeom>
        </p:spPr>
      </p:pic>
      <p:pic>
        <p:nvPicPr>
          <p:cNvPr id="14" name="그래픽 13" descr="추가">
            <a:extLst>
              <a:ext uri="{FF2B5EF4-FFF2-40B4-BE49-F238E27FC236}">
                <a16:creationId xmlns:a16="http://schemas.microsoft.com/office/drawing/2014/main" id="{BDB03289-0A95-260D-7877-67C09059E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1021" y="4580315"/>
            <a:ext cx="171765" cy="17319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09EA2D-E879-B885-DAA1-769D9EBD6E6D}"/>
              </a:ext>
            </a:extLst>
          </p:cNvPr>
          <p:cNvSpPr/>
          <p:nvPr/>
        </p:nvSpPr>
        <p:spPr>
          <a:xfrm>
            <a:off x="358278" y="4914435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7B64F4-26CB-7FDA-CBBB-FB54E7115DAB}"/>
              </a:ext>
            </a:extLst>
          </p:cNvPr>
          <p:cNvSpPr/>
          <p:nvPr/>
        </p:nvSpPr>
        <p:spPr>
          <a:xfrm>
            <a:off x="3121026" y="4914434"/>
            <a:ext cx="2585152" cy="3476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D9DC617-826A-B64C-CCEB-0E203AD736E2}"/>
              </a:ext>
            </a:extLst>
          </p:cNvPr>
          <p:cNvSpPr/>
          <p:nvPr/>
        </p:nvSpPr>
        <p:spPr>
          <a:xfrm>
            <a:off x="5882338" y="4912840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빼기 기호 17">
            <a:extLst>
              <a:ext uri="{FF2B5EF4-FFF2-40B4-BE49-F238E27FC236}">
                <a16:creationId xmlns:a16="http://schemas.microsoft.com/office/drawing/2014/main" id="{5974A930-D6CB-A947-54C8-2B89173579A9}"/>
              </a:ext>
            </a:extLst>
          </p:cNvPr>
          <p:cNvSpPr/>
          <p:nvPr/>
        </p:nvSpPr>
        <p:spPr>
          <a:xfrm>
            <a:off x="2647802" y="5075961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빼기 기호 18">
            <a:extLst>
              <a:ext uri="{FF2B5EF4-FFF2-40B4-BE49-F238E27FC236}">
                <a16:creationId xmlns:a16="http://schemas.microsoft.com/office/drawing/2014/main" id="{18CB163E-87D8-66AB-B340-31F89CF93F8C}"/>
              </a:ext>
            </a:extLst>
          </p:cNvPr>
          <p:cNvSpPr/>
          <p:nvPr/>
        </p:nvSpPr>
        <p:spPr>
          <a:xfrm>
            <a:off x="5435331" y="5058143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빼기 기호 19">
            <a:extLst>
              <a:ext uri="{FF2B5EF4-FFF2-40B4-BE49-F238E27FC236}">
                <a16:creationId xmlns:a16="http://schemas.microsoft.com/office/drawing/2014/main" id="{315A7AE5-0AC1-8CF1-1856-4C3B1076F6DA}"/>
              </a:ext>
            </a:extLst>
          </p:cNvPr>
          <p:cNvSpPr/>
          <p:nvPr/>
        </p:nvSpPr>
        <p:spPr>
          <a:xfrm>
            <a:off x="8171021" y="5058147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AD1B71-1F0F-5519-6D49-6F8A4F143BCD}"/>
              </a:ext>
            </a:extLst>
          </p:cNvPr>
          <p:cNvSpPr/>
          <p:nvPr/>
        </p:nvSpPr>
        <p:spPr>
          <a:xfrm>
            <a:off x="358278" y="5351860"/>
            <a:ext cx="2585152" cy="3476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3A6F01-4951-89B6-B80F-13FBB6089FF4}"/>
              </a:ext>
            </a:extLst>
          </p:cNvPr>
          <p:cNvSpPr/>
          <p:nvPr/>
        </p:nvSpPr>
        <p:spPr>
          <a:xfrm>
            <a:off x="3121026" y="5351848"/>
            <a:ext cx="2585152" cy="3476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smtown.com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빼기 기호 22">
            <a:extLst>
              <a:ext uri="{FF2B5EF4-FFF2-40B4-BE49-F238E27FC236}">
                <a16:creationId xmlns:a16="http://schemas.microsoft.com/office/drawing/2014/main" id="{E18B0FAF-F922-81A0-0EA0-DA71D28A8610}"/>
              </a:ext>
            </a:extLst>
          </p:cNvPr>
          <p:cNvSpPr/>
          <p:nvPr/>
        </p:nvSpPr>
        <p:spPr>
          <a:xfrm>
            <a:off x="2647801" y="5513384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빼기 기호 23">
            <a:extLst>
              <a:ext uri="{FF2B5EF4-FFF2-40B4-BE49-F238E27FC236}">
                <a16:creationId xmlns:a16="http://schemas.microsoft.com/office/drawing/2014/main" id="{3A4E3276-5906-3630-6E92-BCD78E73C4F4}"/>
              </a:ext>
            </a:extLst>
          </p:cNvPr>
          <p:cNvSpPr/>
          <p:nvPr/>
        </p:nvSpPr>
        <p:spPr>
          <a:xfrm>
            <a:off x="5435345" y="5495590"/>
            <a:ext cx="188004" cy="72000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말풍선: 사각형 24">
            <a:extLst>
              <a:ext uri="{FF2B5EF4-FFF2-40B4-BE49-F238E27FC236}">
                <a16:creationId xmlns:a16="http://schemas.microsoft.com/office/drawing/2014/main" id="{1DBC7EAE-F06D-D1BD-B837-5C3CABE6FEBB}"/>
              </a:ext>
            </a:extLst>
          </p:cNvPr>
          <p:cNvSpPr/>
          <p:nvPr/>
        </p:nvSpPr>
        <p:spPr>
          <a:xfrm>
            <a:off x="339342" y="3553779"/>
            <a:ext cx="8128148" cy="612648"/>
          </a:xfrm>
          <a:prstGeom prst="wedgeRectCallout">
            <a:avLst>
              <a:gd name="adj1" fmla="val -49670"/>
              <a:gd name="adj2" fmla="val -11521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tx1"/>
                </a:solidFill>
              </a:rPr>
              <a:t>* </a:t>
            </a:r>
            <a:r>
              <a:rPr lang="ko-KR" altLang="en-US" sz="900" dirty="0">
                <a:solidFill>
                  <a:schemeClr val="tx1"/>
                </a:solidFill>
              </a:rPr>
              <a:t>항공 메일 발송</a:t>
            </a:r>
          </a:p>
          <a:p>
            <a:r>
              <a:rPr lang="en-US" altLang="ko-KR" sz="900" dirty="0">
                <a:solidFill>
                  <a:schemeClr val="tx1"/>
                </a:solidFill>
              </a:rPr>
              <a:t>-</a:t>
            </a:r>
            <a:r>
              <a:rPr lang="ko-KR" altLang="en-US" sz="900" dirty="0">
                <a:solidFill>
                  <a:schemeClr val="tx1"/>
                </a:solidFill>
              </a:rPr>
              <a:t> 업무시간 내 </a:t>
            </a:r>
            <a:r>
              <a:rPr lang="en-US" altLang="ko-KR" sz="900" dirty="0">
                <a:solidFill>
                  <a:schemeClr val="tx1"/>
                </a:solidFill>
              </a:rPr>
              <a:t>: </a:t>
            </a:r>
            <a:r>
              <a:rPr lang="ko-KR" altLang="en-US" sz="900" dirty="0" err="1">
                <a:solidFill>
                  <a:schemeClr val="tx1"/>
                </a:solidFill>
              </a:rPr>
              <a:t>전담팀</a:t>
            </a:r>
            <a:r>
              <a:rPr lang="ko-KR" altLang="en-US" sz="900" dirty="0">
                <a:solidFill>
                  <a:schemeClr val="tx1"/>
                </a:solidFill>
              </a:rPr>
              <a:t> 메일 발송</a:t>
            </a:r>
          </a:p>
          <a:p>
            <a:r>
              <a:rPr lang="en-US" altLang="ko-KR" sz="900" dirty="0">
                <a:solidFill>
                  <a:schemeClr val="tx1"/>
                </a:solidFill>
              </a:rPr>
              <a:t>- </a:t>
            </a:r>
            <a:r>
              <a:rPr lang="ko-KR" altLang="en-US" sz="900" dirty="0">
                <a:solidFill>
                  <a:schemeClr val="tx1"/>
                </a:solidFill>
              </a:rPr>
              <a:t>업무 외 시간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평일 </a:t>
            </a:r>
            <a:r>
              <a:rPr lang="en-US" altLang="ko-KR" sz="900" dirty="0">
                <a:solidFill>
                  <a:schemeClr val="tx1"/>
                </a:solidFill>
              </a:rPr>
              <a:t>18</a:t>
            </a:r>
            <a:r>
              <a:rPr lang="ko-KR" altLang="en-US" sz="900" dirty="0">
                <a:solidFill>
                  <a:schemeClr val="tx1"/>
                </a:solidFill>
              </a:rPr>
              <a:t>시 이후</a:t>
            </a:r>
            <a:r>
              <a:rPr lang="en-US" altLang="ko-KR" sz="900" dirty="0">
                <a:solidFill>
                  <a:schemeClr val="tx1"/>
                </a:solidFill>
              </a:rPr>
              <a:t>, </a:t>
            </a:r>
            <a:r>
              <a:rPr lang="ko-KR" altLang="en-US" sz="900" dirty="0">
                <a:solidFill>
                  <a:schemeClr val="tx1"/>
                </a:solidFill>
              </a:rPr>
              <a:t>주말 및 공휴일</a:t>
            </a:r>
            <a:r>
              <a:rPr lang="en-US" altLang="ko-KR" sz="900" dirty="0">
                <a:solidFill>
                  <a:schemeClr val="tx1"/>
                </a:solidFill>
              </a:rPr>
              <a:t>) : SMTEC </a:t>
            </a:r>
            <a:r>
              <a:rPr lang="ko-KR" altLang="en-US" sz="900" dirty="0">
                <a:solidFill>
                  <a:schemeClr val="tx1"/>
                </a:solidFill>
              </a:rPr>
              <a:t>수신</a:t>
            </a:r>
            <a:r>
              <a:rPr lang="en-US" altLang="ko-KR" sz="900" dirty="0">
                <a:solidFill>
                  <a:schemeClr val="tx1"/>
                </a:solidFill>
              </a:rPr>
              <a:t>, </a:t>
            </a:r>
            <a:r>
              <a:rPr lang="ko-KR" altLang="en-US" sz="900" dirty="0" err="1">
                <a:solidFill>
                  <a:schemeClr val="tx1"/>
                </a:solidFill>
              </a:rPr>
              <a:t>전담팀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CC</a:t>
            </a:r>
            <a:r>
              <a:rPr lang="ko-KR" altLang="en-US" sz="900" dirty="0">
                <a:solidFill>
                  <a:schemeClr val="tx1"/>
                </a:solidFill>
              </a:rPr>
              <a:t>로 메일 발송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40694DE-1070-69EC-215A-D308656D32D0}"/>
              </a:ext>
            </a:extLst>
          </p:cNvPr>
          <p:cNvSpPr/>
          <p:nvPr/>
        </p:nvSpPr>
        <p:spPr>
          <a:xfrm>
            <a:off x="2611082" y="4536156"/>
            <a:ext cx="222074" cy="2414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DCCF1C1-98E3-22B4-9897-6C86B7E0EE69}"/>
              </a:ext>
            </a:extLst>
          </p:cNvPr>
          <p:cNvSpPr/>
          <p:nvPr/>
        </p:nvSpPr>
        <p:spPr>
          <a:xfrm>
            <a:off x="2519269" y="4439448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A0FFA4-307D-ECDE-A788-7625542F152D}"/>
              </a:ext>
            </a:extLst>
          </p:cNvPr>
          <p:cNvSpPr/>
          <p:nvPr/>
        </p:nvSpPr>
        <p:spPr>
          <a:xfrm>
            <a:off x="5401261" y="4983473"/>
            <a:ext cx="222074" cy="2414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C7C7E28-A4B4-E15D-57F0-8722EF5BB46D}"/>
              </a:ext>
            </a:extLst>
          </p:cNvPr>
          <p:cNvSpPr/>
          <p:nvPr/>
        </p:nvSpPr>
        <p:spPr>
          <a:xfrm>
            <a:off x="5309448" y="488676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D411A1-A20C-43F1-A969-685760B733D5}"/>
              </a:ext>
            </a:extLst>
          </p:cNvPr>
          <p:cNvSpPr/>
          <p:nvPr/>
        </p:nvSpPr>
        <p:spPr>
          <a:xfrm>
            <a:off x="2730034" y="1294447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법인 관리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986409D-6455-4E33-AD2E-581F7C98BE18}"/>
              </a:ext>
            </a:extLst>
          </p:cNvPr>
          <p:cNvSpPr>
            <a:spLocks/>
          </p:cNvSpPr>
          <p:nvPr/>
        </p:nvSpPr>
        <p:spPr>
          <a:xfrm>
            <a:off x="6571369" y="1949578"/>
            <a:ext cx="2112921" cy="24507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SM C&amp;C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6" name="그래픽 55" descr="위쪽 캐럿 단색으로 채워진">
            <a:extLst>
              <a:ext uri="{FF2B5EF4-FFF2-40B4-BE49-F238E27FC236}">
                <a16:creationId xmlns:a16="http://schemas.microsoft.com/office/drawing/2014/main" id="{F80E7895-D2AB-4220-8305-3B47C8116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8407290" y="1929365"/>
            <a:ext cx="277000" cy="277000"/>
          </a:xfrm>
          <a:prstGeom prst="rect">
            <a:avLst/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8DA6C107-79A1-41CF-A901-C106D6D0EFAA}"/>
              </a:ext>
            </a:extLst>
          </p:cNvPr>
          <p:cNvSpPr/>
          <p:nvPr/>
        </p:nvSpPr>
        <p:spPr>
          <a:xfrm>
            <a:off x="6516930" y="1886042"/>
            <a:ext cx="2247508" cy="3590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B272B722-ECC0-4E5E-B79B-DB2D2B944888}"/>
              </a:ext>
            </a:extLst>
          </p:cNvPr>
          <p:cNvSpPr/>
          <p:nvPr/>
        </p:nvSpPr>
        <p:spPr>
          <a:xfrm>
            <a:off x="6425117" y="1789334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6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215596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CC853-1067-35E1-08AB-E68CD303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524FE4-854A-4782-A5C7-A0F1EF46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E76684-777D-4624-2754-5D8BBFE9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B56E1D-10A9-399B-51E3-AA9205C5F7C4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5A46E3-DADD-202D-79AE-F836C3EAADC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940EB0-6254-7C1A-3579-57046564D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591947"/>
              </p:ext>
            </p:extLst>
          </p:nvPr>
        </p:nvGraphicFramePr>
        <p:xfrm>
          <a:off x="8895422" y="89351"/>
          <a:ext cx="3208784" cy="2510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/>
                        <a:t>출장규정 관리 페이지이며</a:t>
                      </a:r>
                      <a:r>
                        <a:rPr lang="en-US" altLang="ko-KR" sz="900" b="0" dirty="0"/>
                        <a:t>,</a:t>
                      </a:r>
                    </a:p>
                    <a:p>
                      <a:pPr algn="l" latinLnBrk="1"/>
                      <a:r>
                        <a:rPr lang="ko-KR" altLang="en-US" sz="900" b="0" dirty="0"/>
                        <a:t>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법인영업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출장관리자가 접근 가능하지만</a:t>
                      </a:r>
                      <a:endParaRPr lang="en-US" altLang="ko-KR" sz="900" b="0" dirty="0"/>
                    </a:p>
                    <a:p>
                      <a:pPr algn="l" latinLnBrk="1"/>
                      <a:r>
                        <a:rPr lang="ko-KR" altLang="en-US" sz="900" b="1" dirty="0"/>
                        <a:t>주 사용자는 출장관리자가</a:t>
                      </a:r>
                      <a:r>
                        <a:rPr lang="en-US" altLang="ko-KR" sz="900" b="1" dirty="0"/>
                        <a:t> </a:t>
                      </a:r>
                      <a:r>
                        <a:rPr lang="ko-KR" altLang="en-US" sz="900" b="1" dirty="0"/>
                        <a:t>사용하도록</a:t>
                      </a:r>
                      <a:r>
                        <a:rPr lang="en-US" altLang="ko-KR" sz="900" b="1" dirty="0"/>
                        <a:t> </a:t>
                      </a:r>
                      <a:r>
                        <a:rPr lang="ko-KR" altLang="en-US" sz="900" b="1" dirty="0"/>
                        <a:t>함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 err="1"/>
                        <a:t>토글버튼으로</a:t>
                      </a:r>
                      <a:r>
                        <a:rPr lang="ko-KR" altLang="en-US" sz="900" b="0" dirty="0"/>
                        <a:t> 구현</a:t>
                      </a:r>
                      <a:r>
                        <a:rPr lang="en-US" altLang="ko-KR" sz="900" b="0" dirty="0"/>
                        <a:t>,</a:t>
                      </a:r>
                    </a:p>
                    <a:p>
                      <a:pPr latinLnBrk="1"/>
                      <a:r>
                        <a:rPr lang="en-US" altLang="ko-KR" sz="900" b="0" dirty="0"/>
                        <a:t>OFF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 </a:t>
                      </a:r>
                      <a:r>
                        <a:rPr lang="ko-KR" altLang="en-US" sz="900" b="0" dirty="0"/>
                        <a:t>출장규정관리 설정 테이블 숨김 처리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ON : </a:t>
                      </a:r>
                      <a:r>
                        <a:rPr lang="ko-KR" altLang="en-US" sz="900" b="0" dirty="0"/>
                        <a:t>출장규정관리 설정 테이블 노출 </a:t>
                      </a:r>
                      <a:r>
                        <a:rPr lang="en-US" altLang="ko-KR" sz="900" b="0" dirty="0"/>
                        <a:t>(#7page)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27687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출장규정은 국제선만 해당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7306BC2A-06F9-6B79-FE22-25CB47535C82}"/>
              </a:ext>
            </a:extLst>
          </p:cNvPr>
          <p:cNvGrpSpPr/>
          <p:nvPr/>
        </p:nvGrpSpPr>
        <p:grpSpPr>
          <a:xfrm>
            <a:off x="363278" y="704224"/>
            <a:ext cx="8239184" cy="1550906"/>
            <a:chOff x="363278" y="704224"/>
            <a:chExt cx="8239184" cy="1550906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2EF1F69-BBA5-7C14-90C9-242334D3D9EB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3F2C1BD-7FB9-A09A-763E-1FD8E2181AD7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E78FC44-F5B0-0131-D222-F31FB684DEA1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8E4BC61-B5B0-9027-EB6E-779981812D2B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8466023-5A87-09F9-9A6A-71C3E4805E7B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A1D6380-DD4A-1F05-4AEC-0A7AB940E4CD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E833F8EB-9447-31A7-2F8C-AEA51F0A703C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BFD0754-2149-C98D-EA1B-FB6ECBED2283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B224E377-41A3-BF17-2B9C-AF694C9BEEF0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OFF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D165513-26FB-0EAF-613A-2A85AF318A3B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21DAE80A-C4CD-45C7-7873-43E7E07BB8DE}"/>
                </a:ext>
              </a:extLst>
            </p:cNvPr>
            <p:cNvSpPr/>
            <p:nvPr/>
          </p:nvSpPr>
          <p:spPr>
            <a:xfrm>
              <a:off x="7843552" y="1941612"/>
              <a:ext cx="718828" cy="31351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AF57B6DE-5F92-E051-733B-2E82F5803B0A}"/>
                </a:ext>
              </a:extLst>
            </p:cNvPr>
            <p:cNvSpPr/>
            <p:nvPr/>
          </p:nvSpPr>
          <p:spPr>
            <a:xfrm>
              <a:off x="7761161" y="1825489"/>
              <a:ext cx="177176" cy="16701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1</a:t>
              </a:r>
              <a:endParaRPr lang="ko-KR" altLang="en-US" sz="1100" b="1" dirty="0"/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C4A37D2-B6FB-F98C-B8DA-82DBA793D951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34729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8B2E-BB4C-3AE6-0089-998FE354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4E0C4AC-7475-17F4-0EE8-BCB4A24B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C91A1A-B4EB-5852-CB04-CD7E5B4F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B0E38-5746-1D5F-13F1-4AC8051F5ED6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DBEB0A-EEC0-442A-1F78-942A4703181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27EF666-FBBB-3F6E-7349-F905936F8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435673"/>
              </p:ext>
            </p:extLst>
          </p:nvPr>
        </p:nvGraphicFramePr>
        <p:xfrm>
          <a:off x="8895422" y="89351"/>
          <a:ext cx="3208784" cy="3193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추가 할 수 있는 </a:t>
                      </a:r>
                      <a:r>
                        <a:rPr lang="ko-KR" altLang="en-US" sz="900" b="0" dirty="0" err="1"/>
                        <a:t>모달</a:t>
                      </a:r>
                      <a:r>
                        <a:rPr lang="ko-KR" altLang="en-US" sz="900" b="0" dirty="0"/>
                        <a:t> 노출 </a:t>
                      </a:r>
                      <a:r>
                        <a:rPr lang="en-US" altLang="ko-KR" sz="900" b="0" dirty="0"/>
                        <a:t>(#8page)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추가할 직급 규정이 없을 </a:t>
                      </a:r>
                      <a:r>
                        <a:rPr lang="ko-KR" altLang="en-US" sz="900" b="1" dirty="0" err="1"/>
                        <a:t>떄</a:t>
                      </a:r>
                      <a:r>
                        <a:rPr lang="ko-KR" altLang="en-US" sz="900" b="1" dirty="0"/>
                        <a:t> 노출 문구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모든 직급의 규정이 등록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체크박스</a:t>
                      </a:r>
                      <a:r>
                        <a:rPr lang="en-US" altLang="ko-KR" sz="900" dirty="0"/>
                        <a:t>(2-1)</a:t>
                      </a:r>
                      <a:r>
                        <a:rPr lang="ko-KR" altLang="en-US" sz="900" dirty="0"/>
                        <a:t> 선택 후</a:t>
                      </a:r>
                      <a:r>
                        <a:rPr lang="en-US" altLang="ko-KR" sz="900" dirty="0"/>
                        <a:t>,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클릭 시 체크 한 모든 값 삭제 처리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ko-KR" altLang="en-US" sz="900" b="1" dirty="0"/>
                        <a:t>체크박스 선택하지 않았을 </a:t>
                      </a:r>
                      <a:r>
                        <a:rPr lang="ko-KR" altLang="en-US" sz="900" b="1" dirty="0" err="1"/>
                        <a:t>떄</a:t>
                      </a:r>
                      <a:r>
                        <a:rPr lang="en-US" altLang="ko-KR" sz="900" b="1" dirty="0"/>
                        <a:t>,</a:t>
                      </a:r>
                      <a:r>
                        <a:rPr lang="ko-KR" altLang="en-US" sz="900" b="1" dirty="0"/>
                        <a:t>노출 문구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삭제 할 규정을 선택 해주세요</a:t>
                      </a:r>
                      <a:r>
                        <a:rPr lang="en-US" altLang="ko-KR" sz="900" dirty="0"/>
                        <a:t>.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수정 할 수 있는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노출 </a:t>
                      </a:r>
                      <a:r>
                        <a:rPr lang="en-US" altLang="ko-KR" sz="900" dirty="0"/>
                        <a:t>(#9page)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EE942CA3-3364-2971-F6EC-C7ED79EA96F3}"/>
              </a:ext>
            </a:extLst>
          </p:cNvPr>
          <p:cNvGrpSpPr/>
          <p:nvPr/>
        </p:nvGrpSpPr>
        <p:grpSpPr>
          <a:xfrm>
            <a:off x="363278" y="704224"/>
            <a:ext cx="8239184" cy="1550906"/>
            <a:chOff x="363278" y="704224"/>
            <a:chExt cx="8239184" cy="1550906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0805EBB-8345-5E68-307C-0E7849575E8E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11D35AF-F973-5EEB-2C1D-957BDFD3EAD0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0DB419E8-5BC8-3A74-B847-7631C91D69A5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C3479FE8-52B3-DAF9-B11C-A33572B81E13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EFD5564-4A6C-1E47-323C-EB67D1FB4D1C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4B9E1538-31FE-FE70-B4A2-17ADA8E7C4D9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358A262B-0E97-A379-B8A0-A2AE935AF32A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EEA0042-4255-FA28-6C7E-A19B55A26EC3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9244F633-F6FF-A3D9-52F3-04E7A1D280EF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ON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B9E90F2-5462-EDAF-5A17-35813B31A5D3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5E3239-4B3C-4B46-78E6-535F00308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30493"/>
              </p:ext>
            </p:extLst>
          </p:nvPr>
        </p:nvGraphicFramePr>
        <p:xfrm>
          <a:off x="482026" y="2371236"/>
          <a:ext cx="8128001" cy="89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1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 사용여부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비행시간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설정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대표이사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비즈니스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r>
                        <a:rPr lang="ko-KR" altLang="en-US" sz="1000" dirty="0"/>
                        <a:t>시간 이상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87202B4-0278-7E8D-E216-F59B253A31FA}"/>
              </a:ext>
            </a:extLst>
          </p:cNvPr>
          <p:cNvSpPr/>
          <p:nvPr/>
        </p:nvSpPr>
        <p:spPr>
          <a:xfrm>
            <a:off x="694231" y="274398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C97549-BECF-EB25-7518-F20442FA0ECD}"/>
              </a:ext>
            </a:extLst>
          </p:cNvPr>
          <p:cNvSpPr/>
          <p:nvPr/>
        </p:nvSpPr>
        <p:spPr>
          <a:xfrm>
            <a:off x="688254" y="3055196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9AE019-9EA5-09D6-1107-6152EAEAA8E0}"/>
              </a:ext>
            </a:extLst>
          </p:cNvPr>
          <p:cNvSpPr/>
          <p:nvPr/>
        </p:nvSpPr>
        <p:spPr>
          <a:xfrm>
            <a:off x="7744874" y="2992335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B0665F-95FC-75C7-7AC2-88ADEB1F1765}"/>
              </a:ext>
            </a:extLst>
          </p:cNvPr>
          <p:cNvSpPr/>
          <p:nvPr/>
        </p:nvSpPr>
        <p:spPr>
          <a:xfrm>
            <a:off x="7744874" y="2682293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5036E06-A198-28FB-30D0-412560C21310}"/>
              </a:ext>
            </a:extLst>
          </p:cNvPr>
          <p:cNvSpPr/>
          <p:nvPr/>
        </p:nvSpPr>
        <p:spPr>
          <a:xfrm>
            <a:off x="734623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4BC363-1E4D-F67C-CF4A-0927B764AAAC}"/>
              </a:ext>
            </a:extLst>
          </p:cNvPr>
          <p:cNvSpPr/>
          <p:nvPr/>
        </p:nvSpPr>
        <p:spPr>
          <a:xfrm>
            <a:off x="801792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CAC963-F3C6-0726-46B1-FB5972E21EE3}"/>
              </a:ext>
            </a:extLst>
          </p:cNvPr>
          <p:cNvSpPr/>
          <p:nvPr/>
        </p:nvSpPr>
        <p:spPr>
          <a:xfrm>
            <a:off x="499278" y="2665040"/>
            <a:ext cx="510012" cy="5869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8E4DCE-1331-8B75-DD08-9E0048F945F6}"/>
              </a:ext>
            </a:extLst>
          </p:cNvPr>
          <p:cNvSpPr/>
          <p:nvPr/>
        </p:nvSpPr>
        <p:spPr>
          <a:xfrm>
            <a:off x="7346233" y="3347886"/>
            <a:ext cx="592104" cy="258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5E55194-4F5B-D1BD-9BD5-861E246CDCE7}"/>
              </a:ext>
            </a:extLst>
          </p:cNvPr>
          <p:cNvSpPr/>
          <p:nvPr/>
        </p:nvSpPr>
        <p:spPr>
          <a:xfrm>
            <a:off x="8017923" y="3347885"/>
            <a:ext cx="592104" cy="2585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2C16EE5-268D-FC66-9AA5-E060E39D129E}"/>
              </a:ext>
            </a:extLst>
          </p:cNvPr>
          <p:cNvSpPr/>
          <p:nvPr/>
        </p:nvSpPr>
        <p:spPr>
          <a:xfrm>
            <a:off x="7753323" y="2699102"/>
            <a:ext cx="432968" cy="214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9B3C221-43DA-FA7F-A10C-0D1A8457B0B9}"/>
              </a:ext>
            </a:extLst>
          </p:cNvPr>
          <p:cNvSpPr/>
          <p:nvPr/>
        </p:nvSpPr>
        <p:spPr>
          <a:xfrm>
            <a:off x="379776" y="2568867"/>
            <a:ext cx="244407" cy="22685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634E05E-468C-8102-54BB-D9DE6EBAAB74}"/>
              </a:ext>
            </a:extLst>
          </p:cNvPr>
          <p:cNvSpPr/>
          <p:nvPr/>
        </p:nvSpPr>
        <p:spPr>
          <a:xfrm>
            <a:off x="7639676" y="260362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8737D1A-C668-B246-323E-C25D93536B98}"/>
              </a:ext>
            </a:extLst>
          </p:cNvPr>
          <p:cNvSpPr/>
          <p:nvPr/>
        </p:nvSpPr>
        <p:spPr>
          <a:xfrm>
            <a:off x="7266647" y="325196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9287841-6967-2492-FFB6-70CEE05F0ABB}"/>
              </a:ext>
            </a:extLst>
          </p:cNvPr>
          <p:cNvSpPr/>
          <p:nvPr/>
        </p:nvSpPr>
        <p:spPr>
          <a:xfrm>
            <a:off x="7962327" y="326059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22184C-02A8-BA55-2CAA-99177B84E222}"/>
              </a:ext>
            </a:extLst>
          </p:cNvPr>
          <p:cNvSpPr txBox="1"/>
          <p:nvPr/>
        </p:nvSpPr>
        <p:spPr>
          <a:xfrm>
            <a:off x="312071" y="2562979"/>
            <a:ext cx="3850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</a:rPr>
              <a:t>2-1</a:t>
            </a:r>
            <a:endParaRPr lang="ko-KR" alt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166241-3091-356E-479B-C3E382A8FCD9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82051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4EB2-4B4B-1723-5E15-54E474FA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7F2650-B17D-7020-3AD5-1476C242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65BCFB-FF38-7530-CCB0-A67A4ABA8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D77771-2A70-563F-3A5F-D122992EDD13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등록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73B847-B526-5672-8CC6-1BC39277BABB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등록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0CF5873-0492-CD7C-33B7-F061A21EA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774309"/>
              </p:ext>
            </p:extLst>
          </p:nvPr>
        </p:nvGraphicFramePr>
        <p:xfrm>
          <a:off x="8895422" y="89351"/>
          <a:ext cx="3208784" cy="2780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직급 정보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단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이미 등록 된 직급은 제외하여 노출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예외가 </a:t>
                      </a:r>
                      <a:r>
                        <a:rPr lang="en-US" altLang="ko-KR" sz="900" dirty="0"/>
                        <a:t>‘Y’</a:t>
                      </a:r>
                      <a:r>
                        <a:rPr lang="ko-KR" altLang="en-US" sz="900" dirty="0"/>
                        <a:t>일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경우 해당 영역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Input </a:t>
                      </a:r>
                      <a:r>
                        <a:rPr lang="ko-KR" altLang="en-US" sz="900" dirty="0"/>
                        <a:t>영역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숫자만 입력 가능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작성 정보 저장</a:t>
                      </a:r>
                      <a:br>
                        <a:rPr lang="en-US" altLang="ko-KR" sz="900" dirty="0"/>
                      </a:br>
                      <a:r>
                        <a:rPr lang="ko-KR" altLang="en-US" sz="900" b="1" dirty="0"/>
                        <a:t>저장 시에는 별도 </a:t>
                      </a:r>
                      <a:r>
                        <a:rPr lang="en-US" altLang="ko-KR" sz="900" b="1" dirty="0"/>
                        <a:t>alert</a:t>
                      </a:r>
                      <a:r>
                        <a:rPr lang="ko-KR" altLang="en-US" sz="900" b="1" dirty="0"/>
                        <a:t>창 없음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88883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  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Default ‘N’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EBF136BB-EB7A-9A67-3060-1FF585EC6E85}"/>
              </a:ext>
            </a:extLst>
          </p:cNvPr>
          <p:cNvGrpSpPr/>
          <p:nvPr/>
        </p:nvGrpSpPr>
        <p:grpSpPr>
          <a:xfrm>
            <a:off x="363278" y="696285"/>
            <a:ext cx="8239184" cy="1558845"/>
            <a:chOff x="363278" y="696285"/>
            <a:chExt cx="8239184" cy="155884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FE6916B-2DCE-13A1-13CA-42333A504716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02A9E0F-81C8-12A5-F3FA-86482B121854}"/>
                </a:ext>
              </a:extLst>
            </p:cNvPr>
            <p:cNvSpPr/>
            <p:nvPr/>
          </p:nvSpPr>
          <p:spPr>
            <a:xfrm>
              <a:off x="1398448" y="696285"/>
              <a:ext cx="5523236" cy="445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항공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호텔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요청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관리</a:t>
              </a:r>
              <a:endParaRPr lang="ko-KR" altLang="en-US" sz="12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A1680045-3C17-F421-4227-3EBCA39186F2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3375FDE4-7E81-558A-13B3-86C53A915BD2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338D034-E60E-A27B-5D5B-C79EC03D3CEB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52276C4-EEE5-98CD-75EE-EBA80C8908CE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21ADE4D-6C38-79BA-1E6D-06C571CD2B3B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5B99366F-73C0-DC2C-5DD6-6A432F799B22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0FE2BE1-B25B-4692-F738-A783665F1D85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56D57EFA-4E42-B58C-BD42-88166896B423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ON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72BAE5B-76D4-309C-B09B-CA852F2F4E41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A06E7FF-174B-A752-55C4-CD175584E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838650"/>
              </p:ext>
            </p:extLst>
          </p:nvPr>
        </p:nvGraphicFramePr>
        <p:xfrm>
          <a:off x="456146" y="2362610"/>
          <a:ext cx="8128001" cy="89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1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 사용여부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비행시간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설정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대표이사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비즈니스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r>
                        <a:rPr lang="ko-KR" altLang="en-US" sz="1000" dirty="0"/>
                        <a:t>시간 이상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B2764A0-AE05-11BF-51A7-09DFAB6B10CD}"/>
              </a:ext>
            </a:extLst>
          </p:cNvPr>
          <p:cNvSpPr/>
          <p:nvPr/>
        </p:nvSpPr>
        <p:spPr>
          <a:xfrm>
            <a:off x="694231" y="274398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07ECF23-FF81-5CD2-EE3C-2EB99AC6B06A}"/>
              </a:ext>
            </a:extLst>
          </p:cNvPr>
          <p:cNvSpPr/>
          <p:nvPr/>
        </p:nvSpPr>
        <p:spPr>
          <a:xfrm>
            <a:off x="688254" y="3055196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CEEB48-3793-91B0-1BCD-1634EAB32392}"/>
              </a:ext>
            </a:extLst>
          </p:cNvPr>
          <p:cNvSpPr/>
          <p:nvPr/>
        </p:nvSpPr>
        <p:spPr>
          <a:xfrm>
            <a:off x="7744874" y="2992335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6B59B3-9FDC-7485-01EF-BE9B8E18DB1F}"/>
              </a:ext>
            </a:extLst>
          </p:cNvPr>
          <p:cNvSpPr/>
          <p:nvPr/>
        </p:nvSpPr>
        <p:spPr>
          <a:xfrm>
            <a:off x="7744874" y="2682293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DC507F-6EFA-37D7-24D6-56C03298B200}"/>
              </a:ext>
            </a:extLst>
          </p:cNvPr>
          <p:cNvSpPr/>
          <p:nvPr/>
        </p:nvSpPr>
        <p:spPr>
          <a:xfrm>
            <a:off x="734623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8B11FC-06C4-8A2F-797C-EDA9EE757F06}"/>
              </a:ext>
            </a:extLst>
          </p:cNvPr>
          <p:cNvSpPr/>
          <p:nvPr/>
        </p:nvSpPr>
        <p:spPr>
          <a:xfrm>
            <a:off x="8010358" y="3350682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0F8AE4-9D86-D4C2-EA5F-967B44BD42C7}"/>
              </a:ext>
            </a:extLst>
          </p:cNvPr>
          <p:cNvSpPr/>
          <p:nvPr/>
        </p:nvSpPr>
        <p:spPr>
          <a:xfrm>
            <a:off x="77638" y="579555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BF544C9-3D41-B90B-D480-8B4BB81AFBC3}"/>
              </a:ext>
            </a:extLst>
          </p:cNvPr>
          <p:cNvSpPr/>
          <p:nvPr/>
        </p:nvSpPr>
        <p:spPr>
          <a:xfrm>
            <a:off x="2843716" y="2008909"/>
            <a:ext cx="3176466" cy="4090933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444072-D15C-EE43-E0C9-D23026ECE94F}"/>
              </a:ext>
            </a:extLst>
          </p:cNvPr>
          <p:cNvSpPr txBox="1"/>
          <p:nvPr/>
        </p:nvSpPr>
        <p:spPr>
          <a:xfrm>
            <a:off x="3838933" y="2100829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규정 상세설정</a:t>
            </a:r>
          </a:p>
        </p:txBody>
      </p:sp>
      <p:pic>
        <p:nvPicPr>
          <p:cNvPr id="24" name="그래픽 23" descr="닫기 단색으로 채워진">
            <a:extLst>
              <a:ext uri="{FF2B5EF4-FFF2-40B4-BE49-F238E27FC236}">
                <a16:creationId xmlns:a16="http://schemas.microsoft.com/office/drawing/2014/main" id="{9963276C-60E5-4734-CD17-34EA0524F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4779" y="2140796"/>
            <a:ext cx="220651" cy="2206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DE8F887-F51B-41D7-29F4-EE7038CA98F9}"/>
              </a:ext>
            </a:extLst>
          </p:cNvPr>
          <p:cNvSpPr txBox="1"/>
          <p:nvPr/>
        </p:nvSpPr>
        <p:spPr>
          <a:xfrm>
            <a:off x="2980101" y="247586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직급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32DA541-28B1-5DAD-4433-18B6A0484253}"/>
              </a:ext>
            </a:extLst>
          </p:cNvPr>
          <p:cNvGrpSpPr/>
          <p:nvPr/>
        </p:nvGrpSpPr>
        <p:grpSpPr>
          <a:xfrm>
            <a:off x="3079061" y="2747144"/>
            <a:ext cx="2660909" cy="282715"/>
            <a:chOff x="3174521" y="2986620"/>
            <a:chExt cx="2660909" cy="28271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AAFF3A9-3F94-8B20-C883-4C97BFAB9E1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사원</a:t>
              </a:r>
            </a:p>
          </p:txBody>
        </p:sp>
        <p:pic>
          <p:nvPicPr>
            <p:cNvPr id="28" name="그래픽 27" descr="위쪽 캐럿 단색으로 채워진">
              <a:extLst>
                <a:ext uri="{FF2B5EF4-FFF2-40B4-BE49-F238E27FC236}">
                  <a16:creationId xmlns:a16="http://schemas.microsoft.com/office/drawing/2014/main" id="{49A69008-E1FB-3E26-9469-0484D3E87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FE15696-34C7-72EE-F252-D709FC5F7CB3}"/>
              </a:ext>
            </a:extLst>
          </p:cNvPr>
          <p:cNvSpPr txBox="1"/>
          <p:nvPr/>
        </p:nvSpPr>
        <p:spPr>
          <a:xfrm>
            <a:off x="2980101" y="3066275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/>
              <a:t>죄석등급</a:t>
            </a:r>
            <a:endParaRPr lang="ko-KR" altLang="en-US" sz="1000" b="1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5E0D0A5-AF3A-98E1-2395-20FE493CD54A}"/>
              </a:ext>
            </a:extLst>
          </p:cNvPr>
          <p:cNvGrpSpPr/>
          <p:nvPr/>
        </p:nvGrpSpPr>
        <p:grpSpPr>
          <a:xfrm>
            <a:off x="3079061" y="3337559"/>
            <a:ext cx="2660909" cy="282715"/>
            <a:chOff x="3174521" y="2986620"/>
            <a:chExt cx="2660909" cy="28271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9960DEC7-729A-960A-6B21-273D4B369D82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비즈니스석</a:t>
              </a:r>
            </a:p>
          </p:txBody>
        </p:sp>
        <p:pic>
          <p:nvPicPr>
            <p:cNvPr id="45" name="그래픽 44" descr="위쪽 캐럿 단색으로 채워진">
              <a:extLst>
                <a:ext uri="{FF2B5EF4-FFF2-40B4-BE49-F238E27FC236}">
                  <a16:creationId xmlns:a16="http://schemas.microsoft.com/office/drawing/2014/main" id="{DA32550F-0C6D-35D6-0721-3D9969A11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1295BA4-E11B-0058-C88B-FBB00EE5CF9F}"/>
              </a:ext>
            </a:extLst>
          </p:cNvPr>
          <p:cNvSpPr txBox="1"/>
          <p:nvPr/>
        </p:nvSpPr>
        <p:spPr>
          <a:xfrm>
            <a:off x="2980101" y="367354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0FAA2D1-7684-5233-A31E-F566BFC128D2}"/>
              </a:ext>
            </a:extLst>
          </p:cNvPr>
          <p:cNvGrpSpPr/>
          <p:nvPr/>
        </p:nvGrpSpPr>
        <p:grpSpPr>
          <a:xfrm>
            <a:off x="3079061" y="3944824"/>
            <a:ext cx="2660909" cy="282715"/>
            <a:chOff x="3174521" y="2986620"/>
            <a:chExt cx="2660909" cy="28271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0859B22-1B37-D04F-3A71-699C8EA6E7A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57" name="그래픽 56" descr="위쪽 캐럿 단색으로 채워진">
              <a:extLst>
                <a:ext uri="{FF2B5EF4-FFF2-40B4-BE49-F238E27FC236}">
                  <a16:creationId xmlns:a16="http://schemas.microsoft.com/office/drawing/2014/main" id="{AEF4F8E2-48D5-DC68-17F5-92D18F986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8E746141-B38D-CE90-CFA9-30605100CA15}"/>
              </a:ext>
            </a:extLst>
          </p:cNvPr>
          <p:cNvSpPr txBox="1"/>
          <p:nvPr/>
        </p:nvSpPr>
        <p:spPr>
          <a:xfrm>
            <a:off x="2980101" y="4267047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비행시간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0FB40CE-4152-25D8-C881-DFD9A083CC4B}"/>
              </a:ext>
            </a:extLst>
          </p:cNvPr>
          <p:cNvSpPr/>
          <p:nvPr/>
        </p:nvSpPr>
        <p:spPr>
          <a:xfrm>
            <a:off x="3079061" y="4538331"/>
            <a:ext cx="1320411" cy="27699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93ABF3-E30B-56C6-E3F6-B5DBD62F1EBE}"/>
              </a:ext>
            </a:extLst>
          </p:cNvPr>
          <p:cNvSpPr txBox="1"/>
          <p:nvPr/>
        </p:nvSpPr>
        <p:spPr>
          <a:xfrm>
            <a:off x="2980101" y="487990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좌석등급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AF75AE8-1557-4798-B0BD-95666F38DE6A}"/>
              </a:ext>
            </a:extLst>
          </p:cNvPr>
          <p:cNvGrpSpPr/>
          <p:nvPr/>
        </p:nvGrpSpPr>
        <p:grpSpPr>
          <a:xfrm>
            <a:off x="3079061" y="5151184"/>
            <a:ext cx="2660909" cy="282715"/>
            <a:chOff x="3174521" y="2986620"/>
            <a:chExt cx="2660909" cy="282715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25D55A3-8D2B-2DCE-813D-CC28C99CAAE2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일등석</a:t>
              </a:r>
            </a:p>
          </p:txBody>
        </p:sp>
        <p:pic>
          <p:nvPicPr>
            <p:cNvPr id="70" name="그래픽 69" descr="위쪽 캐럿 단색으로 채워진">
              <a:extLst>
                <a:ext uri="{FF2B5EF4-FFF2-40B4-BE49-F238E27FC236}">
                  <a16:creationId xmlns:a16="http://schemas.microsoft.com/office/drawing/2014/main" id="{9271F514-C71E-BAE2-182B-54D4C58BC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817400C-CA2E-5BBF-FA9C-75B18A803153}"/>
              </a:ext>
            </a:extLst>
          </p:cNvPr>
          <p:cNvSpPr txBox="1"/>
          <p:nvPr/>
        </p:nvSpPr>
        <p:spPr>
          <a:xfrm>
            <a:off x="4453913" y="4540018"/>
            <a:ext cx="834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시간 이상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277335C8-A52E-36FD-9ABF-6549C5F962E0}"/>
              </a:ext>
            </a:extLst>
          </p:cNvPr>
          <p:cNvSpPr/>
          <p:nvPr/>
        </p:nvSpPr>
        <p:spPr>
          <a:xfrm>
            <a:off x="3079060" y="5600474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저장</a:t>
            </a:r>
            <a:endParaRPr lang="ko-KR" altLang="en-US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9B12085-ABA4-9CA2-4654-2074B579C436}"/>
              </a:ext>
            </a:extLst>
          </p:cNvPr>
          <p:cNvSpPr/>
          <p:nvPr/>
        </p:nvSpPr>
        <p:spPr>
          <a:xfrm>
            <a:off x="3032052" y="2699643"/>
            <a:ext cx="2730235" cy="381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EB10279-6CFB-D44A-7E94-E7F7ED33ADA5}"/>
              </a:ext>
            </a:extLst>
          </p:cNvPr>
          <p:cNvSpPr/>
          <p:nvPr/>
        </p:nvSpPr>
        <p:spPr>
          <a:xfrm>
            <a:off x="3014800" y="4275190"/>
            <a:ext cx="2831763" cy="12138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2C16D1F-E0B4-8DC4-429E-A1353CF48E4F}"/>
              </a:ext>
            </a:extLst>
          </p:cNvPr>
          <p:cNvSpPr/>
          <p:nvPr/>
        </p:nvSpPr>
        <p:spPr>
          <a:xfrm>
            <a:off x="2981563" y="5566136"/>
            <a:ext cx="2831763" cy="347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24592A00-E2B0-8D11-3C4E-E864A5BBBB40}"/>
              </a:ext>
            </a:extLst>
          </p:cNvPr>
          <p:cNvSpPr/>
          <p:nvPr/>
        </p:nvSpPr>
        <p:spPr>
          <a:xfrm>
            <a:off x="2940239" y="262255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C853AC73-F4AF-C55D-EFAF-D25F79B19B9C}"/>
              </a:ext>
            </a:extLst>
          </p:cNvPr>
          <p:cNvSpPr/>
          <p:nvPr/>
        </p:nvSpPr>
        <p:spPr>
          <a:xfrm>
            <a:off x="2936657" y="423284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DEA7F095-84F5-7627-F2E4-705EBD9E8018}"/>
              </a:ext>
            </a:extLst>
          </p:cNvPr>
          <p:cNvSpPr/>
          <p:nvPr/>
        </p:nvSpPr>
        <p:spPr>
          <a:xfrm>
            <a:off x="2936657" y="552593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EC3CCD0-7532-A241-4253-9C857A03D4C6}"/>
              </a:ext>
            </a:extLst>
          </p:cNvPr>
          <p:cNvSpPr/>
          <p:nvPr/>
        </p:nvSpPr>
        <p:spPr>
          <a:xfrm>
            <a:off x="3053239" y="4512959"/>
            <a:ext cx="1346233" cy="3060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A23E1F8B-D284-C029-7522-30D27E6A23ED}"/>
              </a:ext>
            </a:extLst>
          </p:cNvPr>
          <p:cNvSpPr/>
          <p:nvPr/>
        </p:nvSpPr>
        <p:spPr>
          <a:xfrm>
            <a:off x="4276835" y="4461153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486501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FDC5-BE80-B561-C5EA-7C3CA58F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7CCC6A8-F55B-077F-DD0E-89622AD2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D9AB08-576E-75F2-82F0-8E04C8CE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F595C5-09F1-8CC0-D816-A9FE1E666737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출장규정 수정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BCCA5-AC40-6C00-9ECB-2FFE8D5475F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수정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1C834910-ABDF-77D4-FFDC-1C58FC9EC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051767"/>
              </p:ext>
            </p:extLst>
          </p:nvPr>
        </p:nvGraphicFramePr>
        <p:xfrm>
          <a:off x="8895422" y="89351"/>
          <a:ext cx="3208784" cy="2142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직급정보는 수정 할 수 없도록 </a:t>
                      </a:r>
                      <a:r>
                        <a:rPr lang="en-US" altLang="ko-KR" sz="900" b="0" dirty="0"/>
                        <a:t>disabled </a:t>
                      </a:r>
                      <a:r>
                        <a:rPr lang="ko-KR" altLang="en-US" sz="900" b="0" dirty="0"/>
                        <a:t>처리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작성 정보 수정</a:t>
                      </a:r>
                      <a:br>
                        <a:rPr lang="en-US" altLang="ko-KR" sz="900" dirty="0"/>
                      </a:br>
                      <a:r>
                        <a:rPr lang="ko-KR" altLang="en-US" sz="900" b="1" dirty="0"/>
                        <a:t>수정 시에는 별도 </a:t>
                      </a:r>
                      <a:r>
                        <a:rPr lang="en-US" altLang="ko-KR" sz="900" b="1" dirty="0"/>
                        <a:t>alert</a:t>
                      </a:r>
                      <a:r>
                        <a:rPr lang="ko-KR" altLang="en-US" sz="900" b="1" dirty="0"/>
                        <a:t>창 없음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 노출 영역 및 모든 정보는 저장 시와 동일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58" name="그룹 57">
            <a:extLst>
              <a:ext uri="{FF2B5EF4-FFF2-40B4-BE49-F238E27FC236}">
                <a16:creationId xmlns:a16="http://schemas.microsoft.com/office/drawing/2014/main" id="{E289F78A-4BDE-D73E-B3AC-474685FCE240}"/>
              </a:ext>
            </a:extLst>
          </p:cNvPr>
          <p:cNvGrpSpPr/>
          <p:nvPr/>
        </p:nvGrpSpPr>
        <p:grpSpPr>
          <a:xfrm>
            <a:off x="363278" y="696285"/>
            <a:ext cx="8239184" cy="1558845"/>
            <a:chOff x="363278" y="696285"/>
            <a:chExt cx="8239184" cy="1558845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1C422CE-7897-A384-509A-1B991723B0AE}"/>
                </a:ext>
              </a:extLst>
            </p:cNvPr>
            <p:cNvSpPr/>
            <p:nvPr/>
          </p:nvSpPr>
          <p:spPr>
            <a:xfrm>
              <a:off x="398134" y="704224"/>
              <a:ext cx="868241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로고</a:t>
              </a: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DA609DC-5AF3-E04E-C531-F5AC99270A5D}"/>
                </a:ext>
              </a:extLst>
            </p:cNvPr>
            <p:cNvSpPr/>
            <p:nvPr/>
          </p:nvSpPr>
          <p:spPr>
            <a:xfrm>
              <a:off x="1398448" y="696285"/>
              <a:ext cx="5523236" cy="445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항공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호텔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요청</a:t>
              </a:r>
              <a:r>
                <a:rPr lang="en-US" altLang="ko-KR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관리</a:t>
              </a:r>
              <a:endParaRPr lang="ko-KR" altLang="en-US" sz="1200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9AE146B3-1589-913F-EEAA-A5E0B209C9B7}"/>
                </a:ext>
              </a:extLst>
            </p:cNvPr>
            <p:cNvSpPr/>
            <p:nvPr/>
          </p:nvSpPr>
          <p:spPr>
            <a:xfrm>
              <a:off x="7198844" y="704224"/>
              <a:ext cx="1403618" cy="438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16C45975-A410-5124-3342-E1AE97148AA3}"/>
                </a:ext>
              </a:extLst>
            </p:cNvPr>
            <p:cNvSpPr/>
            <p:nvPr/>
          </p:nvSpPr>
          <p:spPr>
            <a:xfrm>
              <a:off x="363278" y="1693510"/>
              <a:ext cx="1381632" cy="43851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b="1" dirty="0">
                  <a:solidFill>
                    <a:schemeClr val="tx1"/>
                  </a:solidFill>
                </a:rPr>
                <a:t>출장규정 관리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9D4945BB-749E-5D63-EA36-D5B52ECE6871}"/>
                </a:ext>
              </a:extLst>
            </p:cNvPr>
            <p:cNvSpPr/>
            <p:nvPr/>
          </p:nvSpPr>
          <p:spPr>
            <a:xfrm>
              <a:off x="39813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고객사 관리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EE8882DA-E2C2-3CB4-804C-9398CE56A893}"/>
                </a:ext>
              </a:extLst>
            </p:cNvPr>
            <p:cNvSpPr/>
            <p:nvPr/>
          </p:nvSpPr>
          <p:spPr>
            <a:xfrm>
              <a:off x="1605456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전담팀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관리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4B97D565-E1F1-5E5D-F39D-756C58A4563F}"/>
                </a:ext>
              </a:extLst>
            </p:cNvPr>
            <p:cNvSpPr/>
            <p:nvPr/>
          </p:nvSpPr>
          <p:spPr>
            <a:xfrm>
              <a:off x="2788526" y="1328543"/>
              <a:ext cx="1118546" cy="27039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출장규정관리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CFD09509-FEEF-2FB9-64B0-65ADBFBA51C8}"/>
                </a:ext>
              </a:extLst>
            </p:cNvPr>
            <p:cNvSpPr/>
            <p:nvPr/>
          </p:nvSpPr>
          <p:spPr>
            <a:xfrm>
              <a:off x="3986754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항공예약관리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8E5A2C5-FC40-3449-5715-CC189F061D40}"/>
                </a:ext>
              </a:extLst>
            </p:cNvPr>
            <p:cNvSpPr/>
            <p:nvPr/>
          </p:nvSpPr>
          <p:spPr>
            <a:xfrm>
              <a:off x="5174629" y="1328543"/>
              <a:ext cx="1118546" cy="2703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계정권한관리</a:t>
              </a:r>
            </a:p>
          </p:txBody>
        </p:sp>
        <p:sp>
          <p:nvSpPr>
            <p:cNvPr id="54" name="순서도: 수행의 시작/종료 53">
              <a:extLst>
                <a:ext uri="{FF2B5EF4-FFF2-40B4-BE49-F238E27FC236}">
                  <a16:creationId xmlns:a16="http://schemas.microsoft.com/office/drawing/2014/main" id="{56D87D4F-0850-4777-45A8-33FCD170B587}"/>
                </a:ext>
              </a:extLst>
            </p:cNvPr>
            <p:cNvSpPr/>
            <p:nvPr/>
          </p:nvSpPr>
          <p:spPr>
            <a:xfrm>
              <a:off x="7938337" y="2008909"/>
              <a:ext cx="529258" cy="205092"/>
            </a:xfrm>
            <a:prstGeom prst="flowChartTermina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ON</a:t>
              </a:r>
              <a:endParaRPr lang="ko-KR" altLang="en-US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C0563A-D794-6365-3E3F-0ABE6830B004}"/>
                </a:ext>
              </a:extLst>
            </p:cNvPr>
            <p:cNvSpPr txBox="1"/>
            <p:nvPr/>
          </p:nvSpPr>
          <p:spPr>
            <a:xfrm>
              <a:off x="7203026" y="2008909"/>
              <a:ext cx="6976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출장규정</a:t>
              </a: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F9AA59B-7BCA-710A-5AE0-400A8B28A5E3}"/>
              </a:ext>
            </a:extLst>
          </p:cNvPr>
          <p:cNvGraphicFramePr>
            <a:graphicFrameLocks noGrp="1"/>
          </p:cNvGraphicFramePr>
          <p:nvPr/>
        </p:nvGraphicFramePr>
        <p:xfrm>
          <a:off x="456146" y="2362610"/>
          <a:ext cx="8128001" cy="897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51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126391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선택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 사용여부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비행시간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좌석등급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설정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대표이사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비즈니스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Y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r>
                        <a:rPr lang="ko-KR" altLang="en-US" sz="1000" dirty="0"/>
                        <a:t>시간 이상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일등석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B382F058-A2C0-7248-F441-DB6470C00F76}"/>
              </a:ext>
            </a:extLst>
          </p:cNvPr>
          <p:cNvSpPr/>
          <p:nvPr/>
        </p:nvSpPr>
        <p:spPr>
          <a:xfrm>
            <a:off x="694231" y="2743980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0995537-AB16-5714-E3C5-F3DF164B9E41}"/>
              </a:ext>
            </a:extLst>
          </p:cNvPr>
          <p:cNvSpPr/>
          <p:nvPr/>
        </p:nvSpPr>
        <p:spPr>
          <a:xfrm>
            <a:off x="688254" y="3055196"/>
            <a:ext cx="144000" cy="10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BE3400-7AEE-297F-030C-5B28DECC20F0}"/>
              </a:ext>
            </a:extLst>
          </p:cNvPr>
          <p:cNvSpPr/>
          <p:nvPr/>
        </p:nvSpPr>
        <p:spPr>
          <a:xfrm>
            <a:off x="7744874" y="2992335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671D6B-9E7E-CBFC-2E46-67693D658CA7}"/>
              </a:ext>
            </a:extLst>
          </p:cNvPr>
          <p:cNvSpPr/>
          <p:nvPr/>
        </p:nvSpPr>
        <p:spPr>
          <a:xfrm>
            <a:off x="7744874" y="2682293"/>
            <a:ext cx="432968" cy="2313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E7DA95-754F-A14C-7ED6-9BB9ED7C0E37}"/>
              </a:ext>
            </a:extLst>
          </p:cNvPr>
          <p:cNvSpPr/>
          <p:nvPr/>
        </p:nvSpPr>
        <p:spPr>
          <a:xfrm>
            <a:off x="7346233" y="3347885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추가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1C87A7-4BFC-3534-A617-A60F64FE8C07}"/>
              </a:ext>
            </a:extLst>
          </p:cNvPr>
          <p:cNvSpPr/>
          <p:nvPr/>
        </p:nvSpPr>
        <p:spPr>
          <a:xfrm>
            <a:off x="8010358" y="3350682"/>
            <a:ext cx="592104" cy="25858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E0137A-32B6-5980-1E0F-47D64B941F78}"/>
              </a:ext>
            </a:extLst>
          </p:cNvPr>
          <p:cNvSpPr/>
          <p:nvPr/>
        </p:nvSpPr>
        <p:spPr>
          <a:xfrm>
            <a:off x="77638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854705-AAC4-818A-4F72-D2198E0768C7}"/>
              </a:ext>
            </a:extLst>
          </p:cNvPr>
          <p:cNvSpPr/>
          <p:nvPr/>
        </p:nvSpPr>
        <p:spPr>
          <a:xfrm>
            <a:off x="2843716" y="2008909"/>
            <a:ext cx="3176466" cy="4090933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917AE-D9ED-E9C9-9B7D-14495B45923A}"/>
              </a:ext>
            </a:extLst>
          </p:cNvPr>
          <p:cNvSpPr txBox="1"/>
          <p:nvPr/>
        </p:nvSpPr>
        <p:spPr>
          <a:xfrm>
            <a:off x="3838933" y="2100829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규정 상세설정</a:t>
            </a:r>
          </a:p>
        </p:txBody>
      </p:sp>
      <p:pic>
        <p:nvPicPr>
          <p:cNvPr id="24" name="그래픽 23" descr="닫기 단색으로 채워진">
            <a:extLst>
              <a:ext uri="{FF2B5EF4-FFF2-40B4-BE49-F238E27FC236}">
                <a16:creationId xmlns:a16="http://schemas.microsoft.com/office/drawing/2014/main" id="{1481EA8F-D7F1-8C9C-E0CF-A30F69A96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4779" y="2140796"/>
            <a:ext cx="220651" cy="22065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CD9518A-9270-3959-024A-1FB5766AC709}"/>
              </a:ext>
            </a:extLst>
          </p:cNvPr>
          <p:cNvSpPr txBox="1"/>
          <p:nvPr/>
        </p:nvSpPr>
        <p:spPr>
          <a:xfrm>
            <a:off x="2980101" y="247586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직급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8883988-5078-C2DC-2B45-73DE9AFBE880}"/>
              </a:ext>
            </a:extLst>
          </p:cNvPr>
          <p:cNvGrpSpPr/>
          <p:nvPr/>
        </p:nvGrpSpPr>
        <p:grpSpPr>
          <a:xfrm>
            <a:off x="3079061" y="2747144"/>
            <a:ext cx="2660909" cy="282715"/>
            <a:chOff x="3174521" y="2986620"/>
            <a:chExt cx="2660909" cy="282715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04793BA-C24C-F79A-D666-17E2ED56F635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사원</a:t>
              </a:r>
            </a:p>
          </p:txBody>
        </p:sp>
        <p:pic>
          <p:nvPicPr>
            <p:cNvPr id="28" name="그래픽 27" descr="위쪽 캐럿 단색으로 채워진">
              <a:extLst>
                <a:ext uri="{FF2B5EF4-FFF2-40B4-BE49-F238E27FC236}">
                  <a16:creationId xmlns:a16="http://schemas.microsoft.com/office/drawing/2014/main" id="{AF66A77E-5110-F148-B3BE-AE9B4050A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7BBFFF7-B53F-871F-1B32-5FC55E372DF9}"/>
              </a:ext>
            </a:extLst>
          </p:cNvPr>
          <p:cNvSpPr txBox="1"/>
          <p:nvPr/>
        </p:nvSpPr>
        <p:spPr>
          <a:xfrm>
            <a:off x="2980101" y="3066275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/>
              <a:t>죄석등급</a:t>
            </a:r>
            <a:endParaRPr lang="ko-KR" altLang="en-US" sz="1000" b="1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20CB6B2-722E-EC23-8F3A-2E0692093A06}"/>
              </a:ext>
            </a:extLst>
          </p:cNvPr>
          <p:cNvGrpSpPr/>
          <p:nvPr/>
        </p:nvGrpSpPr>
        <p:grpSpPr>
          <a:xfrm>
            <a:off x="3079061" y="3337559"/>
            <a:ext cx="2660909" cy="282715"/>
            <a:chOff x="3174521" y="2986620"/>
            <a:chExt cx="2660909" cy="28271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49EA860-0617-847F-11C4-446B2E5BE57C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비즈니스석</a:t>
              </a:r>
            </a:p>
          </p:txBody>
        </p:sp>
        <p:pic>
          <p:nvPicPr>
            <p:cNvPr id="45" name="그래픽 44" descr="위쪽 캐럿 단색으로 채워진">
              <a:extLst>
                <a:ext uri="{FF2B5EF4-FFF2-40B4-BE49-F238E27FC236}">
                  <a16:creationId xmlns:a16="http://schemas.microsoft.com/office/drawing/2014/main" id="{62E53B0F-2142-DF92-689C-C601052D8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289C55F-2552-7BAD-A3ED-D25E59D94294}"/>
              </a:ext>
            </a:extLst>
          </p:cNvPr>
          <p:cNvSpPr txBox="1"/>
          <p:nvPr/>
        </p:nvSpPr>
        <p:spPr>
          <a:xfrm>
            <a:off x="2980101" y="367354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A3FBE73-C0FE-B036-1226-1E3CB5681A1A}"/>
              </a:ext>
            </a:extLst>
          </p:cNvPr>
          <p:cNvGrpSpPr/>
          <p:nvPr/>
        </p:nvGrpSpPr>
        <p:grpSpPr>
          <a:xfrm>
            <a:off x="3079061" y="3944824"/>
            <a:ext cx="2660909" cy="282715"/>
            <a:chOff x="3174521" y="2986620"/>
            <a:chExt cx="2660909" cy="28271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8742ABF-161B-4580-1FFE-0C3C6887F0FD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N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57" name="그래픽 56" descr="위쪽 캐럿 단색으로 채워진">
              <a:extLst>
                <a:ext uri="{FF2B5EF4-FFF2-40B4-BE49-F238E27FC236}">
                  <a16:creationId xmlns:a16="http://schemas.microsoft.com/office/drawing/2014/main" id="{A4CC1BFE-ADEF-9A63-C619-40EB6E974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2412EEA-C59F-C366-348B-E91190D5BA9B}"/>
              </a:ext>
            </a:extLst>
          </p:cNvPr>
          <p:cNvSpPr txBox="1"/>
          <p:nvPr/>
        </p:nvSpPr>
        <p:spPr>
          <a:xfrm>
            <a:off x="2980101" y="4267047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비행시간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C531CFC-1764-EB5B-1ED9-3E60B563EE55}"/>
              </a:ext>
            </a:extLst>
          </p:cNvPr>
          <p:cNvSpPr/>
          <p:nvPr/>
        </p:nvSpPr>
        <p:spPr>
          <a:xfrm>
            <a:off x="3079061" y="4538331"/>
            <a:ext cx="1320411" cy="27699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44CB585-E5A4-0CB4-0B5C-EB921A99BAF8}"/>
              </a:ext>
            </a:extLst>
          </p:cNvPr>
          <p:cNvSpPr txBox="1"/>
          <p:nvPr/>
        </p:nvSpPr>
        <p:spPr>
          <a:xfrm>
            <a:off x="2980101" y="487990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 </a:t>
            </a:r>
            <a:r>
              <a:rPr lang="en-US" altLang="ko-KR" sz="1000" b="1" dirty="0"/>
              <a:t>(</a:t>
            </a:r>
            <a:r>
              <a:rPr lang="ko-KR" altLang="en-US" sz="1000" b="1" dirty="0"/>
              <a:t>좌석등급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CB917626-6099-B8D9-EE84-B1BC60858A4E}"/>
              </a:ext>
            </a:extLst>
          </p:cNvPr>
          <p:cNvGrpSpPr/>
          <p:nvPr/>
        </p:nvGrpSpPr>
        <p:grpSpPr>
          <a:xfrm>
            <a:off x="3079061" y="5151184"/>
            <a:ext cx="2660909" cy="282715"/>
            <a:chOff x="3174521" y="2986620"/>
            <a:chExt cx="2660909" cy="282715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944D0E9-5D34-40FA-1671-87F0416892B6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일등석</a:t>
              </a:r>
            </a:p>
          </p:txBody>
        </p:sp>
        <p:pic>
          <p:nvPicPr>
            <p:cNvPr id="70" name="그래픽 69" descr="위쪽 캐럿 단색으로 채워진">
              <a:extLst>
                <a:ext uri="{FF2B5EF4-FFF2-40B4-BE49-F238E27FC236}">
                  <a16:creationId xmlns:a16="http://schemas.microsoft.com/office/drawing/2014/main" id="{72BF2589-ABCB-1063-F424-BF57F8FFC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065FF1E5-0226-B96E-7D54-A637B86ABB0F}"/>
              </a:ext>
            </a:extLst>
          </p:cNvPr>
          <p:cNvSpPr txBox="1"/>
          <p:nvPr/>
        </p:nvSpPr>
        <p:spPr>
          <a:xfrm>
            <a:off x="4453913" y="4540018"/>
            <a:ext cx="834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시간 이상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4258150-770E-4CB0-55A0-1EE285C6EF40}"/>
              </a:ext>
            </a:extLst>
          </p:cNvPr>
          <p:cNvSpPr/>
          <p:nvPr/>
        </p:nvSpPr>
        <p:spPr>
          <a:xfrm>
            <a:off x="3079060" y="5600474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저장</a:t>
            </a:r>
            <a:endParaRPr lang="ko-KR" altLang="en-US" b="1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721A8A2-10BF-FDE8-FAED-85615F401459}"/>
              </a:ext>
            </a:extLst>
          </p:cNvPr>
          <p:cNvSpPr/>
          <p:nvPr/>
        </p:nvSpPr>
        <p:spPr>
          <a:xfrm>
            <a:off x="3032052" y="2699643"/>
            <a:ext cx="2730235" cy="3811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D721CA7-6962-9E3F-032F-7967A2CA08FD}"/>
              </a:ext>
            </a:extLst>
          </p:cNvPr>
          <p:cNvSpPr/>
          <p:nvPr/>
        </p:nvSpPr>
        <p:spPr>
          <a:xfrm>
            <a:off x="2981563" y="5566136"/>
            <a:ext cx="2831763" cy="3474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ED275D5E-C473-7344-B740-76BDD8DC09EA}"/>
              </a:ext>
            </a:extLst>
          </p:cNvPr>
          <p:cNvSpPr/>
          <p:nvPr/>
        </p:nvSpPr>
        <p:spPr>
          <a:xfrm>
            <a:off x="2940239" y="262255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6CF40A3-ACFD-D0D2-2853-284A48A26F38}"/>
              </a:ext>
            </a:extLst>
          </p:cNvPr>
          <p:cNvSpPr/>
          <p:nvPr/>
        </p:nvSpPr>
        <p:spPr>
          <a:xfrm>
            <a:off x="2936657" y="552593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724307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9D662-7F87-3487-D1BB-4AD5A6FDF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70E967-3F00-EA1A-F3C7-8191F067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2F434C-76BA-1657-370B-378F75129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1E9655-9A9D-968F-47F9-13DBED2CDB4C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항공예약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F83DC9-2A59-C97E-265C-40474415C1D6}"/>
              </a:ext>
            </a:extLst>
          </p:cNvPr>
          <p:cNvSpPr txBox="1"/>
          <p:nvPr/>
        </p:nvSpPr>
        <p:spPr>
          <a:xfrm>
            <a:off x="3322103" y="175128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/>
              <a:t>항공예약</a:t>
            </a:r>
            <a:r>
              <a:rPr lang="ko-KR" altLang="en-US" sz="1000" b="1">
                <a:solidFill>
                  <a:schemeClr val="tx1"/>
                </a:solidFill>
              </a:rPr>
              <a:t> 관리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9F78849-3E98-2440-D9B4-DBDD9334B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81775"/>
              </p:ext>
            </p:extLst>
          </p:nvPr>
        </p:nvGraphicFramePr>
        <p:xfrm>
          <a:off x="8895422" y="89351"/>
          <a:ext cx="3208784" cy="6494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출장 관리자가 예약 관리를 확인할 수 있으며</a:t>
                      </a:r>
                      <a:r>
                        <a:rPr lang="en-US" altLang="ko-KR" sz="900" b="1" dirty="0"/>
                        <a:t>, </a:t>
                      </a:r>
                      <a:br>
                        <a:rPr lang="en-US" altLang="ko-KR" sz="900" b="1" dirty="0"/>
                      </a:br>
                      <a:r>
                        <a:rPr lang="ko-KR" altLang="en-US" sz="900" b="1" dirty="0"/>
                        <a:t>예약이 </a:t>
                      </a:r>
                      <a:r>
                        <a:rPr lang="ko-KR" altLang="en-US" sz="900" b="1" dirty="0" err="1"/>
                        <a:t>미준수인</a:t>
                      </a:r>
                      <a:r>
                        <a:rPr lang="ko-KR" altLang="en-US" sz="900" b="1" dirty="0"/>
                        <a:t> 경우에는 이를 승인하거나 반려할 수 있는 기능 제공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검색 조건 작성 후 조회</a:t>
                      </a:r>
                      <a:br>
                        <a:rPr lang="en-US" altLang="ko-KR" sz="900" b="0" dirty="0"/>
                      </a:br>
                      <a:endParaRPr lang="en-US" altLang="ko-KR" sz="900" b="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/>
                        <a:t>예약기간 </a:t>
                      </a:r>
                      <a:endParaRPr lang="en-US" altLang="ko-KR" sz="9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개월 수 중복 선택 불가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개월 선택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예약일자 자동 변경</a:t>
                      </a:r>
                      <a:endParaRPr lang="en-US" altLang="ko-KR" sz="9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dirty="0"/>
                        <a:t>- Input</a:t>
                      </a:r>
                      <a:r>
                        <a:rPr lang="ko-KR" altLang="en-US" sz="900" dirty="0"/>
                        <a:t> 박스 선택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캘린더 노출 </a:t>
                      </a:r>
                      <a:r>
                        <a:rPr lang="en-US" altLang="ko-KR" sz="900" dirty="0"/>
                        <a:t>(3</a:t>
                      </a:r>
                      <a:r>
                        <a:rPr lang="ko-KR" altLang="en-US" sz="900" dirty="0"/>
                        <a:t>년 제한</a:t>
                      </a:r>
                      <a:r>
                        <a:rPr lang="en-US" altLang="ko-KR" sz="900" dirty="0"/>
                        <a:t>)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직접 입력 불가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2. </a:t>
                      </a:r>
                      <a:r>
                        <a:rPr lang="ko-KR" altLang="en-US" sz="900" dirty="0"/>
                        <a:t>출장자정보 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예약번호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직접 입력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3. </a:t>
                      </a:r>
                      <a:r>
                        <a:rPr lang="ko-KR" altLang="en-US" sz="900" dirty="0"/>
                        <a:t>구분</a:t>
                      </a:r>
                      <a:r>
                        <a:rPr lang="en-US" altLang="ko-KR" sz="900" dirty="0"/>
                        <a:t> : </a:t>
                      </a:r>
                      <a:r>
                        <a:rPr lang="ko-KR" altLang="en-US" sz="900" dirty="0"/>
                        <a:t>전체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국내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국제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lang="en-US" altLang="ko-KR" sz="900" dirty="0" err="1">
                          <a:solidFill>
                            <a:srgbClr val="FF0000"/>
                          </a:solidFill>
                        </a:rPr>
                        <a:t>selectbox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 &gt; checkbox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변경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4. </a:t>
                      </a:r>
                      <a:r>
                        <a:rPr lang="ko-KR" altLang="en-US" sz="900" dirty="0"/>
                        <a:t>규정결과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전체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준수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 err="1"/>
                        <a:t>미준수</a:t>
                      </a:r>
                      <a:r>
                        <a:rPr lang="ko-KR" altLang="en-US" sz="900" dirty="0"/>
                        <a:t> 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5. </a:t>
                      </a:r>
                      <a:r>
                        <a:rPr lang="ko-KR" altLang="en-US" sz="900" dirty="0"/>
                        <a:t>승인여부 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예약상태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중복 선택 가능하며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최초에는 전체 선택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규정결과 필드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dirty="0" err="1"/>
                        <a:t>미준수일</a:t>
                      </a:r>
                      <a:r>
                        <a:rPr lang="ko-KR" altLang="en-US" sz="900" dirty="0"/>
                        <a:t>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클릭 후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위반 사유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창 노출</a:t>
                      </a:r>
                      <a:r>
                        <a:rPr lang="en-US" altLang="ko-KR" sz="900" dirty="0"/>
                        <a:t>(#11page)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b="1" dirty="0"/>
                        <a:t>규정사항 준수일 시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별도 기능 없음 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b="1" dirty="0"/>
                        <a:t>- 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#6page 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출장규정관리가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off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일 경우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번과 같이 규정결과 필드 </a:t>
                      </a:r>
                      <a:r>
                        <a:rPr lang="ko-KR" altLang="en-US" sz="900" b="1" dirty="0" err="1">
                          <a:solidFill>
                            <a:srgbClr val="C00000"/>
                          </a:solidFill>
                        </a:rPr>
                        <a:t>숨김처리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altLang="ko-KR" sz="9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승인여부 필드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dirty="0"/>
                        <a:t>미확인일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클릭 후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승인 여부 선택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칭 노출</a:t>
                      </a:r>
                      <a:r>
                        <a:rPr lang="en-US" altLang="ko-KR" sz="900" dirty="0"/>
                        <a:t>(#13page)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b="1" dirty="0"/>
                        <a:t>승인 및 반려 일 시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별도 기능 없음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b="1" dirty="0"/>
                        <a:t>- 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#6page 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출장규정관리가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off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일 경우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번과 같이 승인여부 필드 </a:t>
                      </a:r>
                      <a:r>
                        <a:rPr lang="ko-KR" altLang="en-US" sz="900" b="1" dirty="0" err="1">
                          <a:solidFill>
                            <a:srgbClr val="C00000"/>
                          </a:solidFill>
                        </a:rPr>
                        <a:t>숨김처리</a:t>
                      </a:r>
                      <a:endParaRPr lang="en-US" altLang="ko-KR" sz="9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출장규정관리 </a:t>
                      </a:r>
                      <a:r>
                        <a:rPr lang="en-US" altLang="ko-KR" sz="900" b="1" dirty="0"/>
                        <a:t>OFF</a:t>
                      </a:r>
                      <a:r>
                        <a:rPr lang="ko-KR" altLang="en-US" sz="900" b="1" dirty="0"/>
                        <a:t>일 경우 노출되는 테이블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규정결과 및 승인여부 </a:t>
                      </a:r>
                      <a:r>
                        <a:rPr lang="ko-KR" altLang="en-US" sz="900" dirty="0" err="1"/>
                        <a:t>숨김처리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77138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페이징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필요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승인여부의 경우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국내선은 해당사항이 없기 때문에 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‘-’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노출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ONLY DOT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고객사는 규정결과 승인여부 로직 예외</a:t>
                      </a:r>
                      <a:b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ㄴ 모든 </a:t>
                      </a:r>
                      <a:r>
                        <a:rPr lang="ko-KR" altLang="en-US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예약건에</a:t>
                      </a:r>
                      <a:r>
                        <a:rPr lang="ko-KR" altLang="en-US" sz="900" b="1" u="none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대해서 승인</a:t>
                      </a:r>
                      <a:r>
                        <a:rPr lang="en-US" altLang="ko-KR" sz="900" b="1" u="none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반려 처리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70A102A2-7159-FD10-B7CB-9C58ADD4AC93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13D618F-9441-A883-FA07-B7C6BC224891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94DEA65-1C51-2B83-FE5F-B9BCC2C8CE41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항공예약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EF7EA8B-3878-7F23-612E-322B9804B560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8342010-BF91-9FBC-0BB2-B34F86B5CBEF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8DC2D79-F215-AB8B-0907-AA146BA09C53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66BA03C-25AE-786F-346C-FFB688520054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7FC16C7-DD41-E3C7-27E3-C2913BDA9079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3FCAB98-B826-27BA-A8E1-9AF472D57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043519"/>
              </p:ext>
            </p:extLst>
          </p:nvPr>
        </p:nvGraphicFramePr>
        <p:xfrm>
          <a:off x="398134" y="3827999"/>
          <a:ext cx="8133345" cy="95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334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652759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533892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907709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889106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750992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  <a:gridCol w="1145551">
                  <a:extLst>
                    <a:ext uri="{9D8B030D-6E8A-4147-A177-3AD203B41FA5}">
                      <a16:colId xmlns:a16="http://schemas.microsoft.com/office/drawing/2014/main" val="2993533802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규정결과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승인여부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123-456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2025-05-28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인천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 err="1"/>
                        <a:t>하네다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 err="1"/>
                        <a:t>하네다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미준수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미확인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6FBDJ5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2025-02-14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2025-12-28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진에어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김포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제주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제주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준수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3B14C75-DDDC-FC64-901B-C5B8A11C4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363938"/>
              </p:ext>
            </p:extLst>
          </p:nvPr>
        </p:nvGraphicFramePr>
        <p:xfrm>
          <a:off x="403480" y="2163239"/>
          <a:ext cx="8128000" cy="149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18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 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 번호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규정 결과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승인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미확인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승인 ☐ 반려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900" b="0" i="0" dirty="0" err="1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21689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3EE4FF28-1B0D-4755-6FF8-1C58BFADE1BE}"/>
              </a:ext>
            </a:extLst>
          </p:cNvPr>
          <p:cNvSpPr txBox="1"/>
          <p:nvPr/>
        </p:nvSpPr>
        <p:spPr>
          <a:xfrm>
            <a:off x="3625284" y="5138521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71E579-52FB-0656-66B0-9D860F97B61A}"/>
              </a:ext>
            </a:extLst>
          </p:cNvPr>
          <p:cNvSpPr/>
          <p:nvPr/>
        </p:nvSpPr>
        <p:spPr>
          <a:xfrm>
            <a:off x="1326756" y="2623764"/>
            <a:ext cx="2580316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71ABC6-1DA8-217D-7DCC-E184C8BE3BAF}"/>
              </a:ext>
            </a:extLst>
          </p:cNvPr>
          <p:cNvSpPr/>
          <p:nvPr/>
        </p:nvSpPr>
        <p:spPr>
          <a:xfrm>
            <a:off x="4830348" y="2634540"/>
            <a:ext cx="2784359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7DAE720-ABD6-50E6-08C4-B59A9016B1E7}"/>
              </a:ext>
            </a:extLst>
          </p:cNvPr>
          <p:cNvGrpSpPr/>
          <p:nvPr/>
        </p:nvGrpSpPr>
        <p:grpSpPr>
          <a:xfrm>
            <a:off x="4828073" y="2980485"/>
            <a:ext cx="2784359" cy="267124"/>
            <a:chOff x="3174521" y="2986620"/>
            <a:chExt cx="2660909" cy="28271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2CDDF19-CB11-104B-6F64-2EABA44B8460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17" name="그래픽 16" descr="위쪽 캐럿 단색으로 채워진">
              <a:extLst>
                <a:ext uri="{FF2B5EF4-FFF2-40B4-BE49-F238E27FC236}">
                  <a16:creationId xmlns:a16="http://schemas.microsoft.com/office/drawing/2014/main" id="{83CAA7E1-342E-9AB3-AF11-790D3AD26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802A4E-D6E7-EF39-7D2D-FFBED540F87F}"/>
              </a:ext>
            </a:extLst>
          </p:cNvPr>
          <p:cNvSpPr/>
          <p:nvPr/>
        </p:nvSpPr>
        <p:spPr>
          <a:xfrm>
            <a:off x="4018516" y="2232014"/>
            <a:ext cx="3593916" cy="2957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래픽 18" descr="플립 달력 단색으로 채워진">
            <a:extLst>
              <a:ext uri="{FF2B5EF4-FFF2-40B4-BE49-F238E27FC236}">
                <a16:creationId xmlns:a16="http://schemas.microsoft.com/office/drawing/2014/main" id="{E9D4AEC6-859F-E0A4-5ECD-59931D8EE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2550" y="2265741"/>
            <a:ext cx="197800" cy="197800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DC5CBC9-7FAA-1412-46F9-5EC7038BB3ED}"/>
              </a:ext>
            </a:extLst>
          </p:cNvPr>
          <p:cNvSpPr/>
          <p:nvPr/>
        </p:nvSpPr>
        <p:spPr>
          <a:xfrm>
            <a:off x="7704387" y="2762107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075B1D33-C02F-5BDE-D4FA-6EB3647B2DE6}"/>
              </a:ext>
            </a:extLst>
          </p:cNvPr>
          <p:cNvSpPr/>
          <p:nvPr/>
        </p:nvSpPr>
        <p:spPr>
          <a:xfrm>
            <a:off x="363278" y="2122847"/>
            <a:ext cx="8239184" cy="15951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7D6985CB-0399-8745-9D91-B1AB55495E1E}"/>
              </a:ext>
            </a:extLst>
          </p:cNvPr>
          <p:cNvSpPr/>
          <p:nvPr/>
        </p:nvSpPr>
        <p:spPr>
          <a:xfrm>
            <a:off x="332498" y="2037628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8F42AA50-7151-8F14-6D5E-9A42F3310A34}"/>
              </a:ext>
            </a:extLst>
          </p:cNvPr>
          <p:cNvSpPr/>
          <p:nvPr/>
        </p:nvSpPr>
        <p:spPr>
          <a:xfrm>
            <a:off x="6985261" y="3835189"/>
            <a:ext cx="61292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31277CF6-BF3F-7CF3-843B-38FBA81405CD}"/>
              </a:ext>
            </a:extLst>
          </p:cNvPr>
          <p:cNvSpPr/>
          <p:nvPr/>
        </p:nvSpPr>
        <p:spPr>
          <a:xfrm>
            <a:off x="7809457" y="3805485"/>
            <a:ext cx="61292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D28E5EB7-6C6D-57FD-0F75-E09ABF5B6E2C}"/>
              </a:ext>
            </a:extLst>
          </p:cNvPr>
          <p:cNvSpPr/>
          <p:nvPr/>
        </p:nvSpPr>
        <p:spPr>
          <a:xfrm>
            <a:off x="6870222" y="3749970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39E0A1C5-9A36-1DB1-05A1-D619466ED2C1}"/>
              </a:ext>
            </a:extLst>
          </p:cNvPr>
          <p:cNvSpPr/>
          <p:nvPr/>
        </p:nvSpPr>
        <p:spPr>
          <a:xfrm>
            <a:off x="7710651" y="375837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86594FB-301A-D71A-644F-5B3F6EF863FA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71E84B-00C6-4380-8EB3-60A743F94B3D}"/>
              </a:ext>
            </a:extLst>
          </p:cNvPr>
          <p:cNvSpPr/>
          <p:nvPr/>
        </p:nvSpPr>
        <p:spPr>
          <a:xfrm>
            <a:off x="1249988" y="2995930"/>
            <a:ext cx="297068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900" dirty="0">
                <a:latin typeface="Arial" panose="020B0604020202020204" pitchFamily="34" charset="0"/>
              </a:rPr>
              <a:t>☑ 전체  ☑ 국내  ☑ 국제</a:t>
            </a:r>
            <a:endParaRPr lang="ko-KR" altLang="en-US" sz="9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809F5E7-6B4B-4CD0-BB34-AB942F79B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74275"/>
              </p:ext>
            </p:extLst>
          </p:nvPr>
        </p:nvGraphicFramePr>
        <p:xfrm>
          <a:off x="371945" y="5672606"/>
          <a:ext cx="6506677" cy="95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334">
                  <a:extLst>
                    <a:ext uri="{9D8B030D-6E8A-4147-A177-3AD203B41FA5}">
                      <a16:colId xmlns:a16="http://schemas.microsoft.com/office/drawing/2014/main" val="2818569810"/>
                    </a:ext>
                  </a:extLst>
                </a:gridCol>
                <a:gridCol w="652759">
                  <a:extLst>
                    <a:ext uri="{9D8B030D-6E8A-4147-A177-3AD203B41FA5}">
                      <a16:colId xmlns:a16="http://schemas.microsoft.com/office/drawing/2014/main" val="245025633"/>
                    </a:ext>
                  </a:extLst>
                </a:gridCol>
                <a:gridCol w="533892">
                  <a:extLst>
                    <a:ext uri="{9D8B030D-6E8A-4147-A177-3AD203B41FA5}">
                      <a16:colId xmlns:a16="http://schemas.microsoft.com/office/drawing/2014/main" val="1824162190"/>
                    </a:ext>
                  </a:extLst>
                </a:gridCol>
                <a:gridCol w="907709">
                  <a:extLst>
                    <a:ext uri="{9D8B030D-6E8A-4147-A177-3AD203B41FA5}">
                      <a16:colId xmlns:a16="http://schemas.microsoft.com/office/drawing/2014/main" val="2255252913"/>
                    </a:ext>
                  </a:extLst>
                </a:gridCol>
                <a:gridCol w="889106">
                  <a:extLst>
                    <a:ext uri="{9D8B030D-6E8A-4147-A177-3AD203B41FA5}">
                      <a16:colId xmlns:a16="http://schemas.microsoft.com/office/drawing/2014/main" val="1844427957"/>
                    </a:ext>
                  </a:extLst>
                </a:gridCol>
                <a:gridCol w="750992">
                  <a:extLst>
                    <a:ext uri="{9D8B030D-6E8A-4147-A177-3AD203B41FA5}">
                      <a16:colId xmlns:a16="http://schemas.microsoft.com/office/drawing/2014/main" val="3204520459"/>
                    </a:ext>
                  </a:extLst>
                </a:gridCol>
                <a:gridCol w="1145551">
                  <a:extLst>
                    <a:ext uri="{9D8B030D-6E8A-4147-A177-3AD203B41FA5}">
                      <a16:colId xmlns:a16="http://schemas.microsoft.com/office/drawing/2014/main" val="2269554166"/>
                    </a:ext>
                  </a:extLst>
                </a:gridCol>
                <a:gridCol w="813334">
                  <a:extLst>
                    <a:ext uri="{9D8B030D-6E8A-4147-A177-3AD203B41FA5}">
                      <a16:colId xmlns:a16="http://schemas.microsoft.com/office/drawing/2014/main" val="227373119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02767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123-456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2025-05-28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인천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 err="1"/>
                        <a:t>하네다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 err="1"/>
                        <a:t>하네다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175787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6FBDJ5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2025-02-14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2025-12-28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진에어</a:t>
                      </a:r>
                      <a:endParaRPr lang="ko-KR" altLang="en-US" sz="8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김포 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제주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제주</a:t>
                      </a:r>
                      <a:r>
                        <a:rPr lang="en-US" altLang="ko-KR" sz="800" dirty="0"/>
                        <a:t>&gt; </a:t>
                      </a:r>
                      <a:r>
                        <a:rPr lang="ko-KR" altLang="en-US" sz="8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880507"/>
                  </a:ext>
                </a:extLst>
              </a:tr>
            </a:tbl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19B70204-CF44-49EF-9305-D4F6EDA5811F}"/>
              </a:ext>
            </a:extLst>
          </p:cNvPr>
          <p:cNvGrpSpPr/>
          <p:nvPr/>
        </p:nvGrpSpPr>
        <p:grpSpPr>
          <a:xfrm>
            <a:off x="243046" y="5564884"/>
            <a:ext cx="443853" cy="215444"/>
            <a:chOff x="4485981" y="1896893"/>
            <a:chExt cx="443853" cy="215444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580DAFED-D0D8-4DEB-948F-0A3726E78E48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59DEACB-9D2B-4932-ABC3-728579C3879C}"/>
                </a:ext>
              </a:extLst>
            </p:cNvPr>
            <p:cNvSpPr txBox="1"/>
            <p:nvPr/>
          </p:nvSpPr>
          <p:spPr>
            <a:xfrm>
              <a:off x="4485981" y="1896893"/>
              <a:ext cx="4438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7368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78B8B-C17B-D363-B2EE-6A5D6B86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8A59D83-CF49-76C6-CC61-050AC31F6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150323-8124-E59A-E945-67F8D1F63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AAC72F-9A14-E0CC-99C1-04069B172777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출장규정 위반 확인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3716E7-4A0F-5E81-431C-EAA1DA2C040A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항공예약</a:t>
            </a:r>
            <a:r>
              <a:rPr lang="ko-KR" altLang="en-US" sz="1000" b="1" dirty="0">
                <a:solidFill>
                  <a:schemeClr val="tx1"/>
                </a:solidFill>
              </a:rPr>
              <a:t>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출장규정 위반 확인 </a:t>
            </a:r>
            <a:r>
              <a:rPr lang="ko-KR" altLang="en-US" sz="1000" b="1" dirty="0" err="1">
                <a:solidFill>
                  <a:schemeClr val="tx1"/>
                </a:solidFill>
              </a:rPr>
              <a:t>모달</a:t>
            </a:r>
            <a:r>
              <a:rPr lang="ko-KR" altLang="en-US" sz="1000" b="1" dirty="0">
                <a:solidFill>
                  <a:schemeClr val="tx1"/>
                </a:solidFill>
              </a:rPr>
              <a:t> 창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858CF8F1-99F9-49D0-DD17-EC48636CF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63922"/>
              </p:ext>
            </p:extLst>
          </p:nvPr>
        </p:nvGraphicFramePr>
        <p:xfrm>
          <a:off x="8895422" y="89351"/>
          <a:ext cx="3208784" cy="3465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규정결과가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미준수인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 경우</a:t>
                      </a:r>
                      <a:r>
                        <a:rPr lang="ko-KR" altLang="en-US" sz="900" b="1" dirty="0">
                          <a:latin typeface="+mn-lt"/>
                        </a:rPr>
                        <a:t> 노출되는 위반사항 </a:t>
                      </a:r>
                      <a:r>
                        <a:rPr lang="ko-KR" altLang="en-US" sz="900" b="1" dirty="0" err="1">
                          <a:latin typeface="+mn-lt"/>
                        </a:rPr>
                        <a:t>모달</a:t>
                      </a:r>
                      <a:r>
                        <a:rPr lang="ko-KR" altLang="en-US" sz="900" b="1" dirty="0">
                          <a:latin typeface="+mn-lt"/>
                        </a:rPr>
                        <a:t> 창</a:t>
                      </a:r>
                      <a:endParaRPr lang="en-US" altLang="ko-KR" sz="900" b="1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 err="1">
                          <a:latin typeface="+mn-lt"/>
                        </a:rPr>
                        <a:t>미준수</a:t>
                      </a:r>
                      <a:r>
                        <a:rPr lang="ko-KR" altLang="en-US" sz="900" dirty="0">
                          <a:latin typeface="+mn-lt"/>
                        </a:rPr>
                        <a:t> 위반 사유 </a:t>
                      </a:r>
                      <a:r>
                        <a:rPr lang="en-US" altLang="ko-KR" sz="900" dirty="0">
                          <a:latin typeface="+mn-lt"/>
                        </a:rPr>
                        <a:t>(</a:t>
                      </a:r>
                      <a:r>
                        <a:rPr lang="ko-KR" altLang="en-US" sz="900" dirty="0">
                          <a:latin typeface="+mn-lt"/>
                        </a:rPr>
                        <a:t>출장자 </a:t>
                      </a:r>
                      <a:r>
                        <a:rPr lang="en-US" altLang="ko-KR" sz="900" dirty="0">
                          <a:latin typeface="+mn-lt"/>
                        </a:rPr>
                        <a:t>: </a:t>
                      </a:r>
                      <a:r>
                        <a:rPr lang="ko-KR" altLang="en-US" sz="900" dirty="0">
                          <a:latin typeface="+mn-lt"/>
                        </a:rPr>
                        <a:t>위반사유</a:t>
                      </a:r>
                      <a:r>
                        <a:rPr lang="en-US" altLang="ko-KR" sz="900" dirty="0">
                          <a:latin typeface="+mn-lt"/>
                        </a:rPr>
                        <a:t> )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ko-KR" altLang="en-US" sz="900" dirty="0">
                          <a:latin typeface="+mn-lt"/>
                        </a:rPr>
                        <a:t>위반 사유 문구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en-US" altLang="ko-KR" sz="900" dirty="0">
                          <a:latin typeface="+mn-lt"/>
                        </a:rPr>
                        <a:t>1. {</a:t>
                      </a:r>
                      <a:r>
                        <a:rPr lang="ko-KR" altLang="en-US" sz="900" dirty="0">
                          <a:latin typeface="+mn-lt"/>
                        </a:rPr>
                        <a:t>직급</a:t>
                      </a:r>
                      <a:r>
                        <a:rPr lang="en-US" altLang="ko-KR" sz="900" dirty="0">
                          <a:latin typeface="+mn-lt"/>
                        </a:rPr>
                        <a:t>} </a:t>
                      </a:r>
                      <a:r>
                        <a:rPr lang="ko-KR" altLang="en-US" sz="900" dirty="0">
                          <a:latin typeface="+mn-lt"/>
                        </a:rPr>
                        <a:t>지정된 </a:t>
                      </a:r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>
                          <a:latin typeface="+mn-lt"/>
                        </a:rPr>
                        <a:t>좌석등급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r>
                        <a:rPr lang="ko-KR" altLang="en-US" sz="900" dirty="0">
                          <a:latin typeface="+mn-lt"/>
                        </a:rPr>
                        <a:t>까지 탑승 허용으로 위반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en-US" altLang="ko-KR" sz="900" dirty="0">
                          <a:latin typeface="+mn-lt"/>
                        </a:rPr>
                        <a:t>2. {</a:t>
                      </a:r>
                      <a:r>
                        <a:rPr lang="ko-KR" altLang="en-US" sz="900" dirty="0">
                          <a:latin typeface="+mn-lt"/>
                        </a:rPr>
                        <a:t>직급</a:t>
                      </a:r>
                      <a:r>
                        <a:rPr lang="en-US" altLang="ko-KR" sz="900" dirty="0">
                          <a:latin typeface="+mn-lt"/>
                        </a:rPr>
                        <a:t>} {</a:t>
                      </a:r>
                      <a:r>
                        <a:rPr lang="ko-KR" altLang="en-US" sz="900" dirty="0">
                          <a:latin typeface="+mn-lt"/>
                        </a:rPr>
                        <a:t>예외시간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r>
                        <a:rPr lang="ko-KR" altLang="en-US" sz="900" dirty="0">
                          <a:latin typeface="+mn-lt"/>
                        </a:rPr>
                        <a:t>시간</a:t>
                      </a:r>
                      <a:r>
                        <a:rPr lang="en-US" altLang="ko-KR" sz="900" dirty="0">
                          <a:latin typeface="+mn-lt"/>
                        </a:rPr>
                        <a:t> </a:t>
                      </a:r>
                      <a:r>
                        <a:rPr lang="ko-KR" altLang="en-US" sz="900" dirty="0">
                          <a:latin typeface="+mn-lt"/>
                        </a:rPr>
                        <a:t>이상부터 </a:t>
                      </a:r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 err="1">
                          <a:latin typeface="+mn-lt"/>
                        </a:rPr>
                        <a:t>좌성등급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r>
                        <a:rPr lang="ko-KR" altLang="en-US" sz="900" dirty="0">
                          <a:latin typeface="+mn-lt"/>
                        </a:rPr>
                        <a:t>까지 탐승 허용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+mn-lt"/>
                        </a:rPr>
                        <a:t>신청 사유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>
                          <a:latin typeface="+mn-lt"/>
                        </a:rPr>
                        <a:t>신청 시 선택한 </a:t>
                      </a:r>
                      <a:r>
                        <a:rPr lang="en-US" altLang="ko-KR" sz="900" dirty="0">
                          <a:latin typeface="+mn-lt"/>
                        </a:rPr>
                        <a:t>select box </a:t>
                      </a:r>
                      <a:r>
                        <a:rPr lang="ko-KR" altLang="en-US" sz="900" dirty="0">
                          <a:latin typeface="+mn-lt"/>
                        </a:rPr>
                        <a:t>값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+mn-lt"/>
                        </a:rPr>
                        <a:t>{</a:t>
                      </a:r>
                      <a:r>
                        <a:rPr lang="ko-KR" altLang="en-US" sz="900" dirty="0">
                          <a:latin typeface="+mn-lt"/>
                        </a:rPr>
                        <a:t>신청자가 작성한 </a:t>
                      </a:r>
                      <a:r>
                        <a:rPr lang="en-US" altLang="ko-KR" sz="900" dirty="0">
                          <a:latin typeface="+mn-lt"/>
                        </a:rPr>
                        <a:t>Free Text</a:t>
                      </a:r>
                      <a:r>
                        <a:rPr lang="ko-KR" altLang="en-US" sz="900" dirty="0">
                          <a:latin typeface="+mn-lt"/>
                        </a:rPr>
                        <a:t> 값</a:t>
                      </a:r>
                      <a:r>
                        <a:rPr lang="en-US" altLang="ko-KR" sz="900" dirty="0">
                          <a:latin typeface="+mn-lt"/>
                        </a:rPr>
                        <a:t>}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+mn-lt"/>
                        </a:rPr>
                        <a:t>출장관리자의 승인 및 반려 처리시간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창 닫힘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842348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E45D4664-3F3F-5F52-1FF6-EA72A38FA6C2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45FAB84-FE2F-4251-41F6-B54651C29B8C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F312BC8-2E0A-CF72-272B-BDED6FA81989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항공예약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FBA680D-0EAD-328D-B10D-A7CD2210351A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833620B-3C3A-01CF-73D9-691849C41D6F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7F49EF4-933A-D44B-C815-A2F38CE351B5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7102352-CF7F-2A34-3705-4930B0CCB497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D3CDAB1-5DAA-E96A-3338-91DB260946B4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3B9B086-878A-98E5-6038-E096EDCA0853}"/>
              </a:ext>
            </a:extLst>
          </p:cNvPr>
          <p:cNvGraphicFramePr>
            <a:graphicFrameLocks noGrp="1"/>
          </p:cNvGraphicFramePr>
          <p:nvPr/>
        </p:nvGraphicFramePr>
        <p:xfrm>
          <a:off x="398134" y="3827999"/>
          <a:ext cx="8128000" cy="108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583360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526212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983411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750498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  <a:gridCol w="1144798">
                  <a:extLst>
                    <a:ext uri="{9D8B030D-6E8A-4147-A177-3AD203B41FA5}">
                      <a16:colId xmlns:a16="http://schemas.microsoft.com/office/drawing/2014/main" val="2993533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규정결과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123-456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2025-05-28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인천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 err="1"/>
                        <a:t>하네다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하네다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미준수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미확인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6FBDJ5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2025-02-14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2025-12-28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진에어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김포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제주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제주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준수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05DD193-1A4E-1C87-801A-6A40CDA9FBC2}"/>
              </a:ext>
            </a:extLst>
          </p:cNvPr>
          <p:cNvGraphicFramePr>
            <a:graphicFrameLocks noGrp="1"/>
          </p:cNvGraphicFramePr>
          <p:nvPr/>
        </p:nvGraphicFramePr>
        <p:xfrm>
          <a:off x="403480" y="2163239"/>
          <a:ext cx="8128000" cy="149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18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 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 번호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규정 결과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승인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미확인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승인 ☐ 반려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900" b="0" i="0" dirty="0" err="1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21689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045AE0F1-F0F8-E364-769B-4E30A9030148}"/>
              </a:ext>
            </a:extLst>
          </p:cNvPr>
          <p:cNvSpPr txBox="1"/>
          <p:nvPr/>
        </p:nvSpPr>
        <p:spPr>
          <a:xfrm>
            <a:off x="3453813" y="636305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B457D6-189A-B83D-F4A9-5528BE5DA1BD}"/>
              </a:ext>
            </a:extLst>
          </p:cNvPr>
          <p:cNvSpPr/>
          <p:nvPr/>
        </p:nvSpPr>
        <p:spPr>
          <a:xfrm>
            <a:off x="1326756" y="2623764"/>
            <a:ext cx="2580316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71CE2E7-62EF-3E35-5513-1648DD556A09}"/>
              </a:ext>
            </a:extLst>
          </p:cNvPr>
          <p:cNvGrpSpPr/>
          <p:nvPr/>
        </p:nvGrpSpPr>
        <p:grpSpPr>
          <a:xfrm>
            <a:off x="1324481" y="2961083"/>
            <a:ext cx="2580316" cy="267124"/>
            <a:chOff x="3174521" y="2986620"/>
            <a:chExt cx="2660909" cy="2827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38C5CC9-7DBD-FE93-6BBB-554B289B3E4C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7" name="그래픽 6" descr="위쪽 캐럿 단색으로 채워진">
              <a:extLst>
                <a:ext uri="{FF2B5EF4-FFF2-40B4-BE49-F238E27FC236}">
                  <a16:creationId xmlns:a16="http://schemas.microsoft.com/office/drawing/2014/main" id="{9D78D951-09F1-AF6E-3A9E-5621DC9AA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E4AEFE-3BB2-C3C1-C8CD-B9162499ADCA}"/>
              </a:ext>
            </a:extLst>
          </p:cNvPr>
          <p:cNvSpPr/>
          <p:nvPr/>
        </p:nvSpPr>
        <p:spPr>
          <a:xfrm>
            <a:off x="4830348" y="2634540"/>
            <a:ext cx="2784359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9D6F435-E7BF-6D72-D0A1-796982A1B5A2}"/>
              </a:ext>
            </a:extLst>
          </p:cNvPr>
          <p:cNvGrpSpPr/>
          <p:nvPr/>
        </p:nvGrpSpPr>
        <p:grpSpPr>
          <a:xfrm>
            <a:off x="4828073" y="2980485"/>
            <a:ext cx="2784359" cy="267124"/>
            <a:chOff x="3174521" y="2986620"/>
            <a:chExt cx="2660909" cy="28271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249042F-8565-383E-0B9F-9B484CEB885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17" name="그래픽 16" descr="위쪽 캐럿 단색으로 채워진">
              <a:extLst>
                <a:ext uri="{FF2B5EF4-FFF2-40B4-BE49-F238E27FC236}">
                  <a16:creationId xmlns:a16="http://schemas.microsoft.com/office/drawing/2014/main" id="{FAED16D2-DA6E-1985-2B63-DA4BDD993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01A8FA-B887-2DCC-552B-0B516068D7EF}"/>
              </a:ext>
            </a:extLst>
          </p:cNvPr>
          <p:cNvSpPr/>
          <p:nvPr/>
        </p:nvSpPr>
        <p:spPr>
          <a:xfrm>
            <a:off x="4018516" y="2232014"/>
            <a:ext cx="3593916" cy="2957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래픽 18" descr="플립 달력 단색으로 채워진">
            <a:extLst>
              <a:ext uri="{FF2B5EF4-FFF2-40B4-BE49-F238E27FC236}">
                <a16:creationId xmlns:a16="http://schemas.microsoft.com/office/drawing/2014/main" id="{1EEAE344-3605-523D-B7DE-D530B2CEA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2550" y="2265741"/>
            <a:ext cx="197800" cy="197800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0CB46D9-75FC-5717-2CDC-DD387565000A}"/>
              </a:ext>
            </a:extLst>
          </p:cNvPr>
          <p:cNvSpPr/>
          <p:nvPr/>
        </p:nvSpPr>
        <p:spPr>
          <a:xfrm>
            <a:off x="7704387" y="2762107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9BA535-FD76-4BE1-5258-77D250DC1162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13BFA3-970B-CFE4-52B4-F9E5D3D0747F}"/>
              </a:ext>
            </a:extLst>
          </p:cNvPr>
          <p:cNvSpPr/>
          <p:nvPr/>
        </p:nvSpPr>
        <p:spPr>
          <a:xfrm>
            <a:off x="77638" y="580681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9C986C8-1A1C-9C0C-9CDD-32D429FFC63C}"/>
              </a:ext>
            </a:extLst>
          </p:cNvPr>
          <p:cNvSpPr/>
          <p:nvPr/>
        </p:nvSpPr>
        <p:spPr>
          <a:xfrm>
            <a:off x="2275479" y="2014726"/>
            <a:ext cx="4144119" cy="3225563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B343D4-FB2A-8223-A9C8-4C0CD800607B}"/>
              </a:ext>
            </a:extLst>
          </p:cNvPr>
          <p:cNvSpPr txBox="1"/>
          <p:nvPr/>
        </p:nvSpPr>
        <p:spPr>
          <a:xfrm>
            <a:off x="3412666" y="2131102"/>
            <a:ext cx="1820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출장규정 위반 사유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6B9D49-BC3C-4D0F-4F39-2ADB2ADA3815}"/>
              </a:ext>
            </a:extLst>
          </p:cNvPr>
          <p:cNvSpPr/>
          <p:nvPr/>
        </p:nvSpPr>
        <p:spPr>
          <a:xfrm>
            <a:off x="2594222" y="4726945"/>
            <a:ext cx="3671339" cy="2674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확 인</a:t>
            </a:r>
            <a:endParaRPr lang="ko-KR" altLang="en-US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70D34-0793-4DC6-3EBA-9E221F876492}"/>
              </a:ext>
            </a:extLst>
          </p:cNvPr>
          <p:cNvSpPr txBox="1"/>
          <p:nvPr/>
        </p:nvSpPr>
        <p:spPr>
          <a:xfrm>
            <a:off x="2431276" y="3764301"/>
            <a:ext cx="1683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신청 사유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667731D-34CC-5AF8-FD3F-9F1D5A26E99B}"/>
              </a:ext>
            </a:extLst>
          </p:cNvPr>
          <p:cNvSpPr/>
          <p:nvPr/>
        </p:nvSpPr>
        <p:spPr>
          <a:xfrm>
            <a:off x="2525223" y="2915634"/>
            <a:ext cx="565156" cy="2049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오지연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FCA72B1-E1D3-0896-5567-25A83382F3DA}"/>
              </a:ext>
            </a:extLst>
          </p:cNvPr>
          <p:cNvSpPr/>
          <p:nvPr/>
        </p:nvSpPr>
        <p:spPr>
          <a:xfrm>
            <a:off x="2514649" y="3239601"/>
            <a:ext cx="565156" cy="2049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김민우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5EFF7C-CB41-9A5D-CFE5-9CE0E271FD2C}"/>
              </a:ext>
            </a:extLst>
          </p:cNvPr>
          <p:cNvSpPr txBox="1"/>
          <p:nvPr/>
        </p:nvSpPr>
        <p:spPr>
          <a:xfrm>
            <a:off x="3155615" y="2918140"/>
            <a:ext cx="25953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사원 지정된 이코노미까지 탑승 허용으로 위반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6F161B-33BF-5010-6CDF-AF82838C5519}"/>
              </a:ext>
            </a:extLst>
          </p:cNvPr>
          <p:cNvSpPr txBox="1"/>
          <p:nvPr/>
        </p:nvSpPr>
        <p:spPr>
          <a:xfrm>
            <a:off x="3125715" y="3249260"/>
            <a:ext cx="3150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차장 </a:t>
            </a:r>
            <a:r>
              <a:rPr lang="en-US" altLang="ko-KR" sz="900" dirty="0"/>
              <a:t>6</a:t>
            </a:r>
            <a:r>
              <a:rPr lang="ko-KR" altLang="en-US" sz="900" dirty="0"/>
              <a:t>시간 이상부터 </a:t>
            </a:r>
            <a:r>
              <a:rPr lang="ko-KR" altLang="en-US" sz="900" dirty="0" err="1"/>
              <a:t>프리미엄이코노미석까지</a:t>
            </a:r>
            <a:r>
              <a:rPr lang="ko-KR" altLang="en-US" sz="900" dirty="0"/>
              <a:t> 탑승 허용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E755BE-8AFD-BEA0-C490-C6C059F08A36}"/>
              </a:ext>
            </a:extLst>
          </p:cNvPr>
          <p:cNvSpPr txBox="1"/>
          <p:nvPr/>
        </p:nvSpPr>
        <p:spPr>
          <a:xfrm>
            <a:off x="2456664" y="3987001"/>
            <a:ext cx="315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동반자의 대리예약 건</a:t>
            </a:r>
            <a:br>
              <a:rPr lang="en-US" altLang="ko-KR" sz="900" dirty="0"/>
            </a:br>
            <a:r>
              <a:rPr lang="ko-KR" altLang="en-US" sz="900" dirty="0"/>
              <a:t>일정 상</a:t>
            </a:r>
            <a:r>
              <a:rPr lang="en-US" altLang="ko-KR" sz="900" dirty="0"/>
              <a:t>, </a:t>
            </a:r>
            <a:r>
              <a:rPr lang="ko-KR" altLang="en-US" sz="900" dirty="0"/>
              <a:t>긴 시간 비행이므로 승인 부탁 드립니다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9A7106-0A82-BDDB-05D4-DB23ED8FB05B}"/>
              </a:ext>
            </a:extLst>
          </p:cNvPr>
          <p:cNvSpPr txBox="1"/>
          <p:nvPr/>
        </p:nvSpPr>
        <p:spPr>
          <a:xfrm>
            <a:off x="3860235" y="2485861"/>
            <a:ext cx="24876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담당자 </a:t>
            </a:r>
            <a:r>
              <a:rPr lang="ko-KR" altLang="en-US" sz="900" dirty="0" err="1"/>
              <a:t>김책임</a:t>
            </a:r>
            <a:r>
              <a:rPr lang="ko-KR" altLang="en-US" sz="900" dirty="0"/>
              <a:t> 처리시간 </a:t>
            </a:r>
            <a:r>
              <a:rPr lang="en-US" altLang="ko-KR" sz="900" dirty="0"/>
              <a:t>2025-02-05 11:52</a:t>
            </a:r>
            <a:endParaRPr lang="ko-KR" altLang="en-US" sz="9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ED33E0D-FDA6-151F-CAF2-7F2002F4096A}"/>
              </a:ext>
            </a:extLst>
          </p:cNvPr>
          <p:cNvSpPr/>
          <p:nvPr/>
        </p:nvSpPr>
        <p:spPr>
          <a:xfrm>
            <a:off x="2472476" y="2799545"/>
            <a:ext cx="3793133" cy="7704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10B9D15-D5B3-AA4F-DB32-1B4E9BA419A4}"/>
              </a:ext>
            </a:extLst>
          </p:cNvPr>
          <p:cNvSpPr/>
          <p:nvPr/>
        </p:nvSpPr>
        <p:spPr>
          <a:xfrm>
            <a:off x="2341597" y="2701922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2BED487-9062-D687-A53D-8B87829BEF44}"/>
              </a:ext>
            </a:extLst>
          </p:cNvPr>
          <p:cNvSpPr/>
          <p:nvPr/>
        </p:nvSpPr>
        <p:spPr>
          <a:xfrm>
            <a:off x="2493427" y="3712265"/>
            <a:ext cx="3772133" cy="8721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E5549051-A2D7-C9EB-73AB-6B855A9A4B01}"/>
              </a:ext>
            </a:extLst>
          </p:cNvPr>
          <p:cNvSpPr/>
          <p:nvPr/>
        </p:nvSpPr>
        <p:spPr>
          <a:xfrm>
            <a:off x="2401615" y="3641135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BB68D8A-59E3-06B4-9BEB-2F745F2F39C6}"/>
              </a:ext>
            </a:extLst>
          </p:cNvPr>
          <p:cNvSpPr/>
          <p:nvPr/>
        </p:nvSpPr>
        <p:spPr>
          <a:xfrm>
            <a:off x="3909289" y="2427738"/>
            <a:ext cx="235627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F61796E-1498-FE26-F792-BCC9AD15101D}"/>
              </a:ext>
            </a:extLst>
          </p:cNvPr>
          <p:cNvSpPr/>
          <p:nvPr/>
        </p:nvSpPr>
        <p:spPr>
          <a:xfrm>
            <a:off x="6121824" y="2327989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08D39A7-E18F-78E6-825F-96C98FB7A2F9}"/>
              </a:ext>
            </a:extLst>
          </p:cNvPr>
          <p:cNvSpPr/>
          <p:nvPr/>
        </p:nvSpPr>
        <p:spPr>
          <a:xfrm>
            <a:off x="2548476" y="4731858"/>
            <a:ext cx="3717085" cy="3031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4155FB-06C1-EEF7-CF50-37B58BC0C4B2}"/>
              </a:ext>
            </a:extLst>
          </p:cNvPr>
          <p:cNvSpPr/>
          <p:nvPr/>
        </p:nvSpPr>
        <p:spPr>
          <a:xfrm>
            <a:off x="2456664" y="4660728"/>
            <a:ext cx="24241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83639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4DBA-7338-1F74-22B0-A88C18DA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A23DC8-5F12-ECE5-CD07-D46CE25F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EB96FE-E4B0-C916-2354-789DBEFF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276331-4E8C-D157-1A1A-B78F045E969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예약 처리 확인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C94AB9-49E7-1D42-F8F4-C76420DAB437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항공예약</a:t>
            </a:r>
            <a:r>
              <a:rPr lang="ko-KR" altLang="en-US" sz="1000" b="1" dirty="0">
                <a:solidFill>
                  <a:schemeClr val="tx1"/>
                </a:solidFill>
              </a:rPr>
              <a:t>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예약 처리 확인 </a:t>
            </a:r>
            <a:r>
              <a:rPr lang="ko-KR" altLang="en-US" sz="1000" b="1" dirty="0" err="1">
                <a:solidFill>
                  <a:schemeClr val="tx1"/>
                </a:solidFill>
              </a:rPr>
              <a:t>모달</a:t>
            </a:r>
            <a:r>
              <a:rPr lang="ko-KR" altLang="en-US" sz="1000" b="1" dirty="0">
                <a:solidFill>
                  <a:schemeClr val="tx1"/>
                </a:solidFill>
              </a:rPr>
              <a:t> 창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C83FB0F-3366-4387-BDAE-D64BBA5F8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610623"/>
              </p:ext>
            </p:extLst>
          </p:nvPr>
        </p:nvGraphicFramePr>
        <p:xfrm>
          <a:off x="8895422" y="89351"/>
          <a:ext cx="3208784" cy="315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규정결과가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  <a:latin typeface="+mn-lt"/>
                        </a:rPr>
                        <a:t>미준수인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  <a:latin typeface="+mn-lt"/>
                        </a:rPr>
                        <a:t> 경우</a:t>
                      </a:r>
                      <a:r>
                        <a:rPr lang="ko-KR" altLang="en-US" sz="900" b="1" dirty="0">
                          <a:latin typeface="+mn-lt"/>
                        </a:rPr>
                        <a:t> 출장 관리자가 승인 및 반려 할 수 있는 기능을 제공</a:t>
                      </a:r>
                      <a:endParaRPr lang="en-US" altLang="ko-KR" sz="900" b="1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+mn-lt"/>
                        </a:rPr>
                        <a:t>클릭 시</a:t>
                      </a:r>
                      <a:r>
                        <a:rPr lang="en-US" altLang="ko-KR" sz="900" dirty="0">
                          <a:latin typeface="+mn-lt"/>
                        </a:rPr>
                        <a:t>, </a:t>
                      </a:r>
                      <a:r>
                        <a:rPr lang="ko-KR" altLang="en-US" sz="900" dirty="0">
                          <a:latin typeface="+mn-lt"/>
                        </a:rPr>
                        <a:t>해당 예약 건 승인 처리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ko-KR" altLang="en-US" sz="900" dirty="0">
                          <a:latin typeface="+mn-lt"/>
                        </a:rPr>
                        <a:t>문구 </a:t>
                      </a:r>
                      <a:r>
                        <a:rPr lang="en-US" altLang="ko-KR" sz="900" dirty="0">
                          <a:latin typeface="+mn-lt"/>
                        </a:rPr>
                        <a:t>: </a:t>
                      </a:r>
                      <a:r>
                        <a:rPr lang="ko-KR" altLang="en-US" sz="900" dirty="0"/>
                        <a:t>승인 하시겠습니까</a:t>
                      </a:r>
                      <a:r>
                        <a:rPr lang="en-US" altLang="ko-KR" sz="900" dirty="0"/>
                        <a:t>?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   </a:t>
                      </a:r>
                      <a:r>
                        <a:rPr lang="ko-KR" altLang="en-US" sz="900" dirty="0"/>
                        <a:t>승인 후 즉시 발권 요청 메일이 발송됩니다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승인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전담팀과 예약자에게 발권요청 메일 발송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+mn-lt"/>
                        </a:rPr>
                        <a:t>클릭 시</a:t>
                      </a:r>
                      <a:r>
                        <a:rPr lang="en-US" altLang="ko-KR" sz="900" dirty="0">
                          <a:latin typeface="+mn-lt"/>
                        </a:rPr>
                        <a:t>, </a:t>
                      </a:r>
                      <a:r>
                        <a:rPr lang="ko-KR" altLang="en-US" sz="900" dirty="0">
                          <a:latin typeface="+mn-lt"/>
                        </a:rPr>
                        <a:t>해당 예약 건 반려 처리</a:t>
                      </a:r>
                      <a:br>
                        <a:rPr lang="en-US" altLang="ko-KR" sz="900" dirty="0">
                          <a:latin typeface="+mn-lt"/>
                        </a:rPr>
                      </a:br>
                      <a:r>
                        <a:rPr lang="ko-KR" altLang="en-US" sz="900" dirty="0">
                          <a:latin typeface="+mn-lt"/>
                        </a:rPr>
                        <a:t>문구 </a:t>
                      </a:r>
                      <a:r>
                        <a:rPr lang="en-US" altLang="ko-KR" sz="900" dirty="0">
                          <a:latin typeface="+mn-lt"/>
                        </a:rPr>
                        <a:t>: </a:t>
                      </a:r>
                      <a:r>
                        <a:rPr lang="ko-KR" altLang="en-US" sz="900" dirty="0">
                          <a:latin typeface="+mn-lt"/>
                        </a:rPr>
                        <a:t>반려</a:t>
                      </a:r>
                      <a:r>
                        <a:rPr lang="ko-KR" altLang="en-US" sz="900" dirty="0"/>
                        <a:t> 하시겠습니까</a:t>
                      </a:r>
                      <a:r>
                        <a:rPr lang="en-US" altLang="ko-KR" sz="900" dirty="0"/>
                        <a:t>?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   </a:t>
                      </a:r>
                      <a:r>
                        <a:rPr lang="ko-KR" altLang="en-US" sz="900" dirty="0">
                          <a:latin typeface="+mn-lt"/>
                        </a:rPr>
                        <a:t>반려</a:t>
                      </a:r>
                      <a:r>
                        <a:rPr lang="ko-KR" altLang="en-US" sz="900" dirty="0"/>
                        <a:t> 후 즉시 </a:t>
                      </a:r>
                      <a:r>
                        <a:rPr lang="ko-KR" altLang="en-US" sz="900" dirty="0">
                          <a:latin typeface="+mn-lt"/>
                        </a:rPr>
                        <a:t>반려 알림</a:t>
                      </a:r>
                      <a:r>
                        <a:rPr lang="ko-KR" altLang="en-US" sz="900" dirty="0"/>
                        <a:t> 메일이 발송됩니다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반려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전담팀과 예약자에게 반려 알림 메일 발송</a:t>
                      </a:r>
                      <a:endParaRPr lang="ko-KR" alt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8581837C-EFEF-535F-7AFF-5C6A18A3C811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81C702-69BE-FF3A-957F-98DA220C215B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898F588-6E07-BEFC-9324-DB978CDA82A0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항공예약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E7D0501-FAB3-55FB-21C8-6CE039B7C7AF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8EE89EE-BC6F-D537-3166-667FA7E017F8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1277A3C-1243-7E84-8044-103E28A824A8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F51220E-4F19-E8AD-A3A1-D0F8C8C0872D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7F40B8E-B27A-EAFC-7BC2-B936CADB0F9C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45AFA77-AF88-4B5C-5DD7-FE70E65A5491}"/>
              </a:ext>
            </a:extLst>
          </p:cNvPr>
          <p:cNvGraphicFramePr>
            <a:graphicFrameLocks noGrp="1"/>
          </p:cNvGraphicFramePr>
          <p:nvPr/>
        </p:nvGraphicFramePr>
        <p:xfrm>
          <a:off x="398134" y="3827999"/>
          <a:ext cx="8128000" cy="108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583360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526212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983411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888521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750498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  <a:gridCol w="1144798">
                  <a:extLst>
                    <a:ext uri="{9D8B030D-6E8A-4147-A177-3AD203B41FA5}">
                      <a16:colId xmlns:a16="http://schemas.microsoft.com/office/drawing/2014/main" val="2993533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8855739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2091156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1803360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예약번호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항공여정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규정결과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승인여부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123-456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2025-05-28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아시아나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인천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 err="1"/>
                        <a:t>하네다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하네다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인천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예약완료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미준수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미확인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6FBDJ5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국내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2025-02-14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2025-12-28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진에어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김포 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제주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제주</a:t>
                      </a:r>
                      <a:r>
                        <a:rPr lang="en-US" altLang="ko-KR" sz="1000" dirty="0"/>
                        <a:t>&gt; </a:t>
                      </a:r>
                      <a:r>
                        <a:rPr lang="ko-KR" altLang="en-US" sz="1000" dirty="0"/>
                        <a:t>김포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예약취소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준수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C3A89C2-6CB0-BF8B-3FE7-B3DD7389E5C7}"/>
              </a:ext>
            </a:extLst>
          </p:cNvPr>
          <p:cNvGraphicFramePr>
            <a:graphicFrameLocks noGrp="1"/>
          </p:cNvGraphicFramePr>
          <p:nvPr/>
        </p:nvGraphicFramePr>
        <p:xfrm>
          <a:off x="403480" y="2163239"/>
          <a:ext cx="8128000" cy="149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예약기간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18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 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 번호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규정 결과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승인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미확인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승인 ☐ 반려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예약상태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전체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900" b="0" i="0" dirty="0" err="1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9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9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9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21689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D0BC8907-669F-FF70-5F47-1580B69FF228}"/>
              </a:ext>
            </a:extLst>
          </p:cNvPr>
          <p:cNvSpPr txBox="1"/>
          <p:nvPr/>
        </p:nvSpPr>
        <p:spPr>
          <a:xfrm>
            <a:off x="3453813" y="636305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772B47-7D98-4A71-AC55-E601C25169BC}"/>
              </a:ext>
            </a:extLst>
          </p:cNvPr>
          <p:cNvSpPr/>
          <p:nvPr/>
        </p:nvSpPr>
        <p:spPr>
          <a:xfrm>
            <a:off x="1326756" y="2623764"/>
            <a:ext cx="2580316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24C64AD-325B-1F9C-3351-E34E3EEA9D2B}"/>
              </a:ext>
            </a:extLst>
          </p:cNvPr>
          <p:cNvGrpSpPr/>
          <p:nvPr/>
        </p:nvGrpSpPr>
        <p:grpSpPr>
          <a:xfrm>
            <a:off x="1324481" y="2961083"/>
            <a:ext cx="2580316" cy="267124"/>
            <a:chOff x="3174521" y="2986620"/>
            <a:chExt cx="2660909" cy="282715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7DBBE2A-0C66-FF77-41DA-D1F676FFB3C1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7" name="그래픽 6" descr="위쪽 캐럿 단색으로 채워진">
              <a:extLst>
                <a:ext uri="{FF2B5EF4-FFF2-40B4-BE49-F238E27FC236}">
                  <a16:creationId xmlns:a16="http://schemas.microsoft.com/office/drawing/2014/main" id="{DADF1DF0-0D27-2693-116B-464BAB805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A2787A-9632-345D-A994-49057F00EA2E}"/>
              </a:ext>
            </a:extLst>
          </p:cNvPr>
          <p:cNvSpPr/>
          <p:nvPr/>
        </p:nvSpPr>
        <p:spPr>
          <a:xfrm>
            <a:off x="4830348" y="2634540"/>
            <a:ext cx="2784359" cy="2766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F8B01F6-9517-B338-EC93-72D6A640618E}"/>
              </a:ext>
            </a:extLst>
          </p:cNvPr>
          <p:cNvGrpSpPr/>
          <p:nvPr/>
        </p:nvGrpSpPr>
        <p:grpSpPr>
          <a:xfrm>
            <a:off x="4828073" y="2980485"/>
            <a:ext cx="2784359" cy="267124"/>
            <a:chOff x="3174521" y="2986620"/>
            <a:chExt cx="2660909" cy="28271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BE0809F-71D7-E569-55AD-9820A83BDC17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bg1">
                      <a:lumMod val="65000"/>
                    </a:schemeClr>
                  </a:solidFill>
                </a:rPr>
                <a:t>전체</a:t>
              </a:r>
            </a:p>
          </p:txBody>
        </p:sp>
        <p:pic>
          <p:nvPicPr>
            <p:cNvPr id="17" name="그래픽 16" descr="위쪽 캐럿 단색으로 채워진">
              <a:extLst>
                <a:ext uri="{FF2B5EF4-FFF2-40B4-BE49-F238E27FC236}">
                  <a16:creationId xmlns:a16="http://schemas.microsoft.com/office/drawing/2014/main" id="{34CEE727-83FB-AAB4-5A75-22C6242A3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7390F9-424B-5743-CB87-203C41F47013}"/>
              </a:ext>
            </a:extLst>
          </p:cNvPr>
          <p:cNvSpPr/>
          <p:nvPr/>
        </p:nvSpPr>
        <p:spPr>
          <a:xfrm>
            <a:off x="4018516" y="2232014"/>
            <a:ext cx="3593916" cy="2957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래픽 18" descr="플립 달력 단색으로 채워진">
            <a:extLst>
              <a:ext uri="{FF2B5EF4-FFF2-40B4-BE49-F238E27FC236}">
                <a16:creationId xmlns:a16="http://schemas.microsoft.com/office/drawing/2014/main" id="{01E6B52C-1DA7-67F3-F575-38F7ECA58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2550" y="2265741"/>
            <a:ext cx="197800" cy="197800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8B023A6-B393-BA44-93B1-7F0AA7A09D6C}"/>
              </a:ext>
            </a:extLst>
          </p:cNvPr>
          <p:cNvSpPr/>
          <p:nvPr/>
        </p:nvSpPr>
        <p:spPr>
          <a:xfrm>
            <a:off x="7704387" y="2762107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0CA22C-D36A-7C7E-1F25-27860A5DBBDC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8D58F9-E2D1-2161-B95F-437DCAF62AF1}"/>
              </a:ext>
            </a:extLst>
          </p:cNvPr>
          <p:cNvSpPr/>
          <p:nvPr/>
        </p:nvSpPr>
        <p:spPr>
          <a:xfrm>
            <a:off x="110256" y="594560"/>
            <a:ext cx="8752548" cy="6187969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859AC29-A559-3EC8-41EB-9ABD1A81887E}"/>
              </a:ext>
            </a:extLst>
          </p:cNvPr>
          <p:cNvSpPr/>
          <p:nvPr/>
        </p:nvSpPr>
        <p:spPr>
          <a:xfrm>
            <a:off x="2412184" y="2014727"/>
            <a:ext cx="3880991" cy="2545082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379DBB2-FF87-1B71-3AE1-302AF593F95D}"/>
              </a:ext>
            </a:extLst>
          </p:cNvPr>
          <p:cNvSpPr txBox="1"/>
          <p:nvPr/>
        </p:nvSpPr>
        <p:spPr>
          <a:xfrm>
            <a:off x="3412666" y="2131102"/>
            <a:ext cx="1820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출장규정 위반 사유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6BBAE3-EF6B-8948-CB23-C2E0F0B5A287}"/>
              </a:ext>
            </a:extLst>
          </p:cNvPr>
          <p:cNvSpPr txBox="1"/>
          <p:nvPr/>
        </p:nvSpPr>
        <p:spPr>
          <a:xfrm>
            <a:off x="2497272" y="3154951"/>
            <a:ext cx="1683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신청 사유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6869E56-A21F-1794-A682-E1B4DFF58765}"/>
              </a:ext>
            </a:extLst>
          </p:cNvPr>
          <p:cNvSpPr/>
          <p:nvPr/>
        </p:nvSpPr>
        <p:spPr>
          <a:xfrm>
            <a:off x="2560407" y="2544469"/>
            <a:ext cx="575730" cy="218854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오지연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145A1619-4CEF-9399-FBE6-9D926C674AC8}"/>
              </a:ext>
            </a:extLst>
          </p:cNvPr>
          <p:cNvSpPr/>
          <p:nvPr/>
        </p:nvSpPr>
        <p:spPr>
          <a:xfrm>
            <a:off x="2560407" y="2868436"/>
            <a:ext cx="565156" cy="20492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김민우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BCC7733-1550-CB6C-315F-CD2E0531C379}"/>
              </a:ext>
            </a:extLst>
          </p:cNvPr>
          <p:cNvSpPr txBox="1"/>
          <p:nvPr/>
        </p:nvSpPr>
        <p:spPr>
          <a:xfrm>
            <a:off x="3071165" y="2559949"/>
            <a:ext cx="25953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사원 지정된 이코노미까지 탑승 허용으로 위반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E7E4763-7D9D-D013-592F-74E71AF51F62}"/>
              </a:ext>
            </a:extLst>
          </p:cNvPr>
          <p:cNvSpPr txBox="1"/>
          <p:nvPr/>
        </p:nvSpPr>
        <p:spPr>
          <a:xfrm>
            <a:off x="3052172" y="2859549"/>
            <a:ext cx="3150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 차장 </a:t>
            </a:r>
            <a:r>
              <a:rPr lang="en-US" altLang="ko-KR" sz="900" dirty="0"/>
              <a:t>6</a:t>
            </a:r>
            <a:r>
              <a:rPr lang="ko-KR" altLang="en-US" sz="900" dirty="0"/>
              <a:t>시간 이상부터 </a:t>
            </a:r>
            <a:r>
              <a:rPr lang="ko-KR" altLang="en-US" sz="900" dirty="0" err="1"/>
              <a:t>프리미엄이코노미석까지</a:t>
            </a:r>
            <a:r>
              <a:rPr lang="ko-KR" altLang="en-US" sz="900" dirty="0"/>
              <a:t> 탑승 허용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543B2FD-B8B7-7552-DA2C-545F79AE9C99}"/>
              </a:ext>
            </a:extLst>
          </p:cNvPr>
          <p:cNvSpPr txBox="1"/>
          <p:nvPr/>
        </p:nvSpPr>
        <p:spPr>
          <a:xfrm>
            <a:off x="2502422" y="3401172"/>
            <a:ext cx="3150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동반자의 대리예약 건</a:t>
            </a:r>
            <a:br>
              <a:rPr lang="en-US" altLang="ko-KR" sz="900" dirty="0"/>
            </a:br>
            <a:r>
              <a:rPr lang="ko-KR" altLang="en-US" sz="900" dirty="0"/>
              <a:t>일정 상</a:t>
            </a:r>
            <a:r>
              <a:rPr lang="en-US" altLang="ko-KR" sz="900" dirty="0"/>
              <a:t>, </a:t>
            </a:r>
            <a:r>
              <a:rPr lang="ko-KR" altLang="en-US" sz="900" dirty="0"/>
              <a:t>긴 시간 비행이므로 승인 부탁 드립니다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FE0AB51-9533-B020-B8B8-46DFBC54D11F}"/>
              </a:ext>
            </a:extLst>
          </p:cNvPr>
          <p:cNvSpPr/>
          <p:nvPr/>
        </p:nvSpPr>
        <p:spPr>
          <a:xfrm>
            <a:off x="2670104" y="4020650"/>
            <a:ext cx="1651054" cy="3396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승 인</a:t>
            </a:r>
            <a:endParaRPr lang="ko-KR" altLang="en-US" b="1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60B6541-6D3F-06B3-9C99-8C9C830691F9}"/>
              </a:ext>
            </a:extLst>
          </p:cNvPr>
          <p:cNvSpPr/>
          <p:nvPr/>
        </p:nvSpPr>
        <p:spPr>
          <a:xfrm>
            <a:off x="2670103" y="4020651"/>
            <a:ext cx="1651054" cy="344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9E9C0D8E-50D0-5D26-EEF5-06C19BC6A4B5}"/>
              </a:ext>
            </a:extLst>
          </p:cNvPr>
          <p:cNvSpPr/>
          <p:nvPr/>
        </p:nvSpPr>
        <p:spPr>
          <a:xfrm>
            <a:off x="2497272" y="390870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DD97D0A8-0FF2-2D15-055F-D1CCA1A560A0}"/>
              </a:ext>
            </a:extLst>
          </p:cNvPr>
          <p:cNvSpPr/>
          <p:nvPr/>
        </p:nvSpPr>
        <p:spPr>
          <a:xfrm>
            <a:off x="4458111" y="4021053"/>
            <a:ext cx="1584878" cy="31761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반 </a:t>
            </a:r>
            <a:r>
              <a:rPr lang="ko-KR" altLang="en-US" sz="1100" b="1" dirty="0" err="1"/>
              <a:t>려</a:t>
            </a:r>
            <a:endParaRPr lang="ko-KR" altLang="en-US" b="1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9BF80C2-89E1-4637-9E95-8A7E6E9B7EC4}"/>
              </a:ext>
            </a:extLst>
          </p:cNvPr>
          <p:cNvSpPr/>
          <p:nvPr/>
        </p:nvSpPr>
        <p:spPr>
          <a:xfrm>
            <a:off x="4447635" y="4025967"/>
            <a:ext cx="1595353" cy="2988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0C3BEF3B-92AE-A5FD-5DCB-B1D33D9CBD80}"/>
              </a:ext>
            </a:extLst>
          </p:cNvPr>
          <p:cNvSpPr/>
          <p:nvPr/>
        </p:nvSpPr>
        <p:spPr>
          <a:xfrm>
            <a:off x="4355822" y="3887614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pic>
        <p:nvPicPr>
          <p:cNvPr id="96" name="그래픽 95" descr="닫기 단색으로 채워진">
            <a:extLst>
              <a:ext uri="{FF2B5EF4-FFF2-40B4-BE49-F238E27FC236}">
                <a16:creationId xmlns:a16="http://schemas.microsoft.com/office/drawing/2014/main" id="{364391E2-9E9A-5A05-5282-FC00AE05D4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32662" y="2169254"/>
            <a:ext cx="220651" cy="22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6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AF98-B275-D1CD-10BB-54A29A0D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111DD0-C44F-F983-BD22-B43F952F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3FBB0D-5FC3-BCB2-D43D-76653B9FF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7AA769-8064-8FE1-1028-E44FEB79D94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계정권한 관리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1445A5E-CA6C-45E9-99C5-50CF811FAD58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계정권한</a:t>
            </a:r>
            <a:r>
              <a:rPr lang="ko-KR" altLang="en-US" sz="1000" b="1" dirty="0">
                <a:solidFill>
                  <a:schemeClr val="tx1"/>
                </a:solidFill>
              </a:rPr>
              <a:t> 관리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FEC7F2C-4C30-CB09-F32E-F1D67200C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29930"/>
              </p:ext>
            </p:extLst>
          </p:nvPr>
        </p:nvGraphicFramePr>
        <p:xfrm>
          <a:off x="8895422" y="89351"/>
          <a:ext cx="3233318" cy="5024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26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57192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관리자가 권한 설정을 할 수 있는 페이지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검색 조건 작성 후 조회</a:t>
                      </a:r>
                      <a:br>
                        <a:rPr lang="en-US" altLang="ko-KR" sz="900" b="0" dirty="0"/>
                      </a:br>
                      <a:endParaRPr lang="en-US" altLang="ko-KR" sz="900" b="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 err="1"/>
                        <a:t>한글명</a:t>
                      </a:r>
                      <a:r>
                        <a:rPr lang="en-US" altLang="ko-KR" sz="900" dirty="0"/>
                        <a:t> , </a:t>
                      </a:r>
                      <a:r>
                        <a:rPr lang="ko-KR" altLang="en-US" sz="900" dirty="0"/>
                        <a:t>아이디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직접입력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2. </a:t>
                      </a:r>
                      <a:r>
                        <a:rPr lang="ko-KR" altLang="en-US" sz="900" dirty="0"/>
                        <a:t>권한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중복선택 가능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초기에는 전체 선택</a:t>
                      </a:r>
                      <a:endParaRPr lang="en-US" altLang="ko-KR" sz="90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u="sng" dirty="0"/>
                        <a:t>- </a:t>
                      </a:r>
                      <a:r>
                        <a:rPr lang="ko-KR" altLang="en-US" sz="900" u="sng" dirty="0"/>
                        <a:t>자신보다 상위 권한은 보이지 않도록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권한 설정을 할 수 있는 팝업 생성 </a:t>
                      </a:r>
                      <a:r>
                        <a:rPr lang="en-US" altLang="ko-KR" sz="900" dirty="0"/>
                        <a:t>#14page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항공</a:t>
                      </a: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호텔 </a:t>
                      </a:r>
                      <a:r>
                        <a:rPr lang="ko-KR" altLang="en-US" sz="900" b="1" u="sng" dirty="0" err="1">
                          <a:solidFill>
                            <a:srgbClr val="FF0000"/>
                          </a:solidFill>
                        </a:rPr>
                        <a:t>셀프예약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 권한 사용하는 </a:t>
                      </a:r>
                      <a:b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</a:b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고객사에 한해서 노출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b="1" dirty="0"/>
                        <a:t>셀프 예약 권한 검색 조건 필터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/>
                        <a:t>항공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– </a:t>
                      </a:r>
                      <a:r>
                        <a:rPr lang="ko-KR" altLang="en-US" sz="900" b="0" dirty="0"/>
                        <a:t>전체</a:t>
                      </a:r>
                      <a:r>
                        <a:rPr lang="en-US" altLang="ko-KR" sz="900" b="0" dirty="0"/>
                        <a:t>/Y/N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– </a:t>
                      </a:r>
                      <a:r>
                        <a:rPr lang="ko-KR" altLang="en-US" sz="900" b="0" dirty="0"/>
                        <a:t>전체</a:t>
                      </a:r>
                      <a:r>
                        <a:rPr lang="en-US" altLang="ko-KR" sz="900" b="0" dirty="0"/>
                        <a:t>/Y/N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/>
                        <a:t> 라디오 버튼으로 전체</a:t>
                      </a:r>
                      <a:r>
                        <a:rPr lang="en-US" altLang="ko-KR" sz="900" b="0" dirty="0"/>
                        <a:t>/Y/N </a:t>
                      </a:r>
                      <a:r>
                        <a:rPr lang="ko-KR" altLang="en-US" sz="900" b="0" dirty="0"/>
                        <a:t>값 중 하나만 선택 가능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예시 </a:t>
                      </a:r>
                      <a:r>
                        <a:rPr lang="en-US" altLang="ko-KR" sz="900" b="0" dirty="0"/>
                        <a:t>: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전체 </a:t>
                      </a:r>
                      <a:r>
                        <a:rPr lang="en-US" altLang="ko-KR" sz="900" b="0" dirty="0"/>
                        <a:t>/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전체 </a:t>
                      </a:r>
                      <a:r>
                        <a:rPr lang="en-US" altLang="ko-KR" sz="900" b="0" dirty="0"/>
                        <a:t>-&gt; </a:t>
                      </a:r>
                      <a:r>
                        <a:rPr lang="ko-KR" altLang="en-US" sz="900" b="0" dirty="0"/>
                        <a:t>전체사용자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Y /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: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ALL -&gt; </a:t>
                      </a:r>
                      <a:r>
                        <a:rPr lang="ko-KR" altLang="en-US" sz="900" b="0" dirty="0"/>
                        <a:t>호텔만 </a:t>
                      </a:r>
                      <a:r>
                        <a:rPr lang="en-US" altLang="ko-KR" sz="900" b="0" dirty="0"/>
                        <a:t>Y</a:t>
                      </a:r>
                      <a:r>
                        <a:rPr lang="ko-KR" altLang="en-US" sz="900" b="0" dirty="0"/>
                        <a:t>인 사용자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N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 항공 </a:t>
                      </a:r>
                      <a:r>
                        <a:rPr lang="en-US" altLang="ko-KR" sz="900" b="0" dirty="0"/>
                        <a:t>: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Y -&gt; 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N AND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Y</a:t>
                      </a:r>
                      <a:r>
                        <a:rPr lang="ko-KR" altLang="en-US" sz="900" b="0" dirty="0"/>
                        <a:t>인 사용자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: Y / </a:t>
                      </a:r>
                      <a:r>
                        <a:rPr lang="ko-KR" altLang="en-US" sz="900" b="0" dirty="0"/>
                        <a:t>항공 </a:t>
                      </a:r>
                      <a:r>
                        <a:rPr lang="en-US" altLang="ko-KR" sz="900" b="0" dirty="0"/>
                        <a:t>: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Y -&gt; </a:t>
                      </a:r>
                      <a:r>
                        <a:rPr lang="ko-KR" altLang="en-US" sz="900" b="0" dirty="0"/>
                        <a:t>호텔 </a:t>
                      </a:r>
                      <a:r>
                        <a:rPr lang="en-US" altLang="ko-KR" sz="900" b="0" dirty="0"/>
                        <a:t>Y AND</a:t>
                      </a:r>
                      <a:r>
                        <a:rPr lang="ko-KR" altLang="en-US" sz="900" b="0" dirty="0"/>
                        <a:t> 항공 </a:t>
                      </a:r>
                      <a:r>
                        <a:rPr lang="en-US" altLang="ko-KR" sz="900" b="0" dirty="0"/>
                        <a:t>Y</a:t>
                      </a:r>
                      <a:r>
                        <a:rPr lang="ko-KR" altLang="en-US" sz="900" b="0" dirty="0"/>
                        <a:t>인 사용자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58762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 err="1"/>
                        <a:t>항공셀프예약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호텔셀프예약</a:t>
                      </a:r>
                      <a:r>
                        <a:rPr lang="ko-KR" altLang="en-US" sz="900" b="0" dirty="0"/>
                        <a:t>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권한 정보 리스트에 노출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1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b="1">
                          <a:solidFill>
                            <a:srgbClr val="FF0000"/>
                          </a:solidFill>
                        </a:rPr>
                        <a:t>셀프예약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 사용하는 고객사에 한해서 노출</a:t>
                      </a:r>
                      <a:endParaRPr lang="en-US" altLang="ko-KR" sz="9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552402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UX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혼동을 최소화하고자 라디오버튼으로 작성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89EF0FA0-B369-0D62-B84B-F06D775D374B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BE92FC-A9B9-FB7A-39B2-8DC297EF57A1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EFB9F27-A006-439C-C286-ABD9C0AC427F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계정권한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77CB35A-9981-D1FA-1837-4AB2B28209EE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1B7A2D9-422A-88D4-4F94-35BB9D9A2A6F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DA6AEA2-E99E-1F7A-393B-3095986F21F7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70C4D41-310B-7DD2-E42C-CE6FBACEEB95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D30E777-5383-1AAD-28ED-73D651E723E1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61F43B93-50D6-BEC5-C4D9-57AD9EA57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228083"/>
              </p:ext>
            </p:extLst>
          </p:nvPr>
        </p:nvGraphicFramePr>
        <p:xfrm>
          <a:off x="368605" y="3334302"/>
          <a:ext cx="8128004" cy="3059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736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975736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975736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814678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434632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956345">
                  <a:extLst>
                    <a:ext uri="{9D8B030D-6E8A-4147-A177-3AD203B41FA5}">
                      <a16:colId xmlns:a16="http://schemas.microsoft.com/office/drawing/2014/main" val="3566273321"/>
                    </a:ext>
                  </a:extLst>
                </a:gridCol>
                <a:gridCol w="1019405">
                  <a:extLst>
                    <a:ext uri="{9D8B030D-6E8A-4147-A177-3AD203B41FA5}">
                      <a16:colId xmlns:a16="http://schemas.microsoft.com/office/drawing/2014/main" val="2724455212"/>
                    </a:ext>
                  </a:extLst>
                </a:gridCol>
                <a:gridCol w="975736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</a:tblGrid>
              <a:tr h="254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항공셀프예약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호텔셀프예약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관리자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BTMSADMIN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차장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admin@smtown.com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이연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BTMSYEON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0"/>
                        </a:rPr>
                        <a:t>yeon@smtown.com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N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오시우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BTMSWOO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1"/>
                        </a:rPr>
                        <a:t>woo@smtown.com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269985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김민우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2"/>
                        </a:rPr>
                        <a:t>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17133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박정수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BTMSJEON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3"/>
                        </a:rPr>
                        <a:t>jeon@smtown.com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696920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송연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BTMSSONG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4"/>
                        </a:rPr>
                        <a:t>song@smtown.com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05806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안재현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BTMSAHN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25"/>
                        </a:rPr>
                        <a:t>ahn@smtown.com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87227"/>
                  </a:ext>
                </a:extLst>
              </a:tr>
              <a:tr h="3506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BTMSLEE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lee@smtown.com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Y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35990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AD4BAFC-FE92-8BC5-FA91-EC3E28133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20192"/>
              </p:ext>
            </p:extLst>
          </p:nvPr>
        </p:nvGraphicFramePr>
        <p:xfrm>
          <a:off x="403480" y="2163239"/>
          <a:ext cx="81280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72982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474436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    아이디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권  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전체     ☑ 관리자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영업 관리자 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출장 관리자  ☑ 일반 사용자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호텔 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셀프예약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  전체          </a:t>
                      </a:r>
                      <a:r>
                        <a:rPr lang="en-US" altLang="ko-KR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              </a:t>
                      </a:r>
                      <a:r>
                        <a:rPr lang="en-US" altLang="ko-KR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N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985794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DD7C77E9-0E9F-CBD3-15B4-0655E9E8DF9F}"/>
              </a:ext>
            </a:extLst>
          </p:cNvPr>
          <p:cNvSpPr txBox="1"/>
          <p:nvPr/>
        </p:nvSpPr>
        <p:spPr>
          <a:xfrm>
            <a:off x="3453813" y="6687959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00B528-2B10-3DDB-92B9-A85E4BC12CCB}"/>
              </a:ext>
            </a:extLst>
          </p:cNvPr>
          <p:cNvSpPr/>
          <p:nvPr/>
        </p:nvSpPr>
        <p:spPr>
          <a:xfrm>
            <a:off x="1449692" y="2256857"/>
            <a:ext cx="2580316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DC15C5-4059-FD93-7D19-42472CBDF302}"/>
              </a:ext>
            </a:extLst>
          </p:cNvPr>
          <p:cNvSpPr/>
          <p:nvPr/>
        </p:nvSpPr>
        <p:spPr>
          <a:xfrm>
            <a:off x="4809939" y="2266169"/>
            <a:ext cx="2580317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아이디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D7B3E7C-446E-414C-FFE6-C00A8C3A1725}"/>
              </a:ext>
            </a:extLst>
          </p:cNvPr>
          <p:cNvSpPr/>
          <p:nvPr/>
        </p:nvSpPr>
        <p:spPr>
          <a:xfrm>
            <a:off x="7685563" y="2405645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93F4F5D-2827-0CDC-C5E5-7189CA8726AB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28B092AC-2721-EAE5-4146-F307F11E6727}"/>
              </a:ext>
            </a:extLst>
          </p:cNvPr>
          <p:cNvSpPr/>
          <p:nvPr/>
        </p:nvSpPr>
        <p:spPr>
          <a:xfrm>
            <a:off x="7708534" y="3680437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60ECE241-FAB3-5EE4-9F4F-A60E0E4AA71E}"/>
              </a:ext>
            </a:extLst>
          </p:cNvPr>
          <p:cNvSpPr/>
          <p:nvPr/>
        </p:nvSpPr>
        <p:spPr>
          <a:xfrm>
            <a:off x="7708534" y="4038538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E4487AF4-1644-CB8C-EACA-0C5AA842387A}"/>
              </a:ext>
            </a:extLst>
          </p:cNvPr>
          <p:cNvSpPr/>
          <p:nvPr/>
        </p:nvSpPr>
        <p:spPr>
          <a:xfrm>
            <a:off x="7708534" y="437555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ADBE3D77-FAC8-3B2C-511E-EBE75D025F2F}"/>
              </a:ext>
            </a:extLst>
          </p:cNvPr>
          <p:cNvSpPr/>
          <p:nvPr/>
        </p:nvSpPr>
        <p:spPr>
          <a:xfrm>
            <a:off x="7708534" y="471945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</a:rPr>
              <a:t>수정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순서도: 수행의 시작/종료 19">
            <a:extLst>
              <a:ext uri="{FF2B5EF4-FFF2-40B4-BE49-F238E27FC236}">
                <a16:creationId xmlns:a16="http://schemas.microsoft.com/office/drawing/2014/main" id="{9DF74DD0-F8CA-D208-9DC2-D4CA0B646764}"/>
              </a:ext>
            </a:extLst>
          </p:cNvPr>
          <p:cNvSpPr/>
          <p:nvPr/>
        </p:nvSpPr>
        <p:spPr>
          <a:xfrm>
            <a:off x="7708534" y="506335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7D727EF1-FC44-CC02-8EB2-66F0454A42FF}"/>
              </a:ext>
            </a:extLst>
          </p:cNvPr>
          <p:cNvSpPr/>
          <p:nvPr/>
        </p:nvSpPr>
        <p:spPr>
          <a:xfrm>
            <a:off x="7708534" y="5410070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411F2C4D-53CA-3358-3B69-DC93D72FE8FB}"/>
              </a:ext>
            </a:extLst>
          </p:cNvPr>
          <p:cNvSpPr/>
          <p:nvPr/>
        </p:nvSpPr>
        <p:spPr>
          <a:xfrm>
            <a:off x="7708534" y="5773026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72FACE37-DBF7-32AF-BF54-E699EDA77A0E}"/>
              </a:ext>
            </a:extLst>
          </p:cNvPr>
          <p:cNvSpPr/>
          <p:nvPr/>
        </p:nvSpPr>
        <p:spPr>
          <a:xfrm>
            <a:off x="7708534" y="6107459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F1DE70-0279-DF31-9A2D-8FB5246310AB}"/>
              </a:ext>
            </a:extLst>
          </p:cNvPr>
          <p:cNvSpPr/>
          <p:nvPr/>
        </p:nvSpPr>
        <p:spPr>
          <a:xfrm>
            <a:off x="398134" y="2149713"/>
            <a:ext cx="8102566" cy="6852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FEEC904-64BE-C059-E9A7-F6AC260342FE}"/>
              </a:ext>
            </a:extLst>
          </p:cNvPr>
          <p:cNvSpPr/>
          <p:nvPr/>
        </p:nvSpPr>
        <p:spPr>
          <a:xfrm>
            <a:off x="332498" y="2037628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82648A-C761-D52D-18EA-26D765D819F3}"/>
              </a:ext>
            </a:extLst>
          </p:cNvPr>
          <p:cNvSpPr/>
          <p:nvPr/>
        </p:nvSpPr>
        <p:spPr>
          <a:xfrm>
            <a:off x="7553637" y="3652425"/>
            <a:ext cx="822614" cy="267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A4DD540-9042-A7C1-63DC-7890C166571E}"/>
              </a:ext>
            </a:extLst>
          </p:cNvPr>
          <p:cNvSpPr/>
          <p:nvPr/>
        </p:nvSpPr>
        <p:spPr>
          <a:xfrm>
            <a:off x="7445093" y="3577373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5C7A77-EBCC-4C9C-8689-8A06787C0C18}"/>
              </a:ext>
            </a:extLst>
          </p:cNvPr>
          <p:cNvSpPr/>
          <p:nvPr/>
        </p:nvSpPr>
        <p:spPr>
          <a:xfrm>
            <a:off x="390760" y="2904918"/>
            <a:ext cx="8128002" cy="3837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E4B50B0-B03C-4B6E-9948-E1A8255E057E}"/>
              </a:ext>
            </a:extLst>
          </p:cNvPr>
          <p:cNvSpPr/>
          <p:nvPr/>
        </p:nvSpPr>
        <p:spPr>
          <a:xfrm>
            <a:off x="332498" y="2864526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grpSp>
        <p:nvGrpSpPr>
          <p:cNvPr id="3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C75FD26-6910-4D9B-AC24-0E95FF3C19F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46461" y="3024171"/>
            <a:ext cx="133350" cy="133350"/>
            <a:chOff x="593892" y="1624671"/>
            <a:chExt cx="133350" cy="133350"/>
          </a:xfrm>
        </p:grpSpPr>
        <p:sp>
          <p:nvSpPr>
            <p:cNvPr id="3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39A1D25-22A8-4EF7-B365-5F2A5175E11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8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C5BB361-3C71-4BDF-8670-1DCE4BEA8686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4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FEFD4D4-0F34-4C0C-B444-3821DC79FA2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513928" y="3027117"/>
            <a:ext cx="133350" cy="133350"/>
            <a:chOff x="593892" y="1624671"/>
            <a:chExt cx="133350" cy="133350"/>
          </a:xfrm>
        </p:grpSpPr>
        <p:sp>
          <p:nvSpPr>
            <p:cNvPr id="4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F7B550B-BCFD-441B-BE43-A7E4C769E1F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5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7EAFCC3B-B06F-428A-ACF7-94A18998968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3539E3-604A-4453-800A-5059BCA5DB6C}"/>
              </a:ext>
            </a:extLst>
          </p:cNvPr>
          <p:cNvSpPr/>
          <p:nvPr/>
        </p:nvSpPr>
        <p:spPr>
          <a:xfrm>
            <a:off x="4080942" y="2986180"/>
            <a:ext cx="9989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/>
              <a:t>항공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grpSp>
        <p:nvGrpSpPr>
          <p:cNvPr id="4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839B0E5-14D6-45CD-B849-C5FD3837363F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598100" y="3028666"/>
            <a:ext cx="133350" cy="133350"/>
            <a:chOff x="593892" y="1624671"/>
            <a:chExt cx="133350" cy="133350"/>
          </a:xfrm>
        </p:grpSpPr>
        <p:sp>
          <p:nvSpPr>
            <p:cNvPr id="54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F0E2DF1-B6DF-477D-96C4-C73641B0C1B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5" name="Check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7DFC7FE-A1DA-4D57-993D-C9406F66834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pSp>
        <p:nvGrpSpPr>
          <p:cNvPr id="56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456CAB1-C925-4C3A-B8D4-0B75E6D9B1A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914389" y="3022213"/>
            <a:ext cx="133350" cy="133350"/>
            <a:chOff x="593892" y="1624671"/>
            <a:chExt cx="133350" cy="133350"/>
          </a:xfrm>
        </p:grpSpPr>
        <p:sp>
          <p:nvSpPr>
            <p:cNvPr id="57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4FE07E8-D47E-431A-81D3-07575E0D3C2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8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97B0BF9-6283-4891-A2E5-DE1E47C161D9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DE085D-988E-4A3F-9D30-40E8D1A41451}"/>
              </a:ext>
            </a:extLst>
          </p:cNvPr>
          <p:cNvSpPr/>
          <p:nvPr/>
        </p:nvSpPr>
        <p:spPr>
          <a:xfrm>
            <a:off x="5866689" y="2965778"/>
            <a:ext cx="2568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Y</a:t>
            </a:r>
            <a:endParaRPr lang="ko-KR" altLang="en-US" sz="10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83F56EC-53B8-4E9E-B675-5FEC8844EC19}"/>
              </a:ext>
            </a:extLst>
          </p:cNvPr>
          <p:cNvSpPr/>
          <p:nvPr/>
        </p:nvSpPr>
        <p:spPr>
          <a:xfrm>
            <a:off x="6495712" y="2965777"/>
            <a:ext cx="28245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N</a:t>
            </a:r>
            <a:endParaRPr lang="ko-KR" altLang="en-US" sz="1000" dirty="0"/>
          </a:p>
        </p:txBody>
      </p:sp>
      <p:grpSp>
        <p:nvGrpSpPr>
          <p:cNvPr id="6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2B9625A-E6E9-4E72-B31F-19FCAC0ECBA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82524" y="3022213"/>
            <a:ext cx="133350" cy="133350"/>
            <a:chOff x="593892" y="1624671"/>
            <a:chExt cx="133350" cy="133350"/>
          </a:xfrm>
        </p:grpSpPr>
        <p:sp>
          <p:nvSpPr>
            <p:cNvPr id="65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6701DD72-AC94-4F07-BE89-CA7304FBDA35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6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9981E32-8D8C-4358-AC4B-2032E34FF9C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94E07E23-DEC7-43F9-A8D1-0527C57C46BD}"/>
              </a:ext>
            </a:extLst>
          </p:cNvPr>
          <p:cNvSpPr/>
          <p:nvPr/>
        </p:nvSpPr>
        <p:spPr>
          <a:xfrm>
            <a:off x="5151781" y="2986179"/>
            <a:ext cx="44114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/>
              <a:t>전체</a:t>
            </a:r>
          </a:p>
        </p:txBody>
      </p:sp>
      <p:grpSp>
        <p:nvGrpSpPr>
          <p:cNvPr id="68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&lt;/Code&gt;&lt;CodeSignature&gt;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40A4E42-83B4-4054-A3DC-A42F1AFD8A25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124731" y="3028666"/>
            <a:ext cx="133350" cy="133350"/>
            <a:chOff x="593892" y="1624671"/>
            <a:chExt cx="133350" cy="133350"/>
          </a:xfrm>
        </p:grpSpPr>
        <p:sp>
          <p:nvSpPr>
            <p:cNvPr id="69" name="Circle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27FCFBC8-6539-48AF-AC35-C7A09EC6461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70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D1289ACA-D4F1-4C41-9874-637260FBDBE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0C8C9D4-51D6-4893-992C-4975D804D6AB}"/>
              </a:ext>
            </a:extLst>
          </p:cNvPr>
          <p:cNvSpPr/>
          <p:nvPr/>
        </p:nvSpPr>
        <p:spPr>
          <a:xfrm>
            <a:off x="5616982" y="3350275"/>
            <a:ext cx="1748296" cy="2975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5EA28536-0287-4843-BF29-8CB52CA80B64}"/>
              </a:ext>
            </a:extLst>
          </p:cNvPr>
          <p:cNvSpPr/>
          <p:nvPr/>
        </p:nvSpPr>
        <p:spPr>
          <a:xfrm>
            <a:off x="5489678" y="3257070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64873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2205-CBDE-4104-B79E-4F67C293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91EF021-2E92-3AB5-7B06-DC2F7438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2AA9BD-091E-4C34-F26D-18C70DB3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2025-10-17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3FC3F7E-965E-5305-2A48-E357ED293E72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권한 </a:t>
            </a:r>
            <a:r>
              <a:rPr lang="ko-KR" altLang="en-US" sz="1000" b="1" dirty="0" err="1"/>
              <a:t>설정창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CBE70E-B1D9-65F3-AD97-E62355C556C6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관리자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계정권한</a:t>
            </a:r>
            <a:r>
              <a:rPr lang="ko-KR" altLang="en-US" sz="1000" b="1" dirty="0">
                <a:solidFill>
                  <a:schemeClr val="tx1"/>
                </a:solidFill>
              </a:rPr>
              <a:t> 관리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권한설정창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FB1E38CA-A61E-F67C-06C9-8794DA817D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467040"/>
              </p:ext>
            </p:extLst>
          </p:nvPr>
        </p:nvGraphicFramePr>
        <p:xfrm>
          <a:off x="8895422" y="89351"/>
          <a:ext cx="3233318" cy="4933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126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57192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관리자 설정 창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900" b="0" dirty="0"/>
                        <a:t>권한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영업관리자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출장관리자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관리자</a:t>
                      </a:r>
                      <a:endParaRPr lang="en-US" altLang="ko-KR" sz="90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900" u="sng" dirty="0"/>
                        <a:t>- </a:t>
                      </a:r>
                      <a:r>
                        <a:rPr lang="ko-KR" altLang="en-US" sz="900" u="sng" dirty="0"/>
                        <a:t>자신보다 상위 권한은 보이지 않도록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alert</a:t>
                      </a:r>
                      <a:r>
                        <a:rPr lang="ko-KR" altLang="en-US" sz="900" b="0" dirty="0"/>
                        <a:t> 창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저장 되었습니다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항공</a:t>
                      </a:r>
                      <a: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  <a:t> / </a:t>
                      </a: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호텔 셀프 예약 권한 기능 </a:t>
                      </a:r>
                      <a:br>
                        <a:rPr lang="en-US" altLang="ko-KR" sz="900" b="1" u="sng" dirty="0">
                          <a:solidFill>
                            <a:srgbClr val="FF0000"/>
                          </a:solidFill>
                        </a:rPr>
                      </a:br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사용하는 고객사에 한해서 노출</a:t>
                      </a:r>
                      <a:endParaRPr lang="en-US" altLang="ko-KR" sz="900" b="1" u="sng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항공 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호텔 셀프 예약 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항공페이지문서 </a:t>
                      </a:r>
                      <a:r>
                        <a:rPr lang="en-US" altLang="ko-KR" sz="900" b="0" dirty="0"/>
                        <a:t>#9page</a:t>
                      </a:r>
                      <a:r>
                        <a:rPr lang="ko-KR" altLang="en-US" sz="900" b="0" dirty="0"/>
                        <a:t>참조</a:t>
                      </a:r>
                      <a:r>
                        <a:rPr lang="en-US" altLang="ko-KR" sz="900" b="0" dirty="0"/>
                        <a:t>)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b="0" dirty="0"/>
                        <a:t>해당 계정에 값이 </a:t>
                      </a:r>
                      <a:endParaRPr lang="en-US" altLang="ko-KR" sz="90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u="sng" dirty="0"/>
                        <a:t>Y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항공 상품리스트 페이지에서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 노출</a:t>
                      </a:r>
                      <a:endParaRPr lang="en-US" altLang="ko-KR" sz="90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u="sng" dirty="0"/>
                        <a:t>N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항공 상품리스트 페이지에서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 </a:t>
                      </a:r>
                      <a:r>
                        <a:rPr lang="ko-KR" altLang="en-US" sz="900" b="0" dirty="0" err="1"/>
                        <a:t>미노출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ko-KR" altLang="en-US" sz="900" b="1" dirty="0"/>
                        <a:t>호텔 셀프 예약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b="0" dirty="0"/>
                        <a:t>- </a:t>
                      </a:r>
                      <a:r>
                        <a:rPr lang="en-US" altLang="ko-KR" sz="900" b="0" u="sng" dirty="0"/>
                        <a:t>Y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호텔 상품리스트 페이지에서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 노출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- </a:t>
                      </a:r>
                      <a:r>
                        <a:rPr lang="en-US" altLang="ko-KR" sz="900" b="0" u="sng" dirty="0"/>
                        <a:t>N</a:t>
                      </a:r>
                      <a:r>
                        <a:rPr lang="ko-KR" altLang="en-US" sz="900" b="0" u="sng" dirty="0"/>
                        <a:t>일 경우 </a:t>
                      </a:r>
                      <a:r>
                        <a:rPr lang="ko-KR" altLang="en-US" sz="900" b="0" dirty="0"/>
                        <a:t>호텔 상품리스트 페이지에서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버튼 </a:t>
                      </a:r>
                      <a:r>
                        <a:rPr lang="ko-KR" altLang="en-US" sz="900" b="0" dirty="0" err="1"/>
                        <a:t>미노출</a:t>
                      </a:r>
                      <a:endParaRPr lang="en-US" altLang="ko-KR" sz="900" b="0" dirty="0"/>
                    </a:p>
                    <a:p>
                      <a:pPr latinLnBrk="1"/>
                      <a:endParaRPr lang="en-US" altLang="ko-KR" sz="900" b="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/>
                        <a:t>모든 계정에 대해서 </a:t>
                      </a:r>
                      <a:r>
                        <a:rPr lang="ko-KR" altLang="en-US" sz="900" b="0" dirty="0" err="1"/>
                        <a:t>셀프예약</a:t>
                      </a:r>
                      <a:r>
                        <a:rPr lang="ko-KR" altLang="en-US" sz="900" b="0" dirty="0"/>
                        <a:t> 버튼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 노출 </a:t>
                      </a:r>
                      <a:r>
                        <a:rPr lang="ko-KR" altLang="en-US" sz="900" b="0" dirty="0" err="1"/>
                        <a:t>미노출</a:t>
                      </a:r>
                      <a:r>
                        <a:rPr lang="ko-KR" altLang="en-US" sz="900" b="0" dirty="0"/>
                        <a:t> 여부 설정가능</a:t>
                      </a:r>
                      <a:endParaRPr lang="en-US" altLang="ko-KR" sz="900" b="0" dirty="0"/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최초 회원가입 시 모든 계정의 항공</a:t>
                      </a: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호텔 </a:t>
                      </a:r>
                      <a:r>
                        <a:rPr lang="ko-KR" altLang="en-US" sz="900" b="0" dirty="0" err="1">
                          <a:solidFill>
                            <a:srgbClr val="FF0000"/>
                          </a:solidFill>
                        </a:rPr>
                        <a:t>셀프예약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900" b="0" u="sng" dirty="0">
                          <a:solidFill>
                            <a:srgbClr val="FF0000"/>
                          </a:solidFill>
                        </a:rPr>
                        <a:t>default </a:t>
                      </a:r>
                      <a:r>
                        <a:rPr lang="ko-KR" altLang="en-US" sz="900" b="0" u="sng" dirty="0">
                          <a:solidFill>
                            <a:srgbClr val="FF0000"/>
                          </a:solidFill>
                        </a:rPr>
                        <a:t>값은 </a:t>
                      </a:r>
                      <a:r>
                        <a:rPr lang="en-US" altLang="ko-KR" sz="900" b="0" u="sng" dirty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으로 설정</a:t>
                      </a:r>
                      <a:br>
                        <a:rPr lang="en-US" altLang="ko-KR" sz="900" b="0" dirty="0"/>
                      </a:b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559930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bg1">
                            <a:lumMod val="6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1477FE-13F3-42C2-933A-F738313527F8}"/>
              </a:ext>
            </a:extLst>
          </p:cNvPr>
          <p:cNvSpPr/>
          <p:nvPr/>
        </p:nvSpPr>
        <p:spPr>
          <a:xfrm>
            <a:off x="398134" y="704224"/>
            <a:ext cx="868241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C1918D3-C1C6-9D90-54D8-467B6AF68AB2}"/>
              </a:ext>
            </a:extLst>
          </p:cNvPr>
          <p:cNvSpPr/>
          <p:nvPr/>
        </p:nvSpPr>
        <p:spPr>
          <a:xfrm>
            <a:off x="7198844" y="704224"/>
            <a:ext cx="1403618" cy="43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73F7E56-2C21-A1C7-03E2-D7F7E81416EF}"/>
              </a:ext>
            </a:extLst>
          </p:cNvPr>
          <p:cNvSpPr/>
          <p:nvPr/>
        </p:nvSpPr>
        <p:spPr>
          <a:xfrm>
            <a:off x="363278" y="1693510"/>
            <a:ext cx="1381632" cy="4385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계정권한 관리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FBDF325-7E39-3A01-A21A-163B8127A8AA}"/>
              </a:ext>
            </a:extLst>
          </p:cNvPr>
          <p:cNvSpPr/>
          <p:nvPr/>
        </p:nvSpPr>
        <p:spPr>
          <a:xfrm>
            <a:off x="39813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고객사 관리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410306A-AFB1-14A7-12EF-63B27935470D}"/>
              </a:ext>
            </a:extLst>
          </p:cNvPr>
          <p:cNvSpPr/>
          <p:nvPr/>
        </p:nvSpPr>
        <p:spPr>
          <a:xfrm>
            <a:off x="160545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363751F-0E6E-AF6A-698E-5187EEA1B778}"/>
              </a:ext>
            </a:extLst>
          </p:cNvPr>
          <p:cNvSpPr/>
          <p:nvPr/>
        </p:nvSpPr>
        <p:spPr>
          <a:xfrm>
            <a:off x="2788526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출장규정관리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E3A13B-8A77-FE80-A3CE-82BFA2B7001C}"/>
              </a:ext>
            </a:extLst>
          </p:cNvPr>
          <p:cNvSpPr/>
          <p:nvPr/>
        </p:nvSpPr>
        <p:spPr>
          <a:xfrm>
            <a:off x="3986754" y="1328543"/>
            <a:ext cx="1118546" cy="27039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항공예약관리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2EFB2C3-86DA-DBDC-23EC-F157831477A0}"/>
              </a:ext>
            </a:extLst>
          </p:cNvPr>
          <p:cNvSpPr/>
          <p:nvPr/>
        </p:nvSpPr>
        <p:spPr>
          <a:xfrm>
            <a:off x="5174629" y="1328543"/>
            <a:ext cx="1118546" cy="27039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계정권한관리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D25AC03-19FA-F435-8D5A-6413B196570D}"/>
              </a:ext>
            </a:extLst>
          </p:cNvPr>
          <p:cNvGraphicFramePr>
            <a:graphicFrameLocks noGrp="1"/>
          </p:cNvGraphicFramePr>
          <p:nvPr/>
        </p:nvGraphicFramePr>
        <p:xfrm>
          <a:off x="403481" y="3163599"/>
          <a:ext cx="8128002" cy="2727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40591629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78170162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61089243"/>
                    </a:ext>
                  </a:extLst>
                </a:gridCol>
                <a:gridCol w="1131061">
                  <a:extLst>
                    <a:ext uri="{9D8B030D-6E8A-4147-A177-3AD203B41FA5}">
                      <a16:colId xmlns:a16="http://schemas.microsoft.com/office/drawing/2014/main" val="257225400"/>
                    </a:ext>
                  </a:extLst>
                </a:gridCol>
                <a:gridCol w="1578273">
                  <a:extLst>
                    <a:ext uri="{9D8B030D-6E8A-4147-A177-3AD203B41FA5}">
                      <a16:colId xmlns:a16="http://schemas.microsoft.com/office/drawing/2014/main" val="20920301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5683824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관리자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8517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오지연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BTMSADMIN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차장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admin@smtown.com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900708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이연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BTMSYEON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6"/>
                        </a:rPr>
                        <a:t>yeon@smtown.com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58379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오시우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BTMSWOO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7"/>
                        </a:rPr>
                        <a:t>woo@smtown.com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269985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김민우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BTMSMIN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사원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8"/>
                        </a:rPr>
                        <a:t>min@smtown.com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117133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박정수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BTMSJEON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9"/>
                        </a:rPr>
                        <a:t>jeon@smtown.com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696920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송연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BTMSSONG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과장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10"/>
                        </a:rPr>
                        <a:t>song@smtown.com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905806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안재현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BTMSAHN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법인영업팀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>
                          <a:hlinkClick r:id="rId11"/>
                        </a:rPr>
                        <a:t>ahn@smtown.com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587227"/>
                  </a:ext>
                </a:extLst>
              </a:tr>
              <a:tr h="3049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이동욱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BTMSLEE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개발운영팀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u="none" dirty="0"/>
                        <a:t>lee@smtown.com</a:t>
                      </a:r>
                      <a:endParaRPr lang="ko-KR" altLang="en-US" sz="1000" u="non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359900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26B0CB86-E710-A6D7-BA88-B249D5AF257C}"/>
              </a:ext>
            </a:extLst>
          </p:cNvPr>
          <p:cNvGraphicFramePr>
            <a:graphicFrameLocks noGrp="1"/>
          </p:cNvGraphicFramePr>
          <p:nvPr/>
        </p:nvGraphicFramePr>
        <p:xfrm>
          <a:off x="403480" y="2163239"/>
          <a:ext cx="812800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73229">
                  <a:extLst>
                    <a:ext uri="{9D8B030D-6E8A-4147-A177-3AD203B41FA5}">
                      <a16:colId xmlns:a16="http://schemas.microsoft.com/office/drawing/2014/main" val="4202581360"/>
                    </a:ext>
                  </a:extLst>
                </a:gridCol>
                <a:gridCol w="2674189">
                  <a:extLst>
                    <a:ext uri="{9D8B030D-6E8A-4147-A177-3AD203B41FA5}">
                      <a16:colId xmlns:a16="http://schemas.microsoft.com/office/drawing/2014/main" val="1802302375"/>
                    </a:ext>
                  </a:extLst>
                </a:gridCol>
                <a:gridCol w="741872">
                  <a:extLst>
                    <a:ext uri="{9D8B030D-6E8A-4147-A177-3AD203B41FA5}">
                      <a16:colId xmlns:a16="http://schemas.microsoft.com/office/drawing/2014/main" val="4059569178"/>
                    </a:ext>
                  </a:extLst>
                </a:gridCol>
                <a:gridCol w="3071004">
                  <a:extLst>
                    <a:ext uri="{9D8B030D-6E8A-4147-A177-3AD203B41FA5}">
                      <a16:colId xmlns:a16="http://schemas.microsoft.com/office/drawing/2014/main" val="2784276175"/>
                    </a:ext>
                  </a:extLst>
                </a:gridCol>
                <a:gridCol w="767706">
                  <a:extLst>
                    <a:ext uri="{9D8B030D-6E8A-4147-A177-3AD203B41FA5}">
                      <a16:colId xmlns:a16="http://schemas.microsoft.com/office/drawing/2014/main" val="39663174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    아이디</a:t>
                      </a:r>
                    </a:p>
                  </a:txBody>
                  <a:tcPr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6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권  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전체     ☑ 관리자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ko-KR" altLang="en-US" sz="105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영업 관리자 </a:t>
                      </a:r>
                      <a:r>
                        <a:rPr lang="ko-KR" altLang="en-US" sz="105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1000" b="0" i="0" dirty="0">
                          <a:solidFill>
                            <a:srgbClr val="222222"/>
                          </a:solidFill>
                          <a:effectLst/>
                          <a:latin typeface="Arial" panose="020B0604020202020204" pitchFamily="34" charset="0"/>
                        </a:rPr>
                        <a:t>☑ 출장 관리자  ☑ 일반 사용자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Arial" panose="020B0604020202020204" pitchFamily="34" charset="0"/>
                        </a:rPr>
                        <a:t> </a:t>
                      </a:r>
                      <a:endParaRPr lang="ko-KR" altLang="en-US" sz="10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711708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FBCE0401-F53C-3363-B9CA-7BC235229CB9}"/>
              </a:ext>
            </a:extLst>
          </p:cNvPr>
          <p:cNvSpPr txBox="1"/>
          <p:nvPr/>
        </p:nvSpPr>
        <p:spPr>
          <a:xfrm>
            <a:off x="3453813" y="636305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D352E4-20BD-A9E2-4883-1C7B36B60D5D}"/>
              </a:ext>
            </a:extLst>
          </p:cNvPr>
          <p:cNvSpPr/>
          <p:nvPr/>
        </p:nvSpPr>
        <p:spPr>
          <a:xfrm>
            <a:off x="1316991" y="2251503"/>
            <a:ext cx="2580316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8A56-25E7-C5C7-6097-91B165476AEF}"/>
              </a:ext>
            </a:extLst>
          </p:cNvPr>
          <p:cNvSpPr/>
          <p:nvPr/>
        </p:nvSpPr>
        <p:spPr>
          <a:xfrm>
            <a:off x="4809939" y="2266169"/>
            <a:ext cx="2580317" cy="2766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아이디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877CDEB-9AF4-81A6-D523-582FCA56FCA6}"/>
              </a:ext>
            </a:extLst>
          </p:cNvPr>
          <p:cNvSpPr/>
          <p:nvPr/>
        </p:nvSpPr>
        <p:spPr>
          <a:xfrm>
            <a:off x="7685563" y="2405645"/>
            <a:ext cx="754652" cy="256868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ACFD9A9-0461-1CE5-B8C3-16C69EFD550B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b="1" dirty="0"/>
          </a:p>
        </p:txBody>
      </p:sp>
      <p:sp>
        <p:nvSpPr>
          <p:cNvPr id="8" name="순서도: 수행의 시작/종료 7">
            <a:extLst>
              <a:ext uri="{FF2B5EF4-FFF2-40B4-BE49-F238E27FC236}">
                <a16:creationId xmlns:a16="http://schemas.microsoft.com/office/drawing/2014/main" id="{E7A813EC-29A2-2850-3AC8-C2BC5B7466E4}"/>
              </a:ext>
            </a:extLst>
          </p:cNvPr>
          <p:cNvSpPr/>
          <p:nvPr/>
        </p:nvSpPr>
        <p:spPr>
          <a:xfrm>
            <a:off x="7565365" y="3497388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9" name="순서도: 수행의 시작/종료 8">
            <a:extLst>
              <a:ext uri="{FF2B5EF4-FFF2-40B4-BE49-F238E27FC236}">
                <a16:creationId xmlns:a16="http://schemas.microsoft.com/office/drawing/2014/main" id="{04A177E9-A607-D438-ED70-44C08571BD75}"/>
              </a:ext>
            </a:extLst>
          </p:cNvPr>
          <p:cNvSpPr/>
          <p:nvPr/>
        </p:nvSpPr>
        <p:spPr>
          <a:xfrm>
            <a:off x="7565364" y="3792840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0" name="순서도: 수행의 시작/종료 9">
            <a:extLst>
              <a:ext uri="{FF2B5EF4-FFF2-40B4-BE49-F238E27FC236}">
                <a16:creationId xmlns:a16="http://schemas.microsoft.com/office/drawing/2014/main" id="{9F692584-1D6C-8E71-0D73-94D961E65EAB}"/>
              </a:ext>
            </a:extLst>
          </p:cNvPr>
          <p:cNvSpPr/>
          <p:nvPr/>
        </p:nvSpPr>
        <p:spPr>
          <a:xfrm>
            <a:off x="7555594" y="4091703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3" name="순서도: 수행의 시작/종료 12">
            <a:extLst>
              <a:ext uri="{FF2B5EF4-FFF2-40B4-BE49-F238E27FC236}">
                <a16:creationId xmlns:a16="http://schemas.microsoft.com/office/drawing/2014/main" id="{084BA291-6138-9C37-88F1-52753628BFC9}"/>
              </a:ext>
            </a:extLst>
          </p:cNvPr>
          <p:cNvSpPr/>
          <p:nvPr/>
        </p:nvSpPr>
        <p:spPr>
          <a:xfrm>
            <a:off x="7565364" y="4402914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bg1"/>
                </a:solidFill>
              </a:rPr>
              <a:t>수정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" name="순서도: 수행의 시작/종료 19">
            <a:extLst>
              <a:ext uri="{FF2B5EF4-FFF2-40B4-BE49-F238E27FC236}">
                <a16:creationId xmlns:a16="http://schemas.microsoft.com/office/drawing/2014/main" id="{4DBD3690-E30B-A8F4-1F0F-92DA21AA19AA}"/>
              </a:ext>
            </a:extLst>
          </p:cNvPr>
          <p:cNvSpPr/>
          <p:nvPr/>
        </p:nvSpPr>
        <p:spPr>
          <a:xfrm>
            <a:off x="7555594" y="4719029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1" name="순서도: 수행의 시작/종료 20">
            <a:extLst>
              <a:ext uri="{FF2B5EF4-FFF2-40B4-BE49-F238E27FC236}">
                <a16:creationId xmlns:a16="http://schemas.microsoft.com/office/drawing/2014/main" id="{DBCD21F8-E4B5-0B8C-BFD9-1F46C3E54B10}"/>
              </a:ext>
            </a:extLst>
          </p:cNvPr>
          <p:cNvSpPr/>
          <p:nvPr/>
        </p:nvSpPr>
        <p:spPr>
          <a:xfrm>
            <a:off x="7555593" y="5024338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2" name="순서도: 수행의 시작/종료 21">
            <a:extLst>
              <a:ext uri="{FF2B5EF4-FFF2-40B4-BE49-F238E27FC236}">
                <a16:creationId xmlns:a16="http://schemas.microsoft.com/office/drawing/2014/main" id="{DCF17F5B-776F-78CF-8ACE-56638CDA14AF}"/>
              </a:ext>
            </a:extLst>
          </p:cNvPr>
          <p:cNvSpPr/>
          <p:nvPr/>
        </p:nvSpPr>
        <p:spPr>
          <a:xfrm>
            <a:off x="7565365" y="5322097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3" name="순서도: 수행의 시작/종료 22">
            <a:extLst>
              <a:ext uri="{FF2B5EF4-FFF2-40B4-BE49-F238E27FC236}">
                <a16:creationId xmlns:a16="http://schemas.microsoft.com/office/drawing/2014/main" id="{F1595A38-0258-5329-2BB8-DC1821A0B686}"/>
              </a:ext>
            </a:extLst>
          </p:cNvPr>
          <p:cNvSpPr/>
          <p:nvPr/>
        </p:nvSpPr>
        <p:spPr>
          <a:xfrm>
            <a:off x="7565364" y="5627406"/>
            <a:ext cx="569343" cy="218306"/>
          </a:xfrm>
          <a:prstGeom prst="flowChartTerminator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D9DB03-75EB-9D13-1817-7142E5CB4507}"/>
              </a:ext>
            </a:extLst>
          </p:cNvPr>
          <p:cNvSpPr/>
          <p:nvPr/>
        </p:nvSpPr>
        <p:spPr>
          <a:xfrm>
            <a:off x="98495" y="605121"/>
            <a:ext cx="8698709" cy="6163530"/>
          </a:xfrm>
          <a:prstGeom prst="rect">
            <a:avLst/>
          </a:prstGeom>
          <a:solidFill>
            <a:schemeClr val="bg1">
              <a:lumMod val="65000"/>
              <a:alpha val="4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A3CE639-97BB-36A3-8806-516F687DB960}"/>
              </a:ext>
            </a:extLst>
          </p:cNvPr>
          <p:cNvSpPr/>
          <p:nvPr/>
        </p:nvSpPr>
        <p:spPr>
          <a:xfrm>
            <a:off x="2875369" y="2015687"/>
            <a:ext cx="3176466" cy="3524715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BAAB1-BE48-B6EF-817E-A84C0DAB2F5C}"/>
              </a:ext>
            </a:extLst>
          </p:cNvPr>
          <p:cNvSpPr txBox="1"/>
          <p:nvPr/>
        </p:nvSpPr>
        <p:spPr>
          <a:xfrm>
            <a:off x="3973316" y="2134112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권한 설정</a:t>
            </a:r>
          </a:p>
        </p:txBody>
      </p:sp>
      <p:pic>
        <p:nvPicPr>
          <p:cNvPr id="16" name="그래픽 15" descr="닫기 단색으로 채워진">
            <a:extLst>
              <a:ext uri="{FF2B5EF4-FFF2-40B4-BE49-F238E27FC236}">
                <a16:creationId xmlns:a16="http://schemas.microsoft.com/office/drawing/2014/main" id="{4895D1F4-DDF9-FF28-7392-2890A8EACB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14779" y="2140796"/>
            <a:ext cx="220651" cy="2206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D2C9B36-1D74-9533-CEA2-10EFBCDB105C}"/>
              </a:ext>
            </a:extLst>
          </p:cNvPr>
          <p:cNvSpPr txBox="1"/>
          <p:nvPr/>
        </p:nvSpPr>
        <p:spPr>
          <a:xfrm>
            <a:off x="2980101" y="247586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이름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AF86945-A8B7-7AA2-51C7-AADE7DE4E09E}"/>
              </a:ext>
            </a:extLst>
          </p:cNvPr>
          <p:cNvGrpSpPr/>
          <p:nvPr/>
        </p:nvGrpSpPr>
        <p:grpSpPr>
          <a:xfrm>
            <a:off x="3676435" y="3142306"/>
            <a:ext cx="2065117" cy="282715"/>
            <a:chOff x="3174521" y="2986620"/>
            <a:chExt cx="2660909" cy="28271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DE6C7E4-8FEE-3B5B-8FB2-8CA57571D9E4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출장관리자</a:t>
              </a:r>
            </a:p>
          </p:txBody>
        </p:sp>
        <p:pic>
          <p:nvPicPr>
            <p:cNvPr id="26" name="그래픽 25" descr="위쪽 캐럿 단색으로 채워진">
              <a:extLst>
                <a:ext uri="{FF2B5EF4-FFF2-40B4-BE49-F238E27FC236}">
                  <a16:creationId xmlns:a16="http://schemas.microsoft.com/office/drawing/2014/main" id="{C9A0E783-0D8D-54F1-A3B0-FE8912282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8691820-33A0-843A-2E02-1D5A4B3127E2}"/>
              </a:ext>
            </a:extLst>
          </p:cNvPr>
          <p:cNvSpPr txBox="1"/>
          <p:nvPr/>
        </p:nvSpPr>
        <p:spPr>
          <a:xfrm>
            <a:off x="3001075" y="3168804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5263C4-8DCD-3FB3-61B6-0D328DFE7BF7}"/>
              </a:ext>
            </a:extLst>
          </p:cNvPr>
          <p:cNvSpPr txBox="1"/>
          <p:nvPr/>
        </p:nvSpPr>
        <p:spPr>
          <a:xfrm>
            <a:off x="3676435" y="2489739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오지연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0E6A4C-074F-B597-D56A-9F9C3D7C9953}"/>
              </a:ext>
            </a:extLst>
          </p:cNvPr>
          <p:cNvSpPr txBox="1"/>
          <p:nvPr/>
        </p:nvSpPr>
        <p:spPr>
          <a:xfrm>
            <a:off x="2980101" y="2810423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이메일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AC3D5A-8009-75FC-179E-9E4614E303D0}"/>
              </a:ext>
            </a:extLst>
          </p:cNvPr>
          <p:cNvSpPr txBox="1"/>
          <p:nvPr/>
        </p:nvSpPr>
        <p:spPr>
          <a:xfrm>
            <a:off x="3676435" y="2824302"/>
            <a:ext cx="1805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admin@smtown.com</a:t>
            </a:r>
            <a:endParaRPr lang="ko-KR" altLang="en-US" sz="1000" b="1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DFC7859-1AED-BF09-4318-5A30487F4DBB}"/>
              </a:ext>
            </a:extLst>
          </p:cNvPr>
          <p:cNvSpPr/>
          <p:nvPr/>
        </p:nvSpPr>
        <p:spPr>
          <a:xfrm>
            <a:off x="3163815" y="4921992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 장</a:t>
            </a:r>
            <a:endParaRPr lang="ko-KR" altLang="en-US" b="1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981B8CA-4C4A-2AD0-DE79-9598760A1192}"/>
              </a:ext>
            </a:extLst>
          </p:cNvPr>
          <p:cNvSpPr/>
          <p:nvPr/>
        </p:nvSpPr>
        <p:spPr>
          <a:xfrm>
            <a:off x="3079060" y="5600474"/>
            <a:ext cx="1208268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 인</a:t>
            </a:r>
            <a:endParaRPr lang="ko-KR" altLang="en-US" b="1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B04297-0AB8-F9ED-ABAC-A8474A567ED4}"/>
              </a:ext>
            </a:extLst>
          </p:cNvPr>
          <p:cNvSpPr/>
          <p:nvPr/>
        </p:nvSpPr>
        <p:spPr>
          <a:xfrm>
            <a:off x="3644866" y="3125237"/>
            <a:ext cx="2096686" cy="289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97E04C1-776A-6EA2-3A04-6B49DDCF620B}"/>
              </a:ext>
            </a:extLst>
          </p:cNvPr>
          <p:cNvSpPr/>
          <p:nvPr/>
        </p:nvSpPr>
        <p:spPr>
          <a:xfrm>
            <a:off x="3572608" y="3023666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C43A7D1-66D1-4A98-93A8-504F239A6F79}"/>
              </a:ext>
            </a:extLst>
          </p:cNvPr>
          <p:cNvSpPr/>
          <p:nvPr/>
        </p:nvSpPr>
        <p:spPr>
          <a:xfrm>
            <a:off x="3149732" y="4896566"/>
            <a:ext cx="2685698" cy="289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88725F8-519E-313E-47FB-B5EB6EC882AD}"/>
              </a:ext>
            </a:extLst>
          </p:cNvPr>
          <p:cNvSpPr/>
          <p:nvPr/>
        </p:nvSpPr>
        <p:spPr>
          <a:xfrm>
            <a:off x="3045817" y="4821073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35E1AB-BC3A-44F7-B14B-32E71EDB3D13}"/>
              </a:ext>
            </a:extLst>
          </p:cNvPr>
          <p:cNvSpPr txBox="1"/>
          <p:nvPr/>
        </p:nvSpPr>
        <p:spPr>
          <a:xfrm>
            <a:off x="2987876" y="3579766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항공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B98BCC-99A5-4513-9853-C73036162B9B}"/>
              </a:ext>
            </a:extLst>
          </p:cNvPr>
          <p:cNvSpPr txBox="1"/>
          <p:nvPr/>
        </p:nvSpPr>
        <p:spPr>
          <a:xfrm>
            <a:off x="3001075" y="4198868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호텔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351E203-E21A-4267-84A4-CFD750E1AF22}"/>
              </a:ext>
            </a:extLst>
          </p:cNvPr>
          <p:cNvGrpSpPr/>
          <p:nvPr/>
        </p:nvGrpSpPr>
        <p:grpSpPr>
          <a:xfrm>
            <a:off x="3110713" y="3825987"/>
            <a:ext cx="2662492" cy="282715"/>
            <a:chOff x="2599364" y="2986620"/>
            <a:chExt cx="3236066" cy="28271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6FE7B6C-1B34-4D7C-86A8-0F9E9DA9AED0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59" name="그래픽 58" descr="위쪽 캐럿 단색으로 채워진">
              <a:extLst>
                <a:ext uri="{FF2B5EF4-FFF2-40B4-BE49-F238E27FC236}">
                  <a16:creationId xmlns:a16="http://schemas.microsoft.com/office/drawing/2014/main" id="{A3D763F7-C5B6-41B4-8870-696DCE506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13C2BFD-79A0-4771-8638-DE44AF5E6A08}"/>
              </a:ext>
            </a:extLst>
          </p:cNvPr>
          <p:cNvGrpSpPr/>
          <p:nvPr/>
        </p:nvGrpSpPr>
        <p:grpSpPr>
          <a:xfrm>
            <a:off x="3113951" y="4464192"/>
            <a:ext cx="2662492" cy="282715"/>
            <a:chOff x="2599364" y="2986620"/>
            <a:chExt cx="3236066" cy="282715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8A31EE4-4F93-4622-AA58-421690DAAA91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63" name="그래픽 62" descr="위쪽 캐럿 단색으로 채워진">
              <a:extLst>
                <a:ext uri="{FF2B5EF4-FFF2-40B4-BE49-F238E27FC236}">
                  <a16:creationId xmlns:a16="http://schemas.microsoft.com/office/drawing/2014/main" id="{A6D726CF-70C0-44EE-AB86-1EAFFB619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70" name="Drop-Down Menu">
            <a:extLst>
              <a:ext uri="{FF2B5EF4-FFF2-40B4-BE49-F238E27FC236}">
                <a16:creationId xmlns:a16="http://schemas.microsoft.com/office/drawing/2014/main" id="{99397EB8-6B8A-457D-88BB-7868408AE920}"/>
              </a:ext>
            </a:extLst>
          </p:cNvPr>
          <p:cNvGrpSpPr/>
          <p:nvPr/>
        </p:nvGrpSpPr>
        <p:grpSpPr>
          <a:xfrm>
            <a:off x="9426376" y="7115487"/>
            <a:ext cx="2279810" cy="453041"/>
            <a:chOff x="595686" y="1494015"/>
            <a:chExt cx="1377885" cy="378033"/>
          </a:xfrm>
        </p:grpSpPr>
        <p:sp>
          <p:nvSpPr>
            <p:cNvPr id="73" name="Box">
              <a:extLst>
                <a:ext uri="{FF2B5EF4-FFF2-40B4-BE49-F238E27FC236}">
                  <a16:creationId xmlns:a16="http://schemas.microsoft.com/office/drawing/2014/main" id="{6972A0B0-057F-499E-86C7-174E3316CC0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95686" y="1497587"/>
              <a:ext cx="1368150" cy="37446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Y</a:t>
              </a:r>
            </a:p>
            <a:p>
              <a:pPr>
                <a:spcAft>
                  <a:spcPts val="200"/>
                </a:spcAft>
              </a:pPr>
              <a:r>
                <a: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N</a:t>
              </a:r>
            </a:p>
          </p:txBody>
        </p:sp>
        <p:sp>
          <p:nvSpPr>
            <p:cNvPr id="74" name="Selection Overlay">
              <a:extLst>
                <a:ext uri="{FF2B5EF4-FFF2-40B4-BE49-F238E27FC236}">
                  <a16:creationId xmlns:a16="http://schemas.microsoft.com/office/drawing/2014/main" id="{FFF4B307-E588-4F9E-84EA-33B3719A8B6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05421" y="1494015"/>
              <a:ext cx="1368150" cy="165672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C586B55-C786-4037-A096-12129308D1F6}"/>
              </a:ext>
            </a:extLst>
          </p:cNvPr>
          <p:cNvSpPr/>
          <p:nvPr/>
        </p:nvSpPr>
        <p:spPr>
          <a:xfrm>
            <a:off x="8922910" y="4129169"/>
            <a:ext cx="3176466" cy="3524715"/>
          </a:xfrm>
          <a:prstGeom prst="roundRect">
            <a:avLst>
              <a:gd name="adj" fmla="val 5804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DC2348-6ECA-412C-B590-111CCF726AC7}"/>
              </a:ext>
            </a:extLst>
          </p:cNvPr>
          <p:cNvSpPr txBox="1"/>
          <p:nvPr/>
        </p:nvSpPr>
        <p:spPr>
          <a:xfrm>
            <a:off x="10020857" y="4247594"/>
            <a:ext cx="1190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권한 설정</a:t>
            </a:r>
          </a:p>
        </p:txBody>
      </p:sp>
      <p:pic>
        <p:nvPicPr>
          <p:cNvPr id="78" name="그래픽 77" descr="닫기 단색으로 채워진">
            <a:extLst>
              <a:ext uri="{FF2B5EF4-FFF2-40B4-BE49-F238E27FC236}">
                <a16:creationId xmlns:a16="http://schemas.microsoft.com/office/drawing/2014/main" id="{E73590D3-4590-4B3B-8CF2-EAA77BA9FAC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662320" y="4254278"/>
            <a:ext cx="220651" cy="220651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B428557F-5A61-4FBA-BCC5-12E773CDA634}"/>
              </a:ext>
            </a:extLst>
          </p:cNvPr>
          <p:cNvSpPr txBox="1"/>
          <p:nvPr/>
        </p:nvSpPr>
        <p:spPr>
          <a:xfrm>
            <a:off x="9027642" y="4589342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이름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E43558A2-31B8-40AA-BECE-838BB368F98C}"/>
              </a:ext>
            </a:extLst>
          </p:cNvPr>
          <p:cNvGrpSpPr/>
          <p:nvPr/>
        </p:nvGrpSpPr>
        <p:grpSpPr>
          <a:xfrm>
            <a:off x="9723976" y="5255788"/>
            <a:ext cx="2065117" cy="282715"/>
            <a:chOff x="3174521" y="2986620"/>
            <a:chExt cx="2660909" cy="282715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8E0BC9EC-C99A-40D3-8CB1-380C6E729906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</a:rPr>
                <a:t>출장관리자</a:t>
              </a:r>
            </a:p>
          </p:txBody>
        </p:sp>
        <p:pic>
          <p:nvPicPr>
            <p:cNvPr id="82" name="그래픽 81" descr="위쪽 캐럿 단색으로 채워진">
              <a:extLst>
                <a:ext uri="{FF2B5EF4-FFF2-40B4-BE49-F238E27FC236}">
                  <a16:creationId xmlns:a16="http://schemas.microsoft.com/office/drawing/2014/main" id="{DE270BB3-1A0F-4030-92E5-DC0118C19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F7F28B7-B1A5-4B3E-AD05-3D63E7EE362D}"/>
              </a:ext>
            </a:extLst>
          </p:cNvPr>
          <p:cNvSpPr txBox="1"/>
          <p:nvPr/>
        </p:nvSpPr>
        <p:spPr>
          <a:xfrm>
            <a:off x="9048616" y="5282286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예외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941294D-17E4-4DB6-B99A-214A92ABF2D9}"/>
              </a:ext>
            </a:extLst>
          </p:cNvPr>
          <p:cNvSpPr txBox="1"/>
          <p:nvPr/>
        </p:nvSpPr>
        <p:spPr>
          <a:xfrm>
            <a:off x="9723976" y="4603221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오지연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F313A90-07AC-490B-8C4B-4BCA25F47F0F}"/>
              </a:ext>
            </a:extLst>
          </p:cNvPr>
          <p:cNvSpPr txBox="1"/>
          <p:nvPr/>
        </p:nvSpPr>
        <p:spPr>
          <a:xfrm>
            <a:off x="9027642" y="4923905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이메일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A3F381-02A5-41C7-93AC-2F00DF9F680B}"/>
              </a:ext>
            </a:extLst>
          </p:cNvPr>
          <p:cNvSpPr txBox="1"/>
          <p:nvPr/>
        </p:nvSpPr>
        <p:spPr>
          <a:xfrm>
            <a:off x="9723976" y="4937784"/>
            <a:ext cx="1805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admin@smtown.com</a:t>
            </a:r>
            <a:endParaRPr lang="ko-KR" altLang="en-US" sz="1000" b="1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1D3071A-5D56-4A50-B047-F272EB14B398}"/>
              </a:ext>
            </a:extLst>
          </p:cNvPr>
          <p:cNvSpPr/>
          <p:nvPr/>
        </p:nvSpPr>
        <p:spPr>
          <a:xfrm>
            <a:off x="9211356" y="7035474"/>
            <a:ext cx="2645430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저 장</a:t>
            </a:r>
            <a:endParaRPr lang="ko-KR" altLang="en-US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D244151-30A2-44A3-AD8B-D88124FD8B72}"/>
              </a:ext>
            </a:extLst>
          </p:cNvPr>
          <p:cNvSpPr txBox="1"/>
          <p:nvPr/>
        </p:nvSpPr>
        <p:spPr>
          <a:xfrm>
            <a:off x="9035417" y="5693248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항공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106DFB-C278-4B99-87D3-8C7FAF8E6987}"/>
              </a:ext>
            </a:extLst>
          </p:cNvPr>
          <p:cNvSpPr txBox="1"/>
          <p:nvPr/>
        </p:nvSpPr>
        <p:spPr>
          <a:xfrm>
            <a:off x="9048616" y="6312350"/>
            <a:ext cx="1057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호텔 </a:t>
            </a:r>
            <a:r>
              <a:rPr lang="ko-KR" altLang="en-US" sz="1000" b="1" dirty="0" err="1"/>
              <a:t>셀프예약</a:t>
            </a:r>
            <a:endParaRPr lang="ko-KR" altLang="en-US" sz="1000" b="1" dirty="0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5303C10-D45E-4F08-A221-B25F3067FCE8}"/>
              </a:ext>
            </a:extLst>
          </p:cNvPr>
          <p:cNvGrpSpPr/>
          <p:nvPr/>
        </p:nvGrpSpPr>
        <p:grpSpPr>
          <a:xfrm>
            <a:off x="9158254" y="5939469"/>
            <a:ext cx="2662492" cy="282715"/>
            <a:chOff x="2599364" y="2986620"/>
            <a:chExt cx="3236066" cy="28271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915C0A4-4D5A-420F-B145-1E9EC72103DB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97" name="그래픽 96" descr="위쪽 캐럿 단색으로 채워진">
              <a:extLst>
                <a:ext uri="{FF2B5EF4-FFF2-40B4-BE49-F238E27FC236}">
                  <a16:creationId xmlns:a16="http://schemas.microsoft.com/office/drawing/2014/main" id="{6957E749-FE88-422F-BBFB-7EB82760A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B500417D-3A61-4682-9499-CE3BFC9D7879}"/>
              </a:ext>
            </a:extLst>
          </p:cNvPr>
          <p:cNvGrpSpPr/>
          <p:nvPr/>
        </p:nvGrpSpPr>
        <p:grpSpPr>
          <a:xfrm>
            <a:off x="9161492" y="6577674"/>
            <a:ext cx="2662492" cy="282715"/>
            <a:chOff x="2599364" y="2986620"/>
            <a:chExt cx="3236066" cy="282715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0D93EDB5-CDBE-4411-9023-9DEA702FA5CC}"/>
                </a:ext>
              </a:extLst>
            </p:cNvPr>
            <p:cNvSpPr/>
            <p:nvPr/>
          </p:nvSpPr>
          <p:spPr>
            <a:xfrm>
              <a:off x="2599364" y="2986620"/>
              <a:ext cx="3236066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Y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pic>
          <p:nvPicPr>
            <p:cNvPr id="100" name="그래픽 99" descr="위쪽 캐럿 단색으로 채워진">
              <a:extLst>
                <a:ext uri="{FF2B5EF4-FFF2-40B4-BE49-F238E27FC236}">
                  <a16:creationId xmlns:a16="http://schemas.microsoft.com/office/drawing/2014/main" id="{15DFAFC4-9C33-42E2-A669-4C5135D00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101" name="Drop-Down Menu">
            <a:extLst>
              <a:ext uri="{FF2B5EF4-FFF2-40B4-BE49-F238E27FC236}">
                <a16:creationId xmlns:a16="http://schemas.microsoft.com/office/drawing/2014/main" id="{CC88AA56-84B3-4273-87EB-7835CB7E166E}"/>
              </a:ext>
            </a:extLst>
          </p:cNvPr>
          <p:cNvGrpSpPr/>
          <p:nvPr/>
        </p:nvGrpSpPr>
        <p:grpSpPr>
          <a:xfrm>
            <a:off x="9161188" y="6199039"/>
            <a:ext cx="2677481" cy="615552"/>
            <a:chOff x="600013" y="1541084"/>
            <a:chExt cx="1373345" cy="374346"/>
          </a:xfrm>
        </p:grpSpPr>
        <p:sp>
          <p:nvSpPr>
            <p:cNvPr id="102" name="Box">
              <a:extLst>
                <a:ext uri="{FF2B5EF4-FFF2-40B4-BE49-F238E27FC236}">
                  <a16:creationId xmlns:a16="http://schemas.microsoft.com/office/drawing/2014/main" id="{4C3A91DC-A5A3-4085-AACF-8CDC98D57D5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600013" y="1541084"/>
              <a:ext cx="1368150" cy="37434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en-US" sz="10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Y</a:t>
              </a:r>
            </a:p>
            <a:p>
              <a:pPr>
                <a:spcAft>
                  <a:spcPts val="200"/>
                </a:spcAft>
              </a:pPr>
              <a:endParaRPr lang="en-US" sz="10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  <a:p>
              <a:pPr>
                <a:spcAft>
                  <a:spcPts val="200"/>
                </a:spcAft>
              </a:pPr>
              <a:r>
                <a:rPr lang="en-US" sz="10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N</a:t>
              </a:r>
            </a:p>
          </p:txBody>
        </p:sp>
        <p:sp>
          <p:nvSpPr>
            <p:cNvPr id="103" name="Selection Overlay">
              <a:extLst>
                <a:ext uri="{FF2B5EF4-FFF2-40B4-BE49-F238E27FC236}">
                  <a16:creationId xmlns:a16="http://schemas.microsoft.com/office/drawing/2014/main" id="{DC42EEE4-9C93-4F6E-A2A0-7E1F31F16E2B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05208" y="1556142"/>
              <a:ext cx="1368150" cy="165672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BB0FBA1-F4C6-40C6-A286-47356BBF315A}"/>
              </a:ext>
            </a:extLst>
          </p:cNvPr>
          <p:cNvSpPr/>
          <p:nvPr/>
        </p:nvSpPr>
        <p:spPr>
          <a:xfrm>
            <a:off x="3028488" y="3613886"/>
            <a:ext cx="2813803" cy="11896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F2AECF1C-871F-4C38-B14B-A0122A75593E}"/>
              </a:ext>
            </a:extLst>
          </p:cNvPr>
          <p:cNvSpPr/>
          <p:nvPr/>
        </p:nvSpPr>
        <p:spPr>
          <a:xfrm>
            <a:off x="2904057" y="3528667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A57A8B1-B050-47F2-8848-C939AD7EF76B}"/>
              </a:ext>
            </a:extLst>
          </p:cNvPr>
          <p:cNvSpPr/>
          <p:nvPr/>
        </p:nvSpPr>
        <p:spPr>
          <a:xfrm>
            <a:off x="9157933" y="5917138"/>
            <a:ext cx="2698854" cy="8974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AC0148B9-F5EE-432A-A4E0-E79FD4051435}"/>
              </a:ext>
            </a:extLst>
          </p:cNvPr>
          <p:cNvSpPr/>
          <p:nvPr/>
        </p:nvSpPr>
        <p:spPr>
          <a:xfrm>
            <a:off x="9030400" y="5889051"/>
            <a:ext cx="183626" cy="17043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948890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fQTiq9UMo27nedqA8eINf3g6wDwDGOPZICupcprHhAO82mGZgY+mWUvitXX6bpqzsKf5u9urG4z4eXVxAR6v66re+uhZVpSEZFulayE7kymVsQj9xx+N0MmtmNz71f1xlyb1cbNekIa6Pgo/NgaJlJ1MuE6H9NyMO0Du9qEYIREj2WeHR+nZ06JZVU02KT1W6hDIQDHGypnBWCsGLdMqv0aMJrcXw9nnPP7xCgIsA+Vfo6YST0yk5kUzFjzp36iOgl15VlcL19eW66s7mz39NDBn5qvP87ZJr+Y5zZlOnFA7m7brrCyv00leViSfxFeZEIq8hnfedNo+IlOKR0knroZvW28kzUXepr/Y6FdvjlRdHd6omm8z9OqcWLVDAjvMtGiMdfnaI1ZVcZvR3lr6lSYBOdNf+AvjjfE46o1/smgKEqD0s8/63v9JVefjL5rqTV28bkk+xgv8fhuziKd5jxHA/tzkaeHZoKpjY0ovs3Kdp7/H8Ft4bj3u9NE3AOhZxzPwn5stRY+plbvYlRB9mG/drGZOyjyrtz5UWTgPt2FBuTJKn7QTf3BRkNeSuuCxr/1tL0PC47tKEc0XVbjvM/7+d+BFBwuCEfGGzCOiF4XzPt5R2Of4zfVqs0TysNEKHPV5Xa1XJO8eBaghRdkAsYsv2CHCl1+1RYnAvH1BIapvNtD0I99F+Oj9JZDxUOt8gd/PKI6Hl+bh9bn9fEAE8IAaHoC4P+o/G5DCE50J/7nhfTxwZLbAwgUNaPeQfjz+zBulEJw+/uSTDXia5xb94RH7xtRL/c6+V3x/A/X8h43ONFu+IveLgnHj1AzENrHnRtqZ55ZjwmO5/T0Z/XjdygcbjVvskd7s+zd2G7RE1/zHl2RObjG75nkPiuCxMZjOknC9lesxRJbFlF2IIfkcet4TGTyBH8w43JJn/KfPfN3Q+DZPxDAOPbdsestm58USbu/tGr8HjXmyQ9K854R+kdU0J+VYQZxUiy85YyCSNZQ36T63IMMNTW74+lYEvAXhBofr1OJNY96A6cBXN/tjeDRyP/nyi28+eC9cEvEX7/wS+rNpsyUlltnF6gbVHM+PEMhAbW3dYZURd3LwxJ1APB8YSb3KOYaCB/i4ySmAqvPzzz7qRcsf3T2yA/q6LqGOIWwRoXNHuQ67FANzNMh+DujGVKVRfpHkA56NCRf98Uv+H+LDiDakGQAA"/>
  <p:tag name="SMARTOPTIONSCODESIGNATURE" val="DEkFEvxu0ukDcb8nysJOyweK7rblhg0NOAswk9eh1PSgKQb356bBO03DLpJ5T6z51l5rOF3Wq+Mk0M5JzTyq+KvxSDKnysjJZ3A0PcJzB4x7rbH8xJlfgZMQvdKJ3HjXm+GMNt4WdZDca9tV3waSOrLuEfqXZPYt5XSfk9m6dZTlp1Ar34bDfpZfcAcqiwJqYxMaiffE/bgq8LTnIuCzAJTJVQFwGRJbQjfg5ze2u8owY+djp7kN25n46RwSbGfE5XoDqKGgysEMDOIwkvXiQbfwBhmQkKjRw6W+m6ZnZXw/5ycqTLPKznSEAPCR6qE9DqnXmEs1Cevmhf5/gYFxeQ=="/>
  <p:tag name="SMARTSETTINGSHASH" val="UItfbbf56VsV801Tm1+ZLniuImKs/t58DPI7x5bnHgM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13683</TotalTime>
  <Words>3282</Words>
  <Application>Microsoft Office PowerPoint</Application>
  <PresentationFormat>와이드스크린</PresentationFormat>
  <Paragraphs>1052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leejisoo</dc:creator>
  <cp:lastModifiedBy>yeoeun02</cp:lastModifiedBy>
  <cp:revision>711</cp:revision>
  <dcterms:created xsi:type="dcterms:W3CDTF">2025-03-31T13:16:48Z</dcterms:created>
  <dcterms:modified xsi:type="dcterms:W3CDTF">2025-10-17T07:00:04Z</dcterms:modified>
</cp:coreProperties>
</file>