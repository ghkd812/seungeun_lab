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24" r:id="rId2"/>
    <p:sldId id="297" r:id="rId3"/>
    <p:sldId id="313" r:id="rId4"/>
    <p:sldId id="314" r:id="rId5"/>
    <p:sldId id="315" r:id="rId6"/>
    <p:sldId id="316" r:id="rId7"/>
    <p:sldId id="317" r:id="rId8"/>
    <p:sldId id="31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F95DE0A-B1E1-4BED-A04E-B0DC16A4F4AA}">
          <p14:sldIdLst>
            <p14:sldId id="324"/>
            <p14:sldId id="297"/>
            <p14:sldId id="313"/>
            <p14:sldId id="314"/>
            <p14:sldId id="315"/>
            <p14:sldId id="316"/>
            <p14:sldId id="317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FD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6366" autoAdjust="0"/>
  </p:normalViewPr>
  <p:slideViewPr>
    <p:cSldViewPr snapToGrid="0">
      <p:cViewPr varScale="1">
        <p:scale>
          <a:sx n="86" d="100"/>
          <a:sy n="86" d="100"/>
        </p:scale>
        <p:origin x="470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23F3D-4D62-43F9-8457-2509887437A1}" type="datetimeFigureOut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ED77F-61FF-4DF4-893E-B73277003B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26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획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72356D-51FC-00DE-4219-DA71698663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02856782"/>
              </p:ext>
            </p:extLst>
          </p:nvPr>
        </p:nvGraphicFramePr>
        <p:xfrm>
          <a:off x="87790" y="89350"/>
          <a:ext cx="874239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248">
                  <a:extLst>
                    <a:ext uri="{9D8B030D-6E8A-4147-A177-3AD203B41FA5}">
                      <a16:colId xmlns:a16="http://schemas.microsoft.com/office/drawing/2014/main" val="338628233"/>
                    </a:ext>
                  </a:extLst>
                </a:gridCol>
                <a:gridCol w="1457864">
                  <a:extLst>
                    <a:ext uri="{9D8B030D-6E8A-4147-A177-3AD203B41FA5}">
                      <a16:colId xmlns:a16="http://schemas.microsoft.com/office/drawing/2014/main" val="1505073367"/>
                    </a:ext>
                  </a:extLst>
                </a:gridCol>
                <a:gridCol w="879894">
                  <a:extLst>
                    <a:ext uri="{9D8B030D-6E8A-4147-A177-3AD203B41FA5}">
                      <a16:colId xmlns:a16="http://schemas.microsoft.com/office/drawing/2014/main" val="3531175620"/>
                    </a:ext>
                  </a:extLst>
                </a:gridCol>
                <a:gridCol w="3804249">
                  <a:extLst>
                    <a:ext uri="{9D8B030D-6E8A-4147-A177-3AD203B41FA5}">
                      <a16:colId xmlns:a16="http://schemas.microsoft.com/office/drawing/2014/main" val="60147531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36011974"/>
                    </a:ext>
                  </a:extLst>
                </a:gridCol>
                <a:gridCol w="1238941">
                  <a:extLst>
                    <a:ext uri="{9D8B030D-6E8A-4147-A177-3AD203B41FA5}">
                      <a16:colId xmlns:a16="http://schemas.microsoft.com/office/drawing/2014/main" val="365670307"/>
                    </a:ext>
                  </a:extLst>
                </a:gridCol>
              </a:tblGrid>
              <a:tr h="18256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Path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191528"/>
                  </a:ext>
                </a:extLst>
              </a:tr>
              <a:tr h="182563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06122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CC410F4-8109-2E89-0388-F3BA4D03A8B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36211545"/>
              </p:ext>
            </p:extLst>
          </p:nvPr>
        </p:nvGraphicFramePr>
        <p:xfrm>
          <a:off x="87790" y="598931"/>
          <a:ext cx="8742396" cy="6122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2396">
                  <a:extLst>
                    <a:ext uri="{9D8B030D-6E8A-4147-A177-3AD203B41FA5}">
                      <a16:colId xmlns:a16="http://schemas.microsoft.com/office/drawing/2014/main" val="1062592975"/>
                    </a:ext>
                  </a:extLst>
                </a:gridCol>
              </a:tblGrid>
              <a:tr h="612254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670661"/>
                  </a:ext>
                </a:extLst>
              </a:tr>
            </a:tbl>
          </a:graphicData>
        </a:graphic>
      </p:graphicFrame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DC56BC0E-49DB-3127-45B1-F33874D4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96687" y="89350"/>
            <a:ext cx="381000" cy="228600"/>
          </a:xfrm>
        </p:spPr>
        <p:txBody>
          <a:bodyPr/>
          <a:lstStyle>
            <a:lvl1pPr>
              <a:defRPr b="1"/>
            </a:lvl1pPr>
          </a:lstStyle>
          <a:p>
            <a:fld id="{EC013157-A92D-4239-9824-F2A74EFC809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35F5BEF6-CBF8-C81F-AEA9-A9F7C8C2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9201" y="283819"/>
            <a:ext cx="1050985" cy="296862"/>
          </a:xfrm>
        </p:spPr>
        <p:txBody>
          <a:bodyPr/>
          <a:lstStyle>
            <a:lvl1pPr>
              <a:defRPr sz="1050" b="1"/>
            </a:lvl1pPr>
          </a:lstStyle>
          <a:p>
            <a:fld id="{0B9D2A03-3B06-4E0F-B9CE-294AC28C3B51}" type="datetime1">
              <a:rPr lang="ko-KR" altLang="en-US" smtClean="0"/>
              <a:pPr/>
              <a:t>2025-07-17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987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1E236-BBEC-5354-1565-BD6577A6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E2876-45BD-B201-CC63-BE120812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1B9473-4B75-37E6-7535-A09978C4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2A03-3B06-4E0F-B9CE-294AC28C3B51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2F358E-E961-9DD7-F3F1-416C44AC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3892E-6870-26BA-4DA6-43F82DCD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018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6AEBA-A560-472A-230C-3112A338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A4E4D-6343-6490-A23D-269C6BC29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DCA03-9AE2-6EED-BD81-C1706A31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95E20-97D8-48C4-A43D-0B1FA895AC80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1FA715-FADB-166E-B66E-F75E0A0A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950E0-3017-4C21-D92C-96DCB2A7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903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80D9D-27B3-429C-DFFB-1E63C842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5791E-10FE-60DA-1A3E-C85B0B59C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885FE4-5C1C-98CF-8E3B-026844E7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620769-B98F-A74E-FAFE-1C2FC316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84F4-019E-49F5-87A7-197D28C6E665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950DA1-60F4-5B04-44BD-616777C8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ABE54E-24F3-1464-6CEC-38FCF6E9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65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37235-1C46-31E3-BEC3-092002C5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CCA46B-5A09-39C0-CC79-156DE8B3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9E6FF-FC0A-AC59-2647-4D0EC36EB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A9FCDE-FEEE-3CFB-ECE9-6E9779156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CEEC10-68FC-181F-A718-C1F3767EC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D3DED3-33E4-972F-8EAB-AC19C928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55764-C7C3-40A1-A3C2-CEF90BDCFDAB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D492E2-E29F-6BC0-D0F9-EEDA9714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82F22D-0CA9-307F-FADF-A2DD3277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592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9DE28-76B7-6AE1-5185-95DC1A13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107538-FAA6-89B8-AFE2-DA996472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9E93-E2C4-4C15-B0D7-A63FD8CC12E6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20BA4E-9F74-FAC3-A97D-14B29525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A77DEE-1B69-28D4-5076-899FF583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29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523A03-9B7C-26CF-691B-BBAF320B6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9EC4EE-D138-2C63-FE17-BB4A277C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D68D29-31EC-8776-4346-FF1E56D8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237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EF63D-F21C-9AF0-8ED2-5DB1A47D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8F2523-A151-B309-4EF8-93FDEC6C2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EDA03B-D3F4-5606-01FE-3075368F8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6B4D56-6A5B-F355-EB01-CED3D4E4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5E78-4143-4980-88E6-BED27FB689C7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95C05C-A38F-98D4-493B-701024A2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3BD9C1-E500-FC8C-4F95-F60CC286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679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2D3C5-38CF-31B4-29B3-08F7C9C7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4EFB0F-7C95-84BE-C71B-84381C87B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6DD846-5077-A48E-17A4-290F9BCF2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969142-F755-5FC7-1E7F-250EBC34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5588-07E2-44A4-98AE-DE618ADC0FCB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D45E3-DBFE-1940-57E5-6033C43A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3C75E2-0A54-706F-3244-075C9681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275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44C55-42B0-32F5-A783-B5FB46A1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08D4A9-12C8-33A3-B05C-EBEDD2F77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D893C-81F2-9FEF-880E-8C326D5B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FE822-D21A-4A50-9484-106FA69A8DAD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065B91-B5C0-1F45-CFAD-0576BBF2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F48C4C-43FE-5B28-C096-2FC0C3D5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595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4BE0A-796D-CB95-871E-5A3B94B6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CDCE8F-FC0C-A9B4-FF30-14C6287A5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B20669-7EEB-6323-80D1-F8FAD65D8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E7629-F754-4F61-AD96-F3453117C71E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90E50-536A-1494-0C71-F2A4B01D3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29E2A-0319-EBBF-D0C8-FF5289910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69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hyperlink" Target="mailto:Jiyeon@smtown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4.svg"/><Relationship Id="rId5" Type="http://schemas.openxmlformats.org/officeDocument/2006/relationships/image" Target="../media/image10.svg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18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8DDB897-00EC-4761-91E4-6F0B658E9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050996"/>
              </p:ext>
            </p:extLst>
          </p:nvPr>
        </p:nvGraphicFramePr>
        <p:xfrm>
          <a:off x="198804" y="208621"/>
          <a:ext cx="11774122" cy="7513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Version.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Content.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Owner.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20250507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최초 작성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전담팀을 통해 예약 기능 제공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페이지 설명 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사용자가 직접 출장 정보를 입력하거나 항공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호텔 예약 페이지를 통해 조회하여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전담팀을 통해 출장 신청을 할 수 있는 페이지</a:t>
                      </a:r>
                      <a:br>
                        <a:rPr lang="en-US" altLang="ko-KR" sz="900" dirty="0"/>
                      </a:b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주요기능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원하는 정보 작성 후 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요청하기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버튼 클릭 시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전담팀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및 예약자에게 출장 예약 메일 발송</a:t>
                      </a: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20250507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#8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조회 후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전담팀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 요청으로 진입 시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</a:rPr>
                        <a:t>룸타입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20250523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#2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출장자와 동일 라디오박스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버튼으로 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20250717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#2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영문명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이름 성 순에서 성 이름 순으로 변경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0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915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1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5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94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87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11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705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68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226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51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008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660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189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615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0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38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17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00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62C65E-2479-C5B5-7A9F-0D7F2434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72117C-AE00-7477-22B4-AD2553EE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2025-07-17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E0E09AE-C94B-AA2D-881B-9D866B41F539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3260BD-6BCD-F013-E3C9-2D04C6A6C923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00DF260-F66A-2A1E-7241-7B441F84E06E}"/>
              </a:ext>
            </a:extLst>
          </p:cNvPr>
          <p:cNvSpPr/>
          <p:nvPr/>
        </p:nvSpPr>
        <p:spPr>
          <a:xfrm>
            <a:off x="7306000" y="662959"/>
            <a:ext cx="144981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6943BA-6A91-9B53-4750-1B5DFD629BE7}"/>
              </a:ext>
            </a:extLst>
          </p:cNvPr>
          <p:cNvSpPr/>
          <p:nvPr/>
        </p:nvSpPr>
        <p:spPr>
          <a:xfrm>
            <a:off x="281482" y="1131660"/>
            <a:ext cx="1155357" cy="2897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항공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B6FD17-7E0F-288F-3E39-B0CC31168C64}"/>
              </a:ext>
            </a:extLst>
          </p:cNvPr>
          <p:cNvSpPr/>
          <p:nvPr/>
        </p:nvSpPr>
        <p:spPr>
          <a:xfrm>
            <a:off x="203137" y="1496717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항공 예약 요청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3B8169-1172-8183-CCF4-F9FDB1E486A4}"/>
              </a:ext>
            </a:extLst>
          </p:cNvPr>
          <p:cNvSpPr/>
          <p:nvPr/>
        </p:nvSpPr>
        <p:spPr>
          <a:xfrm>
            <a:off x="1528536" y="1131660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호텔</a:t>
            </a:r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777B4E0-0BBD-E3A6-C454-09A078691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062056"/>
              </p:ext>
            </p:extLst>
          </p:nvPr>
        </p:nvGraphicFramePr>
        <p:xfrm>
          <a:off x="8895426" y="89350"/>
          <a:ext cx="3213942" cy="6721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4132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42333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항공 예약 요청 페이지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요청 시 전담팀에게 예약정보가 발송 된다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예약자 정보는 페이지 진입 시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자동 세팅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*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12749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예약자와 동일 정보 입력 기능</a:t>
                      </a:r>
                      <a:r>
                        <a:rPr lang="en-US" altLang="ko-KR" sz="900" dirty="0"/>
                        <a:t>  Default ‘N’</a:t>
                      </a:r>
                      <a:br>
                        <a:rPr lang="en-US" altLang="ko-KR" sz="900" dirty="0"/>
                      </a:b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Y</a:t>
                      </a:r>
                      <a:r>
                        <a:rPr lang="ko-KR" altLang="en-US" sz="900" dirty="0"/>
                        <a:t>일 시</a:t>
                      </a:r>
                      <a:r>
                        <a:rPr lang="en-US" altLang="ko-KR" sz="900" dirty="0"/>
                        <a:t>,</a:t>
                      </a:r>
                    </a:p>
                    <a:p>
                      <a:pPr latinLnBrk="1"/>
                      <a:r>
                        <a:rPr lang="ko-KR" altLang="en-US" sz="900" dirty="0"/>
                        <a:t>예약자정보가 출장자정보 </a:t>
                      </a:r>
                      <a:r>
                        <a:rPr lang="ko-KR" altLang="en-US" sz="900" dirty="0" err="1"/>
                        <a:t>첫번재</a:t>
                      </a:r>
                      <a:r>
                        <a:rPr lang="ko-KR" altLang="en-US" sz="900" dirty="0"/>
                        <a:t> 영역</a:t>
                      </a:r>
                      <a:r>
                        <a:rPr lang="en-US" altLang="ko-KR" sz="900" dirty="0"/>
                        <a:t>(2</a:t>
                      </a:r>
                      <a:r>
                        <a:rPr lang="ko-KR" altLang="en-US" sz="900" dirty="0"/>
                        <a:t>번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에 자동 입력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*</a:t>
                      </a:r>
                      <a:r>
                        <a:rPr lang="en-US" altLang="ko-KR" sz="900" b="1" dirty="0"/>
                        <a:t> </a:t>
                      </a:r>
                      <a:r>
                        <a:rPr lang="ko-KR" altLang="en-US" sz="900" b="1" dirty="0"/>
                        <a:t>항상 첫번쨰 영역</a:t>
                      </a:r>
                      <a:r>
                        <a:rPr lang="en-US" altLang="ko-KR" sz="900" dirty="0"/>
                        <a:t>(2</a:t>
                      </a:r>
                      <a:r>
                        <a:rPr lang="ko-KR" altLang="en-US" sz="900" dirty="0"/>
                        <a:t>번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b="1" dirty="0"/>
                        <a:t>에만 자동 세팅 되도록 함</a:t>
                      </a:r>
                      <a:br>
                        <a:rPr lang="en-US" altLang="ko-KR" sz="900" b="1" dirty="0"/>
                      </a:br>
                      <a:br>
                        <a:rPr lang="en-US" altLang="ko-KR" sz="900" b="1" dirty="0"/>
                      </a:br>
                      <a:r>
                        <a:rPr lang="en-US" altLang="ko-KR" sz="900" b="0" dirty="0"/>
                        <a:t>N</a:t>
                      </a:r>
                      <a:r>
                        <a:rPr lang="ko-KR" altLang="en-US" sz="900" b="0" dirty="0"/>
                        <a:t>일 시</a:t>
                      </a:r>
                      <a:r>
                        <a:rPr lang="en-US" altLang="ko-KR" sz="900" b="0" dirty="0"/>
                        <a:t>,</a:t>
                      </a:r>
                    </a:p>
                    <a:p>
                      <a:pPr latinLnBrk="1"/>
                      <a:r>
                        <a:rPr lang="ko-KR" altLang="en-US" sz="900" b="0" dirty="0"/>
                        <a:t>자동 세팅 되었던 정보 모두 빈 값 처리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153869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출장자 정보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1. </a:t>
                      </a:r>
                      <a:r>
                        <a:rPr lang="ko-KR" altLang="en-US" sz="900" b="0" dirty="0" err="1"/>
                        <a:t>한글명</a:t>
                      </a:r>
                      <a:r>
                        <a:rPr lang="ko-KR" altLang="en-US" sz="900" b="0" dirty="0"/>
                        <a:t> 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자동완성 검색</a:t>
                      </a:r>
                      <a:r>
                        <a:rPr lang="en-US" altLang="ko-KR" sz="900" b="0" dirty="0"/>
                        <a:t> : BTMS </a:t>
                      </a:r>
                      <a:r>
                        <a:rPr lang="ko-KR" altLang="en-US" sz="900" b="0" dirty="0"/>
                        <a:t>가입 고객 대상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</a:t>
                      </a:r>
                      <a:r>
                        <a:rPr lang="ko-KR" altLang="en-US" sz="900" b="0" dirty="0"/>
                        <a:t>두 글자 이상 입력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해당하는 고객 리스트가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</a:t>
                      </a:r>
                      <a:r>
                        <a:rPr lang="ko-KR" altLang="en-US" sz="900" b="0" dirty="0"/>
                        <a:t>노출 되며 동명이인 구분을 위해 아래와 같은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</a:t>
                      </a:r>
                      <a:r>
                        <a:rPr lang="ko-KR" altLang="en-US" sz="900" b="0" dirty="0"/>
                        <a:t>형식으로 노출 됨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EX)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{</a:t>
                      </a:r>
                      <a:r>
                        <a:rPr lang="ko-KR" altLang="en-US" sz="900" b="0" dirty="0"/>
                        <a:t>이름</a:t>
                      </a:r>
                      <a:r>
                        <a:rPr lang="en-US" altLang="ko-KR" sz="900" b="0" dirty="0"/>
                        <a:t>} : {BTMS</a:t>
                      </a:r>
                      <a:r>
                        <a:rPr lang="ko-KR" altLang="en-US" sz="900" b="0" dirty="0"/>
                        <a:t>아이디</a:t>
                      </a:r>
                      <a:r>
                        <a:rPr lang="en-US" altLang="ko-KR" sz="900" b="0" dirty="0"/>
                        <a:t>}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2. </a:t>
                      </a:r>
                      <a:r>
                        <a:rPr lang="ko-KR" altLang="en-US" sz="900" b="0" dirty="0"/>
                        <a:t>영문명 </a:t>
                      </a:r>
                      <a:r>
                        <a:rPr lang="en-US" altLang="ko-KR" sz="900" b="0" dirty="0"/>
                        <a:t>,  </a:t>
                      </a:r>
                      <a:r>
                        <a:rPr lang="ko-KR" altLang="en-US" sz="900" b="0" dirty="0"/>
                        <a:t>성별 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이메일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자동 세팅 되는 항목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   </a:t>
                      </a:r>
                      <a:r>
                        <a:rPr lang="ko-KR" altLang="en-US" sz="900" b="0" dirty="0">
                          <a:solidFill>
                            <a:srgbClr val="FF0000"/>
                          </a:solidFill>
                        </a:rPr>
                        <a:t>ㄴ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2-1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수정 요건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: </a:t>
                      </a:r>
                      <a:r>
                        <a:rPr lang="en-US" altLang="ko-KR" sz="900" b="0" dirty="0"/>
                        <a:t>JIYEON(</a:t>
                      </a:r>
                      <a:r>
                        <a:rPr lang="ko-KR" altLang="en-US" sz="900" b="0" dirty="0"/>
                        <a:t>이름</a:t>
                      </a:r>
                      <a:r>
                        <a:rPr lang="en-US" altLang="ko-KR" sz="900" b="0" dirty="0"/>
                        <a:t>) OH(</a:t>
                      </a:r>
                      <a:r>
                        <a:rPr lang="ko-KR" altLang="en-US" sz="900" b="0" dirty="0"/>
                        <a:t>성</a:t>
                      </a:r>
                      <a:r>
                        <a:rPr lang="en-US" altLang="ko-KR" sz="900" b="0" dirty="0"/>
                        <a:t>) </a:t>
                      </a:r>
                      <a:r>
                        <a:rPr lang="ko-KR" altLang="en-US" sz="900" b="0" dirty="0"/>
                        <a:t>순에서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      OH(</a:t>
                      </a:r>
                      <a:r>
                        <a:rPr lang="ko-KR" altLang="en-US" sz="900" b="0" dirty="0"/>
                        <a:t>성</a:t>
                      </a:r>
                      <a:r>
                        <a:rPr lang="en-US" altLang="ko-KR" sz="900" b="0" dirty="0"/>
                        <a:t>) JIYEON(</a:t>
                      </a:r>
                      <a:r>
                        <a:rPr lang="ko-KR" altLang="en-US" sz="900" b="0" dirty="0"/>
                        <a:t>이름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으로 변경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3. </a:t>
                      </a:r>
                      <a:r>
                        <a:rPr lang="ko-KR" altLang="en-US" sz="900" b="0" dirty="0"/>
                        <a:t>좌석등급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원하는 등급 으로 수정 가능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28695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해당 영역 삭제 처리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6154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출장자 추가 버튼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1" dirty="0"/>
                        <a:t>- </a:t>
                      </a: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ko-KR" altLang="en-US" sz="900" b="0" dirty="0" err="1"/>
                        <a:t>출장자정보입력란</a:t>
                      </a:r>
                      <a:r>
                        <a:rPr lang="en-US" altLang="ko-KR" sz="900" b="0" dirty="0"/>
                        <a:t>(2</a:t>
                      </a:r>
                      <a:r>
                        <a:rPr lang="ko-KR" altLang="en-US" sz="900" b="0" dirty="0"/>
                        <a:t>번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 하단에 추가</a:t>
                      </a:r>
                      <a:r>
                        <a:rPr lang="en-US" altLang="ko-KR" sz="900" b="0" dirty="0"/>
                        <a:t>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최대 </a:t>
                      </a:r>
                      <a:r>
                        <a:rPr lang="en-US" altLang="ko-KR" sz="900" b="0" dirty="0"/>
                        <a:t>10</a:t>
                      </a:r>
                      <a:r>
                        <a:rPr lang="ko-KR" altLang="en-US" sz="900" b="0" dirty="0"/>
                        <a:t>명으로 제한하되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초과 할 시에는 아래와 같은 문구 노출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출장자는 </a:t>
                      </a:r>
                      <a:r>
                        <a:rPr lang="en-US" altLang="ko-KR" sz="900" b="0" dirty="0"/>
                        <a:t>10</a:t>
                      </a:r>
                      <a:r>
                        <a:rPr lang="ko-KR" altLang="en-US" sz="900" b="0" dirty="0"/>
                        <a:t>명 이상 추가 할 수 없습니다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362355"/>
                  </a:ext>
                </a:extLst>
              </a:tr>
              <a:tr h="28695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1099224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1. </a:t>
                      </a:r>
                      <a:r>
                        <a:rPr lang="ko-KR" altLang="en-US" sz="900" dirty="0"/>
                        <a:t>출장자 자동 검색 시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수정불가한 항목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영문명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성별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이메일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은 관리자가 구</a:t>
                      </a:r>
                      <a:r>
                        <a:rPr lang="en-US" altLang="ko-KR" sz="900" dirty="0"/>
                        <a:t>ERP</a:t>
                      </a:r>
                      <a:r>
                        <a:rPr lang="ko-KR" altLang="en-US" sz="900" dirty="0"/>
                        <a:t>에서 수정 해주거나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본인이 마이페이지에서 직접 수정 가능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* 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추후 법인영업에 다시 확인 필요 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’25/4/6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기준</a:t>
                      </a:r>
                      <a:b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br>
                        <a:rPr lang="en-US" altLang="ko-KR" sz="900" dirty="0">
                          <a:solidFill>
                            <a:srgbClr val="C00000"/>
                          </a:solidFill>
                        </a:rPr>
                      </a:b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2. (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항공 </a:t>
                      </a:r>
                      <a:r>
                        <a:rPr lang="ko-KR" altLang="en-US" sz="900" b="1" dirty="0" err="1">
                          <a:solidFill>
                            <a:srgbClr val="C00000"/>
                          </a:solidFill>
                        </a:rPr>
                        <a:t>전담팀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 요청시에만 해당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) 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출장자 정보의 경우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‘</a:t>
                      </a:r>
                      <a:r>
                        <a:rPr lang="ko-KR" altLang="en-US" sz="900" b="1" dirty="0" err="1">
                          <a:solidFill>
                            <a:srgbClr val="C00000"/>
                          </a:solidFill>
                        </a:rPr>
                        <a:t>전담팀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＇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요청을 통해 들어 왔을 경우 조회 시 입력 했던 출장자 정보가 자동 세팅 되도록 한다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4E05F98-6A3E-E0A5-9C40-F379F0EA9A7A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항공예약요청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8EF8E6-E4EC-FC1B-0906-5FEE2E0C0760}"/>
              </a:ext>
            </a:extLst>
          </p:cNvPr>
          <p:cNvSpPr txBox="1"/>
          <p:nvPr/>
        </p:nvSpPr>
        <p:spPr>
          <a:xfrm>
            <a:off x="3355674" y="213760"/>
            <a:ext cx="36640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요청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항공예약 요청 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</a:rPr>
              <a:t>예약자 </a:t>
            </a:r>
            <a:r>
              <a:rPr lang="en-US" altLang="ko-KR" sz="1000" b="1" dirty="0">
                <a:solidFill>
                  <a:schemeClr val="tx1"/>
                </a:solidFill>
              </a:rPr>
              <a:t>&amp; </a:t>
            </a:r>
            <a:r>
              <a:rPr lang="ko-KR" altLang="en-US" sz="1000" b="1" dirty="0">
                <a:solidFill>
                  <a:schemeClr val="tx1"/>
                </a:solidFill>
              </a:rPr>
              <a:t>출장자정보</a:t>
            </a:r>
            <a:r>
              <a:rPr lang="en-US" altLang="ko-KR" sz="1000" b="1" dirty="0"/>
              <a:t>) </a:t>
            </a:r>
            <a:r>
              <a:rPr lang="en-US" altLang="ko-KR" sz="1400" b="1" dirty="0">
                <a:solidFill>
                  <a:srgbClr val="FF0000"/>
                </a:solidFill>
              </a:rPr>
              <a:t>(</a:t>
            </a:r>
            <a:r>
              <a:rPr lang="en-US" altLang="ko-KR" sz="1400" b="1" dirty="0" err="1">
                <a:solidFill>
                  <a:srgbClr val="FF0000"/>
                </a:solidFill>
              </a:rPr>
              <a:t>ver</a:t>
            </a:r>
            <a:r>
              <a:rPr lang="ko-KR" altLang="en-US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1.2)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023CB010-1F43-9603-AC25-BF57B16D278E}"/>
              </a:ext>
            </a:extLst>
          </p:cNvPr>
          <p:cNvSpPr/>
          <p:nvPr/>
        </p:nvSpPr>
        <p:spPr>
          <a:xfrm>
            <a:off x="203136" y="1826860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예약자 정보</a:t>
            </a: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136945F1-EB3A-EBCA-8A76-32FE35FA7F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651683"/>
              </p:ext>
            </p:extLst>
          </p:nvPr>
        </p:nvGraphicFramePr>
        <p:xfrm>
          <a:off x="281482" y="2126203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503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2913497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994269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3069731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오지연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영문명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OH JIYEON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성별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hlinkClick r:id="rId2"/>
                        </a:rPr>
                        <a:t>Jiyeon@smtown.com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연락처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010-2356-2354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출장자와 동일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57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515551"/>
                  </a:ext>
                </a:extLst>
              </a:tr>
            </a:tbl>
          </a:graphicData>
        </a:graphic>
      </p:graphicFrame>
      <p:sp>
        <p:nvSpPr>
          <p:cNvPr id="79" name="직사각형 78">
            <a:extLst>
              <a:ext uri="{FF2B5EF4-FFF2-40B4-BE49-F238E27FC236}">
                <a16:creationId xmlns:a16="http://schemas.microsoft.com/office/drawing/2014/main" id="{57E13DB2-6851-84FE-668C-1AD1DCDD6C77}"/>
              </a:ext>
            </a:extLst>
          </p:cNvPr>
          <p:cNvSpPr/>
          <p:nvPr/>
        </p:nvSpPr>
        <p:spPr>
          <a:xfrm>
            <a:off x="203136" y="3718177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>
                <a:solidFill>
                  <a:schemeClr val="tx1"/>
                </a:solidFill>
              </a:rPr>
              <a:t>출장자 </a:t>
            </a:r>
            <a:r>
              <a:rPr lang="ko-KR" altLang="en-US" sz="1000" b="1" dirty="0">
                <a:solidFill>
                  <a:schemeClr val="tx1"/>
                </a:solidFill>
              </a:rPr>
              <a:t>정보</a:t>
            </a:r>
          </a:p>
        </p:txBody>
      </p:sp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51256A1B-C8F0-8ED9-C42A-87825541A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818257"/>
              </p:ext>
            </p:extLst>
          </p:nvPr>
        </p:nvGraphicFramePr>
        <p:xfrm>
          <a:off x="281482" y="401752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752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3161248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994269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3069731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영문명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OH JIYEON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성별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hlinkClick r:id="rId2"/>
                        </a:rPr>
                        <a:t>Jiyeon@smtown.com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57840"/>
                  </a:ext>
                </a:extLst>
              </a:tr>
            </a:tbl>
          </a:graphicData>
        </a:graphic>
      </p:graphicFrame>
      <p:grpSp>
        <p:nvGrpSpPr>
          <p:cNvPr id="87" name="그룹 86">
            <a:extLst>
              <a:ext uri="{FF2B5EF4-FFF2-40B4-BE49-F238E27FC236}">
                <a16:creationId xmlns:a16="http://schemas.microsoft.com/office/drawing/2014/main" id="{20A82A62-9B8A-A71B-8CC5-4BA5BA355570}"/>
              </a:ext>
            </a:extLst>
          </p:cNvPr>
          <p:cNvGrpSpPr/>
          <p:nvPr/>
        </p:nvGrpSpPr>
        <p:grpSpPr>
          <a:xfrm>
            <a:off x="5462937" y="4440218"/>
            <a:ext cx="2917166" cy="288484"/>
            <a:chOff x="3174521" y="2986620"/>
            <a:chExt cx="2660909" cy="282715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FF345BB-96A1-1A76-0390-8BC70E37D699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tx1"/>
                  </a:solidFill>
                </a:rPr>
                <a:t>일반석</a:t>
              </a:r>
            </a:p>
          </p:txBody>
        </p:sp>
        <p:pic>
          <p:nvPicPr>
            <p:cNvPr id="89" name="그래픽 88" descr="위쪽 캐럿 단색으로 채워진">
              <a:extLst>
                <a:ext uri="{FF2B5EF4-FFF2-40B4-BE49-F238E27FC236}">
                  <a16:creationId xmlns:a16="http://schemas.microsoft.com/office/drawing/2014/main" id="{A4540D9B-7CD4-6CED-CC36-B08CFFEFE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F6BED0B3-F166-845C-D4D4-DA45CD5A9A9B}"/>
              </a:ext>
            </a:extLst>
          </p:cNvPr>
          <p:cNvSpPr>
            <a:spLocks/>
          </p:cNvSpPr>
          <p:nvPr/>
        </p:nvSpPr>
        <p:spPr>
          <a:xfrm>
            <a:off x="1252468" y="4098732"/>
            <a:ext cx="2917165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오지연</a:t>
            </a:r>
          </a:p>
        </p:txBody>
      </p:sp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id="{9CAAFBE4-B171-4EA8-C211-60E590994D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414288"/>
              </p:ext>
            </p:extLst>
          </p:nvPr>
        </p:nvGraphicFramePr>
        <p:xfrm>
          <a:off x="281482" y="5498015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2752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3161248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994269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3069731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영문명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Song </a:t>
                      </a:r>
                      <a:r>
                        <a:rPr lang="en-US" altLang="ko-KR" sz="1000" b="0" dirty="0" err="1">
                          <a:solidFill>
                            <a:schemeClr val="tx1"/>
                          </a:solidFill>
                        </a:rPr>
                        <a:t>yeon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성별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lee@smtown.com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57840"/>
                  </a:ext>
                </a:extLst>
              </a:tr>
            </a:tbl>
          </a:graphicData>
        </a:graphic>
      </p:graphicFrame>
      <p:grpSp>
        <p:nvGrpSpPr>
          <p:cNvPr id="94" name="그룹 93">
            <a:extLst>
              <a:ext uri="{FF2B5EF4-FFF2-40B4-BE49-F238E27FC236}">
                <a16:creationId xmlns:a16="http://schemas.microsoft.com/office/drawing/2014/main" id="{E9701C8E-B778-FE46-D701-7C81CEC6FE1B}"/>
              </a:ext>
            </a:extLst>
          </p:cNvPr>
          <p:cNvGrpSpPr/>
          <p:nvPr/>
        </p:nvGrpSpPr>
        <p:grpSpPr>
          <a:xfrm>
            <a:off x="5462937" y="5920713"/>
            <a:ext cx="2917166" cy="288484"/>
            <a:chOff x="3174521" y="2986620"/>
            <a:chExt cx="2660909" cy="282715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CFF6E511-FF4B-54B8-6C3D-1353DE8DD443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dirty="0">
                  <a:solidFill>
                    <a:schemeClr val="tx1"/>
                  </a:solidFill>
                </a:rPr>
                <a:t>비즈니스석</a:t>
              </a:r>
            </a:p>
          </p:txBody>
        </p:sp>
        <p:pic>
          <p:nvPicPr>
            <p:cNvPr id="96" name="그래픽 95" descr="위쪽 캐럿 단색으로 채워진">
              <a:extLst>
                <a:ext uri="{FF2B5EF4-FFF2-40B4-BE49-F238E27FC236}">
                  <a16:creationId xmlns:a16="http://schemas.microsoft.com/office/drawing/2014/main" id="{563B470E-920F-1AC5-5E43-EE39ACF85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16E2E3BD-D7E9-D376-CBAE-DAAE2D74CBD5}"/>
              </a:ext>
            </a:extLst>
          </p:cNvPr>
          <p:cNvSpPr>
            <a:spLocks/>
          </p:cNvSpPr>
          <p:nvPr/>
        </p:nvSpPr>
        <p:spPr>
          <a:xfrm>
            <a:off x="1252468" y="5579227"/>
            <a:ext cx="2917165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송연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ACA489C-A0B3-1D4D-F2B6-F6F7E0B23F80}"/>
              </a:ext>
            </a:extLst>
          </p:cNvPr>
          <p:cNvSpPr/>
          <p:nvPr/>
        </p:nvSpPr>
        <p:spPr>
          <a:xfrm>
            <a:off x="7273911" y="6695806"/>
            <a:ext cx="1101067" cy="2464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bg1">
                    <a:lumMod val="50000"/>
                  </a:schemeClr>
                </a:solidFill>
              </a:rPr>
              <a:t>출장자 추가</a:t>
            </a:r>
          </a:p>
        </p:txBody>
      </p:sp>
      <p:pic>
        <p:nvPicPr>
          <p:cNvPr id="99" name="그래픽 98" descr="추가">
            <a:extLst>
              <a:ext uri="{FF2B5EF4-FFF2-40B4-BE49-F238E27FC236}">
                <a16:creationId xmlns:a16="http://schemas.microsoft.com/office/drawing/2014/main" id="{14F42C1E-86DA-E722-6E62-950E354E9B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60276" y="6730673"/>
            <a:ext cx="171571" cy="176738"/>
          </a:xfrm>
          <a:prstGeom prst="rect">
            <a:avLst/>
          </a:prstGeo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23E962B-634F-AA68-5663-4BDC8AA8DA12}"/>
              </a:ext>
            </a:extLst>
          </p:cNvPr>
          <p:cNvSpPr/>
          <p:nvPr/>
        </p:nvSpPr>
        <p:spPr>
          <a:xfrm>
            <a:off x="5272965" y="2819737"/>
            <a:ext cx="1649336" cy="365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C5B2FF4F-CD73-D0CF-DCB4-63B68B7A0946}"/>
              </a:ext>
            </a:extLst>
          </p:cNvPr>
          <p:cNvSpPr/>
          <p:nvPr/>
        </p:nvSpPr>
        <p:spPr>
          <a:xfrm>
            <a:off x="5205306" y="273446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pic>
        <p:nvPicPr>
          <p:cNvPr id="106" name="그래픽 105" descr="닫기 단색으로 채워진">
            <a:extLst>
              <a:ext uri="{FF2B5EF4-FFF2-40B4-BE49-F238E27FC236}">
                <a16:creationId xmlns:a16="http://schemas.microsoft.com/office/drawing/2014/main" id="{30197B22-6BE2-256B-E8D0-5BCC20A568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8831" y="5232446"/>
            <a:ext cx="220651" cy="220651"/>
          </a:xfrm>
          <a:prstGeom prst="rect">
            <a:avLst/>
          </a:prstGeom>
        </p:spPr>
      </p:pic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59DE5266-829E-77BB-8DA5-BAB60A40DBFB}"/>
              </a:ext>
            </a:extLst>
          </p:cNvPr>
          <p:cNvSpPr/>
          <p:nvPr/>
        </p:nvSpPr>
        <p:spPr>
          <a:xfrm>
            <a:off x="7248504" y="6664307"/>
            <a:ext cx="1126473" cy="27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E6FC9722-7379-E080-D4D9-48F56B1613DB}"/>
              </a:ext>
            </a:extLst>
          </p:cNvPr>
          <p:cNvSpPr/>
          <p:nvPr/>
        </p:nvSpPr>
        <p:spPr>
          <a:xfrm>
            <a:off x="7180846" y="657903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EDFF4D94-15E4-242D-0CB3-7C887ECC1AE5}"/>
              </a:ext>
            </a:extLst>
          </p:cNvPr>
          <p:cNvSpPr/>
          <p:nvPr/>
        </p:nvSpPr>
        <p:spPr>
          <a:xfrm>
            <a:off x="8160275" y="5190317"/>
            <a:ext cx="249207" cy="27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F1D1D455-6FA3-6F4A-E081-355B201FF157}"/>
              </a:ext>
            </a:extLst>
          </p:cNvPr>
          <p:cNvSpPr/>
          <p:nvPr/>
        </p:nvSpPr>
        <p:spPr>
          <a:xfrm>
            <a:off x="8067623" y="5122052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DEBA1EE-998C-36BF-73EA-A1D4D938DDD7}"/>
              </a:ext>
            </a:extLst>
          </p:cNvPr>
          <p:cNvSpPr/>
          <p:nvPr/>
        </p:nvSpPr>
        <p:spPr>
          <a:xfrm>
            <a:off x="235767" y="3951310"/>
            <a:ext cx="8237787" cy="11707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C658E895-FEA4-03EB-BEF3-4888CD2CF6E4}"/>
              </a:ext>
            </a:extLst>
          </p:cNvPr>
          <p:cNvSpPr/>
          <p:nvPr/>
        </p:nvSpPr>
        <p:spPr>
          <a:xfrm>
            <a:off x="168109" y="386603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C7BB9B-CF59-4AC9-A1A4-2BE4BBC3ECAD}"/>
              </a:ext>
            </a:extLst>
          </p:cNvPr>
          <p:cNvSpPr>
            <a:spLocks/>
          </p:cNvSpPr>
          <p:nvPr/>
        </p:nvSpPr>
        <p:spPr>
          <a:xfrm>
            <a:off x="5387529" y="2861830"/>
            <a:ext cx="1343472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출장자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과 동일하기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08743E18-10C6-4D2E-8BD0-AE2B8A43B32B}"/>
              </a:ext>
            </a:extLst>
          </p:cNvPr>
          <p:cNvSpPr/>
          <p:nvPr/>
        </p:nvSpPr>
        <p:spPr>
          <a:xfrm>
            <a:off x="5231373" y="405496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969ED63-FFF0-458F-8E6E-8F2BB6270B0B}"/>
              </a:ext>
            </a:extLst>
          </p:cNvPr>
          <p:cNvSpPr/>
          <p:nvPr/>
        </p:nvSpPr>
        <p:spPr>
          <a:xfrm>
            <a:off x="5147478" y="4030753"/>
            <a:ext cx="34496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b="1" dirty="0">
                <a:solidFill>
                  <a:schemeClr val="bg1"/>
                </a:solidFill>
              </a:rPr>
              <a:t>2-1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856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31B3-4B2B-DF78-420F-BBB38DF40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9C21446-35F2-2B71-D0A9-CFAAF5E5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CF7D21-A688-E374-2EFF-4D755093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2025-07-17</a:t>
            </a:fld>
            <a:endParaRPr lang="ko-KR" altLang="en-US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9FCB58CC-AAEA-E116-AF66-462BE68E8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92647"/>
              </p:ext>
            </p:extLst>
          </p:nvPr>
        </p:nvGraphicFramePr>
        <p:xfrm>
          <a:off x="8895426" y="89350"/>
          <a:ext cx="3213942" cy="3159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항공 예약 요청 페이지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항공여정 영역은 </a:t>
                      </a:r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가지 버전 존재</a:t>
                      </a:r>
                      <a:endParaRPr lang="en-US" altLang="ko-KR" sz="900" dirty="0"/>
                    </a:p>
                    <a:p>
                      <a:pPr latinLnBrk="1"/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1. </a:t>
                      </a:r>
                      <a:r>
                        <a:rPr lang="ko-KR" altLang="en-US" sz="900" dirty="0"/>
                        <a:t>출장자가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직접 입력 </a:t>
                      </a:r>
                      <a:r>
                        <a:rPr lang="en-US" altLang="ko-KR" sz="900" b="1" dirty="0"/>
                        <a:t>(#4page)</a:t>
                      </a:r>
                      <a:br>
                        <a:rPr lang="en-US" altLang="ko-KR" sz="900" b="1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2. </a:t>
                      </a:r>
                      <a:r>
                        <a:rPr lang="ko-KR" altLang="en-US" sz="900" dirty="0"/>
                        <a:t>항공 조회 후 </a:t>
                      </a:r>
                      <a:r>
                        <a:rPr lang="en-US" altLang="ko-KR" sz="900" dirty="0"/>
                        <a:t>‘</a:t>
                      </a:r>
                      <a:r>
                        <a:rPr lang="ko-KR" altLang="en-US" sz="900" dirty="0" err="1"/>
                        <a:t>전담팀</a:t>
                      </a:r>
                      <a:r>
                        <a:rPr lang="ko-KR" altLang="en-US" sz="900" dirty="0"/>
                        <a:t> 요청</a:t>
                      </a:r>
                      <a:r>
                        <a:rPr lang="en-US" altLang="ko-KR" sz="900" dirty="0"/>
                        <a:t>＇</a:t>
                      </a:r>
                      <a:r>
                        <a:rPr lang="ko-KR" altLang="en-US" sz="900" dirty="0"/>
                        <a:t>버튼을 통해 진입 후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</a:t>
                      </a:r>
                      <a:r>
                        <a:rPr lang="ko-KR" altLang="en-US" sz="900" dirty="0"/>
                        <a:t>해당영역에 항공 여정 데이터 자동 세팅 </a:t>
                      </a:r>
                      <a:r>
                        <a:rPr lang="en-US" altLang="ko-KR" sz="900" b="1" dirty="0"/>
                        <a:t>(#5page)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출장자의 요청사항 작성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en-US" altLang="ko-KR" sz="900" b="0" dirty="0" err="1"/>
                        <a:t>Textarea</a:t>
                      </a:r>
                      <a:r>
                        <a:rPr lang="en-US" altLang="ko-KR" sz="900" b="0" dirty="0"/>
                        <a:t>)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입력제한 </a:t>
                      </a:r>
                      <a:r>
                        <a:rPr lang="en-US" altLang="ko-KR" sz="900" b="0" dirty="0"/>
                        <a:t>: 1,000</a:t>
                      </a:r>
                      <a:r>
                        <a:rPr lang="ko-KR" altLang="en-US" sz="900" b="0" dirty="0"/>
                        <a:t>자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문구 노출 후 항공 전담팀에게 요청 메일 발송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요청 하시겠습니까</a:t>
                      </a:r>
                      <a:r>
                        <a:rPr lang="en-US" altLang="ko-KR" sz="900" b="0" dirty="0"/>
                        <a:t>?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** 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항공조회를 통한 요청은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</a:rPr>
                        <a:t>모달창으로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 나타남</a:t>
                      </a:r>
                      <a:endParaRPr lang="en-US" altLang="ko-KR" sz="900" dirty="0">
                        <a:solidFill>
                          <a:srgbClr val="FF0000"/>
                        </a:solidFill>
                      </a:endParaRP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    (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항공 기획서 참고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30066F64-F56E-FF09-89EA-0EA97367B935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항공예약요청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736071C-84AC-B181-4FC8-00D4F1E44F7D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요청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항공예약 요청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C653E87-05C3-17C9-A435-79DBEE49ED77}"/>
              </a:ext>
            </a:extLst>
          </p:cNvPr>
          <p:cNvSpPr/>
          <p:nvPr/>
        </p:nvSpPr>
        <p:spPr>
          <a:xfrm>
            <a:off x="171340" y="646932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</a:rPr>
              <a:t>여정 정보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72721E1-1B09-952F-A83C-1D9CCCD78DCB}"/>
              </a:ext>
            </a:extLst>
          </p:cNvPr>
          <p:cNvSpPr/>
          <p:nvPr/>
        </p:nvSpPr>
        <p:spPr>
          <a:xfrm>
            <a:off x="266829" y="1125947"/>
            <a:ext cx="8394091" cy="2904245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항공 여정 영역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75F3B344-8CFE-ECD7-3026-99BEB9B20C5A}"/>
              </a:ext>
            </a:extLst>
          </p:cNvPr>
          <p:cNvSpPr/>
          <p:nvPr/>
        </p:nvSpPr>
        <p:spPr>
          <a:xfrm>
            <a:off x="171340" y="1078502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8D431A5-7707-3E44-3015-621E0726537E}"/>
              </a:ext>
            </a:extLst>
          </p:cNvPr>
          <p:cNvSpPr/>
          <p:nvPr/>
        </p:nvSpPr>
        <p:spPr>
          <a:xfrm>
            <a:off x="136834" y="4395786"/>
            <a:ext cx="8170226" cy="1796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요청 사항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요청사항에 따라 예상비용은 달라질 수 있으므로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전담팀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안내에 따라 비용을 다시 확인해 주시기 바랍니다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0063258-D65F-16EB-99FB-3DD08870D854}"/>
              </a:ext>
            </a:extLst>
          </p:cNvPr>
          <p:cNvSpPr/>
          <p:nvPr/>
        </p:nvSpPr>
        <p:spPr>
          <a:xfrm>
            <a:off x="259928" y="4688879"/>
            <a:ext cx="8400992" cy="12335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출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도착 날짜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항공노선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선호항공사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좌석등급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기타 요청사항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54A2C21-7BE2-E59E-9910-B2DE10559207}"/>
              </a:ext>
            </a:extLst>
          </p:cNvPr>
          <p:cNvSpPr/>
          <p:nvPr/>
        </p:nvSpPr>
        <p:spPr>
          <a:xfrm>
            <a:off x="4015265" y="6110861"/>
            <a:ext cx="1101067" cy="3317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1000" b="1" dirty="0">
                <a:solidFill>
                  <a:schemeClr val="bg1">
                    <a:lumMod val="50000"/>
                  </a:schemeClr>
                </a:solidFill>
              </a:rPr>
              <a:t>요청하기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A75D9906-BB8D-A7DB-3AA5-993CD2125119}"/>
              </a:ext>
            </a:extLst>
          </p:cNvPr>
          <p:cNvSpPr/>
          <p:nvPr/>
        </p:nvSpPr>
        <p:spPr>
          <a:xfrm>
            <a:off x="3933983" y="6041827"/>
            <a:ext cx="1263629" cy="4335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EE299DB8-E5D2-B548-177E-27CEFAE6496C}"/>
              </a:ext>
            </a:extLst>
          </p:cNvPr>
          <p:cNvSpPr/>
          <p:nvPr/>
        </p:nvSpPr>
        <p:spPr>
          <a:xfrm>
            <a:off x="3845395" y="5967668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458BE96-CADB-D005-9650-0A52B590931B}"/>
              </a:ext>
            </a:extLst>
          </p:cNvPr>
          <p:cNvSpPr/>
          <p:nvPr/>
        </p:nvSpPr>
        <p:spPr>
          <a:xfrm>
            <a:off x="197098" y="4630526"/>
            <a:ext cx="8489700" cy="13264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B88F16FE-B086-1713-3C79-84151AB7BE83}"/>
              </a:ext>
            </a:extLst>
          </p:cNvPr>
          <p:cNvSpPr/>
          <p:nvPr/>
        </p:nvSpPr>
        <p:spPr>
          <a:xfrm>
            <a:off x="82632" y="4521863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2174366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9A2E3-F2B5-0910-C7D4-5258E379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D15687-74C3-0961-C2ED-70BF5B924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CD15BD-128B-B538-872B-7C7CED0F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2025-07-17</a:t>
            </a:fld>
            <a:endParaRPr lang="ko-KR" altLang="en-US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FF73EE94-77DE-BF1B-7660-6F6C5E007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383999"/>
              </p:ext>
            </p:extLst>
          </p:nvPr>
        </p:nvGraphicFramePr>
        <p:xfrm>
          <a:off x="8895426" y="89350"/>
          <a:ext cx="3213942" cy="4981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항공여정 직접입력 방식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여정정보</a:t>
                      </a:r>
                      <a:br>
                        <a:rPr lang="en-US" altLang="ko-KR" sz="900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1. </a:t>
                      </a:r>
                      <a:r>
                        <a:rPr lang="ko-KR" altLang="en-US" sz="900" dirty="0"/>
                        <a:t>출발지 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목적지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/>
                        <a:t>자동 완성 노출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Placeholder : </a:t>
                      </a:r>
                      <a:r>
                        <a:rPr lang="ko-KR" altLang="en-US" sz="900" dirty="0"/>
                        <a:t>도시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항공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</a:t>
                      </a:r>
                      <a:r>
                        <a:rPr lang="ko-KR" altLang="en-US" sz="900" b="0" dirty="0"/>
                        <a:t>두 글자 이상 입력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항공 코드 목록 노출 </a:t>
                      </a:r>
                      <a:r>
                        <a:rPr lang="en-US" altLang="ko-KR" sz="900" b="1" dirty="0"/>
                        <a:t>(1-1</a:t>
                      </a:r>
                      <a:r>
                        <a:rPr lang="ko-KR" altLang="en-US" sz="900" b="1" dirty="0"/>
                        <a:t>번</a:t>
                      </a:r>
                      <a:r>
                        <a:rPr lang="en-US" altLang="ko-KR" sz="900" b="1" dirty="0"/>
                        <a:t>)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EX) BK, </a:t>
                      </a:r>
                      <a:r>
                        <a:rPr lang="ko-KR" altLang="en-US" sz="900" b="0" dirty="0"/>
                        <a:t>로스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등</a:t>
                      </a:r>
                      <a:r>
                        <a:rPr lang="en-US" altLang="ko-KR" sz="900" b="0" dirty="0"/>
                        <a:t>….</a:t>
                      </a:r>
                      <a:r>
                        <a:rPr lang="ko-KR" altLang="en-US" sz="900" b="0" dirty="0"/>
                        <a:t>입력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</a:t>
                      </a:r>
                      <a:r>
                        <a:rPr lang="ko-KR" altLang="en-US" sz="900" b="0" dirty="0"/>
                        <a:t>자동완성 표시 </a:t>
                      </a:r>
                      <a:r>
                        <a:rPr lang="en-US" altLang="ko-KR" sz="900" b="0" dirty="0"/>
                        <a:t>: {</a:t>
                      </a:r>
                      <a:r>
                        <a:rPr lang="ko-KR" altLang="en-US" sz="900" b="0" dirty="0" err="1"/>
                        <a:t>항공명</a:t>
                      </a:r>
                      <a:r>
                        <a:rPr lang="en-US" altLang="ko-KR" sz="900" b="0" dirty="0"/>
                        <a:t>} ( {</a:t>
                      </a:r>
                      <a:r>
                        <a:rPr lang="ko-KR" altLang="en-US" sz="900" b="0" dirty="0"/>
                        <a:t>항공코드</a:t>
                      </a:r>
                      <a:r>
                        <a:rPr lang="en-US" altLang="ko-KR" sz="900" b="0" dirty="0"/>
                        <a:t>} )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2. </a:t>
                      </a:r>
                      <a:r>
                        <a:rPr lang="ko-KR" altLang="en-US" sz="900" b="0" dirty="0"/>
                        <a:t>출발일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캘린더 노출 </a:t>
                      </a:r>
                      <a:r>
                        <a:rPr lang="en-US" altLang="ko-KR" sz="900" b="0" dirty="0"/>
                        <a:t>(1</a:t>
                      </a:r>
                      <a:r>
                        <a:rPr lang="ko-KR" altLang="en-US" sz="900" b="0" dirty="0"/>
                        <a:t>년 제한</a:t>
                      </a:r>
                      <a:r>
                        <a:rPr lang="en-US" altLang="ko-KR" sz="900" b="0" dirty="0"/>
                        <a:t>)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직접 입력 불가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캘린더로만 사용 할 수 있도록 함</a:t>
                      </a:r>
                      <a:endParaRPr lang="en-US" altLang="ko-KR" sz="900" b="0" dirty="0"/>
                    </a:p>
                    <a:p>
                      <a:pPr latinLnBrk="1"/>
                      <a:r>
                        <a:rPr lang="en-US" altLang="ko-KR" sz="900" b="0" dirty="0"/>
                        <a:t>-</a:t>
                      </a:r>
                      <a:r>
                        <a:rPr lang="ko-KR" altLang="en-US" sz="900" b="0" dirty="0"/>
                        <a:t> 당일 이전 날짜는 선택 못하도록 함</a:t>
                      </a:r>
                      <a:endParaRPr lang="en-US" altLang="ko-KR" sz="900" b="0" dirty="0"/>
                    </a:p>
                    <a:p>
                      <a:pPr latinLnBrk="1"/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여정이 다수일 경우</a:t>
                      </a:r>
                      <a:r>
                        <a:rPr lang="en-US" altLang="ko-KR" sz="900" b="0" dirty="0"/>
                        <a:t>,</a:t>
                      </a:r>
                      <a:r>
                        <a:rPr lang="ko-KR" altLang="en-US" sz="900" b="0" dirty="0"/>
                        <a:t> 전 여정의 출발일 이후부터 선택 가능 하도록 함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3. </a:t>
                      </a:r>
                      <a:r>
                        <a:rPr lang="ko-KR" altLang="en-US" sz="900" b="0" dirty="0"/>
                        <a:t>출발시간 </a:t>
                      </a:r>
                      <a:r>
                        <a:rPr lang="en-US" altLang="ko-KR" sz="900" b="0" dirty="0"/>
                        <a:t>: select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box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옵션 </a:t>
                      </a:r>
                      <a:r>
                        <a:rPr lang="en-US" altLang="ko-KR" sz="900" b="0" dirty="0"/>
                        <a:t>: 00:00~06:00 / 06:00~09:00 / 09:00~12:00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12:00~15:00 / 15:00~18:00 / 18:00~21:00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21:00~00:00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4. </a:t>
                      </a:r>
                      <a:r>
                        <a:rPr lang="ko-KR" altLang="en-US" sz="900" b="0" dirty="0"/>
                        <a:t>선호항공사 </a:t>
                      </a:r>
                      <a:r>
                        <a:rPr lang="en-US" altLang="ko-KR" sz="900" b="0" dirty="0"/>
                        <a:t>: input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한글 및 영어대소문자만 입력 가능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해당 영역 삭제 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단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 err="1"/>
                        <a:t>두번쨰</a:t>
                      </a:r>
                      <a:r>
                        <a:rPr lang="ko-KR" altLang="en-US" sz="900" b="0" dirty="0"/>
                        <a:t> 여정부터 삭제 처리 가능하도록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여정 영역 추가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최대 </a:t>
                      </a:r>
                      <a:r>
                        <a:rPr lang="en-US" altLang="ko-KR" sz="900" b="0" dirty="0"/>
                        <a:t>6</a:t>
                      </a:r>
                      <a:r>
                        <a:rPr lang="ko-KR" altLang="en-US" sz="900" b="0"/>
                        <a:t>개 제한</a:t>
                      </a:r>
                      <a:r>
                        <a:rPr lang="en-US" altLang="ko-KR" sz="900" b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56E36240-39E2-68C7-D336-EEEAAD3F2FCB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항공예약요청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ED8E27-28C1-006D-423F-81F58CF80E32}"/>
              </a:ext>
            </a:extLst>
          </p:cNvPr>
          <p:cNvSpPr txBox="1"/>
          <p:nvPr/>
        </p:nvSpPr>
        <p:spPr>
          <a:xfrm>
            <a:off x="3355675" y="213760"/>
            <a:ext cx="3726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요청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항공예약 요청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항공여정 직접 입력 방식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354ED68-B66A-AB2E-9CF2-00427D2E04B6}"/>
              </a:ext>
            </a:extLst>
          </p:cNvPr>
          <p:cNvSpPr/>
          <p:nvPr/>
        </p:nvSpPr>
        <p:spPr>
          <a:xfrm>
            <a:off x="171341" y="937780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여정</a:t>
            </a:r>
            <a:r>
              <a:rPr lang="en-US" altLang="ko-KR" sz="1050" b="1" dirty="0">
                <a:solidFill>
                  <a:schemeClr val="tx1"/>
                </a:solidFill>
              </a:rPr>
              <a:t>1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13CADAF3-AF4D-84C3-3077-B0E70F2BB6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375635"/>
              </p:ext>
            </p:extLst>
          </p:nvPr>
        </p:nvGraphicFramePr>
        <p:xfrm>
          <a:off x="249687" y="1237123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503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2913497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994269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3069731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출발지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목적지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출발일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출발시간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선호 항공사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736800"/>
                  </a:ext>
                </a:extLst>
              </a:tr>
            </a:tbl>
          </a:graphicData>
        </a:graphic>
      </p:graphicFrame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A817C3C-D55D-AA27-82F6-4CDCBC62C635}"/>
              </a:ext>
            </a:extLst>
          </p:cNvPr>
          <p:cNvSpPr/>
          <p:nvPr/>
        </p:nvSpPr>
        <p:spPr>
          <a:xfrm>
            <a:off x="285080" y="1197630"/>
            <a:ext cx="8127999" cy="11915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7D191553-621A-201F-36CE-EDA02C0298BD}"/>
              </a:ext>
            </a:extLst>
          </p:cNvPr>
          <p:cNvSpPr/>
          <p:nvPr/>
        </p:nvSpPr>
        <p:spPr>
          <a:xfrm>
            <a:off x="214295" y="116379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7C16ACE-51E6-579D-E68B-D19A81E40510}"/>
              </a:ext>
            </a:extLst>
          </p:cNvPr>
          <p:cNvGrpSpPr/>
          <p:nvPr/>
        </p:nvGrpSpPr>
        <p:grpSpPr>
          <a:xfrm>
            <a:off x="5387527" y="1649141"/>
            <a:ext cx="2563870" cy="288484"/>
            <a:chOff x="3174521" y="2986620"/>
            <a:chExt cx="2660909" cy="282715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AB788C9-6E11-B3D3-91B2-CA1FC5080FE3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00:00 ~ 06:00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2" name="그래픽 11" descr="위쪽 캐럿 단색으로 채워진">
              <a:extLst>
                <a:ext uri="{FF2B5EF4-FFF2-40B4-BE49-F238E27FC236}">
                  <a16:creationId xmlns:a16="http://schemas.microsoft.com/office/drawing/2014/main" id="{DBAC5957-57F4-4164-AD7C-C01DDD05B1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E1C7974-C747-649C-AE99-3C14BC5451AC}"/>
              </a:ext>
            </a:extLst>
          </p:cNvPr>
          <p:cNvGrpSpPr/>
          <p:nvPr/>
        </p:nvGrpSpPr>
        <p:grpSpPr>
          <a:xfrm>
            <a:off x="1306571" y="1649141"/>
            <a:ext cx="2563870" cy="282651"/>
            <a:chOff x="1306571" y="1373090"/>
            <a:chExt cx="2917166" cy="282651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341BA28-C33A-77EF-FDD0-43297812B9AB}"/>
                </a:ext>
              </a:extLst>
            </p:cNvPr>
            <p:cNvSpPr/>
            <p:nvPr/>
          </p:nvSpPr>
          <p:spPr>
            <a:xfrm>
              <a:off x="1306571" y="1373090"/>
              <a:ext cx="2917166" cy="28265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50" dirty="0">
                  <a:solidFill>
                    <a:schemeClr val="bg1">
                      <a:lumMod val="65000"/>
                    </a:schemeClr>
                  </a:solidFill>
                </a:rPr>
                <a:t>2025-02-01</a:t>
              </a:r>
              <a:endParaRPr lang="ko-KR" altLang="en-US" sz="105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14" name="그래픽 13" descr="플립 달력 단색으로 채워진">
              <a:extLst>
                <a:ext uri="{FF2B5EF4-FFF2-40B4-BE49-F238E27FC236}">
                  <a16:creationId xmlns:a16="http://schemas.microsoft.com/office/drawing/2014/main" id="{ED9E1745-4DB9-FF63-35C0-A89BB0065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63534" y="1415515"/>
              <a:ext cx="197800" cy="197800"/>
            </a:xfrm>
            <a:prstGeom prst="rect">
              <a:avLst/>
            </a:prstGeom>
          </p:spPr>
        </p:pic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2D8B313-9598-8A80-6EF4-B0F09B47136D}"/>
              </a:ext>
            </a:extLst>
          </p:cNvPr>
          <p:cNvSpPr/>
          <p:nvPr/>
        </p:nvSpPr>
        <p:spPr>
          <a:xfrm>
            <a:off x="1306571" y="1999392"/>
            <a:ext cx="2563870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>
                <a:solidFill>
                  <a:schemeClr val="bg1">
                    <a:lumMod val="65000"/>
                  </a:schemeClr>
                </a:solidFill>
              </a:rPr>
              <a:t>항공사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1BB2FDE-8C5C-EFC9-8E3C-1D67906D2A29}"/>
              </a:ext>
            </a:extLst>
          </p:cNvPr>
          <p:cNvGrpSpPr/>
          <p:nvPr/>
        </p:nvGrpSpPr>
        <p:grpSpPr>
          <a:xfrm>
            <a:off x="1293784" y="1301955"/>
            <a:ext cx="2563870" cy="282651"/>
            <a:chOff x="1293784" y="1025904"/>
            <a:chExt cx="2563870" cy="28265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05B35BE-C69A-D193-A6AA-7BBBEDC0357F}"/>
                </a:ext>
              </a:extLst>
            </p:cNvPr>
            <p:cNvSpPr/>
            <p:nvPr/>
          </p:nvSpPr>
          <p:spPr>
            <a:xfrm>
              <a:off x="1293784" y="1025904"/>
              <a:ext cx="2563870" cy="28265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50" dirty="0">
                  <a:solidFill>
                    <a:schemeClr val="bg1">
                      <a:lumMod val="65000"/>
                    </a:schemeClr>
                  </a:solidFill>
                </a:rPr>
                <a:t>로스</a:t>
              </a:r>
            </a:p>
          </p:txBody>
        </p:sp>
        <p:pic>
          <p:nvPicPr>
            <p:cNvPr id="23" name="그래픽 22" descr="표식 단색으로 채워진">
              <a:extLst>
                <a:ext uri="{FF2B5EF4-FFF2-40B4-BE49-F238E27FC236}">
                  <a16:creationId xmlns:a16="http://schemas.microsoft.com/office/drawing/2014/main" id="{5F6772DE-B8A5-0488-CFDA-C0BA21028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15374" y="1039246"/>
              <a:ext cx="226598" cy="226598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C73436A-E6F9-F641-82B6-15547733FCB5}"/>
              </a:ext>
            </a:extLst>
          </p:cNvPr>
          <p:cNvGrpSpPr/>
          <p:nvPr/>
        </p:nvGrpSpPr>
        <p:grpSpPr>
          <a:xfrm>
            <a:off x="5387527" y="1301807"/>
            <a:ext cx="2563870" cy="282651"/>
            <a:chOff x="1293784" y="1025904"/>
            <a:chExt cx="2563870" cy="282651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84EB26B-9795-ABA5-7175-7DE4CE814673}"/>
                </a:ext>
              </a:extLst>
            </p:cNvPr>
            <p:cNvSpPr/>
            <p:nvPr/>
          </p:nvSpPr>
          <p:spPr>
            <a:xfrm>
              <a:off x="1293784" y="1025904"/>
              <a:ext cx="2563870" cy="28265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50" dirty="0">
                  <a:solidFill>
                    <a:schemeClr val="bg1">
                      <a:lumMod val="65000"/>
                    </a:schemeClr>
                  </a:solidFill>
                </a:rPr>
                <a:t>도시</a:t>
              </a:r>
              <a:r>
                <a:rPr lang="en-US" altLang="ko-KR" sz="1050" dirty="0">
                  <a:solidFill>
                    <a:schemeClr val="bg1">
                      <a:lumMod val="65000"/>
                    </a:schemeClr>
                  </a:solidFill>
                </a:rPr>
                <a:t>/</a:t>
              </a:r>
              <a:r>
                <a:rPr lang="ko-KR" altLang="en-US" sz="1050" dirty="0">
                  <a:solidFill>
                    <a:schemeClr val="bg1">
                      <a:lumMod val="65000"/>
                    </a:schemeClr>
                  </a:solidFill>
                </a:rPr>
                <a:t>항공</a:t>
              </a:r>
            </a:p>
          </p:txBody>
        </p:sp>
        <p:pic>
          <p:nvPicPr>
            <p:cNvPr id="27" name="그래픽 26" descr="표식 단색으로 채워진">
              <a:extLst>
                <a:ext uri="{FF2B5EF4-FFF2-40B4-BE49-F238E27FC236}">
                  <a16:creationId xmlns:a16="http://schemas.microsoft.com/office/drawing/2014/main" id="{09989014-8BC4-88F0-D97D-4D81B6251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15374" y="1039246"/>
              <a:ext cx="226598" cy="226598"/>
            </a:xfrm>
            <a:prstGeom prst="rect">
              <a:avLst/>
            </a:prstGeom>
          </p:spPr>
        </p:pic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5111216-0E7F-AE18-95C6-5FC91C09EEBB}"/>
              </a:ext>
            </a:extLst>
          </p:cNvPr>
          <p:cNvSpPr/>
          <p:nvPr/>
        </p:nvSpPr>
        <p:spPr>
          <a:xfrm>
            <a:off x="7336435" y="4109278"/>
            <a:ext cx="1101067" cy="24647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 err="1">
                <a:solidFill>
                  <a:schemeClr val="bg1">
                    <a:lumMod val="50000"/>
                  </a:schemeClr>
                </a:solidFill>
              </a:rPr>
              <a:t>여정지</a:t>
            </a:r>
            <a:r>
              <a:rPr lang="ko-KR" altLang="en-US" sz="1000" b="1" dirty="0">
                <a:solidFill>
                  <a:schemeClr val="bg1">
                    <a:lumMod val="50000"/>
                  </a:schemeClr>
                </a:solidFill>
              </a:rPr>
              <a:t> 추가</a:t>
            </a:r>
          </a:p>
        </p:txBody>
      </p:sp>
      <p:pic>
        <p:nvPicPr>
          <p:cNvPr id="31" name="그래픽 30" descr="추가">
            <a:extLst>
              <a:ext uri="{FF2B5EF4-FFF2-40B4-BE49-F238E27FC236}">
                <a16:creationId xmlns:a16="http://schemas.microsoft.com/office/drawing/2014/main" id="{F6A9F204-5320-F52D-1466-8315D99990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22800" y="4144145"/>
            <a:ext cx="171571" cy="176738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D6ABF0-219A-3518-8B1B-3CFFB576E576}"/>
              </a:ext>
            </a:extLst>
          </p:cNvPr>
          <p:cNvSpPr/>
          <p:nvPr/>
        </p:nvSpPr>
        <p:spPr>
          <a:xfrm>
            <a:off x="7311028" y="4077779"/>
            <a:ext cx="1126473" cy="27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473C7F6-B3A3-5F92-E981-DD4061288ACE}"/>
              </a:ext>
            </a:extLst>
          </p:cNvPr>
          <p:cNvSpPr/>
          <p:nvPr/>
        </p:nvSpPr>
        <p:spPr>
          <a:xfrm>
            <a:off x="7243370" y="399250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6C026F3-18C5-C058-EF5F-5968F117FE15}"/>
              </a:ext>
            </a:extLst>
          </p:cNvPr>
          <p:cNvSpPr/>
          <p:nvPr/>
        </p:nvSpPr>
        <p:spPr>
          <a:xfrm>
            <a:off x="171340" y="646932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</a:rPr>
              <a:t>여정 정보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A82370B3-0895-E358-1CE4-7DCA794D3459}"/>
              </a:ext>
            </a:extLst>
          </p:cNvPr>
          <p:cNvGraphicFramePr>
            <a:graphicFrameLocks noGrp="1"/>
          </p:cNvGraphicFramePr>
          <p:nvPr/>
        </p:nvGraphicFramePr>
        <p:xfrm>
          <a:off x="327306" y="2801154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503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2913497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994269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3069731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출발지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목적지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출발일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출발시간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선호 항공사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736800"/>
                  </a:ext>
                </a:extLst>
              </a:tr>
            </a:tbl>
          </a:graphicData>
        </a:graphic>
      </p:graphicFrame>
      <p:grpSp>
        <p:nvGrpSpPr>
          <p:cNvPr id="37" name="그룹 36">
            <a:extLst>
              <a:ext uri="{FF2B5EF4-FFF2-40B4-BE49-F238E27FC236}">
                <a16:creationId xmlns:a16="http://schemas.microsoft.com/office/drawing/2014/main" id="{2565F3AE-A3BC-28E6-07E2-FF2CA20D9C4F}"/>
              </a:ext>
            </a:extLst>
          </p:cNvPr>
          <p:cNvGrpSpPr/>
          <p:nvPr/>
        </p:nvGrpSpPr>
        <p:grpSpPr>
          <a:xfrm>
            <a:off x="5433422" y="3232411"/>
            <a:ext cx="2563870" cy="288484"/>
            <a:chOff x="3174521" y="2986620"/>
            <a:chExt cx="2660909" cy="282715"/>
          </a:xfrm>
        </p:grpSpPr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07A4FBC-960F-ADAC-3F40-B30785E990F8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00:00 ~ 06:00</a:t>
              </a:r>
              <a:endParaRPr lang="ko-KR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39" name="그래픽 38" descr="위쪽 캐럿 단색으로 채워진">
              <a:extLst>
                <a:ext uri="{FF2B5EF4-FFF2-40B4-BE49-F238E27FC236}">
                  <a16:creationId xmlns:a16="http://schemas.microsoft.com/office/drawing/2014/main" id="{4B3C42F3-8D24-FB54-6612-0238E3224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D8C72F2-8215-B094-EA00-4BAB8BB9C996}"/>
              </a:ext>
            </a:extLst>
          </p:cNvPr>
          <p:cNvGrpSpPr/>
          <p:nvPr/>
        </p:nvGrpSpPr>
        <p:grpSpPr>
          <a:xfrm>
            <a:off x="1352466" y="3232411"/>
            <a:ext cx="2563870" cy="282651"/>
            <a:chOff x="1306571" y="1373090"/>
            <a:chExt cx="2917166" cy="282651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6BF63BD-3451-7A0F-9234-F65C95F41F3C}"/>
                </a:ext>
              </a:extLst>
            </p:cNvPr>
            <p:cNvSpPr/>
            <p:nvPr/>
          </p:nvSpPr>
          <p:spPr>
            <a:xfrm>
              <a:off x="1306571" y="1373090"/>
              <a:ext cx="2917166" cy="28265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50" dirty="0">
                  <a:solidFill>
                    <a:schemeClr val="bg1">
                      <a:lumMod val="65000"/>
                    </a:schemeClr>
                  </a:solidFill>
                </a:rPr>
                <a:t>2025-02-01</a:t>
              </a:r>
              <a:endParaRPr lang="ko-KR" altLang="en-US" sz="105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42" name="그래픽 41" descr="플립 달력 단색으로 채워진">
              <a:extLst>
                <a:ext uri="{FF2B5EF4-FFF2-40B4-BE49-F238E27FC236}">
                  <a16:creationId xmlns:a16="http://schemas.microsoft.com/office/drawing/2014/main" id="{2B3422BC-2698-A361-2698-CD5980295E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63534" y="1415515"/>
              <a:ext cx="197800" cy="197800"/>
            </a:xfrm>
            <a:prstGeom prst="rect">
              <a:avLst/>
            </a:prstGeom>
          </p:spPr>
        </p:pic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CFFE68D-28CC-C64C-DB6A-2F9C7408AE92}"/>
              </a:ext>
            </a:extLst>
          </p:cNvPr>
          <p:cNvSpPr/>
          <p:nvPr/>
        </p:nvSpPr>
        <p:spPr>
          <a:xfrm>
            <a:off x="1352466" y="3582662"/>
            <a:ext cx="2563870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>
                <a:solidFill>
                  <a:schemeClr val="bg1">
                    <a:lumMod val="65000"/>
                  </a:schemeClr>
                </a:solidFill>
              </a:rPr>
              <a:t>항공사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B6823AC-80EC-6FDA-7D14-2ACC394CB5BF}"/>
              </a:ext>
            </a:extLst>
          </p:cNvPr>
          <p:cNvGrpSpPr/>
          <p:nvPr/>
        </p:nvGrpSpPr>
        <p:grpSpPr>
          <a:xfrm>
            <a:off x="1339679" y="2885225"/>
            <a:ext cx="2563870" cy="282651"/>
            <a:chOff x="1293784" y="1025904"/>
            <a:chExt cx="2563870" cy="282651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8F7359AD-13E6-E10F-7E8E-16F4F5E89C51}"/>
                </a:ext>
              </a:extLst>
            </p:cNvPr>
            <p:cNvSpPr/>
            <p:nvPr/>
          </p:nvSpPr>
          <p:spPr>
            <a:xfrm>
              <a:off x="1293784" y="1025904"/>
              <a:ext cx="2563870" cy="28265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50" dirty="0">
                  <a:solidFill>
                    <a:schemeClr val="bg1">
                      <a:lumMod val="65000"/>
                    </a:schemeClr>
                  </a:solidFill>
                </a:rPr>
                <a:t>도시</a:t>
              </a:r>
              <a:r>
                <a:rPr lang="en-US" altLang="ko-KR" sz="1050" dirty="0">
                  <a:solidFill>
                    <a:schemeClr val="bg1">
                      <a:lumMod val="65000"/>
                    </a:schemeClr>
                  </a:solidFill>
                </a:rPr>
                <a:t>/</a:t>
              </a:r>
              <a:r>
                <a:rPr lang="ko-KR" altLang="en-US" sz="1050" dirty="0">
                  <a:solidFill>
                    <a:schemeClr val="bg1">
                      <a:lumMod val="65000"/>
                    </a:schemeClr>
                  </a:solidFill>
                </a:rPr>
                <a:t>공항</a:t>
              </a:r>
            </a:p>
          </p:txBody>
        </p:sp>
        <p:pic>
          <p:nvPicPr>
            <p:cNvPr id="46" name="그래픽 45" descr="표식 단색으로 채워진">
              <a:extLst>
                <a:ext uri="{FF2B5EF4-FFF2-40B4-BE49-F238E27FC236}">
                  <a16:creationId xmlns:a16="http://schemas.microsoft.com/office/drawing/2014/main" id="{BCF09ABB-34DB-490B-BAA7-C0463FB25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15374" y="1039246"/>
              <a:ext cx="226598" cy="226598"/>
            </a:xfrm>
            <a:prstGeom prst="rect">
              <a:avLst/>
            </a:prstGeom>
          </p:spPr>
        </p:pic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E0B6D092-D69F-49FD-59C3-F34DE25759EB}"/>
              </a:ext>
            </a:extLst>
          </p:cNvPr>
          <p:cNvGrpSpPr/>
          <p:nvPr/>
        </p:nvGrpSpPr>
        <p:grpSpPr>
          <a:xfrm>
            <a:off x="5433422" y="2885077"/>
            <a:ext cx="2563870" cy="282651"/>
            <a:chOff x="1293784" y="1025904"/>
            <a:chExt cx="2563870" cy="282651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E67A37A5-98A3-19F7-1CDE-DB09E9DA1804}"/>
                </a:ext>
              </a:extLst>
            </p:cNvPr>
            <p:cNvSpPr/>
            <p:nvPr/>
          </p:nvSpPr>
          <p:spPr>
            <a:xfrm>
              <a:off x="1293784" y="1025904"/>
              <a:ext cx="2563870" cy="28265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50" dirty="0">
                  <a:solidFill>
                    <a:schemeClr val="bg1">
                      <a:lumMod val="65000"/>
                    </a:schemeClr>
                  </a:solidFill>
                </a:rPr>
                <a:t>도시</a:t>
              </a:r>
              <a:r>
                <a:rPr lang="en-US" altLang="ko-KR" sz="1050" dirty="0">
                  <a:solidFill>
                    <a:schemeClr val="bg1">
                      <a:lumMod val="65000"/>
                    </a:schemeClr>
                  </a:solidFill>
                </a:rPr>
                <a:t>/</a:t>
              </a:r>
              <a:r>
                <a:rPr lang="ko-KR" altLang="en-US" sz="1050" dirty="0">
                  <a:solidFill>
                    <a:schemeClr val="bg1">
                      <a:lumMod val="65000"/>
                    </a:schemeClr>
                  </a:solidFill>
                </a:rPr>
                <a:t>공항</a:t>
              </a:r>
            </a:p>
          </p:txBody>
        </p:sp>
        <p:pic>
          <p:nvPicPr>
            <p:cNvPr id="49" name="그래픽 48" descr="표식 단색으로 채워진">
              <a:extLst>
                <a:ext uri="{FF2B5EF4-FFF2-40B4-BE49-F238E27FC236}">
                  <a16:creationId xmlns:a16="http://schemas.microsoft.com/office/drawing/2014/main" id="{58DDD13D-1782-3B58-BDB8-04EEF5BDC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615374" y="1039246"/>
              <a:ext cx="226598" cy="226598"/>
            </a:xfrm>
            <a:prstGeom prst="rect">
              <a:avLst/>
            </a:prstGeom>
          </p:spPr>
        </p:pic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35547F1-1FBD-08F7-505E-45E034DCA092}"/>
              </a:ext>
            </a:extLst>
          </p:cNvPr>
          <p:cNvSpPr/>
          <p:nvPr/>
        </p:nvSpPr>
        <p:spPr>
          <a:xfrm>
            <a:off x="285080" y="2529962"/>
            <a:ext cx="1577801" cy="2052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여정</a:t>
            </a:r>
            <a:r>
              <a:rPr lang="en-US" altLang="ko-KR" sz="1050" b="1" dirty="0">
                <a:solidFill>
                  <a:schemeClr val="tx1"/>
                </a:solidFill>
              </a:rPr>
              <a:t>2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87D8828-8A25-3721-2373-189D7C978D32}"/>
              </a:ext>
            </a:extLst>
          </p:cNvPr>
          <p:cNvGrpSpPr/>
          <p:nvPr/>
        </p:nvGrpSpPr>
        <p:grpSpPr>
          <a:xfrm>
            <a:off x="800435" y="2554025"/>
            <a:ext cx="165545" cy="155856"/>
            <a:chOff x="1561381" y="4226943"/>
            <a:chExt cx="774030" cy="728727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0E49173-0FD1-D52D-CFBA-8771F0AA687C}"/>
                </a:ext>
              </a:extLst>
            </p:cNvPr>
            <p:cNvSpPr/>
            <p:nvPr/>
          </p:nvSpPr>
          <p:spPr>
            <a:xfrm>
              <a:off x="1561381" y="4226943"/>
              <a:ext cx="774030" cy="728727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빼기 기호 51">
              <a:extLst>
                <a:ext uri="{FF2B5EF4-FFF2-40B4-BE49-F238E27FC236}">
                  <a16:creationId xmlns:a16="http://schemas.microsoft.com/office/drawing/2014/main" id="{77BD174B-35C3-4880-F0B5-AE8E0A1747B7}"/>
                </a:ext>
              </a:extLst>
            </p:cNvPr>
            <p:cNvSpPr/>
            <p:nvPr/>
          </p:nvSpPr>
          <p:spPr>
            <a:xfrm>
              <a:off x="1655261" y="4504100"/>
              <a:ext cx="586270" cy="174412"/>
            </a:xfrm>
            <a:prstGeom prst="mathMinus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CD88B29-C406-A44B-4E16-43E95107307D}"/>
              </a:ext>
            </a:extLst>
          </p:cNvPr>
          <p:cNvSpPr/>
          <p:nvPr/>
        </p:nvSpPr>
        <p:spPr>
          <a:xfrm>
            <a:off x="753242" y="2490292"/>
            <a:ext cx="249207" cy="2779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267B0614-1A98-C181-6607-184025A93EBD}"/>
              </a:ext>
            </a:extLst>
          </p:cNvPr>
          <p:cNvSpPr/>
          <p:nvPr/>
        </p:nvSpPr>
        <p:spPr>
          <a:xfrm>
            <a:off x="643338" y="2422027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9ACE1B9-30C4-0A99-9DEB-7F5358F3AF48}"/>
              </a:ext>
            </a:extLst>
          </p:cNvPr>
          <p:cNvCxnSpPr>
            <a:cxnSpLocks/>
          </p:cNvCxnSpPr>
          <p:nvPr/>
        </p:nvCxnSpPr>
        <p:spPr>
          <a:xfrm>
            <a:off x="2053087" y="1440611"/>
            <a:ext cx="802256" cy="28802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5FE91AE-C28F-AB69-A8FE-BE4BA723A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704024"/>
              </p:ext>
            </p:extLst>
          </p:nvPr>
        </p:nvGraphicFramePr>
        <p:xfrm>
          <a:off x="2768426" y="4434913"/>
          <a:ext cx="1881212" cy="1370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1212">
                  <a:extLst>
                    <a:ext uri="{9D8B030D-6E8A-4147-A177-3AD203B41FA5}">
                      <a16:colId xmlns:a16="http://schemas.microsoft.com/office/drawing/2014/main" val="2929192243"/>
                    </a:ext>
                  </a:extLst>
                </a:gridCol>
              </a:tblGrid>
              <a:tr h="3426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산카를로스데바릴로체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(BRC)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093620"/>
                  </a:ext>
                </a:extLst>
              </a:tr>
              <a:tr h="3426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로스엔젤레스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(LAX)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584983"/>
                  </a:ext>
                </a:extLst>
              </a:tr>
              <a:tr h="3426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로스앙헬레스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(LSQ)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642545"/>
                  </a:ext>
                </a:extLst>
              </a:tr>
              <a:tr h="34266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 밀로스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(MLO)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169629"/>
                  </a:ext>
                </a:extLst>
              </a:tr>
            </a:tbl>
          </a:graphicData>
        </a:graphic>
      </p:graphicFrame>
      <p:pic>
        <p:nvPicPr>
          <p:cNvPr id="17" name="그래픽 16" descr="표식 단색으로 채워진">
            <a:extLst>
              <a:ext uri="{FF2B5EF4-FFF2-40B4-BE49-F238E27FC236}">
                <a16:creationId xmlns:a16="http://schemas.microsoft.com/office/drawing/2014/main" id="{76D19967-E8BA-3AE7-2A7E-F3E3158A90A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9204" y="4520958"/>
            <a:ext cx="226598" cy="226598"/>
          </a:xfrm>
          <a:prstGeom prst="rect">
            <a:avLst/>
          </a:prstGeom>
        </p:spPr>
      </p:pic>
      <p:pic>
        <p:nvPicPr>
          <p:cNvPr id="20" name="그래픽 19" descr="표식 단색으로 채워진">
            <a:extLst>
              <a:ext uri="{FF2B5EF4-FFF2-40B4-BE49-F238E27FC236}">
                <a16:creationId xmlns:a16="http://schemas.microsoft.com/office/drawing/2014/main" id="{7D1A5F9B-D725-A601-AA53-99B6A89AEA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2044" y="4836340"/>
            <a:ext cx="226598" cy="226598"/>
          </a:xfrm>
          <a:prstGeom prst="rect">
            <a:avLst/>
          </a:prstGeom>
        </p:spPr>
      </p:pic>
      <p:pic>
        <p:nvPicPr>
          <p:cNvPr id="22" name="그래픽 21" descr="표식 단색으로 채워진">
            <a:extLst>
              <a:ext uri="{FF2B5EF4-FFF2-40B4-BE49-F238E27FC236}">
                <a16:creationId xmlns:a16="http://schemas.microsoft.com/office/drawing/2014/main" id="{20FA8ABA-084E-71BD-BEFF-282FDC00EC1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7091" y="5171116"/>
            <a:ext cx="226598" cy="226598"/>
          </a:xfrm>
          <a:prstGeom prst="rect">
            <a:avLst/>
          </a:prstGeom>
        </p:spPr>
      </p:pic>
      <p:pic>
        <p:nvPicPr>
          <p:cNvPr id="28" name="그래픽 27" descr="표식 단색으로 채워진">
            <a:extLst>
              <a:ext uri="{FF2B5EF4-FFF2-40B4-BE49-F238E27FC236}">
                <a16:creationId xmlns:a16="http://schemas.microsoft.com/office/drawing/2014/main" id="{D7EFBDCD-BFF4-7984-19B7-235375782F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42044" y="5503128"/>
            <a:ext cx="226598" cy="226598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351FC902-C046-0B04-F9B8-FFAA905C28F6}"/>
              </a:ext>
            </a:extLst>
          </p:cNvPr>
          <p:cNvSpPr/>
          <p:nvPr/>
        </p:nvSpPr>
        <p:spPr>
          <a:xfrm>
            <a:off x="2719435" y="4349244"/>
            <a:ext cx="2050973" cy="1594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9D1B405-429A-5C51-E9C3-54F10FC32FDA}"/>
              </a:ext>
            </a:extLst>
          </p:cNvPr>
          <p:cNvSpPr/>
          <p:nvPr/>
        </p:nvSpPr>
        <p:spPr>
          <a:xfrm>
            <a:off x="2581148" y="4265014"/>
            <a:ext cx="214383" cy="2020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A77547-852D-B348-31E3-ED2C73D8BE57}"/>
              </a:ext>
            </a:extLst>
          </p:cNvPr>
          <p:cNvSpPr txBox="1"/>
          <p:nvPr/>
        </p:nvSpPr>
        <p:spPr>
          <a:xfrm>
            <a:off x="2505974" y="4246900"/>
            <a:ext cx="84124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 dirty="0">
                <a:solidFill>
                  <a:schemeClr val="bg1"/>
                </a:solidFill>
              </a:rPr>
              <a:t>1-1</a:t>
            </a:r>
            <a:endParaRPr lang="ko-KR" altLang="en-US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388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CE0E3-4452-5370-4832-C6D8762DD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A2FEF87-708D-2573-D0B5-E62851B1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0865597-B8B6-6E63-03AC-103907E94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2025-07-17</a:t>
            </a:fld>
            <a:endParaRPr lang="ko-KR" altLang="en-US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EA53EACC-65FA-225F-6592-B5DD8DBB4A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443531"/>
              </p:ext>
            </p:extLst>
          </p:nvPr>
        </p:nvGraphicFramePr>
        <p:xfrm>
          <a:off x="8895426" y="89350"/>
          <a:ext cx="3213942" cy="2469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항공여정 </a:t>
                      </a:r>
                      <a:r>
                        <a:rPr lang="ko-KR" altLang="en-US" sz="900" b="1" dirty="0" err="1"/>
                        <a:t>전담팀</a:t>
                      </a:r>
                      <a:r>
                        <a:rPr lang="ko-KR" altLang="en-US" sz="900" b="1" dirty="0"/>
                        <a:t> 요청 방식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사용자가 조회한 여정 정보이며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해당 정보는 자동으로 세팅 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해당 여정의 금액 노출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1. 1</a:t>
                      </a:r>
                      <a:r>
                        <a:rPr lang="ko-KR" altLang="en-US" sz="900" b="0" dirty="0"/>
                        <a:t>인당 예상 요금 </a:t>
                      </a:r>
                      <a:r>
                        <a:rPr lang="en-US" altLang="ko-KR" sz="900" b="0" dirty="0"/>
                        <a:t>: 1</a:t>
                      </a:r>
                      <a:r>
                        <a:rPr lang="ko-KR" altLang="en-US" sz="900" b="0" dirty="0"/>
                        <a:t>인당 예상 요금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2. </a:t>
                      </a:r>
                      <a:r>
                        <a:rPr lang="ko-KR" altLang="en-US" sz="900" b="0" dirty="0"/>
                        <a:t>총 예상 요금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출장자 인원수만큼 계산하여 노출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1" dirty="0"/>
                        <a:t>- </a:t>
                      </a:r>
                      <a:r>
                        <a:rPr lang="ko-KR" altLang="en-US" sz="900" b="1" dirty="0"/>
                        <a:t>출장자 인원수가 변경 된다면</a:t>
                      </a:r>
                      <a:r>
                        <a:rPr lang="en-US" altLang="ko-KR" sz="900" b="1" dirty="0"/>
                        <a:t>,</a:t>
                      </a:r>
                      <a:r>
                        <a:rPr lang="ko-KR" altLang="en-US" sz="900" b="1" dirty="0"/>
                        <a:t> </a:t>
                      </a:r>
                      <a:br>
                        <a:rPr lang="en-US" altLang="ko-KR" sz="900" b="1" dirty="0"/>
                      </a:br>
                      <a:r>
                        <a:rPr lang="en-US" altLang="ko-KR" sz="900" b="1" dirty="0"/>
                        <a:t>  (+)</a:t>
                      </a:r>
                      <a:r>
                        <a:rPr lang="ko-KR" altLang="en-US" sz="900" b="1" dirty="0"/>
                        <a:t>시 해당 요금 실시간 계산하여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B9C35855-6520-5436-417C-A068F8C53A89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항공예약요청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62F08B9-27B8-5BD1-C554-9C5E3F2A9A34}"/>
              </a:ext>
            </a:extLst>
          </p:cNvPr>
          <p:cNvSpPr txBox="1"/>
          <p:nvPr/>
        </p:nvSpPr>
        <p:spPr>
          <a:xfrm>
            <a:off x="3355675" y="213760"/>
            <a:ext cx="3726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요청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항공예약 요청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항공 조회 </a:t>
            </a:r>
            <a:r>
              <a:rPr lang="ko-KR" altLang="en-US" sz="10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b="1" dirty="0">
                <a:solidFill>
                  <a:schemeClr val="tx1"/>
                </a:solidFill>
              </a:rPr>
              <a:t> 요청 연동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ABD8D08-7BBE-B7C4-4AE9-D6B01118C99E}"/>
              </a:ext>
            </a:extLst>
          </p:cNvPr>
          <p:cNvSpPr/>
          <p:nvPr/>
        </p:nvSpPr>
        <p:spPr>
          <a:xfrm>
            <a:off x="171340" y="646932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1"/>
                </a:solidFill>
              </a:rPr>
              <a:t>여정 정보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4660D86-61CE-3A36-1BFB-DDA4CF159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160443"/>
              </p:ext>
            </p:extLst>
          </p:nvPr>
        </p:nvGraphicFramePr>
        <p:xfrm>
          <a:off x="249687" y="1021591"/>
          <a:ext cx="8057551" cy="3603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63">
                  <a:extLst>
                    <a:ext uri="{9D8B030D-6E8A-4147-A177-3AD203B41FA5}">
                      <a16:colId xmlns:a16="http://schemas.microsoft.com/office/drawing/2014/main" val="2542619400"/>
                    </a:ext>
                  </a:extLst>
                </a:gridCol>
                <a:gridCol w="6817088">
                  <a:extLst>
                    <a:ext uri="{9D8B030D-6E8A-4147-A177-3AD203B41FA5}">
                      <a16:colId xmlns:a16="http://schemas.microsoft.com/office/drawing/2014/main" val="2731100643"/>
                    </a:ext>
                  </a:extLst>
                </a:gridCol>
              </a:tblGrid>
              <a:tr h="30025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✈︎ 여정</a:t>
                      </a:r>
                      <a:r>
                        <a:rPr lang="en-US" altLang="ko-K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케세이퍼시픽항공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CX417 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일반석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285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645419"/>
                  </a:ext>
                </a:extLst>
              </a:tr>
              <a:tr h="3002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    서울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(ICN) 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홍콩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(HKG)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540715"/>
                  </a:ext>
                </a:extLst>
              </a:tr>
              <a:tr h="300257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  2025-04-20(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10:10 ➡ 2025-04-20(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12:00 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24262"/>
                  </a:ext>
                </a:extLst>
              </a:tr>
              <a:tr h="30025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⇆ 여정</a:t>
                      </a:r>
                      <a:r>
                        <a:rPr lang="en-US" altLang="ko-K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케세이퍼시픽항공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CX113 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일반석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98511"/>
                  </a:ext>
                </a:extLst>
              </a:tr>
              <a:tr h="3002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    홍콩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(HKG) 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오클랜드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(AKL)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016584"/>
                  </a:ext>
                </a:extLst>
              </a:tr>
              <a:tr h="300257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  2025-04-20(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일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21:05 ➡ 2025-04-21(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11:40 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003542"/>
                  </a:ext>
                </a:extLst>
              </a:tr>
              <a:tr h="30025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⇆ 여정</a:t>
                      </a:r>
                      <a:r>
                        <a:rPr lang="en-US" altLang="ko-K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케세이퍼시픽항공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CX198 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일반석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181446"/>
                  </a:ext>
                </a:extLst>
              </a:tr>
              <a:tr h="3002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    오클랜드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(AKL) 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홍콩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(HKG)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198737"/>
                  </a:ext>
                </a:extLst>
              </a:tr>
              <a:tr h="300257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  2025-04-25(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13:25 ➡ 2025-04-25(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금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21:05 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353077"/>
                  </a:ext>
                </a:extLst>
              </a:tr>
              <a:tr h="30025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✈︎ 여정</a:t>
                      </a:r>
                      <a:r>
                        <a:rPr lang="en-US" altLang="ko-KR" sz="12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케세이퍼시픽항공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CX416 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일반석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217471"/>
                  </a:ext>
                </a:extLst>
              </a:tr>
              <a:tr h="30025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    홍콩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(HKG) ➡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서울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(ICN)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131961"/>
                  </a:ext>
                </a:extLst>
              </a:tr>
              <a:tr h="300257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     2025-04-26(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16:25 ➡ 2025-04-26(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토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) 21:10 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66951"/>
                  </a:ext>
                </a:extLst>
              </a:tr>
            </a:tbl>
          </a:graphicData>
        </a:graphic>
      </p:graphicFrame>
      <p:pic>
        <p:nvPicPr>
          <p:cNvPr id="58" name="그래픽 57" descr="플립 달력 단색으로 채워진">
            <a:extLst>
              <a:ext uri="{FF2B5EF4-FFF2-40B4-BE49-F238E27FC236}">
                <a16:creationId xmlns:a16="http://schemas.microsoft.com/office/drawing/2014/main" id="{29FF5D94-49D6-DEA5-0EE0-61EF8D283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2209" y="4386228"/>
            <a:ext cx="143674" cy="163471"/>
          </a:xfrm>
          <a:prstGeom prst="rect">
            <a:avLst/>
          </a:prstGeom>
        </p:spPr>
      </p:pic>
      <p:pic>
        <p:nvPicPr>
          <p:cNvPr id="59" name="그래픽 58" descr="표식 단색으로 채워진">
            <a:extLst>
              <a:ext uri="{FF2B5EF4-FFF2-40B4-BE49-F238E27FC236}">
                <a16:creationId xmlns:a16="http://schemas.microsoft.com/office/drawing/2014/main" id="{9DB4A387-A7B1-01E4-C0B5-18866EC42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1548" y="4079343"/>
            <a:ext cx="170246" cy="170246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9A75F48D-4958-FA1E-967F-1651DF61B6B7}"/>
              </a:ext>
            </a:extLst>
          </p:cNvPr>
          <p:cNvSpPr txBox="1"/>
          <p:nvPr/>
        </p:nvSpPr>
        <p:spPr>
          <a:xfrm>
            <a:off x="340503" y="4782371"/>
            <a:ext cx="78931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항공사 발권시한으로 인해 항공요금 및 좌석 상황이 변동되어 자동취소 및 확정 금액변동 등 예약상황이 변경될 수 있으니 이용에 참고 부탁 드립니다</a:t>
            </a:r>
            <a:r>
              <a:rPr lang="en-US" altLang="ko-KR" sz="900" dirty="0">
                <a:solidFill>
                  <a:srgbClr val="FF0000"/>
                </a:solidFill>
              </a:rPr>
              <a:t>.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C6D0D5CB-DF82-6E55-B127-5D16CFD317F1}"/>
              </a:ext>
            </a:extLst>
          </p:cNvPr>
          <p:cNvGrpSpPr/>
          <p:nvPr/>
        </p:nvGrpSpPr>
        <p:grpSpPr>
          <a:xfrm>
            <a:off x="246346" y="4813879"/>
            <a:ext cx="140485" cy="138260"/>
            <a:chOff x="2173857" y="4284252"/>
            <a:chExt cx="1440611" cy="1417808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A0AA57A1-BF14-8B07-9A98-D85688639E32}"/>
                </a:ext>
              </a:extLst>
            </p:cNvPr>
            <p:cNvSpPr/>
            <p:nvPr/>
          </p:nvSpPr>
          <p:spPr>
            <a:xfrm>
              <a:off x="2173857" y="4284252"/>
              <a:ext cx="1440611" cy="141780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그래픽 62" descr="느낌표 단색으로 채워진">
              <a:extLst>
                <a:ext uri="{FF2B5EF4-FFF2-40B4-BE49-F238E27FC236}">
                  <a16:creationId xmlns:a16="http://schemas.microsoft.com/office/drawing/2014/main" id="{1F78B697-D0DE-07B5-733A-7AB79751F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436962" y="4535956"/>
              <a:ext cx="914400" cy="91440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A1731808-7141-9152-4B4A-B87459174BBC}"/>
              </a:ext>
            </a:extLst>
          </p:cNvPr>
          <p:cNvSpPr txBox="1"/>
          <p:nvPr/>
        </p:nvSpPr>
        <p:spPr>
          <a:xfrm>
            <a:off x="6504821" y="5200599"/>
            <a:ext cx="196560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50" dirty="0"/>
              <a:t>1</a:t>
            </a:r>
            <a:r>
              <a:rPr lang="ko-KR" altLang="en-US" sz="1050" dirty="0"/>
              <a:t>인당 예상 요금 </a:t>
            </a:r>
            <a:r>
              <a:rPr lang="en-US" altLang="ko-KR" sz="1050" b="1" dirty="0"/>
              <a:t>1,661,300</a:t>
            </a:r>
            <a:r>
              <a:rPr lang="ko-KR" altLang="en-US" sz="1050" dirty="0"/>
              <a:t>원</a:t>
            </a:r>
            <a:endParaRPr lang="en-US" altLang="ko-KR" sz="1050" dirty="0"/>
          </a:p>
          <a:p>
            <a:pPr algn="r"/>
            <a:r>
              <a:rPr lang="ko-KR" altLang="en-US" sz="1050" dirty="0"/>
              <a:t>총 예상 요금 </a:t>
            </a:r>
            <a:r>
              <a:rPr lang="en-US" altLang="ko-KR" sz="1050" b="1" dirty="0"/>
              <a:t>1,661,300</a:t>
            </a:r>
            <a:r>
              <a:rPr lang="ko-KR" altLang="en-US" sz="1050" dirty="0"/>
              <a:t>원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E0C71A5-F41F-C599-1243-045C7AC14FCC}"/>
              </a:ext>
            </a:extLst>
          </p:cNvPr>
          <p:cNvSpPr/>
          <p:nvPr/>
        </p:nvSpPr>
        <p:spPr>
          <a:xfrm>
            <a:off x="246346" y="879559"/>
            <a:ext cx="8224077" cy="38184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6B4FF4E9-F143-FA22-1F7B-4C8501093AD1}"/>
              </a:ext>
            </a:extLst>
          </p:cNvPr>
          <p:cNvSpPr/>
          <p:nvPr/>
        </p:nvSpPr>
        <p:spPr>
          <a:xfrm>
            <a:off x="6504820" y="5140276"/>
            <a:ext cx="2231225" cy="5491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6D8E3FC5-AB0B-93E6-4657-832B426F9AB5}"/>
              </a:ext>
            </a:extLst>
          </p:cNvPr>
          <p:cNvSpPr/>
          <p:nvPr/>
        </p:nvSpPr>
        <p:spPr>
          <a:xfrm>
            <a:off x="155387" y="838821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B26EF4A0-9111-19E5-CF4A-D14C5347AF43}"/>
              </a:ext>
            </a:extLst>
          </p:cNvPr>
          <p:cNvSpPr/>
          <p:nvPr/>
        </p:nvSpPr>
        <p:spPr>
          <a:xfrm>
            <a:off x="6418359" y="507352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  <p:pic>
        <p:nvPicPr>
          <p:cNvPr id="74" name="그래픽 73" descr="플립 달력 단색으로 채워진">
            <a:extLst>
              <a:ext uri="{FF2B5EF4-FFF2-40B4-BE49-F238E27FC236}">
                <a16:creationId xmlns:a16="http://schemas.microsoft.com/office/drawing/2014/main" id="{CD5EC240-C889-D40C-F722-728CD6A6D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7536" y="3487029"/>
            <a:ext cx="143674" cy="163471"/>
          </a:xfrm>
          <a:prstGeom prst="rect">
            <a:avLst/>
          </a:prstGeom>
        </p:spPr>
      </p:pic>
      <p:pic>
        <p:nvPicPr>
          <p:cNvPr id="75" name="그래픽 74" descr="표식 단색으로 채워진">
            <a:extLst>
              <a:ext uri="{FF2B5EF4-FFF2-40B4-BE49-F238E27FC236}">
                <a16:creationId xmlns:a16="http://schemas.microsoft.com/office/drawing/2014/main" id="{B76F80F2-1A78-6F9A-B197-745C770353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6875" y="3180144"/>
            <a:ext cx="170246" cy="170246"/>
          </a:xfrm>
          <a:prstGeom prst="rect">
            <a:avLst/>
          </a:prstGeom>
        </p:spPr>
      </p:pic>
      <p:pic>
        <p:nvPicPr>
          <p:cNvPr id="76" name="그래픽 75" descr="플립 달력 단색으로 채워진">
            <a:extLst>
              <a:ext uri="{FF2B5EF4-FFF2-40B4-BE49-F238E27FC236}">
                <a16:creationId xmlns:a16="http://schemas.microsoft.com/office/drawing/2014/main" id="{04D0E967-616E-2A96-725C-830C25B661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2209" y="2587830"/>
            <a:ext cx="143674" cy="163471"/>
          </a:xfrm>
          <a:prstGeom prst="rect">
            <a:avLst/>
          </a:prstGeom>
        </p:spPr>
      </p:pic>
      <p:pic>
        <p:nvPicPr>
          <p:cNvPr id="77" name="그래픽 76" descr="표식 단색으로 채워진">
            <a:extLst>
              <a:ext uri="{FF2B5EF4-FFF2-40B4-BE49-F238E27FC236}">
                <a16:creationId xmlns:a16="http://schemas.microsoft.com/office/drawing/2014/main" id="{16B21E2C-0FDF-53EA-F5E4-2FF6D71CBB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1548" y="2280945"/>
            <a:ext cx="170246" cy="170246"/>
          </a:xfrm>
          <a:prstGeom prst="rect">
            <a:avLst/>
          </a:prstGeom>
        </p:spPr>
      </p:pic>
      <p:pic>
        <p:nvPicPr>
          <p:cNvPr id="79" name="그래픽 78" descr="플립 달력 단색으로 채워진">
            <a:extLst>
              <a:ext uri="{FF2B5EF4-FFF2-40B4-BE49-F238E27FC236}">
                <a16:creationId xmlns:a16="http://schemas.microsoft.com/office/drawing/2014/main" id="{B17BF3B8-5FEF-E426-A195-E73241F48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1548" y="1685435"/>
            <a:ext cx="143674" cy="163471"/>
          </a:xfrm>
          <a:prstGeom prst="rect">
            <a:avLst/>
          </a:prstGeom>
        </p:spPr>
      </p:pic>
      <p:pic>
        <p:nvPicPr>
          <p:cNvPr id="80" name="그래픽 79" descr="표식 단색으로 채워진">
            <a:extLst>
              <a:ext uri="{FF2B5EF4-FFF2-40B4-BE49-F238E27FC236}">
                <a16:creationId xmlns:a16="http://schemas.microsoft.com/office/drawing/2014/main" id="{0179C92E-3A57-AEC8-5150-CF7F895486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0887" y="1378550"/>
            <a:ext cx="170246" cy="17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344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2FAA4-5529-C1E4-6EE5-37E0EB8F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516FA2-310F-7427-7A51-92DEFA3F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56DE22-4C3E-27EC-429D-2FCFC4FB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2025-07-17</a:t>
            </a:fld>
            <a:endParaRPr lang="ko-KR" altLang="en-US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CC126758-1952-6FB5-6029-2F3F7254A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178732"/>
              </p:ext>
            </p:extLst>
          </p:nvPr>
        </p:nvGraphicFramePr>
        <p:xfrm>
          <a:off x="8895426" y="89350"/>
          <a:ext cx="3213942" cy="3475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항공여정 </a:t>
                      </a:r>
                      <a:r>
                        <a:rPr lang="ko-KR" altLang="en-US" sz="900" b="1" dirty="0" err="1"/>
                        <a:t>전담팀</a:t>
                      </a:r>
                      <a:r>
                        <a:rPr lang="ko-KR" altLang="en-US" sz="900" b="1" dirty="0"/>
                        <a:t> 요청 방식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예약자 및 출장자 정보 영역은 모든 기능과 화면이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항공 요청시와 동일 하므로 </a:t>
                      </a:r>
                      <a:r>
                        <a:rPr lang="en-US" altLang="ko-KR" sz="900" b="1" dirty="0"/>
                        <a:t>#2page </a:t>
                      </a:r>
                      <a:r>
                        <a:rPr lang="ko-KR" altLang="en-US" sz="900" b="1" dirty="0"/>
                        <a:t>참고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호텔정보 작성 영역은 </a:t>
                      </a:r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가지 버전 존재</a:t>
                      </a:r>
                      <a:endParaRPr lang="en-US" altLang="ko-KR" sz="900" dirty="0"/>
                    </a:p>
                    <a:p>
                      <a:pPr latinLnBrk="1"/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1. </a:t>
                      </a:r>
                      <a:r>
                        <a:rPr lang="ko-KR" altLang="en-US" sz="900" dirty="0"/>
                        <a:t>출장자가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직접 입력 </a:t>
                      </a:r>
                      <a:r>
                        <a:rPr lang="en-US" altLang="ko-KR" sz="900" b="1" dirty="0"/>
                        <a:t>(#7page)</a:t>
                      </a:r>
                      <a:br>
                        <a:rPr lang="en-US" altLang="ko-KR" sz="900" b="1" dirty="0"/>
                      </a:b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2. </a:t>
                      </a:r>
                      <a:r>
                        <a:rPr lang="ko-KR" altLang="en-US" sz="900" dirty="0"/>
                        <a:t>호텔 조회 후 </a:t>
                      </a:r>
                      <a:r>
                        <a:rPr lang="en-US" altLang="ko-KR" sz="900" dirty="0"/>
                        <a:t>‘</a:t>
                      </a:r>
                      <a:r>
                        <a:rPr lang="ko-KR" altLang="en-US" sz="900" dirty="0" err="1"/>
                        <a:t>전담팀</a:t>
                      </a:r>
                      <a:r>
                        <a:rPr lang="ko-KR" altLang="en-US" sz="900" dirty="0"/>
                        <a:t> 요청</a:t>
                      </a:r>
                      <a:r>
                        <a:rPr lang="en-US" altLang="ko-KR" sz="900" dirty="0"/>
                        <a:t>＇</a:t>
                      </a:r>
                      <a:r>
                        <a:rPr lang="ko-KR" altLang="en-US" sz="900" dirty="0"/>
                        <a:t>버튼을 통해 진입 후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</a:t>
                      </a:r>
                      <a:r>
                        <a:rPr lang="ko-KR" altLang="en-US" sz="900" dirty="0"/>
                        <a:t>해당영역에 호텔 정보 데이터 자동 세팅 </a:t>
                      </a:r>
                      <a:r>
                        <a:rPr lang="en-US" altLang="ko-KR" sz="900" b="1" dirty="0"/>
                        <a:t>(#8page)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출장자의 요청사항 작성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en-US" altLang="ko-KR" sz="900" b="0" dirty="0" err="1"/>
                        <a:t>Textarea</a:t>
                      </a:r>
                      <a:r>
                        <a:rPr lang="en-US" altLang="ko-KR" sz="900" b="0" dirty="0"/>
                        <a:t>)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입력제한 </a:t>
                      </a:r>
                      <a:r>
                        <a:rPr lang="en-US" altLang="ko-KR" sz="900" b="0" dirty="0"/>
                        <a:t>: 1,000</a:t>
                      </a:r>
                      <a:r>
                        <a:rPr lang="ko-KR" altLang="en-US" sz="900" b="0" dirty="0"/>
                        <a:t>자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06804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문구 노출 후 항공 전담팀에게 요청 메일 발송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요청 하시겠습니까</a:t>
                      </a:r>
                      <a:r>
                        <a:rPr lang="en-US" altLang="ko-KR" sz="900" b="0" dirty="0"/>
                        <a:t>?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709309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7BF3D385-EF38-7BFD-FD03-A61579A132C4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호텔예약요청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0349C70-A51A-6D53-15E4-1E51B573B1E9}"/>
              </a:ext>
            </a:extLst>
          </p:cNvPr>
          <p:cNvSpPr txBox="1"/>
          <p:nvPr/>
        </p:nvSpPr>
        <p:spPr>
          <a:xfrm>
            <a:off x="3355675" y="213760"/>
            <a:ext cx="3726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요청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호텔예약 요청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25FADF2-269E-41E7-3B2E-DA71DAF157ED}"/>
              </a:ext>
            </a:extLst>
          </p:cNvPr>
          <p:cNvSpPr/>
          <p:nvPr/>
        </p:nvSpPr>
        <p:spPr>
          <a:xfrm>
            <a:off x="281482" y="662959"/>
            <a:ext cx="896814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로고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F55D0E1-57C7-0D74-A394-F024E3018351}"/>
              </a:ext>
            </a:extLst>
          </p:cNvPr>
          <p:cNvSpPr/>
          <p:nvPr/>
        </p:nvSpPr>
        <p:spPr>
          <a:xfrm>
            <a:off x="1314716" y="654450"/>
            <a:ext cx="5705004" cy="4772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요청</a:t>
            </a:r>
            <a:r>
              <a:rPr lang="en-US" altLang="ko-KR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관리</a:t>
            </a:r>
            <a:endParaRPr lang="ko-KR" altLang="en-US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D6BC8F6-1F19-ACAD-F648-4BB1E7FDA3D3}"/>
              </a:ext>
            </a:extLst>
          </p:cNvPr>
          <p:cNvSpPr/>
          <p:nvPr/>
        </p:nvSpPr>
        <p:spPr>
          <a:xfrm>
            <a:off x="7306000" y="662959"/>
            <a:ext cx="1449811" cy="469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로그아웃</a:t>
            </a:r>
            <a:endParaRPr lang="ko-KR" altLang="en-US" sz="1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14D73A-78BE-714D-8F25-A4BB5E93125D}"/>
              </a:ext>
            </a:extLst>
          </p:cNvPr>
          <p:cNvSpPr/>
          <p:nvPr/>
        </p:nvSpPr>
        <p:spPr>
          <a:xfrm>
            <a:off x="281482" y="1131660"/>
            <a:ext cx="1155357" cy="28978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항공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1CA6B1-EF7D-45C6-90B3-E11D845C3103}"/>
              </a:ext>
            </a:extLst>
          </p:cNvPr>
          <p:cNvSpPr/>
          <p:nvPr/>
        </p:nvSpPr>
        <p:spPr>
          <a:xfrm>
            <a:off x="203137" y="1496717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호텔 예약 요청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12E3409-D26B-935D-F335-8616769C8DD6}"/>
              </a:ext>
            </a:extLst>
          </p:cNvPr>
          <p:cNvSpPr/>
          <p:nvPr/>
        </p:nvSpPr>
        <p:spPr>
          <a:xfrm>
            <a:off x="1528536" y="1131660"/>
            <a:ext cx="1155357" cy="2897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호텔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2CB754F-C593-49AD-679D-36C5A14F16D3}"/>
              </a:ext>
            </a:extLst>
          </p:cNvPr>
          <p:cNvSpPr/>
          <p:nvPr/>
        </p:nvSpPr>
        <p:spPr>
          <a:xfrm>
            <a:off x="281482" y="1785250"/>
            <a:ext cx="8474329" cy="774005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예약자 및 출장자 작성 영역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4BB9955-B88F-EEC9-9B2F-3DDFE5E99175}"/>
              </a:ext>
            </a:extLst>
          </p:cNvPr>
          <p:cNvSpPr/>
          <p:nvPr/>
        </p:nvSpPr>
        <p:spPr>
          <a:xfrm>
            <a:off x="185993" y="1737805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634DA91-817A-4F01-FF0F-12CE0BC9047D}"/>
              </a:ext>
            </a:extLst>
          </p:cNvPr>
          <p:cNvSpPr/>
          <p:nvPr/>
        </p:nvSpPr>
        <p:spPr>
          <a:xfrm>
            <a:off x="134467" y="5138112"/>
            <a:ext cx="8170226" cy="1796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요청 사항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요청사항에 따라 예상비용은 달라질 수 있으므로 </a:t>
            </a:r>
            <a:r>
              <a:rPr lang="ko-KR" altLang="en-US" sz="700" b="1" dirty="0" err="1">
                <a:solidFill>
                  <a:schemeClr val="bg1">
                    <a:lumMod val="50000"/>
                  </a:schemeClr>
                </a:solidFill>
              </a:rPr>
              <a:t>전담팀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 안내에 따라 비용을 다시 확인해 주시기 바랍니다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3E82D3-9619-A028-6D66-673AF5D4B85D}"/>
              </a:ext>
            </a:extLst>
          </p:cNvPr>
          <p:cNvSpPr/>
          <p:nvPr/>
        </p:nvSpPr>
        <p:spPr>
          <a:xfrm>
            <a:off x="259928" y="5405763"/>
            <a:ext cx="8400992" cy="76595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투숙일정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선호호텔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조식 포함여부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1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박당 예산</a:t>
            </a:r>
            <a:r>
              <a:rPr lang="en-US" altLang="ko-KR" sz="10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기타 요청사항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268FA78-D836-060A-3262-96E3B0E671BB}"/>
              </a:ext>
            </a:extLst>
          </p:cNvPr>
          <p:cNvSpPr/>
          <p:nvPr/>
        </p:nvSpPr>
        <p:spPr>
          <a:xfrm>
            <a:off x="4015265" y="6317892"/>
            <a:ext cx="1101067" cy="3317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1000" b="1" dirty="0">
                <a:solidFill>
                  <a:schemeClr val="bg1">
                    <a:lumMod val="50000"/>
                  </a:schemeClr>
                </a:solidFill>
              </a:rPr>
              <a:t>요청하기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DF376D7-6DE4-FB3D-A8F4-ECC084956970}"/>
              </a:ext>
            </a:extLst>
          </p:cNvPr>
          <p:cNvSpPr/>
          <p:nvPr/>
        </p:nvSpPr>
        <p:spPr>
          <a:xfrm>
            <a:off x="3933983" y="6248858"/>
            <a:ext cx="1263629" cy="4335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E8F3BAF-3185-9B24-0B75-76B496254835}"/>
              </a:ext>
            </a:extLst>
          </p:cNvPr>
          <p:cNvSpPr/>
          <p:nvPr/>
        </p:nvSpPr>
        <p:spPr>
          <a:xfrm>
            <a:off x="3845395" y="6174699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4</a:t>
            </a:r>
            <a:endParaRPr lang="ko-KR" altLang="en-US" sz="1100" b="1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3E101C8-E5BD-C7A1-3E22-568687B7BAFB}"/>
              </a:ext>
            </a:extLst>
          </p:cNvPr>
          <p:cNvSpPr/>
          <p:nvPr/>
        </p:nvSpPr>
        <p:spPr>
          <a:xfrm>
            <a:off x="197098" y="5365011"/>
            <a:ext cx="8489700" cy="8236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B0AAFBE4-CA6A-B18B-2B15-3084BF23E720}"/>
              </a:ext>
            </a:extLst>
          </p:cNvPr>
          <p:cNvSpPr/>
          <p:nvPr/>
        </p:nvSpPr>
        <p:spPr>
          <a:xfrm>
            <a:off x="97405" y="5319274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3</a:t>
            </a:r>
            <a:endParaRPr lang="ko-KR" altLang="en-US" sz="1100" b="1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5FD547A-FFA8-0357-0072-3815C9714679}"/>
              </a:ext>
            </a:extLst>
          </p:cNvPr>
          <p:cNvSpPr/>
          <p:nvPr/>
        </p:nvSpPr>
        <p:spPr>
          <a:xfrm>
            <a:off x="257262" y="2772535"/>
            <a:ext cx="8474329" cy="2251752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호텔 정보 작성 영역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9C9857F-6895-8C3B-0FBE-582A0CAF18A2}"/>
              </a:ext>
            </a:extLst>
          </p:cNvPr>
          <p:cNvSpPr/>
          <p:nvPr/>
        </p:nvSpPr>
        <p:spPr>
          <a:xfrm>
            <a:off x="197098" y="2726533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2</a:t>
            </a:r>
            <a:endParaRPr lang="ko-KR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66097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E1CA1-5038-9197-9053-46A7FDAE1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1A6AC78-F5B0-654D-6439-ADDBBBAA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05B5D4A-F110-F5D5-A684-F8328228E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2025-07-17</a:t>
            </a:fld>
            <a:endParaRPr lang="ko-KR" altLang="en-US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53E67199-B51B-6A72-497A-E4710E931D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124964"/>
              </p:ext>
            </p:extLst>
          </p:nvPr>
        </p:nvGraphicFramePr>
        <p:xfrm>
          <a:off x="8895426" y="89350"/>
          <a:ext cx="3213942" cy="3475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모든 정보는 출장자가 직접 입력한다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550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호텔 정보</a:t>
                      </a:r>
                      <a:endParaRPr lang="en-US" altLang="ko-KR" sz="900" b="0" dirty="0"/>
                    </a:p>
                    <a:p>
                      <a:pPr latinLnBrk="1"/>
                      <a:endParaRPr lang="en-US" altLang="ko-KR" sz="900" b="0" dirty="0"/>
                    </a:p>
                    <a:p>
                      <a:pPr latinLnBrk="1"/>
                      <a:r>
                        <a:rPr lang="en-US" altLang="ko-KR" sz="900" b="0" dirty="0"/>
                        <a:t>1. </a:t>
                      </a:r>
                      <a:r>
                        <a:rPr lang="ko-KR" altLang="en-US" sz="900" b="0" dirty="0"/>
                        <a:t>국가 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도시 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 err="1"/>
                        <a:t>호텔명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,</a:t>
                      </a:r>
                      <a:r>
                        <a:rPr lang="ko-KR" altLang="en-US" sz="900" b="0" dirty="0"/>
                        <a:t> 출장지 주소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텍스트 입력</a:t>
                      </a:r>
                      <a:endParaRPr lang="en-US" altLang="ko-KR" sz="900" b="0" dirty="0"/>
                    </a:p>
                    <a:p>
                      <a:pPr latinLnBrk="1"/>
                      <a:endParaRPr lang="en-US" altLang="ko-KR" sz="900" b="0" dirty="0"/>
                    </a:p>
                    <a:p>
                      <a:pPr latinLnBrk="1"/>
                      <a:r>
                        <a:rPr lang="en-US" altLang="ko-KR" sz="900" b="0" dirty="0"/>
                        <a:t>2. </a:t>
                      </a:r>
                      <a:r>
                        <a:rPr lang="ko-KR" altLang="en-US" sz="900" b="0" dirty="0"/>
                        <a:t>체크인</a:t>
                      </a:r>
                      <a:r>
                        <a:rPr lang="en-US" altLang="ko-KR" sz="900" b="0" dirty="0"/>
                        <a:t> , </a:t>
                      </a:r>
                      <a:r>
                        <a:rPr lang="ko-KR" altLang="en-US" sz="900" b="0" dirty="0"/>
                        <a:t>체크아웃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캘린더 노출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직접 입력 불가</a:t>
                      </a:r>
                      <a:r>
                        <a:rPr lang="en-US" altLang="ko-KR" sz="900" b="0" dirty="0"/>
                        <a:t>)</a:t>
                      </a: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/>
                        <a:t>-</a:t>
                      </a:r>
                      <a:r>
                        <a:rPr lang="ko-KR" altLang="en-US" sz="900" b="0" dirty="0"/>
                        <a:t> 체크인 날짜는 당일 이전 날짜는 선택 못하도록 함</a:t>
                      </a:r>
                      <a:endParaRPr lang="en-US" altLang="ko-KR" sz="900" b="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체크아웃 날짜는 체크인 날짜 이후부터 선택 가능하도록 제어</a:t>
                      </a:r>
                      <a:endParaRPr lang="en-US" altLang="ko-KR" sz="900" b="0" dirty="0"/>
                    </a:p>
                    <a:p>
                      <a:pPr latinLnBrk="1"/>
                      <a:endParaRPr lang="en-US" altLang="ko-KR" sz="900" b="0" dirty="0"/>
                    </a:p>
                    <a:p>
                      <a:pPr latinLnBrk="1"/>
                      <a:r>
                        <a:rPr lang="en-US" altLang="ko-KR" sz="900" b="0" dirty="0"/>
                        <a:t>3. </a:t>
                      </a:r>
                      <a:r>
                        <a:rPr lang="ko-KR" altLang="en-US" sz="900" b="0" dirty="0"/>
                        <a:t>투숙인원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숫자만 입력 가능</a:t>
                      </a:r>
                      <a:endParaRPr lang="en-US" altLang="ko-KR" sz="900" b="0" dirty="0"/>
                    </a:p>
                    <a:p>
                      <a:pPr latinLnBrk="1"/>
                      <a:endParaRPr lang="en-US" altLang="ko-KR" sz="900" b="0" dirty="0"/>
                    </a:p>
                    <a:p>
                      <a:pPr latinLnBrk="1"/>
                      <a:r>
                        <a:rPr lang="en-US" altLang="ko-KR" sz="900" b="0" dirty="0"/>
                        <a:t>4. </a:t>
                      </a:r>
                      <a:r>
                        <a:rPr lang="ko-KR" altLang="en-US" sz="900" b="0" dirty="0"/>
                        <a:t>객실 타입 </a:t>
                      </a:r>
                      <a:r>
                        <a:rPr lang="en-US" altLang="ko-KR" sz="900" b="0" dirty="0"/>
                        <a:t>: select box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옵션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싱글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트윈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더블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 err="1"/>
                        <a:t>트리플</a:t>
                      </a:r>
                      <a:r>
                        <a:rPr lang="en-US" altLang="ko-KR" sz="900" b="0" dirty="0"/>
                        <a:t>/</a:t>
                      </a:r>
                      <a:r>
                        <a:rPr lang="ko-KR" altLang="en-US" sz="900" b="0" dirty="0"/>
                        <a:t>기타</a:t>
                      </a:r>
                      <a:endParaRPr lang="en-US" altLang="ko-KR" sz="900" b="0" dirty="0"/>
                    </a:p>
                    <a:p>
                      <a:pPr latinLnBrk="1"/>
                      <a:endParaRPr lang="en-US" altLang="ko-KR" sz="900" b="0" dirty="0"/>
                    </a:p>
                    <a:p>
                      <a:pPr latinLnBrk="1"/>
                      <a:r>
                        <a:rPr lang="en-US" altLang="ko-KR" sz="900" b="0" dirty="0"/>
                        <a:t>5. </a:t>
                      </a:r>
                      <a:r>
                        <a:rPr lang="ko-KR" altLang="en-US" sz="900" b="0" dirty="0"/>
                        <a:t>조식유무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라디오버튼 </a:t>
                      </a:r>
                      <a:r>
                        <a:rPr lang="en-US" altLang="ko-KR" sz="900" b="0" dirty="0"/>
                        <a:t>Default ‘Y’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1B33CC1E-5196-0DDE-2906-42B63B5BB8C1}"/>
              </a:ext>
            </a:extLst>
          </p:cNvPr>
          <p:cNvSpPr txBox="1"/>
          <p:nvPr/>
        </p:nvSpPr>
        <p:spPr>
          <a:xfrm>
            <a:off x="962395" y="221673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호텔예약요청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282506-DFB5-3E74-0A77-24C774023A31}"/>
              </a:ext>
            </a:extLst>
          </p:cNvPr>
          <p:cNvSpPr txBox="1"/>
          <p:nvPr/>
        </p:nvSpPr>
        <p:spPr>
          <a:xfrm>
            <a:off x="3355675" y="213760"/>
            <a:ext cx="3726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요청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호텔예약 요청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호텔정보 직접 입력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FAE9263-084A-9EBB-F2E8-4B7F25FB8E93}"/>
              </a:ext>
            </a:extLst>
          </p:cNvPr>
          <p:cNvSpPr/>
          <p:nvPr/>
        </p:nvSpPr>
        <p:spPr>
          <a:xfrm>
            <a:off x="143114" y="775150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호텔 정보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DD1AF0FD-8CD0-7F2A-1FE8-BB8102051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148863"/>
              </p:ext>
            </p:extLst>
          </p:nvPr>
        </p:nvGraphicFramePr>
        <p:xfrm>
          <a:off x="221460" y="1074493"/>
          <a:ext cx="8128000" cy="2469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503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2913497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994269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3069731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국가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도시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체크인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체크아웃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투숙인원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객실타입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57840"/>
                  </a:ext>
                </a:extLst>
              </a:tr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</a:rPr>
                        <a:t>호텔명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조식 유무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◉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720131"/>
                  </a:ext>
                </a:extLst>
              </a:tr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출장지 주소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1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883924C-DD66-9067-3FEA-CEFC92D40013}"/>
              </a:ext>
            </a:extLst>
          </p:cNvPr>
          <p:cNvSpPr/>
          <p:nvPr/>
        </p:nvSpPr>
        <p:spPr>
          <a:xfrm>
            <a:off x="1660696" y="1239038"/>
            <a:ext cx="2563870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19B50F-2FE6-5F6E-CDD7-1CF392CEE06B}"/>
              </a:ext>
            </a:extLst>
          </p:cNvPr>
          <p:cNvSpPr/>
          <p:nvPr/>
        </p:nvSpPr>
        <p:spPr>
          <a:xfrm>
            <a:off x="5215331" y="1239038"/>
            <a:ext cx="2563870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5F55B2A-D983-CBD2-E0EF-CC0E949E5895}"/>
              </a:ext>
            </a:extLst>
          </p:cNvPr>
          <p:cNvSpPr/>
          <p:nvPr/>
        </p:nvSpPr>
        <p:spPr>
          <a:xfrm>
            <a:off x="1660696" y="1702642"/>
            <a:ext cx="2563870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dirty="0">
                <a:solidFill>
                  <a:schemeClr val="bg1">
                    <a:lumMod val="65000"/>
                  </a:schemeClr>
                </a:solidFill>
              </a:rPr>
              <a:t>2025-02-01</a:t>
            </a:r>
            <a:endParaRPr lang="ko-KR" alt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9" name="그래픽 8" descr="플립 달력 단색으로 채워진">
            <a:extLst>
              <a:ext uri="{FF2B5EF4-FFF2-40B4-BE49-F238E27FC236}">
                <a16:creationId xmlns:a16="http://schemas.microsoft.com/office/drawing/2014/main" id="{42087E3A-CDA4-4AD9-49BA-49344E14C7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5876" y="1745067"/>
            <a:ext cx="173845" cy="197800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66D2B41-BBEA-FBBF-4E30-5A888CE569BA}"/>
              </a:ext>
            </a:extLst>
          </p:cNvPr>
          <p:cNvSpPr/>
          <p:nvPr/>
        </p:nvSpPr>
        <p:spPr>
          <a:xfrm>
            <a:off x="5217772" y="1687099"/>
            <a:ext cx="2563870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50" dirty="0">
                <a:solidFill>
                  <a:schemeClr val="bg1">
                    <a:lumMod val="65000"/>
                  </a:schemeClr>
                </a:solidFill>
              </a:rPr>
              <a:t>2025-02-01</a:t>
            </a:r>
            <a:endParaRPr lang="ko-KR" alt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7" name="그래픽 26" descr="플립 달력 단색으로 채워진">
            <a:extLst>
              <a:ext uri="{FF2B5EF4-FFF2-40B4-BE49-F238E27FC236}">
                <a16:creationId xmlns:a16="http://schemas.microsoft.com/office/drawing/2014/main" id="{B1A7EE94-F6B5-688D-C24F-E5D52BB378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952" y="1729524"/>
            <a:ext cx="173845" cy="19780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89D299E6-74DC-E02D-02EC-6ACCC7D6D122}"/>
              </a:ext>
            </a:extLst>
          </p:cNvPr>
          <p:cNvSpPr/>
          <p:nvPr/>
        </p:nvSpPr>
        <p:spPr>
          <a:xfrm>
            <a:off x="1660696" y="2154881"/>
            <a:ext cx="2563870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>
                <a:solidFill>
                  <a:schemeClr val="bg1">
                    <a:lumMod val="65000"/>
                  </a:schemeClr>
                </a:solidFill>
              </a:rPr>
              <a:t>숫자만 입력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77F68DF-01DA-FB08-B39B-0D2399C8CEE4}"/>
              </a:ext>
            </a:extLst>
          </p:cNvPr>
          <p:cNvSpPr/>
          <p:nvPr/>
        </p:nvSpPr>
        <p:spPr>
          <a:xfrm>
            <a:off x="5215331" y="2180911"/>
            <a:ext cx="2563870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dirty="0">
                <a:solidFill>
                  <a:schemeClr val="bg1">
                    <a:lumMod val="65000"/>
                  </a:schemeClr>
                </a:solidFill>
              </a:rPr>
              <a:t>싱글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97DDAE3-38D3-7612-89DF-B9F073B15F29}"/>
              </a:ext>
            </a:extLst>
          </p:cNvPr>
          <p:cNvSpPr/>
          <p:nvPr/>
        </p:nvSpPr>
        <p:spPr>
          <a:xfrm>
            <a:off x="1660696" y="2649697"/>
            <a:ext cx="2563870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4B455E9-5CEB-ED23-ADC8-70FE92EE9B72}"/>
              </a:ext>
            </a:extLst>
          </p:cNvPr>
          <p:cNvSpPr/>
          <p:nvPr/>
        </p:nvSpPr>
        <p:spPr>
          <a:xfrm>
            <a:off x="1660696" y="3144513"/>
            <a:ext cx="6118505" cy="28265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5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407EBB9-7B23-20F7-46D9-6B99BE426FDC}"/>
              </a:ext>
            </a:extLst>
          </p:cNvPr>
          <p:cNvSpPr/>
          <p:nvPr/>
        </p:nvSpPr>
        <p:spPr>
          <a:xfrm>
            <a:off x="99693" y="743199"/>
            <a:ext cx="8489700" cy="28885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69BAF4B-7BDA-591A-6798-9F177BCBC4FD}"/>
              </a:ext>
            </a:extLst>
          </p:cNvPr>
          <p:cNvSpPr/>
          <p:nvPr/>
        </p:nvSpPr>
        <p:spPr>
          <a:xfrm>
            <a:off x="104784" y="67102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pic>
        <p:nvPicPr>
          <p:cNvPr id="35" name="그래픽 34" descr="위쪽 캐럿 단색으로 채워진">
            <a:extLst>
              <a:ext uri="{FF2B5EF4-FFF2-40B4-BE49-F238E27FC236}">
                <a16:creationId xmlns:a16="http://schemas.microsoft.com/office/drawing/2014/main" id="{7EB38710-BC09-F59A-8E42-E13D80334D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525247" y="2202629"/>
            <a:ext cx="266898" cy="282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9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23F29-4F18-B361-EABF-CB1AD04B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2E3A59F-4E49-E6CB-2685-3327676C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3DD38B-58A4-1EDA-0810-E9FAD83F2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2025-07-17</a:t>
            </a:fld>
            <a:endParaRPr lang="ko-KR" altLang="en-US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2CB9261-268D-07D5-B77B-7E74FE478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879406"/>
              </p:ext>
            </p:extLst>
          </p:nvPr>
        </p:nvGraphicFramePr>
        <p:xfrm>
          <a:off x="8895426" y="89350"/>
          <a:ext cx="3213942" cy="1878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243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924699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모든 정보는 호텔 조회 데이터 연동</a:t>
                      </a:r>
                      <a:endParaRPr lang="en-US" altLang="ko-KR" sz="9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550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요금 및 모든 정보는 호텔 조회 후 </a:t>
                      </a:r>
                      <a:r>
                        <a:rPr lang="en-US" altLang="ko-KR" sz="900" b="0" dirty="0"/>
                        <a:t>‘</a:t>
                      </a:r>
                      <a:r>
                        <a:rPr lang="ko-KR" altLang="en-US" sz="900" b="0" dirty="0" err="1"/>
                        <a:t>전담팀</a:t>
                      </a:r>
                      <a:r>
                        <a:rPr lang="ko-KR" altLang="en-US" sz="900" b="0" dirty="0"/>
                        <a:t> 요청</a:t>
                      </a:r>
                      <a:r>
                        <a:rPr lang="en-US" altLang="ko-KR" sz="900" b="0" dirty="0"/>
                        <a:t>‘ </a:t>
                      </a:r>
                      <a:r>
                        <a:rPr lang="ko-KR" altLang="en-US" sz="900" b="0" dirty="0"/>
                        <a:t>클릭 시 가져오는 데이터로 노출 한다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호텔 요금은 실시간 계산 기능 없음</a:t>
                      </a:r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latinLnBrk="1"/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</a:rPr>
                        <a:t>룸타입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en-US" altLang="ko-KR" sz="900" dirty="0" err="1">
                          <a:solidFill>
                            <a:srgbClr val="FF0000"/>
                          </a:solidFill>
                        </a:rPr>
                        <a:t>roomGrade</a:t>
                      </a:r>
                      <a:r>
                        <a:rPr lang="en-US" altLang="ko-KR" sz="900" dirty="0">
                          <a:solidFill>
                            <a:srgbClr val="FF0000"/>
                          </a:solidFill>
                        </a:rPr>
                        <a:t>)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의 경우 </a:t>
                      </a:r>
                      <a:r>
                        <a:rPr lang="ko-KR" altLang="en-US" sz="900" dirty="0" err="1">
                          <a:solidFill>
                            <a:srgbClr val="FF0000"/>
                          </a:solidFill>
                        </a:rPr>
                        <a:t>전담팀</a:t>
                      </a:r>
                      <a:r>
                        <a:rPr lang="ko-KR" altLang="en-US" sz="900" dirty="0">
                          <a:solidFill>
                            <a:srgbClr val="FF0000"/>
                          </a:solidFill>
                        </a:rPr>
                        <a:t> 요청으로 들어올 때만 노출 되도록 함</a:t>
                      </a: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62B247C8-9402-5DD7-8743-8FB216F38A70}"/>
              </a:ext>
            </a:extLst>
          </p:cNvPr>
          <p:cNvSpPr txBox="1"/>
          <p:nvPr/>
        </p:nvSpPr>
        <p:spPr>
          <a:xfrm>
            <a:off x="962395" y="221673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호텔예약요청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A29F451-E343-2780-63F8-11792D84096D}"/>
              </a:ext>
            </a:extLst>
          </p:cNvPr>
          <p:cNvSpPr txBox="1"/>
          <p:nvPr/>
        </p:nvSpPr>
        <p:spPr>
          <a:xfrm>
            <a:off x="3355675" y="213760"/>
            <a:ext cx="37266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요청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호텔예약 요청 </a:t>
            </a:r>
            <a:r>
              <a:rPr lang="en-US" altLang="ko-KR" sz="1000" b="1" dirty="0"/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호텔 </a:t>
            </a:r>
            <a:r>
              <a:rPr lang="ko-KR" altLang="en-US" sz="10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b="1" dirty="0">
                <a:solidFill>
                  <a:schemeClr val="tx1"/>
                </a:solidFill>
              </a:rPr>
              <a:t> 요청 연동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13ADD1-83CB-7FF0-2E91-F46AFF74FCDA}"/>
              </a:ext>
            </a:extLst>
          </p:cNvPr>
          <p:cNvSpPr/>
          <p:nvPr/>
        </p:nvSpPr>
        <p:spPr>
          <a:xfrm>
            <a:off x="143114" y="775150"/>
            <a:ext cx="1577801" cy="299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호텔 정보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8F19827-BF5B-0F79-A89E-2A7E2133C6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978666"/>
              </p:ext>
            </p:extLst>
          </p:nvPr>
        </p:nvGraphicFramePr>
        <p:xfrm>
          <a:off x="221460" y="1074493"/>
          <a:ext cx="8127996" cy="2963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502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2913497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994268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3069729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국가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미국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도시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샌프란시스코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체크인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2025-06-08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체크아웃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2025-06-21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투숙인원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객실타입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싱글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57840"/>
                  </a:ext>
                </a:extLst>
              </a:tr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</a:rPr>
                        <a:t>호텔명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Taj Campton Place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조식 유무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</a:rPr>
                        <a:t>Room Only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720131"/>
                  </a:ext>
                </a:extLst>
              </a:tr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룸 타입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9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CALIFORNIA, KING BED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894460"/>
                  </a:ext>
                </a:extLst>
              </a:tr>
              <a:tr h="4939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출장지 주소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011847"/>
                  </a:ext>
                </a:extLst>
              </a:tr>
            </a:tbl>
          </a:graphicData>
        </a:graphic>
      </p:graphicFrame>
      <p:sp>
        <p:nvSpPr>
          <p:cNvPr id="33" name="직사각형 32">
            <a:extLst>
              <a:ext uri="{FF2B5EF4-FFF2-40B4-BE49-F238E27FC236}">
                <a16:creationId xmlns:a16="http://schemas.microsoft.com/office/drawing/2014/main" id="{5487BB81-C00C-033D-E436-4389454110CD}"/>
              </a:ext>
            </a:extLst>
          </p:cNvPr>
          <p:cNvSpPr/>
          <p:nvPr/>
        </p:nvSpPr>
        <p:spPr>
          <a:xfrm>
            <a:off x="99693" y="743199"/>
            <a:ext cx="8489700" cy="42944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702C397-DECF-D3C5-9A03-94A2203AF62F}"/>
              </a:ext>
            </a:extLst>
          </p:cNvPr>
          <p:cNvSpPr/>
          <p:nvPr/>
        </p:nvSpPr>
        <p:spPr>
          <a:xfrm>
            <a:off x="104784" y="671026"/>
            <a:ext cx="177176" cy="16701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/>
              <a:t>1</a:t>
            </a:r>
            <a:endParaRPr lang="ko-KR" altLang="en-US" sz="11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90207-C882-3C8B-431A-A3C90047FFD3}"/>
              </a:ext>
            </a:extLst>
          </p:cNvPr>
          <p:cNvSpPr txBox="1"/>
          <p:nvPr/>
        </p:nvSpPr>
        <p:spPr>
          <a:xfrm>
            <a:off x="336287" y="4099130"/>
            <a:ext cx="76565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</a:rPr>
              <a:t>현재 예약이 완료된 것이 아니므로 실제 예약 요청 시점 요금이나 가능여부 등에 변동이 발생 할 수 있습니다</a:t>
            </a:r>
            <a:r>
              <a:rPr lang="en-US" altLang="ko-KR" sz="900" dirty="0">
                <a:solidFill>
                  <a:srgbClr val="FF0000"/>
                </a:solidFill>
              </a:rPr>
              <a:t>.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F6FE554-7EFA-5606-3005-C2CB7ACCDBAA}"/>
              </a:ext>
            </a:extLst>
          </p:cNvPr>
          <p:cNvGrpSpPr/>
          <p:nvPr/>
        </p:nvGrpSpPr>
        <p:grpSpPr>
          <a:xfrm>
            <a:off x="221460" y="4136570"/>
            <a:ext cx="140485" cy="138260"/>
            <a:chOff x="2173857" y="4284252"/>
            <a:chExt cx="1440611" cy="1417808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6476FFA4-2C90-EA6D-1FD3-1DDC5F5CD278}"/>
                </a:ext>
              </a:extLst>
            </p:cNvPr>
            <p:cNvSpPr/>
            <p:nvPr/>
          </p:nvSpPr>
          <p:spPr>
            <a:xfrm>
              <a:off x="2173857" y="4284252"/>
              <a:ext cx="1440611" cy="141780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2" name="그래픽 11" descr="느낌표 단색으로 채워진">
              <a:extLst>
                <a:ext uri="{FF2B5EF4-FFF2-40B4-BE49-F238E27FC236}">
                  <a16:creationId xmlns:a16="http://schemas.microsoft.com/office/drawing/2014/main" id="{39E2AFBF-0350-8D2D-5FBC-BD667C2F4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36962" y="4535956"/>
              <a:ext cx="914400" cy="9144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9637952-67A7-C77A-25DB-326C3B391B35}"/>
              </a:ext>
            </a:extLst>
          </p:cNvPr>
          <p:cNvSpPr txBox="1"/>
          <p:nvPr/>
        </p:nvSpPr>
        <p:spPr>
          <a:xfrm>
            <a:off x="6264010" y="4517358"/>
            <a:ext cx="196560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50" dirty="0"/>
              <a:t>1</a:t>
            </a:r>
            <a:r>
              <a:rPr lang="ko-KR" altLang="en-US" sz="1050" dirty="0"/>
              <a:t>박당 예상 요금 </a:t>
            </a:r>
            <a:r>
              <a:rPr lang="en-US" altLang="ko-KR" sz="1050" b="1" dirty="0"/>
              <a:t>1,661,300</a:t>
            </a:r>
            <a:r>
              <a:rPr lang="ko-KR" altLang="en-US" sz="1050" dirty="0"/>
              <a:t>원</a:t>
            </a:r>
            <a:endParaRPr lang="en-US" altLang="ko-KR" sz="1050" dirty="0"/>
          </a:p>
          <a:p>
            <a:pPr algn="r"/>
            <a:r>
              <a:rPr lang="ko-KR" altLang="en-US" sz="1050" dirty="0"/>
              <a:t>총 예상 요금 </a:t>
            </a:r>
            <a:r>
              <a:rPr lang="en-US" altLang="ko-KR" sz="1050" b="1" dirty="0"/>
              <a:t>1,661,300</a:t>
            </a:r>
            <a:r>
              <a:rPr lang="ko-KR" altLang="en-US" sz="1050" dirty="0"/>
              <a:t>원</a:t>
            </a:r>
          </a:p>
        </p:txBody>
      </p:sp>
    </p:spTree>
    <p:extLst>
      <p:ext uri="{BB962C8B-B14F-4D97-AF65-F5344CB8AC3E}">
        <p14:creationId xmlns:p14="http://schemas.microsoft.com/office/powerpoint/2010/main" val="1198552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6633</TotalTime>
  <Words>1529</Words>
  <Application>Microsoft Office PowerPoint</Application>
  <PresentationFormat>와이드스크린</PresentationFormat>
  <Paragraphs>306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leejisoo</dc:creator>
  <cp:lastModifiedBy>yeoeun02</cp:lastModifiedBy>
  <cp:revision>830</cp:revision>
  <dcterms:created xsi:type="dcterms:W3CDTF">2025-03-31T13:16:48Z</dcterms:created>
  <dcterms:modified xsi:type="dcterms:W3CDTF">2025-07-17T07:39:56Z</dcterms:modified>
</cp:coreProperties>
</file>