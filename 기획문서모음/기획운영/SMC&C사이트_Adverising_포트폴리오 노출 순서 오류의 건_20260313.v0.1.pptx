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5" r:id="rId1"/>
  </p:sldMasterIdLst>
  <p:notesMasterIdLst>
    <p:notesMasterId r:id="rId5"/>
  </p:notesMasterIdLst>
  <p:sldIdLst>
    <p:sldId id="260" r:id="rId2"/>
    <p:sldId id="625" r:id="rId3"/>
    <p:sldId id="626" r:id="rId4"/>
  </p:sldIdLst>
  <p:sldSz cx="12192000" cy="6858000"/>
  <p:notesSz cx="9866313" cy="673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구역" id="{715198B4-CE40-4C73-AFF6-3A03F6F9DBB8}">
          <p14:sldIdLst>
            <p14:sldId id="260"/>
            <p14:sldId id="625"/>
            <p14:sldId id="6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772" userDrawn="1">
          <p15:clr>
            <a:srgbClr val="A4A3A4"/>
          </p15:clr>
        </p15:guide>
        <p15:guide id="3" pos="778">
          <p15:clr>
            <a:srgbClr val="A4A3A4"/>
          </p15:clr>
        </p15:guide>
        <p15:guide id="4" pos="370" userDrawn="1">
          <p15:clr>
            <a:srgbClr val="A4A3A4"/>
          </p15:clr>
        </p15:guide>
        <p15:guide id="5" pos="7265" userDrawn="1">
          <p15:clr>
            <a:srgbClr val="A4A3A4"/>
          </p15:clr>
        </p15:guide>
        <p15:guide id="6" orient="horz" pos="981" userDrawn="1">
          <p15:clr>
            <a:srgbClr val="A4A3A4"/>
          </p15:clr>
        </p15:guide>
        <p15:guide id="7" orient="horz" pos="4065" userDrawn="1">
          <p15:clr>
            <a:srgbClr val="A4A3A4"/>
          </p15:clr>
        </p15:guide>
        <p15:guide id="8" pos="529">
          <p15:clr>
            <a:srgbClr val="A4A3A4"/>
          </p15:clr>
        </p15:guide>
        <p15:guide id="9" pos="1300">
          <p15:clr>
            <a:srgbClr val="A4A3A4"/>
          </p15:clr>
        </p15:guide>
        <p15:guide id="10" pos="7061">
          <p15:clr>
            <a:srgbClr val="A4A3A4"/>
          </p15:clr>
        </p15:guide>
        <p15:guide id="11" pos="779">
          <p15:clr>
            <a:srgbClr val="A4A3A4"/>
          </p15:clr>
        </p15:guide>
        <p15:guide id="12" pos="3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 userDrawn="1">
          <p15:clr>
            <a:srgbClr val="A4A3A4"/>
          </p15:clr>
        </p15:guide>
        <p15:guide id="2" pos="3107" userDrawn="1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5" roundtripDataSignature="AMtx7mjR73HqTNzXwEdWLH/qzlIOuRHt9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" initials="a" lastIdx="2" clrIdx="0">
    <p:extLst>
      <p:ext uri="{19B8F6BF-5375-455C-9EA6-DF929625EA0E}">
        <p15:presenceInfo xmlns:p15="http://schemas.microsoft.com/office/powerpoint/2012/main" userId="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ADA"/>
    <a:srgbClr val="FFFFFF"/>
    <a:srgbClr val="F2DCDB"/>
    <a:srgbClr val="F2F2F2"/>
    <a:srgbClr val="4F81BD"/>
    <a:srgbClr val="FECB0E"/>
    <a:srgbClr val="F897AB"/>
    <a:srgbClr val="95B3D7"/>
    <a:srgbClr val="1351A5"/>
    <a:srgbClr val="FFD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B3251E-1545-4ECF-93FE-F2C1782842DC}">
  <a:tblStyle styleId="{63B3251E-1545-4ECF-93FE-F2C1782842D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844F25C-C96F-40AE-9949-E4CE2838BC14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D4A5040-AA31-4F8C-B828-556E1729EF7B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FCEC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CECE7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91844" autoAdjust="0"/>
  </p:normalViewPr>
  <p:slideViewPr>
    <p:cSldViewPr snapToGrid="0">
      <p:cViewPr varScale="1">
        <p:scale>
          <a:sx n="104" d="100"/>
          <a:sy n="104" d="100"/>
        </p:scale>
        <p:origin x="930" y="102"/>
      </p:cViewPr>
      <p:guideLst>
        <p:guide orient="horz" pos="2160"/>
        <p:guide pos="3772"/>
        <p:guide pos="778"/>
        <p:guide pos="370"/>
        <p:guide pos="7265"/>
        <p:guide orient="horz" pos="981"/>
        <p:guide orient="horz" pos="4065"/>
        <p:guide pos="529"/>
        <p:guide pos="1300"/>
        <p:guide pos="7061"/>
        <p:guide pos="779"/>
        <p:guide pos="3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17" d="100"/>
          <a:sy n="117" d="100"/>
        </p:scale>
        <p:origin x="-2112" y="-114"/>
      </p:cViewPr>
      <p:guideLst>
        <p:guide orient="horz" pos="2122"/>
        <p:guide pos="310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125" Type="http://customschemas.google.com/relationships/presentationmetadata" Target="metadata"/><Relationship Id="rId129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28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27" Type="http://schemas.openxmlformats.org/officeDocument/2006/relationships/presProps" Target="presProps.xml"/><Relationship Id="rId130" Type="http://schemas.openxmlformats.org/officeDocument/2006/relationships/tableStyles" Target="tableStyles.xml"/><Relationship Id="rId4" Type="http://schemas.openxmlformats.org/officeDocument/2006/relationships/slide" Target="slides/slide3.xml"/><Relationship Id="rId126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4275402" cy="33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588628" y="2"/>
            <a:ext cx="4275402" cy="33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913063" y="841375"/>
            <a:ext cx="4040187" cy="227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397807"/>
            <a:ext cx="4275402" cy="33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588628" y="6397807"/>
            <a:ext cx="4275402" cy="33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>
                <a:buSzPts val="1200"/>
              </a:pPr>
              <a:t>‹#›</a:t>
            </a:fld>
            <a:endParaRPr lang="en-US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00051" y="4829175"/>
            <a:ext cx="1142047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2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3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91AA99C-BB96-4BE0-A998-B59C8C01A19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909261"/>
              </p:ext>
            </p:extLst>
          </p:nvPr>
        </p:nvGraphicFramePr>
        <p:xfrm>
          <a:off x="409578" y="562942"/>
          <a:ext cx="11500610" cy="6225785"/>
        </p:xfrm>
        <a:graphic>
          <a:graphicData uri="http://schemas.openxmlformats.org/drawingml/2006/table">
            <a:tbl>
              <a:tblPr firstRow="1" bandRow="1">
                <a:tableStyleId>{63B3251E-1545-4ECF-93FE-F2C1782842DC}</a:tableStyleId>
              </a:tblPr>
              <a:tblGrid>
                <a:gridCol w="1400749">
                  <a:extLst>
                    <a:ext uri="{9D8B030D-6E8A-4147-A177-3AD203B41FA5}">
                      <a16:colId xmlns:a16="http://schemas.microsoft.com/office/drawing/2014/main" val="3643934558"/>
                    </a:ext>
                  </a:extLst>
                </a:gridCol>
                <a:gridCol w="4418470">
                  <a:extLst>
                    <a:ext uri="{9D8B030D-6E8A-4147-A177-3AD203B41FA5}">
                      <a16:colId xmlns:a16="http://schemas.microsoft.com/office/drawing/2014/main" val="1226127968"/>
                    </a:ext>
                  </a:extLst>
                </a:gridCol>
                <a:gridCol w="5681391">
                  <a:extLst>
                    <a:ext uri="{9D8B030D-6E8A-4147-A177-3AD203B41FA5}">
                      <a16:colId xmlns:a16="http://schemas.microsoft.com/office/drawing/2014/main" val="1132887773"/>
                    </a:ext>
                  </a:extLst>
                </a:gridCol>
              </a:tblGrid>
              <a:tr h="18649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j-lt"/>
                        </a:rPr>
                        <a:t>AS-IS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j-lt"/>
                        </a:rPr>
                        <a:t>TO-BE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193911"/>
                  </a:ext>
                </a:extLst>
              </a:tr>
              <a:tr h="3866818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 b="1" dirty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56897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j-lt"/>
                        </a:rPr>
                        <a:t>PATH / URL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363099"/>
                  </a:ext>
                </a:extLst>
              </a:tr>
              <a:tr h="17087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j-lt"/>
                        </a:rPr>
                        <a:t>Detail Info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083429"/>
                  </a:ext>
                </a:extLst>
              </a:tr>
            </a:tbl>
          </a:graphicData>
        </a:graphic>
      </p:graphicFrame>
      <p:sp>
        <p:nvSpPr>
          <p:cNvPr id="24" name="Rectangle 10">
            <a:extLst>
              <a:ext uri="{FF2B5EF4-FFF2-40B4-BE49-F238E27FC236}">
                <a16:creationId xmlns:a16="http://schemas.microsoft.com/office/drawing/2014/main" id="{0CA065FC-D9F7-4005-BD71-C4EBD6B940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27FBFACD-F724-410B-9AD6-C82BB0EDFE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09040216-C08B-4F90-8502-4797D34CD2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27" name="Rectangle 17">
            <a:extLst>
              <a:ext uri="{FF2B5EF4-FFF2-40B4-BE49-F238E27FC236}">
                <a16:creationId xmlns:a16="http://schemas.microsoft.com/office/drawing/2014/main" id="{D37E32AF-B92F-40DD-9230-9409029B1C7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E25061-4C51-473D-9657-FC02A738F267}"/>
              </a:ext>
            </a:extLst>
          </p:cNvPr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타운트래블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	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1806617-79B8-4BCD-B952-A5E5118DA0DF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2026-01-26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31F1C6-4F57-403C-976E-348A4044F88E}"/>
              </a:ext>
            </a:extLst>
          </p:cNvPr>
          <p:cNvSpPr txBox="1"/>
          <p:nvPr userDrawn="1"/>
        </p:nvSpPr>
        <p:spPr>
          <a:xfrm>
            <a:off x="4287835" y="203286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기업출장관리 상담 신청</a:t>
            </a:r>
          </a:p>
        </p:txBody>
      </p:sp>
    </p:spTree>
    <p:extLst>
      <p:ext uri="{BB962C8B-B14F-4D97-AF65-F5344CB8AC3E}">
        <p14:creationId xmlns:p14="http://schemas.microsoft.com/office/powerpoint/2010/main" val="2489453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0A70B4-5251-41E1-BC31-93133B2D5503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4120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406877" y="825790"/>
            <a:ext cx="3168600" cy="579312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A91EA9-30EF-48DD-BC6B-5A93E9C14077}"/>
              </a:ext>
            </a:extLst>
          </p:cNvPr>
          <p:cNvSpPr/>
          <p:nvPr userDrawn="1"/>
        </p:nvSpPr>
        <p:spPr>
          <a:xfrm>
            <a:off x="406877" y="825789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0A70B4-5251-41E1-BC31-93133B2D5503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1240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406877" y="825790"/>
            <a:ext cx="3168600" cy="579312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" name="직사각형 17"/>
          <p:cNvSpPr/>
          <p:nvPr userDrawn="1"/>
        </p:nvSpPr>
        <p:spPr>
          <a:xfrm>
            <a:off x="3992072" y="825789"/>
            <a:ext cx="3171552" cy="579312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A91EA9-30EF-48DD-BC6B-5A93E9C14077}"/>
              </a:ext>
            </a:extLst>
          </p:cNvPr>
          <p:cNvSpPr/>
          <p:nvPr userDrawn="1"/>
        </p:nvSpPr>
        <p:spPr>
          <a:xfrm>
            <a:off x="406877" y="825789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6BCF6D4-2A69-4AB3-8356-2B916A4C00FC}"/>
              </a:ext>
            </a:extLst>
          </p:cNvPr>
          <p:cNvSpPr/>
          <p:nvPr userDrawn="1"/>
        </p:nvSpPr>
        <p:spPr>
          <a:xfrm>
            <a:off x="3992072" y="825788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573EF9-91D0-49B4-B574-E6950D73060B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9453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00051" y="4829175"/>
            <a:ext cx="1142047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2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078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720" r:id="rId4"/>
    <p:sldLayoutId id="2147483719" r:id="rId5"/>
    <p:sldLayoutId id="2147483706" r:id="rId6"/>
    <p:sldLayoutId id="2147483672" r:id="rId7"/>
    <p:sldLayoutId id="2147483705" r:id="rId8"/>
    <p:sldLayoutId id="2147483721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mcultureandcontents.com/ko/advertising/portfolio_list.as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smcultureandcontents.com/ko/advertising/portfolio_list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217B2C6-2D2F-4F2D-BDD2-B69F00839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495550" y="5195889"/>
            <a:ext cx="1747838" cy="234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7851" tIns="33927" rIns="67851" bIns="33927">
            <a:spAutoFit/>
          </a:bodyPr>
          <a:lstStyle/>
          <a:p>
            <a:pPr defTabSz="592138" latinLnBrk="0">
              <a:lnSpc>
                <a:spcPct val="120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  <a:defRPr/>
            </a:pPr>
            <a:r>
              <a:rPr lang="en-US" altLang="ko-KR" sz="1000">
                <a:latin typeface="맑은 고딕" panose="020B0503020000020004" pitchFamily="50" charset="-127"/>
                <a:ea typeface="+mj-ea"/>
                <a:cs typeface="Arial" pitchFamily="34" charset="0"/>
              </a:rPr>
              <a:t>2026.03.13</a:t>
            </a:r>
            <a:endParaRPr lang="en-US" altLang="ko-KR" sz="1000" dirty="0">
              <a:latin typeface="맑은 고딕" panose="020B0503020000020004" pitchFamily="50" charset="-127"/>
              <a:ea typeface="+mj-ea"/>
              <a:cs typeface="Arial" pitchFamily="34" charset="0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495550" y="2133601"/>
            <a:ext cx="7345363" cy="1782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851" tIns="33927" rIns="67851" bIns="33927">
            <a:spAutoFit/>
          </a:bodyPr>
          <a:lstStyle/>
          <a:p>
            <a:pPr defTabSz="592138">
              <a:lnSpc>
                <a:spcPct val="85000"/>
              </a:lnSpc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</a:pPr>
            <a:r>
              <a:rPr lang="en-US" altLang="ko-KR" sz="3200" b="1" dirty="0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PRD_</a:t>
            </a:r>
            <a:r>
              <a:rPr lang="ko-KR" altLang="en-US" sz="3200" b="1" dirty="0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브랜드사이트</a:t>
            </a:r>
            <a:r>
              <a:rPr lang="ko-KR" altLang="en-US" sz="3200" b="1" dirty="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rPr>
              <a:t> </a:t>
            </a:r>
            <a:r>
              <a:rPr lang="en-US" altLang="ko-KR" sz="3200" b="1" dirty="0" err="1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rPr>
              <a:t>Adverising</a:t>
            </a:r>
            <a:r>
              <a:rPr lang="en-US" altLang="ko-KR" sz="3200" b="1" dirty="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rPr>
              <a:t>_</a:t>
            </a:r>
            <a:r>
              <a:rPr lang="ko-KR" altLang="en-US" sz="3200" b="1" dirty="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rPr>
              <a:t>포트폴리오 노출 순서 오류의 건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  <a:p>
            <a:pPr lvl="0" latinLnBrk="0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기획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/ IT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개발운영팀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0" latinLnBrk="0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SM C&amp;C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DAF3D421-1032-43A1-8937-9C554A6F7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76" y="1465192"/>
            <a:ext cx="2242706" cy="436633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D713950-47AB-411D-ADAE-9CE740A2DBAD}"/>
              </a:ext>
            </a:extLst>
          </p:cNvPr>
          <p:cNvCxnSpPr>
            <a:cxnSpLocks/>
          </p:cNvCxnSpPr>
          <p:nvPr/>
        </p:nvCxnSpPr>
        <p:spPr>
          <a:xfrm>
            <a:off x="2578676" y="5089236"/>
            <a:ext cx="617107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43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BA90B04-69FB-40A9-A695-48F216614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60452"/>
              </p:ext>
            </p:extLst>
          </p:nvPr>
        </p:nvGraphicFramePr>
        <p:xfrm>
          <a:off x="554181" y="295565"/>
          <a:ext cx="11203710" cy="6218148"/>
        </p:xfrm>
        <a:graphic>
          <a:graphicData uri="http://schemas.openxmlformats.org/drawingml/2006/table">
            <a:tbl>
              <a:tblPr firstRow="1" bandRow="1">
                <a:tableStyleId>{63B3251E-1545-4ECF-93FE-F2C1782842DC}</a:tableStyleId>
              </a:tblPr>
              <a:tblGrid>
                <a:gridCol w="1985819">
                  <a:extLst>
                    <a:ext uri="{9D8B030D-6E8A-4147-A177-3AD203B41FA5}">
                      <a16:colId xmlns:a16="http://schemas.microsoft.com/office/drawing/2014/main" val="945361115"/>
                    </a:ext>
                  </a:extLst>
                </a:gridCol>
                <a:gridCol w="9217891">
                  <a:extLst>
                    <a:ext uri="{9D8B030D-6E8A-4147-A177-3AD203B41FA5}">
                      <a16:colId xmlns:a16="http://schemas.microsoft.com/office/drawing/2014/main" val="538108179"/>
                    </a:ext>
                  </a:extLst>
                </a:gridCol>
              </a:tblGrid>
              <a:tr h="324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Subject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592138">
                        <a:lnSpc>
                          <a:spcPct val="85000"/>
                        </a:lnSpc>
                        <a:buSzPct val="100000"/>
                        <a:tabLst>
                          <a:tab pos="0" algn="l"/>
                          <a:tab pos="674688" algn="l"/>
                          <a:tab pos="1352550" algn="l"/>
                          <a:tab pos="2032000" algn="l"/>
                          <a:tab pos="2708275" algn="l"/>
                          <a:tab pos="3386138" algn="l"/>
                          <a:tab pos="4065588" algn="l"/>
                          <a:tab pos="4741863" algn="l"/>
                          <a:tab pos="5419725" algn="l"/>
                          <a:tab pos="6097588" algn="l"/>
                          <a:tab pos="6777038" algn="l"/>
                        </a:tabLst>
                      </a:pP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Arial"/>
                          <a:cs typeface="Arial" pitchFamily="34" charset="0"/>
                        </a:rPr>
                        <a:t>브랜드사이트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="1" i="0" kern="1200" dirty="0" err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 pitchFamily="34" charset="0"/>
                        </a:rPr>
                        <a:t>Adverising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 pitchFamily="34" charset="0"/>
                        </a:rPr>
                        <a:t>_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 pitchFamily="34" charset="0"/>
                        </a:rPr>
                        <a:t>포트폴리오 노출 순서 오류의 건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latin typeface="+mj-ea"/>
                        <a:ea typeface="Arial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695500"/>
                  </a:ext>
                </a:extLst>
              </a:tr>
              <a:tr h="3243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/>
                        <a:t>요청자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장다인</a:t>
                      </a:r>
                      <a:r>
                        <a:rPr lang="ko-KR" altLang="en-US" sz="1000" dirty="0"/>
                        <a:t> 팀장님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5299669"/>
                  </a:ext>
                </a:extLst>
              </a:tr>
              <a:tr h="3243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승인자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3159011"/>
                  </a:ext>
                </a:extLst>
              </a:tr>
              <a:tr h="3243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작업 담당자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여승은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김성호 이사님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566774"/>
                  </a:ext>
                </a:extLst>
              </a:tr>
              <a:tr h="3311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작성일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2026-03-13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81775"/>
                  </a:ext>
                </a:extLst>
              </a:tr>
              <a:tr h="3472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배포대상 </a:t>
                      </a:r>
                      <a:r>
                        <a:rPr lang="en-US" altLang="ko-KR" sz="1000" b="1" dirty="0"/>
                        <a:t>/ URL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hlinkClick r:id="rId2"/>
                        </a:rPr>
                        <a:t>https://www.smcultureandcontents.com/ko/advertising/portfolio_list.asp</a:t>
                      </a:r>
                      <a:r>
                        <a:rPr lang="en-US" altLang="ko-KR" sz="1000" dirty="0"/>
                        <a:t> 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2665058"/>
                  </a:ext>
                </a:extLst>
              </a:tr>
              <a:tr h="8226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요청내용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게시물 노출 순서가 </a:t>
                      </a:r>
                      <a:r>
                        <a:rPr lang="ko-KR" altLang="en-US" sz="1000" b="0" i="0" kern="12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어드민에</a:t>
                      </a: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설정된 </a:t>
                      </a:r>
                      <a:r>
                        <a:rPr lang="ko-KR" altLang="en-US" sz="1000" b="0" i="0" kern="12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값이랑</a:t>
                      </a: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맞지 않음 </a:t>
                      </a:r>
                      <a:r>
                        <a:rPr lang="en-US" altLang="ko-KR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2018</a:t>
                      </a: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년 게시물이 먼저 노출되고 있음</a:t>
                      </a:r>
                      <a:endParaRPr lang="en-US" altLang="ko-KR" sz="1000" b="0" i="0" kern="1200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05649"/>
                  </a:ext>
                </a:extLst>
              </a:tr>
              <a:tr h="1110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Background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처음 게시물 </a:t>
                      </a:r>
                      <a:r>
                        <a:rPr lang="en-US" altLang="ko-KR" sz="1000" dirty="0"/>
                        <a:t>2~3</a:t>
                      </a:r>
                      <a:r>
                        <a:rPr lang="ko-KR" altLang="en-US" sz="1000" dirty="0"/>
                        <a:t>개정도는 최근 게시물로 노출되고 있으나 하단 게시물들 모두 </a:t>
                      </a:r>
                      <a:r>
                        <a:rPr lang="en-US" altLang="ko-KR" sz="1000" dirty="0"/>
                        <a:t>2018</a:t>
                      </a:r>
                      <a:r>
                        <a:rPr lang="ko-KR" altLang="en-US" sz="1000" dirty="0" err="1"/>
                        <a:t>년께</a:t>
                      </a:r>
                      <a:r>
                        <a:rPr lang="ko-KR" altLang="en-US" sz="1000" dirty="0"/>
                        <a:t> 먼저 노출되고 있음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9547791"/>
                  </a:ext>
                </a:extLst>
              </a:tr>
              <a:tr h="9236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/>
                        <a:t>Etc</a:t>
                      </a:r>
                      <a:r>
                        <a:rPr lang="en-US" altLang="ko-KR" sz="1000" b="1" dirty="0"/>
                        <a:t> info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95771"/>
                  </a:ext>
                </a:extLst>
              </a:tr>
              <a:tr h="13854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/>
                        <a:t>Etc</a:t>
                      </a:r>
                      <a:r>
                        <a:rPr lang="en-US" altLang="ko-KR" sz="1000" b="1" dirty="0"/>
                        <a:t> image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7139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1860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>
            <a:extLst>
              <a:ext uri="{FF2B5EF4-FFF2-40B4-BE49-F238E27FC236}">
                <a16:creationId xmlns:a16="http://schemas.microsoft.com/office/drawing/2014/main" id="{1CC8C895-225A-43A9-AA4D-0D90AAB26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0E7A54C8-F6BC-4D23-99BA-1E7C8BEE5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E16307AE-9B6F-4421-977F-8408A43EC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49BF92F8-E884-48AC-B839-702064B7B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C36BF0-4817-4F21-8CDE-CB46725DEFC1}"/>
              </a:ext>
            </a:extLst>
          </p:cNvPr>
          <p:cNvSpPr txBox="1"/>
          <p:nvPr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SM C&amp;C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브랜드사이트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50E4332-9B6D-4537-9FA4-A3EADA5B9611}"/>
              </a:ext>
            </a:extLst>
          </p:cNvPr>
          <p:cNvSpPr/>
          <p:nvPr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2026-03-09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6CBAFD-CB63-456D-80C6-CC163DA31ED7}"/>
              </a:ext>
            </a:extLst>
          </p:cNvPr>
          <p:cNvSpPr txBox="1"/>
          <p:nvPr/>
        </p:nvSpPr>
        <p:spPr>
          <a:xfrm>
            <a:off x="4287835" y="203286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포트폴리오 관리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_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스튜디오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8C8730D1-D870-473E-AC3E-620B9D77C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441799"/>
              </p:ext>
            </p:extLst>
          </p:nvPr>
        </p:nvGraphicFramePr>
        <p:xfrm>
          <a:off x="409578" y="562942"/>
          <a:ext cx="11500610" cy="6176071"/>
        </p:xfrm>
        <a:graphic>
          <a:graphicData uri="http://schemas.openxmlformats.org/drawingml/2006/table">
            <a:tbl>
              <a:tblPr firstRow="1" bandRow="1">
                <a:tableStyleId>{63B3251E-1545-4ECF-93FE-F2C1782842DC}</a:tableStyleId>
              </a:tblPr>
              <a:tblGrid>
                <a:gridCol w="1400749">
                  <a:extLst>
                    <a:ext uri="{9D8B030D-6E8A-4147-A177-3AD203B41FA5}">
                      <a16:colId xmlns:a16="http://schemas.microsoft.com/office/drawing/2014/main" val="3643934558"/>
                    </a:ext>
                  </a:extLst>
                </a:gridCol>
                <a:gridCol w="4418470">
                  <a:extLst>
                    <a:ext uri="{9D8B030D-6E8A-4147-A177-3AD203B41FA5}">
                      <a16:colId xmlns:a16="http://schemas.microsoft.com/office/drawing/2014/main" val="1226127968"/>
                    </a:ext>
                  </a:extLst>
                </a:gridCol>
                <a:gridCol w="5681391">
                  <a:extLst>
                    <a:ext uri="{9D8B030D-6E8A-4147-A177-3AD203B41FA5}">
                      <a16:colId xmlns:a16="http://schemas.microsoft.com/office/drawing/2014/main" val="1132887773"/>
                    </a:ext>
                  </a:extLst>
                </a:gridCol>
              </a:tblGrid>
              <a:tr h="23813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j-lt"/>
                        </a:rPr>
                        <a:t>AS-IS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j-lt"/>
                        </a:rPr>
                        <a:t>TO-BE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193911"/>
                  </a:ext>
                </a:extLst>
              </a:tr>
              <a:tr h="3776373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 b="1" dirty="0"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err="1"/>
                        <a:t>어드민에</a:t>
                      </a:r>
                      <a:r>
                        <a:rPr lang="ko-KR" altLang="en-US" sz="1050" dirty="0"/>
                        <a:t> 등록된 순서대로 정상적으로 노출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568976"/>
                  </a:ext>
                </a:extLst>
              </a:tr>
              <a:tr h="4870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j-lt"/>
                        </a:rPr>
                        <a:t>PATH / URL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hlinkClick r:id="rId2"/>
                        </a:rPr>
                        <a:t>https://www.smcultureandcontents.com/ko/advertising/portfolio_list.asp</a:t>
                      </a:r>
                      <a:r>
                        <a:rPr lang="en-US" altLang="ko-KR" sz="1000" dirty="0"/>
                        <a:t> </a:t>
                      </a:r>
                      <a:endParaRPr lang="ko-KR" altLang="en-US" sz="10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ADMIN</a:t>
                      </a:r>
                      <a:r>
                        <a:rPr lang="ko-KR" altLang="en-US" sz="1000" dirty="0"/>
                        <a:t>에 포트폴리오관리 </a:t>
                      </a:r>
                      <a:r>
                        <a:rPr lang="en-US" altLang="ko-KR" sz="1000" dirty="0"/>
                        <a:t>&gt; Advertising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363099"/>
                  </a:ext>
                </a:extLst>
              </a:tr>
              <a:tr h="1668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j-lt"/>
                        </a:rPr>
                        <a:t>Detail Info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1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[AS-IS] :</a:t>
                      </a: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ko-KR" altLang="en-US" sz="1000" dirty="0"/>
                        <a:t>처음 게시물 </a:t>
                      </a:r>
                      <a:r>
                        <a:rPr lang="en-US" altLang="ko-KR" sz="1000" dirty="0"/>
                        <a:t>2~3</a:t>
                      </a:r>
                      <a:r>
                        <a:rPr lang="ko-KR" altLang="en-US" sz="1000" dirty="0"/>
                        <a:t>개정도는 최근 게시물로 노출되고 있으나 하단 게시물들 모두 </a:t>
                      </a:r>
                      <a:r>
                        <a:rPr lang="en-US" altLang="ko-KR" sz="1000" dirty="0"/>
                        <a:t>2018</a:t>
                      </a:r>
                      <a:r>
                        <a:rPr lang="ko-KR" altLang="en-US" sz="1000" dirty="0" err="1"/>
                        <a:t>년께</a:t>
                      </a:r>
                      <a:r>
                        <a:rPr lang="ko-KR" altLang="en-US" sz="1000" dirty="0"/>
                        <a:t> 먼저 노출되고 있음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000" b="1" dirty="0">
                          <a:latin typeface="+mj-lt"/>
                        </a:rPr>
                        <a:t>[TO-BE] </a:t>
                      </a:r>
                      <a:r>
                        <a:rPr lang="en-US" altLang="ko-KR" sz="1000" dirty="0">
                          <a:latin typeface="+mj-lt"/>
                        </a:rPr>
                        <a:t>: </a:t>
                      </a:r>
                      <a:r>
                        <a:rPr lang="ko-KR" altLang="en-US" sz="1000" dirty="0" err="1">
                          <a:latin typeface="+mj-lt"/>
                        </a:rPr>
                        <a:t>어드민에</a:t>
                      </a:r>
                      <a:r>
                        <a:rPr lang="ko-KR" altLang="en-US" sz="1000" dirty="0">
                          <a:latin typeface="+mj-lt"/>
                        </a:rPr>
                        <a:t> 등록된 게시물 순서대로 정상 노출</a:t>
                      </a:r>
                      <a:endParaRPr lang="en-US" altLang="ko-KR" sz="1000" dirty="0"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083429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9D4704DC-BCAE-4783-99B1-AFFA0F479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5" y="988124"/>
            <a:ext cx="4603684" cy="251245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F863F3D-C94F-46D8-8996-3349AC1EB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6333" y="3570625"/>
            <a:ext cx="2733550" cy="977815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58275E9-0A6E-487B-963E-0AD7134F2019}"/>
              </a:ext>
            </a:extLst>
          </p:cNvPr>
          <p:cNvSpPr/>
          <p:nvPr/>
        </p:nvSpPr>
        <p:spPr>
          <a:xfrm>
            <a:off x="4287836" y="2115195"/>
            <a:ext cx="1060020" cy="1181416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AE7C0474-5641-44E3-8FE5-C06F8BC56ADA}"/>
              </a:ext>
            </a:extLst>
          </p:cNvPr>
          <p:cNvCxnSpPr>
            <a:cxnSpLocks/>
            <a:stCxn id="20" idx="1"/>
            <a:endCxn id="6" idx="1"/>
          </p:cNvCxnSpPr>
          <p:nvPr/>
        </p:nvCxnSpPr>
        <p:spPr>
          <a:xfrm rot="10800000" flipV="1">
            <a:off x="3426334" y="2705903"/>
            <a:ext cx="861503" cy="1353630"/>
          </a:xfrm>
          <a:prstGeom prst="bentConnector3">
            <a:avLst>
              <a:gd name="adj1" fmla="val 126535"/>
            </a:avLst>
          </a:prstGeom>
          <a:ln w="3492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54270F87-DE9C-41B0-BABB-88804404A9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3375" y="1365609"/>
            <a:ext cx="3656289" cy="269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09794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 w="3175"/>
      </a:spPr>
      <a:bodyPr rtlCol="0" anchor="ctr"/>
      <a:lstStyle>
        <a:defPPr algn="ctr">
          <a:defRPr sz="1000">
            <a:solidFill>
              <a:schemeClr val="tx1"/>
            </a:solidFill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62535</TotalTime>
  <Words>175</Words>
  <Application>Microsoft Office PowerPoint</Application>
  <PresentationFormat>와이드스크린</PresentationFormat>
  <Paragraphs>37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나눔고딕</vt:lpstr>
      <vt:lpstr>Malgun Gothic</vt:lpstr>
      <vt:lpstr>Malgun Gothic</vt:lpstr>
      <vt:lpstr>Arial</vt:lpstr>
      <vt:lpstr>디자인 사용자 지정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항공 예약 시스템 구축 제안</dc:title>
  <dc:creator>sunghlee</dc:creator>
  <cp:lastModifiedBy>여 승은</cp:lastModifiedBy>
  <cp:revision>7839</cp:revision>
  <cp:lastPrinted>2025-08-21T02:59:43Z</cp:lastPrinted>
  <dcterms:created xsi:type="dcterms:W3CDTF">2016-10-06T04:29:15Z</dcterms:created>
  <dcterms:modified xsi:type="dcterms:W3CDTF">2026-03-13T06:34:16Z</dcterms:modified>
</cp:coreProperties>
</file>