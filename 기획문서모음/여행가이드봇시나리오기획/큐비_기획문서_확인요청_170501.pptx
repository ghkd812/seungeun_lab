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66" r:id="rId2"/>
    <p:sldId id="257" r:id="rId3"/>
    <p:sldId id="259" r:id="rId4"/>
    <p:sldId id="260" r:id="rId5"/>
    <p:sldId id="262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079" autoAdjust="0"/>
    <p:restoredTop sz="91736" autoAdjust="0"/>
  </p:normalViewPr>
  <p:slideViewPr>
    <p:cSldViewPr snapToGrid="0">
      <p:cViewPr>
        <p:scale>
          <a:sx n="90" d="100"/>
          <a:sy n="90" d="100"/>
        </p:scale>
        <p:origin x="240" y="-3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CD464F-D168-4AB5-B1B7-F84960DF83E3}" type="datetimeFigureOut">
              <a:rPr lang="ko-KR" altLang="en-US" smtClean="0"/>
              <a:pPr/>
              <a:t>2017-04-28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33D64-1D02-46B7-9EF5-8870EE0D6E6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3F0A58-82B0-466B-8AFE-DF537494E26D}" type="datetimeFigureOut">
              <a:rPr lang="ko-KR" altLang="en-US" smtClean="0"/>
              <a:pPr/>
              <a:t>2017-04-28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30C31D-24D6-47A5-9887-1EE071FB486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132654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sz="14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큐비의</a:t>
            </a:r>
            <a:r>
              <a:rPr lang="ko-KR" altLang="en-US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대응 고객 범위</a:t>
            </a:r>
            <a:endParaRPr lang="en-US" altLang="ko-KR" sz="14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400" b="1" baseline="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■</a:t>
            </a:r>
            <a:r>
              <a:rPr lang="en-US" altLang="ko-KR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검색 </a:t>
            </a:r>
            <a:r>
              <a:rPr lang="ko-KR" altLang="en-US" sz="12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큐비</a:t>
            </a:r>
            <a:r>
              <a:rPr lang="en-US" altLang="ko-KR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상품 검색 </a:t>
            </a:r>
            <a:r>
              <a:rPr lang="ko-KR" altLang="en-US" sz="12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니즈를</a:t>
            </a:r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가진 고객</a:t>
            </a:r>
            <a:r>
              <a:rPr lang="en-US" altLang="ko-KR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■ 추천 </a:t>
            </a:r>
            <a:r>
              <a:rPr lang="ko-KR" altLang="en-US" sz="12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큐비</a:t>
            </a:r>
            <a:r>
              <a:rPr lang="en-US" altLang="ko-KR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상품 구매 </a:t>
            </a:r>
            <a:r>
              <a:rPr lang="ko-KR" altLang="en-US" sz="12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니즈를</a:t>
            </a:r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가진 고객</a:t>
            </a:r>
            <a:r>
              <a:rPr lang="en-US" altLang="ko-KR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■ 예약 </a:t>
            </a:r>
            <a:r>
              <a:rPr lang="ko-KR" altLang="en-US" sz="12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큐비</a:t>
            </a:r>
            <a:r>
              <a:rPr lang="en-US" altLang="ko-KR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상품을 예약한 고객</a:t>
            </a:r>
            <a:r>
              <a:rPr lang="en-US" altLang="ko-KR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■ 결제 </a:t>
            </a:r>
            <a:r>
              <a:rPr lang="ko-KR" altLang="en-US" sz="12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큐비</a:t>
            </a:r>
            <a:r>
              <a:rPr lang="en-US" altLang="ko-KR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상품을 결제한 고객</a:t>
            </a:r>
            <a:r>
              <a:rPr lang="en-US" altLang="ko-KR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■ 여행 </a:t>
            </a:r>
            <a:r>
              <a:rPr lang="ko-KR" altLang="en-US" sz="12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큐비</a:t>
            </a:r>
            <a:r>
              <a:rPr lang="en-US" altLang="ko-KR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여행 출발 전 고객</a:t>
            </a:r>
            <a:r>
              <a:rPr lang="en-US" altLang="ko-KR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■ 여행 </a:t>
            </a:r>
            <a:r>
              <a:rPr lang="ko-KR" altLang="en-US" sz="12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큐비</a:t>
            </a:r>
            <a:r>
              <a:rPr lang="en-US" altLang="ko-KR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여행 출발 후 고객</a:t>
            </a:r>
            <a:r>
              <a:rPr lang="en-US" altLang="ko-KR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■ 여행 </a:t>
            </a:r>
            <a:r>
              <a:rPr lang="ko-KR" altLang="en-US" sz="12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큐비</a:t>
            </a:r>
            <a:r>
              <a:rPr lang="en-US" altLang="ko-KR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여행 중 고객</a:t>
            </a:r>
            <a:r>
              <a:rPr lang="en-US" altLang="ko-KR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■ </a:t>
            </a:r>
            <a:r>
              <a:rPr lang="ko-KR" altLang="en-US" sz="12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여행큐비</a:t>
            </a:r>
            <a:r>
              <a:rPr lang="en-US" altLang="ko-KR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여행 다녀온 고객</a:t>
            </a:r>
            <a:r>
              <a:rPr lang="en-US" altLang="ko-KR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</a:p>
          <a:p>
            <a:pPr>
              <a:lnSpc>
                <a:spcPct val="150000"/>
              </a:lnSpc>
            </a:pPr>
            <a:endParaRPr lang="en-US" altLang="ko-KR" sz="12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큐비의</a:t>
            </a:r>
            <a:r>
              <a:rPr lang="ko-KR" altLang="en-US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역할</a:t>
            </a:r>
            <a:endParaRPr lang="en-US" altLang="ko-KR" sz="14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4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■ 고객의 선택을 이끄는 서비스</a:t>
            </a:r>
            <a:r>
              <a:rPr lang="en-US" altLang="ko-KR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■ 고객의 상태를 알려주는 서비스</a:t>
            </a:r>
            <a:r>
              <a:rPr lang="en-US" altLang="ko-KR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■ 고객의 할 일을 알려주는 서비스</a:t>
            </a:r>
            <a:r>
              <a:rPr lang="en-US" altLang="ko-KR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b="1" baseline="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큐비</a:t>
            </a:r>
            <a:r>
              <a:rPr lang="ko-KR" altLang="en-US" sz="14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의</a:t>
            </a:r>
            <a:r>
              <a:rPr lang="ko-KR" altLang="en-US" sz="1400" b="1" baseline="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서비스 형태</a:t>
            </a:r>
            <a:endParaRPr lang="en-US" altLang="ko-KR" sz="1400" b="1" baseline="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400" b="1" baseline="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■ </a:t>
            </a:r>
            <a:r>
              <a:rPr lang="ko-KR" altLang="en-US" sz="12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푸시</a:t>
            </a:r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알림</a:t>
            </a:r>
            <a:r>
              <a:rPr lang="en-US" altLang="ko-KR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■ </a:t>
            </a:r>
            <a:r>
              <a:rPr lang="ko-KR" altLang="en-US" sz="1200" baseline="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토스트 팝업 알림</a:t>
            </a:r>
            <a:r>
              <a:rPr lang="en-US" altLang="ko-KR" sz="1200" baseline="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■ </a:t>
            </a:r>
            <a:r>
              <a:rPr lang="ko-KR" altLang="en-US" sz="12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레이어</a:t>
            </a:r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팝업 알림</a:t>
            </a:r>
            <a:r>
              <a:rPr lang="en-US" altLang="ko-KR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2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30C31D-24D6-47A5-9887-1EE071FB4867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3234627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800F7-C2CD-4DA8-A735-F95A7BE56F99}" type="datetimeFigureOut">
              <a:rPr lang="ko-KR" altLang="en-US" smtClean="0"/>
              <a:pPr/>
              <a:t>2017-04-28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4D45-0DC1-4438-BAD3-BE9800D3B29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1890628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800F7-C2CD-4DA8-A735-F95A7BE56F99}" type="datetimeFigureOut">
              <a:rPr lang="ko-KR" altLang="en-US" smtClean="0"/>
              <a:pPr/>
              <a:t>2017-04-28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4D45-0DC1-4438-BAD3-BE9800D3B29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3507147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800F7-C2CD-4DA8-A735-F95A7BE56F99}" type="datetimeFigureOut">
              <a:rPr lang="ko-KR" altLang="en-US" smtClean="0"/>
              <a:pPr/>
              <a:t>2017-04-28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4D45-0DC1-4438-BAD3-BE9800D3B29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46159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800F7-C2CD-4DA8-A735-F95A7BE56F99}" type="datetimeFigureOut">
              <a:rPr lang="ko-KR" altLang="en-US" smtClean="0"/>
              <a:pPr/>
              <a:t>2017-04-28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4D45-0DC1-4438-BAD3-BE9800D3B29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1886396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800F7-C2CD-4DA8-A735-F95A7BE56F99}" type="datetimeFigureOut">
              <a:rPr lang="ko-KR" altLang="en-US" smtClean="0"/>
              <a:pPr/>
              <a:t>2017-04-28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4D45-0DC1-4438-BAD3-BE9800D3B29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1265674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800F7-C2CD-4DA8-A735-F95A7BE56F99}" type="datetimeFigureOut">
              <a:rPr lang="ko-KR" altLang="en-US" smtClean="0"/>
              <a:pPr/>
              <a:t>2017-04-28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4D45-0DC1-4438-BAD3-BE9800D3B29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909388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800F7-C2CD-4DA8-A735-F95A7BE56F99}" type="datetimeFigureOut">
              <a:rPr lang="ko-KR" altLang="en-US" smtClean="0"/>
              <a:pPr/>
              <a:t>2017-04-28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4D45-0DC1-4438-BAD3-BE9800D3B29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1958725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800F7-C2CD-4DA8-A735-F95A7BE56F99}" type="datetimeFigureOut">
              <a:rPr lang="ko-KR" altLang="en-US" smtClean="0"/>
              <a:pPr/>
              <a:t>2017-04-28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4D45-0DC1-4438-BAD3-BE9800D3B29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1540217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800F7-C2CD-4DA8-A735-F95A7BE56F99}" type="datetimeFigureOut">
              <a:rPr lang="ko-KR" altLang="en-US" smtClean="0"/>
              <a:pPr/>
              <a:t>2017-04-28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4D45-0DC1-4438-BAD3-BE9800D3B29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1427256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800F7-C2CD-4DA8-A735-F95A7BE56F99}" type="datetimeFigureOut">
              <a:rPr lang="ko-KR" altLang="en-US" smtClean="0"/>
              <a:pPr/>
              <a:t>2017-04-28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4D45-0DC1-4438-BAD3-BE9800D3B29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212883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800F7-C2CD-4DA8-A735-F95A7BE56F99}" type="datetimeFigureOut">
              <a:rPr lang="ko-KR" altLang="en-US" smtClean="0"/>
              <a:pPr/>
              <a:t>2017-04-28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4D45-0DC1-4438-BAD3-BE9800D3B29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34606164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MMI _ Page Number _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 userDrawn="1"/>
        </p:nvGrpSpPr>
        <p:grpSpPr>
          <a:xfrm>
            <a:off x="-1477" y="0"/>
            <a:ext cx="12193477" cy="453293"/>
            <a:chOff x="-1200" y="-1"/>
            <a:chExt cx="9907200" cy="485775"/>
          </a:xfrm>
        </p:grpSpPr>
        <p:sp>
          <p:nvSpPr>
            <p:cNvPr id="4" name="직사각형 3"/>
            <p:cNvSpPr/>
            <p:nvPr userDrawn="1"/>
          </p:nvSpPr>
          <p:spPr>
            <a:xfrm>
              <a:off x="-1200" y="-1"/>
              <a:ext cx="9907200" cy="485775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rgbClr val="5E84C2"/>
                </a:gs>
                <a:gs pos="11000">
                  <a:schemeClr val="bg1">
                    <a:lumMod val="75000"/>
                  </a:schemeClr>
                </a:gs>
                <a:gs pos="85000">
                  <a:schemeClr val="bg1">
                    <a:lumMod val="5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9562" tIns="49782" rIns="99562" bIns="49782" rtlCol="0" anchor="ctr"/>
            <a:lstStyle/>
            <a:p>
              <a:pPr marL="0" lvl="0" algn="ctr" defTabSz="995564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dirty="0">
                <a:solidFill>
                  <a:prstClr val="white"/>
                </a:solidFill>
              </a:endParaRPr>
            </a:p>
          </p:txBody>
        </p:sp>
        <p:cxnSp>
          <p:nvCxnSpPr>
            <p:cNvPr id="10" name="직선 연결선 9"/>
            <p:cNvCxnSpPr/>
            <p:nvPr userDrawn="1"/>
          </p:nvCxnSpPr>
          <p:spPr>
            <a:xfrm flipV="1">
              <a:off x="1200200" y="0"/>
              <a:ext cx="0" cy="485774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/>
            <p:cNvCxnSpPr/>
            <p:nvPr userDrawn="1"/>
          </p:nvCxnSpPr>
          <p:spPr>
            <a:xfrm flipV="1">
              <a:off x="9046846" y="0"/>
              <a:ext cx="0" cy="485774"/>
            </a:xfrm>
            <a:prstGeom prst="line">
              <a:avLst/>
            </a:prstGeom>
            <a:ln w="3175">
              <a:solidFill>
                <a:schemeClr val="bg1"/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1701312" y="58861"/>
            <a:ext cx="9269076" cy="300664"/>
          </a:xfrm>
          <a:prstGeom prst="rect">
            <a:avLst/>
          </a:prstGeom>
        </p:spPr>
        <p:txBody>
          <a:bodyPr wrap="none" lIns="0" rIns="0"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158111" y="77911"/>
            <a:ext cx="1329378" cy="309137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kumimoji="1" lang="ko-KR" altLang="en-US" sz="1500" b="0" baseline="0" dirty="0" smtClean="0">
                <a:solidFill>
                  <a:srgbClr val="D1E2FB"/>
                </a:solidFill>
                <a:latin typeface="Impact" pitchFamily="34" charset="0"/>
                <a:ea typeface="맑은 고딕" pitchFamily="50" charset="-127"/>
                <a:cs typeface="+mn-cs"/>
              </a:defRPr>
            </a:lvl1pPr>
          </a:lstStyle>
          <a:p>
            <a:pPr marL="0" lvl="0" indent="0" algn="l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ko-KR" dirty="0" smtClean="0"/>
              <a:t>Inset Code</a:t>
            </a:r>
            <a:endParaRPr lang="ko-KR" altLang="en-US" dirty="0" smtClean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1236263" y="58722"/>
            <a:ext cx="806420" cy="300787"/>
          </a:xfrm>
          <a:prstGeom prst="rect">
            <a:avLst/>
          </a:prstGeom>
        </p:spPr>
        <p:txBody>
          <a:bodyPr vert="horz" wrap="none" lIns="91440" tIns="36000" rIns="91440" bIns="0" rtlCol="0" anchor="ctr"/>
          <a:lstStyle>
            <a:lvl1pPr algn="r">
              <a:defRPr sz="10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</a:lstStyle>
          <a:p>
            <a:fld id="{AEAC297E-4BA5-4AEC-B34D-5798F38C743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36648151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6800F7-C2CD-4DA8-A735-F95A7BE56F99}" type="datetimeFigureOut">
              <a:rPr lang="ko-KR" altLang="en-US" smtClean="0"/>
              <a:pPr/>
              <a:t>2017-04-28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C44D45-0DC1-4438-BAD3-BE9800D3B29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3419520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C297E-4BA5-4AEC-B34D-5798F38C743F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grpSp>
        <p:nvGrpSpPr>
          <p:cNvPr id="21" name="그룹 20"/>
          <p:cNvGrpSpPr/>
          <p:nvPr/>
        </p:nvGrpSpPr>
        <p:grpSpPr>
          <a:xfrm>
            <a:off x="801113" y="830718"/>
            <a:ext cx="3178114" cy="5839376"/>
            <a:chOff x="633473" y="772736"/>
            <a:chExt cx="3178114" cy="5839376"/>
          </a:xfrm>
        </p:grpSpPr>
        <p:grpSp>
          <p:nvGrpSpPr>
            <p:cNvPr id="8" name="그룹 7"/>
            <p:cNvGrpSpPr/>
            <p:nvPr/>
          </p:nvGrpSpPr>
          <p:grpSpPr>
            <a:xfrm>
              <a:off x="633473" y="772736"/>
              <a:ext cx="3178114" cy="5839376"/>
              <a:chOff x="776536" y="404665"/>
              <a:chExt cx="3312368" cy="6094363"/>
            </a:xfrm>
          </p:grpSpPr>
          <p:sp>
            <p:nvSpPr>
              <p:cNvPr id="9" name="모서리가 둥근 직사각형 8"/>
              <p:cNvSpPr/>
              <p:nvPr/>
            </p:nvSpPr>
            <p:spPr>
              <a:xfrm>
                <a:off x="776536" y="404665"/>
                <a:ext cx="3312368" cy="6094363"/>
              </a:xfrm>
              <a:prstGeom prst="roundRect">
                <a:avLst>
                  <a:gd name="adj" fmla="val 4979"/>
                </a:avLst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0" name="모서리가 둥근 직사각형 9"/>
              <p:cNvSpPr/>
              <p:nvPr/>
            </p:nvSpPr>
            <p:spPr>
              <a:xfrm>
                <a:off x="965436" y="878393"/>
                <a:ext cx="2934568" cy="5320435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1" name="모서리가 둥근 직사각형 10"/>
              <p:cNvSpPr/>
              <p:nvPr/>
            </p:nvSpPr>
            <p:spPr>
              <a:xfrm>
                <a:off x="1928664" y="548680"/>
                <a:ext cx="972108" cy="14401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2" name="모서리가 둥근 직사각형 11"/>
              <p:cNvSpPr/>
              <p:nvPr/>
            </p:nvSpPr>
            <p:spPr>
              <a:xfrm>
                <a:off x="3008784" y="548680"/>
                <a:ext cx="144016" cy="14401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3" name="모서리가 둥근 직사각형 12"/>
              <p:cNvSpPr/>
              <p:nvPr/>
            </p:nvSpPr>
            <p:spPr>
              <a:xfrm>
                <a:off x="3188804" y="548680"/>
                <a:ext cx="144016" cy="14401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33" name="직사각형 32"/>
            <p:cNvSpPr/>
            <p:nvPr/>
          </p:nvSpPr>
          <p:spPr>
            <a:xfrm>
              <a:off x="808424" y="1226643"/>
              <a:ext cx="2823638" cy="5100728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모서리가 둥근 직사각형 33"/>
            <p:cNvSpPr/>
            <p:nvPr/>
          </p:nvSpPr>
          <p:spPr>
            <a:xfrm>
              <a:off x="848877" y="5586600"/>
              <a:ext cx="2718637" cy="720080"/>
            </a:xfrm>
            <a:prstGeom prst="roundRect">
              <a:avLst>
                <a:gd name="adj" fmla="val 9894"/>
              </a:avLst>
            </a:prstGeom>
            <a:solidFill>
              <a:schemeClr val="bg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sz="8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               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태국 </a:t>
              </a:r>
              <a:r>
                <a:rPr lang="ko-KR" altLang="en-US" sz="8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여행 중 지난 </a:t>
              </a:r>
              <a:r>
                <a:rPr lang="en-US" altLang="ko-KR" sz="8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r>
                <a:rPr lang="ko-KR" altLang="en-US" sz="8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주일 가장 인기 있는 </a:t>
              </a:r>
              <a:r>
                <a:rPr lang="en-US" altLang="ko-KR" sz="8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/>
              </a:r>
              <a:br>
                <a:rPr lang="en-US" altLang="ko-KR" sz="8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lang="en-US" altLang="ko-KR" sz="8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               </a:t>
              </a:r>
              <a:r>
                <a:rPr lang="ko-KR" altLang="en-US" sz="800" dirty="0" err="1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리조트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en-US" altLang="ko-KR" sz="8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&amp; </a:t>
              </a:r>
              <a:r>
                <a:rPr lang="ko-KR" altLang="en-US" sz="8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워터슬라이드 자유여행 </a:t>
              </a:r>
              <a:r>
                <a:rPr lang="en-US" altLang="ko-KR" sz="8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r>
                <a:rPr lang="ko-KR" altLang="en-US" sz="8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박</a:t>
              </a:r>
              <a:r>
                <a:rPr lang="en-US" altLang="ko-KR" sz="8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r>
                <a:rPr lang="ko-KR" altLang="en-US" sz="8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일 </a:t>
              </a:r>
              <a:r>
                <a:rPr lang="en-US" altLang="ko-KR" sz="8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+ </a:t>
              </a:r>
              <a:br>
                <a:rPr lang="en-US" altLang="ko-KR" sz="8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lang="en-US" altLang="ko-KR" sz="8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               </a:t>
              </a:r>
              <a:r>
                <a:rPr lang="ko-KR" altLang="en-US" sz="800" dirty="0" err="1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오프닝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ko-KR" altLang="en-US" sz="8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프로모션 여행입니다</a:t>
              </a:r>
              <a:r>
                <a:rPr lang="en-US" altLang="ko-KR" sz="8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 </a:t>
              </a:r>
              <a:endParaRPr lang="ko-KR" altLang="en-US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grpSp>
          <p:nvGrpSpPr>
            <p:cNvPr id="39" name="그룹 38"/>
            <p:cNvGrpSpPr/>
            <p:nvPr/>
          </p:nvGrpSpPr>
          <p:grpSpPr>
            <a:xfrm>
              <a:off x="3300190" y="5685660"/>
              <a:ext cx="215150" cy="215150"/>
              <a:chOff x="4664968" y="3861048"/>
              <a:chExt cx="215150" cy="215150"/>
            </a:xfrm>
          </p:grpSpPr>
          <p:sp>
            <p:nvSpPr>
              <p:cNvPr id="38" name="타원 37"/>
              <p:cNvSpPr/>
              <p:nvPr/>
            </p:nvSpPr>
            <p:spPr>
              <a:xfrm>
                <a:off x="4664968" y="3861048"/>
                <a:ext cx="215150" cy="215150"/>
              </a:xfrm>
              <a:prstGeom prst="ellipse">
                <a:avLst/>
              </a:prstGeom>
              <a:solidFill>
                <a:schemeClr val="tx1"/>
              </a:solidFill>
              <a:ln w="3175">
                <a:noFill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35" name="그룹 34"/>
              <p:cNvGrpSpPr/>
              <p:nvPr/>
            </p:nvGrpSpPr>
            <p:grpSpPr>
              <a:xfrm>
                <a:off x="4717294" y="3914623"/>
                <a:ext cx="108000" cy="108000"/>
                <a:chOff x="703204" y="1104900"/>
                <a:chExt cx="239771" cy="238125"/>
              </a:xfrm>
            </p:grpSpPr>
            <p:cxnSp>
              <p:nvCxnSpPr>
                <p:cNvPr id="36" name="직선 연결선 35"/>
                <p:cNvCxnSpPr/>
                <p:nvPr/>
              </p:nvCxnSpPr>
              <p:spPr>
                <a:xfrm>
                  <a:off x="704850" y="1104900"/>
                  <a:ext cx="238125" cy="238125"/>
                </a:xfrm>
                <a:prstGeom prst="line">
                  <a:avLst/>
                </a:prstGeom>
                <a:ln w="19050">
                  <a:solidFill>
                    <a:schemeClr val="bg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직선 연결선 36"/>
                <p:cNvCxnSpPr/>
                <p:nvPr/>
              </p:nvCxnSpPr>
              <p:spPr>
                <a:xfrm flipH="1">
                  <a:off x="703204" y="1104900"/>
                  <a:ext cx="238125" cy="238125"/>
                </a:xfrm>
                <a:prstGeom prst="line">
                  <a:avLst/>
                </a:prstGeom>
                <a:ln w="19050">
                  <a:solidFill>
                    <a:schemeClr val="bg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6" name="TextBox 65"/>
            <p:cNvSpPr txBox="1"/>
            <p:nvPr/>
          </p:nvSpPr>
          <p:spPr>
            <a:xfrm>
              <a:off x="2565498" y="6134472"/>
              <a:ext cx="907171" cy="137920"/>
            </a:xfrm>
            <a:prstGeom prst="rect">
              <a:avLst/>
            </a:prstGeom>
            <a:noFill/>
          </p:spPr>
          <p:txBody>
            <a:bodyPr wrap="square" lIns="0" rIns="0" rtlCol="0" anchor="ctr">
              <a:noAutofit/>
            </a:bodyPr>
            <a:lstStyle/>
            <a:p>
              <a:pPr algn="r"/>
              <a:r>
                <a:rPr lang="ko-KR" altLang="en-US" sz="700" u="sng" dirty="0" err="1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바로가기</a:t>
              </a:r>
              <a:r>
                <a:rPr lang="ko-KR" altLang="en-US" sz="700" u="sng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en-US" altLang="ko-KR" sz="700" u="sng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 </a:t>
              </a:r>
              <a:endParaRPr lang="ko-KR" altLang="en-US" sz="700" u="sng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803344" y="1223744"/>
              <a:ext cx="2823638" cy="650589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noFill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11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A. </a:t>
              </a:r>
              <a:r>
                <a:rPr lang="ko-KR" altLang="en-US" sz="11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정보 </a:t>
              </a:r>
              <a:r>
                <a:rPr lang="ko-KR" altLang="en-US" sz="11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알림 및 </a:t>
              </a:r>
              <a:r>
                <a:rPr lang="ko-KR" altLang="en-US" sz="1100" b="1" dirty="0" err="1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탐색형</a:t>
              </a:r>
              <a:endPara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(Layer Pop-up)</a:t>
              </a:r>
              <a:endPara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grpSp>
          <p:nvGrpSpPr>
            <p:cNvPr id="75" name="그룹 74"/>
            <p:cNvGrpSpPr/>
            <p:nvPr/>
          </p:nvGrpSpPr>
          <p:grpSpPr>
            <a:xfrm>
              <a:off x="851162" y="5397336"/>
              <a:ext cx="459164" cy="736233"/>
              <a:chOff x="563701" y="5432263"/>
              <a:chExt cx="459164" cy="736233"/>
            </a:xfrm>
          </p:grpSpPr>
          <p:pic>
            <p:nvPicPr>
              <p:cNvPr id="41" name="그림 40"/>
              <p:cNvPicPr>
                <a:picLocks noChangeAspect="1"/>
              </p:cNvPicPr>
              <p:nvPr/>
            </p:nvPicPr>
            <p:blipFill>
              <a:blip r:embed="rId3" cstate="print">
                <a:biLevel thresh="75000"/>
              </a:blip>
              <a:stretch>
                <a:fillRect/>
              </a:stretch>
            </p:blipFill>
            <p:spPr>
              <a:xfrm>
                <a:off x="563701" y="5432263"/>
                <a:ext cx="459164" cy="485912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  <p:sp>
            <p:nvSpPr>
              <p:cNvPr id="69" name="직사각형 68"/>
              <p:cNvSpPr/>
              <p:nvPr/>
            </p:nvSpPr>
            <p:spPr>
              <a:xfrm>
                <a:off x="578179" y="5892512"/>
                <a:ext cx="444686" cy="275984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2" name="그룹 21"/>
          <p:cNvGrpSpPr/>
          <p:nvPr/>
        </p:nvGrpSpPr>
        <p:grpSpPr>
          <a:xfrm>
            <a:off x="4438634" y="830718"/>
            <a:ext cx="3178114" cy="5839376"/>
            <a:chOff x="3869042" y="772736"/>
            <a:chExt cx="3178114" cy="5839376"/>
          </a:xfrm>
        </p:grpSpPr>
        <p:grpSp>
          <p:nvGrpSpPr>
            <p:cNvPr id="52" name="그룹 51"/>
            <p:cNvGrpSpPr/>
            <p:nvPr/>
          </p:nvGrpSpPr>
          <p:grpSpPr>
            <a:xfrm>
              <a:off x="3869042" y="772736"/>
              <a:ext cx="3178114" cy="5839376"/>
              <a:chOff x="776536" y="404665"/>
              <a:chExt cx="3312368" cy="6094363"/>
            </a:xfrm>
          </p:grpSpPr>
          <p:sp>
            <p:nvSpPr>
              <p:cNvPr id="53" name="모서리가 둥근 직사각형 52"/>
              <p:cNvSpPr/>
              <p:nvPr/>
            </p:nvSpPr>
            <p:spPr>
              <a:xfrm>
                <a:off x="776536" y="404665"/>
                <a:ext cx="3312368" cy="6094363"/>
              </a:xfrm>
              <a:prstGeom prst="roundRect">
                <a:avLst>
                  <a:gd name="adj" fmla="val 4979"/>
                </a:avLst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4" name="모서리가 둥근 직사각형 53"/>
              <p:cNvSpPr/>
              <p:nvPr/>
            </p:nvSpPr>
            <p:spPr>
              <a:xfrm>
                <a:off x="965436" y="878393"/>
                <a:ext cx="2934568" cy="5320435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5" name="모서리가 둥근 직사각형 54"/>
              <p:cNvSpPr/>
              <p:nvPr/>
            </p:nvSpPr>
            <p:spPr>
              <a:xfrm>
                <a:off x="1928664" y="548680"/>
                <a:ext cx="972108" cy="14401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6" name="모서리가 둥근 직사각형 55"/>
              <p:cNvSpPr/>
              <p:nvPr/>
            </p:nvSpPr>
            <p:spPr>
              <a:xfrm>
                <a:off x="3008784" y="548680"/>
                <a:ext cx="144016" cy="14401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7" name="모서리가 둥근 직사각형 56"/>
              <p:cNvSpPr/>
              <p:nvPr/>
            </p:nvSpPr>
            <p:spPr>
              <a:xfrm>
                <a:off x="3188804" y="548680"/>
                <a:ext cx="144016" cy="14401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58" name="직사각형 57"/>
            <p:cNvSpPr/>
            <p:nvPr/>
          </p:nvSpPr>
          <p:spPr>
            <a:xfrm>
              <a:off x="4046279" y="1226643"/>
              <a:ext cx="2823638" cy="5100728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모서리가 둥근 직사각형 58"/>
            <p:cNvSpPr/>
            <p:nvPr/>
          </p:nvSpPr>
          <p:spPr>
            <a:xfrm>
              <a:off x="4084446" y="5586600"/>
              <a:ext cx="2718637" cy="720080"/>
            </a:xfrm>
            <a:prstGeom prst="roundRect">
              <a:avLst>
                <a:gd name="adj" fmla="val 9894"/>
              </a:avLst>
            </a:prstGeom>
            <a:solidFill>
              <a:schemeClr val="bg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r>
                <a:rPr lang="ko-KR" altLang="en-US" sz="8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          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   지난 </a:t>
              </a:r>
              <a:r>
                <a:rPr lang="en-US" altLang="ko-KR" sz="8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r>
                <a:rPr lang="ko-KR" altLang="en-US" sz="8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주일 간 이 상품의 예약 건수는 </a:t>
              </a:r>
              <a:r>
                <a:rPr lang="en-US" altLang="ko-KR" sz="800" b="1" dirty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r>
                <a:rPr lang="ko-KR" altLang="en-US" sz="8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건 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입니다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  <a:endParaRPr lang="ko-KR" altLang="en-US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4043114" y="1223744"/>
              <a:ext cx="2821723" cy="67092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noFill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</a:t>
              </a:r>
              <a:r>
                <a:rPr lang="en-US" altLang="ko-KR" sz="11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B. </a:t>
              </a:r>
              <a:r>
                <a:rPr lang="ko-KR" altLang="en-US" sz="11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정보 </a:t>
              </a:r>
              <a:r>
                <a:rPr lang="ko-KR" altLang="en-US" sz="1100" b="1" dirty="0" err="1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알림형</a:t>
              </a:r>
              <a:endParaRPr lang="en-US" altLang="ko-KR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(Toast Pop-up</a:t>
              </a:r>
              <a:r>
                <a:rPr lang="en-US" altLang="ko-KR" sz="1100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)</a:t>
              </a:r>
              <a:r>
                <a:rPr lang="ko-KR" altLang="en-US" sz="1100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grpSp>
          <p:nvGrpSpPr>
            <p:cNvPr id="74" name="그룹 73"/>
            <p:cNvGrpSpPr/>
            <p:nvPr/>
          </p:nvGrpSpPr>
          <p:grpSpPr>
            <a:xfrm>
              <a:off x="4087349" y="5397336"/>
              <a:ext cx="471864" cy="736233"/>
              <a:chOff x="3796078" y="5307035"/>
              <a:chExt cx="471864" cy="736233"/>
            </a:xfrm>
          </p:grpSpPr>
          <p:pic>
            <p:nvPicPr>
              <p:cNvPr id="70" name="그림 69"/>
              <p:cNvPicPr>
                <a:picLocks noChangeAspect="1"/>
              </p:cNvPicPr>
              <p:nvPr/>
            </p:nvPicPr>
            <p:blipFill>
              <a:blip r:embed="rId3" cstate="print">
                <a:biLevel thresh="75000"/>
              </a:blip>
              <a:stretch>
                <a:fillRect/>
              </a:stretch>
            </p:blipFill>
            <p:spPr>
              <a:xfrm>
                <a:off x="3796078" y="5307035"/>
                <a:ext cx="459164" cy="485912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  <p:sp>
            <p:nvSpPr>
              <p:cNvPr id="71" name="직사각형 70"/>
              <p:cNvSpPr/>
              <p:nvPr/>
            </p:nvSpPr>
            <p:spPr>
              <a:xfrm>
                <a:off x="3823256" y="5767284"/>
                <a:ext cx="444686" cy="275984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3" name="그룹 22"/>
          <p:cNvGrpSpPr/>
          <p:nvPr/>
        </p:nvGrpSpPr>
        <p:grpSpPr>
          <a:xfrm>
            <a:off x="8076154" y="830718"/>
            <a:ext cx="3178114" cy="5839376"/>
            <a:chOff x="7150790" y="772736"/>
            <a:chExt cx="3178114" cy="5839376"/>
          </a:xfrm>
        </p:grpSpPr>
        <p:grpSp>
          <p:nvGrpSpPr>
            <p:cNvPr id="40" name="그룹 39"/>
            <p:cNvGrpSpPr/>
            <p:nvPr/>
          </p:nvGrpSpPr>
          <p:grpSpPr>
            <a:xfrm>
              <a:off x="7150790" y="772736"/>
              <a:ext cx="3178114" cy="5839376"/>
              <a:chOff x="776536" y="404665"/>
              <a:chExt cx="3312368" cy="6094363"/>
            </a:xfrm>
          </p:grpSpPr>
          <p:sp>
            <p:nvSpPr>
              <p:cNvPr id="42" name="모서리가 둥근 직사각형 41"/>
              <p:cNvSpPr/>
              <p:nvPr/>
            </p:nvSpPr>
            <p:spPr>
              <a:xfrm>
                <a:off x="776536" y="404665"/>
                <a:ext cx="3312368" cy="6094363"/>
              </a:xfrm>
              <a:prstGeom prst="roundRect">
                <a:avLst>
                  <a:gd name="adj" fmla="val 4979"/>
                </a:avLst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3" name="모서리가 둥근 직사각형 42"/>
              <p:cNvSpPr/>
              <p:nvPr/>
            </p:nvSpPr>
            <p:spPr>
              <a:xfrm>
                <a:off x="965436" y="878393"/>
                <a:ext cx="2934568" cy="5320435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4" name="모서리가 둥근 직사각형 43"/>
              <p:cNvSpPr/>
              <p:nvPr/>
            </p:nvSpPr>
            <p:spPr>
              <a:xfrm>
                <a:off x="1928664" y="548680"/>
                <a:ext cx="972108" cy="14401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5" name="모서리가 둥근 직사각형 44"/>
              <p:cNvSpPr/>
              <p:nvPr/>
            </p:nvSpPr>
            <p:spPr>
              <a:xfrm>
                <a:off x="3008784" y="548680"/>
                <a:ext cx="144016" cy="14401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6" name="모서리가 둥근 직사각형 45"/>
              <p:cNvSpPr/>
              <p:nvPr/>
            </p:nvSpPr>
            <p:spPr>
              <a:xfrm>
                <a:off x="3188804" y="548680"/>
                <a:ext cx="144016" cy="14401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47" name="직사각형 46"/>
            <p:cNvSpPr/>
            <p:nvPr/>
          </p:nvSpPr>
          <p:spPr>
            <a:xfrm>
              <a:off x="7322947" y="1226643"/>
              <a:ext cx="2823638" cy="5100728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모서리가 둥근 직사각형 48"/>
            <p:cNvSpPr/>
            <p:nvPr/>
          </p:nvSpPr>
          <p:spPr>
            <a:xfrm>
              <a:off x="7321871" y="1223744"/>
              <a:ext cx="2824714" cy="650589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11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C. </a:t>
              </a:r>
              <a:r>
                <a:rPr lang="ko-KR" altLang="en-US" sz="1100" b="1" dirty="0" err="1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푸시</a:t>
              </a:r>
              <a:r>
                <a:rPr lang="ko-KR" altLang="en-US" sz="11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ko-KR" altLang="en-US" sz="1100" b="1" dirty="0" err="1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알림형</a:t>
              </a:r>
              <a:endParaRPr lang="en-US" altLang="ko-KR" sz="11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ctr"/>
              <a:r>
                <a:rPr lang="en-US" altLang="ko-KR" sz="1100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(Push Alarm message)</a:t>
              </a:r>
            </a:p>
          </p:txBody>
        </p:sp>
        <p:pic>
          <p:nvPicPr>
            <p:cNvPr id="19" name="그림 18"/>
            <p:cNvPicPr>
              <a:picLocks noChangeAspect="1"/>
            </p:cNvPicPr>
            <p:nvPr/>
          </p:nvPicPr>
          <p:blipFill rotWithShape="1">
            <a:blip r:embed="rId4" cstate="print"/>
            <a:srcRect b="11054"/>
            <a:stretch/>
          </p:blipFill>
          <p:spPr>
            <a:xfrm>
              <a:off x="7327967" y="1894672"/>
              <a:ext cx="2818618" cy="4429800"/>
            </a:xfrm>
            <a:prstGeom prst="rect">
              <a:avLst/>
            </a:prstGeom>
          </p:spPr>
        </p:pic>
        <p:grpSp>
          <p:nvGrpSpPr>
            <p:cNvPr id="20" name="그룹 19"/>
            <p:cNvGrpSpPr/>
            <p:nvPr/>
          </p:nvGrpSpPr>
          <p:grpSpPr>
            <a:xfrm>
              <a:off x="7374909" y="3523142"/>
              <a:ext cx="2771676" cy="720080"/>
              <a:chOff x="7374909" y="3523142"/>
              <a:chExt cx="2771676" cy="720080"/>
            </a:xfrm>
          </p:grpSpPr>
          <p:sp>
            <p:nvSpPr>
              <p:cNvPr id="63" name="모서리가 둥근 직사각형 62"/>
              <p:cNvSpPr/>
              <p:nvPr/>
            </p:nvSpPr>
            <p:spPr>
              <a:xfrm>
                <a:off x="7374909" y="3861705"/>
                <a:ext cx="2718637" cy="381517"/>
              </a:xfrm>
              <a:prstGeom prst="roundRect">
                <a:avLst>
                  <a:gd name="adj" fmla="val 16977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        </a:t>
                </a:r>
              </a:p>
            </p:txBody>
          </p:sp>
          <p:sp>
            <p:nvSpPr>
              <p:cNvPr id="48" name="모서리가 둥근 직사각형 47"/>
              <p:cNvSpPr/>
              <p:nvPr/>
            </p:nvSpPr>
            <p:spPr>
              <a:xfrm>
                <a:off x="7374909" y="3523142"/>
                <a:ext cx="2718637" cy="720080"/>
              </a:xfrm>
              <a:prstGeom prst="roundRect">
                <a:avLst>
                  <a:gd name="adj" fmla="val 9894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        </a:t>
                </a:r>
              </a:p>
            </p:txBody>
          </p:sp>
          <p:pic>
            <p:nvPicPr>
              <p:cNvPr id="5" name="그림 4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 b="30331"/>
              <a:stretch/>
            </p:blipFill>
            <p:spPr>
              <a:xfrm>
                <a:off x="7458117" y="3590593"/>
                <a:ext cx="574801" cy="139197"/>
              </a:xfrm>
              <a:prstGeom prst="rect">
                <a:avLst/>
              </a:prstGeom>
            </p:spPr>
          </p:pic>
          <p:cxnSp>
            <p:nvCxnSpPr>
              <p:cNvPr id="17" name="직선 연결선 16"/>
              <p:cNvCxnSpPr/>
              <p:nvPr/>
            </p:nvCxnSpPr>
            <p:spPr>
              <a:xfrm>
                <a:off x="7380826" y="3784600"/>
                <a:ext cx="2712720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" name="TextBox 17"/>
              <p:cNvSpPr txBox="1"/>
              <p:nvPr/>
            </p:nvSpPr>
            <p:spPr>
              <a:xfrm>
                <a:off x="7479792" y="3841893"/>
                <a:ext cx="2463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800" dirty="0" smtClean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홍길동 고객님</a:t>
                </a:r>
                <a:r>
                  <a:rPr lang="en-US" altLang="ko-KR" sz="800" dirty="0" smtClean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sz="800" dirty="0" smtClean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입금 마감일이 </a:t>
                </a:r>
                <a:r>
                  <a:rPr lang="en-US" altLang="ko-KR" sz="800" dirty="0" smtClean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2</a:t>
                </a:r>
                <a:r>
                  <a:rPr lang="ko-KR" altLang="en-US" sz="800" dirty="0" smtClean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일 남았습니다 </a:t>
                </a:r>
                <a:r>
                  <a:rPr lang="en-US" altLang="ko-KR" sz="800" dirty="0" smtClean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.</a:t>
                </a:r>
                <a:br>
                  <a:rPr lang="en-US" altLang="ko-KR" sz="800" dirty="0" smtClean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800" dirty="0" smtClean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결제 정보 확인 후 결제를 진행해주세요</a:t>
                </a:r>
                <a:r>
                  <a:rPr lang="en-US" altLang="ko-KR" sz="800" dirty="0" smtClean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.</a:t>
                </a:r>
                <a:r>
                  <a:rPr lang="ko-KR" altLang="en-US" sz="800" dirty="0" smtClean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endPara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9678717" y="3546149"/>
                <a:ext cx="46786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800" smtClean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지금</a:t>
                </a:r>
                <a:endPara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</p:grpSp>
      <p:sp>
        <p:nvSpPr>
          <p:cNvPr id="65" name="직사각형 64"/>
          <p:cNvSpPr/>
          <p:nvPr/>
        </p:nvSpPr>
        <p:spPr>
          <a:xfrm>
            <a:off x="700903" y="313958"/>
            <a:ext cx="13244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■ </a:t>
            </a:r>
            <a:r>
              <a:rPr lang="ko-KR" altLang="en-US" sz="12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큐비</a:t>
            </a:r>
            <a:r>
              <a:rPr lang="ko-KR" altLang="en-US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알림 형태</a:t>
            </a:r>
            <a:endParaRPr lang="en-US" altLang="ko-KR" sz="12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5538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200359219"/>
              </p:ext>
            </p:extLst>
          </p:nvPr>
        </p:nvGraphicFramePr>
        <p:xfrm>
          <a:off x="603683" y="930618"/>
          <a:ext cx="11274639" cy="489106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729110"/>
                <a:gridCol w="2561460"/>
                <a:gridCol w="1914920"/>
                <a:gridCol w="1470379"/>
                <a:gridCol w="1799385"/>
                <a:gridCol w="1799385"/>
              </a:tblGrid>
              <a:tr h="4551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상황</a:t>
                      </a:r>
                      <a:endParaRPr lang="ko-KR" altLang="en-US" sz="1050" b="1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err="1" smtClean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알림내용</a:t>
                      </a:r>
                      <a:endParaRPr lang="ko-KR" altLang="en-US" sz="1050" b="1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err="1" smtClean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알림형태</a:t>
                      </a:r>
                      <a:endParaRPr lang="ko-KR" altLang="en-US" sz="1050" b="1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알림 위치</a:t>
                      </a:r>
                      <a:endParaRPr lang="ko-KR" altLang="en-US" sz="1050" b="1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err="1" smtClean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알림시점</a:t>
                      </a:r>
                      <a:r>
                        <a:rPr lang="ko-KR" altLang="en-US" sz="1050" b="1" dirty="0" smtClean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및 주기</a:t>
                      </a:r>
                      <a:endParaRPr lang="ko-KR" altLang="en-US" sz="1050" b="1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알림 조건</a:t>
                      </a:r>
                      <a:endParaRPr lang="ko-KR" altLang="en-US" sz="1050" b="1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</a:tr>
              <a:tr h="76643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검색 창 </a:t>
                      </a:r>
                      <a:r>
                        <a:rPr lang="en-US" altLang="ko-KR" sz="1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Tap </a:t>
                      </a:r>
                      <a:r>
                        <a:rPr lang="ko-KR" altLang="en-US" sz="1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이후</a:t>
                      </a:r>
                      <a:r>
                        <a:rPr lang="en-US" altLang="ko-KR" sz="1000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2</a:t>
                      </a:r>
                      <a:r>
                        <a:rPr lang="ko-KR" altLang="en-US" sz="1000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 경과한 경우</a:t>
                      </a:r>
                      <a:endParaRPr lang="ko-KR" altLang="en-US" sz="1000" dirty="0">
                        <a:solidFill>
                          <a:schemeClr val="bg1">
                            <a:lumMod val="6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“</a:t>
                      </a:r>
                      <a:r>
                        <a:rPr lang="ko-KR" altLang="en-US" sz="1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최근</a:t>
                      </a:r>
                      <a:r>
                        <a:rPr lang="ko-KR" altLang="en-US" sz="1000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주일간 가장 많이 검색된 키워드는 </a:t>
                      </a:r>
                      <a:r>
                        <a:rPr lang="en-US" altLang="ko-KR" sz="1000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‘</a:t>
                      </a:r>
                      <a:r>
                        <a:rPr lang="ko-KR" altLang="en-US" sz="1000" baseline="0" dirty="0" err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다낭</a:t>
                      </a:r>
                      <a:r>
                        <a:rPr lang="en-US" altLang="ko-KR" sz="1000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’ </a:t>
                      </a:r>
                      <a:r>
                        <a:rPr lang="ko-KR" altLang="en-US" sz="1000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입니다</a:t>
                      </a:r>
                      <a:r>
                        <a:rPr lang="en-US" altLang="ko-KR" sz="1000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lang="ko-KR" altLang="en-US" sz="1000" baseline="0" dirty="0" err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다낭의</a:t>
                      </a:r>
                      <a:r>
                        <a:rPr lang="ko-KR" altLang="en-US" sz="1000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검색 결과를 보여드릴까요</a:t>
                      </a:r>
                      <a:r>
                        <a:rPr lang="en-US" altLang="ko-KR" sz="1000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  <a:endParaRPr lang="ko-KR" altLang="en-US" sz="1000" dirty="0">
                        <a:solidFill>
                          <a:schemeClr val="bg1">
                            <a:lumMod val="6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Layer Pop up (A</a:t>
                      </a:r>
                      <a:r>
                        <a:rPr lang="ko-KR" altLang="en-US" sz="1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</a:t>
                      </a:r>
                      <a:r>
                        <a:rPr lang="en-US" altLang="ko-KR" sz="1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chemeClr val="bg1">
                            <a:lumMod val="6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Search function </a:t>
                      </a:r>
                      <a:br>
                        <a:rPr lang="en-US" altLang="ko-KR" sz="1000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include page</a:t>
                      </a:r>
                      <a:endParaRPr lang="ko-KR" altLang="en-US" sz="1000" dirty="0">
                        <a:solidFill>
                          <a:schemeClr val="bg1">
                            <a:lumMod val="6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최초 검색 </a:t>
                      </a:r>
                      <a:r>
                        <a:rPr lang="ko-KR" altLang="en-US" sz="1000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창 </a:t>
                      </a:r>
                      <a:r>
                        <a:rPr lang="en-US" altLang="ko-KR" sz="1000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Tap </a:t>
                      </a:r>
                      <a:r>
                        <a:rPr lang="ko-KR" altLang="en-US" sz="1000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 노출</a:t>
                      </a:r>
                      <a:r>
                        <a:rPr lang="en-US" altLang="ko-KR" sz="1000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일주일 기준으로 노출</a:t>
                      </a:r>
                      <a:r>
                        <a:rPr lang="en-US" altLang="ko-KR" sz="1000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r>
                        <a:rPr lang="ko-KR" altLang="en-US" sz="1000" baseline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endParaRPr lang="ko-KR" altLang="en-US" sz="1000" dirty="0">
                        <a:solidFill>
                          <a:schemeClr val="bg1">
                            <a:lumMod val="6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관리자를 통해 입력된 </a:t>
                      </a:r>
                      <a:r>
                        <a:rPr lang="en-US" altLang="ko-KR" sz="1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최근 인기 </a:t>
                      </a:r>
                      <a:r>
                        <a:rPr lang="ko-KR" altLang="en-US" sz="1000" dirty="0" err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검색어</a:t>
                      </a:r>
                      <a:r>
                        <a:rPr lang="ko-KR" altLang="en-US" sz="1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1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 키워드 노출</a:t>
                      </a:r>
                      <a:r>
                        <a:rPr lang="en-US" altLang="ko-KR" sz="10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1000" dirty="0">
                        <a:solidFill>
                          <a:schemeClr val="bg1">
                            <a:lumMod val="6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7932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키워드 검색 후 상품 리스트 페이지로 이동한 경우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“ </a:t>
                      </a:r>
                      <a:r>
                        <a:rPr lang="ko-KR" altLang="en-US" sz="1000" b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검색 된 상품</a:t>
                      </a:r>
                      <a:r>
                        <a:rPr lang="ko-KR" altLang="en-US" sz="1000" b="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중 가장 인기 있는 상품은 </a:t>
                      </a:r>
                      <a:r>
                        <a:rPr lang="en-US" altLang="ko-KR" sz="1000" b="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‘</a:t>
                      </a:r>
                      <a:r>
                        <a:rPr lang="ko-KR" altLang="en-US" sz="1000" b="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돌핀크루즈</a:t>
                      </a:r>
                      <a:r>
                        <a:rPr lang="ko-KR" altLang="en-US" sz="1000" b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옵션투어 포함</a:t>
                      </a:r>
                      <a:r>
                        <a:rPr lang="en-US" altLang="ko-KR" sz="1000" b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] </a:t>
                      </a:r>
                      <a:r>
                        <a:rPr lang="ko-KR" altLang="en-US" sz="1000" b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시드니 </a:t>
                      </a:r>
                      <a:r>
                        <a:rPr lang="en-US" altLang="ko-KR" sz="1000" b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+ </a:t>
                      </a:r>
                      <a:r>
                        <a:rPr lang="ko-KR" altLang="en-US" sz="1000" b="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저비스베이</a:t>
                      </a:r>
                      <a:r>
                        <a:rPr lang="en-US" altLang="ko-KR" sz="1000" b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b="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쿠랑가타</a:t>
                      </a:r>
                      <a:r>
                        <a:rPr lang="ko-KR" altLang="en-US" sz="1000" b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b="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와이너리</a:t>
                      </a:r>
                      <a:r>
                        <a:rPr lang="en-US" altLang="ko-KR" sz="1000" b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6</a:t>
                      </a:r>
                      <a:r>
                        <a:rPr lang="ko-KR" altLang="en-US" sz="1000" b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</a:t>
                      </a:r>
                      <a:r>
                        <a:rPr lang="en-US" altLang="ko-KR" sz="1000" b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’</a:t>
                      </a:r>
                      <a:r>
                        <a:rPr lang="en-US" altLang="ko-KR" sz="1000" b="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b="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입니다</a:t>
                      </a:r>
                      <a:r>
                        <a:rPr lang="en-US" altLang="ko-KR" sz="1000" b="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lang="en-US" altLang="ko-KR" sz="1000" b="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“</a:t>
                      </a:r>
                    </a:p>
                    <a:p>
                      <a:pPr latinLnBrk="1"/>
                      <a:r>
                        <a:rPr lang="ko-KR" altLang="en-US" sz="1000" b="0" u="sng" baseline="0" dirty="0" err="1" smtClean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바로가기</a:t>
                      </a:r>
                      <a:r>
                        <a:rPr lang="ko-KR" altLang="en-US" sz="1000" b="0" u="sng" baseline="0" dirty="0" smtClean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1000" b="0" u="sng" baseline="0" dirty="0" smtClean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&gt;</a:t>
                      </a:r>
                      <a:endParaRPr lang="ko-KR" altLang="en-US" sz="1000" b="0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Layer Pop up (a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Search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list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page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리스트 페이지 이동 후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초경과 후 노출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검색된 상품 중 최근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달간 예약 건 수 가장 많은 상품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6643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키워드 검색 이력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 이상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방문자 중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주일 이상 </a:t>
                      </a:r>
                      <a:r>
                        <a:rPr lang="ko-KR" altLang="en-US" sz="100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미접속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고객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“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최근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주일 가장 많이 검색된 여행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정보를 알려드립니다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.”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Push Alarm message (C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Device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Home Screen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마지막 방문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주일 후 </a:t>
                      </a:r>
                      <a:endParaRPr lang="en-US" altLang="ko-KR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주일 마다 알림 전송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오전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or 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오후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키워드 검색 이력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 이상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주일 이상 웹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100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앱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미접속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방문자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6643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메인 화면 접속 후</a:t>
                      </a:r>
                      <a:endParaRPr lang="en-US" altLang="ko-KR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 이내 페이지 이동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없는 경우</a:t>
                      </a:r>
                      <a:endParaRPr lang="en-US" altLang="ko-KR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“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고객님 간편 검색을 이용해보세요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 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터치 몇 번 이면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고객님에게 딱 맞는 상품을 찾을 수 있습니다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“.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sng" baseline="0" dirty="0" err="1" smtClean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바로가기</a:t>
                      </a:r>
                      <a:r>
                        <a:rPr lang="ko-KR" altLang="en-US" sz="1000" b="0" u="sng" baseline="0" dirty="0" smtClean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1000" b="0" u="sng" baseline="0" dirty="0" smtClean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&gt;</a:t>
                      </a:r>
                      <a:endParaRPr lang="ko-KR" altLang="en-US" sz="1000" b="0" u="sng" dirty="0" smtClean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Toast Pop up (B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Main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page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메인 화면 접속 후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 경과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 노출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메인 접속 후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 내 페이지 이동 없을 시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6643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키워드 검색 이력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1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 이상 있는 고객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고객님의 최근 </a:t>
                      </a:r>
                      <a:r>
                        <a:rPr lang="ko-KR" altLang="en-US" sz="100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검색어는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‘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캐나다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‘ 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입니다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캐나다의 검색 결과를 보여드릴까요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Layer Pop up (A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Main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page</a:t>
                      </a:r>
                      <a:endParaRPr lang="ko-KR" altLang="en-US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메인 화면 접속 후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 노출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키워드 검색 이력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 이상 있는 방문자 메인 접속 시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0845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700903" y="313958"/>
            <a:ext cx="2864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■</a:t>
            </a:r>
            <a:r>
              <a:rPr lang="en-US" altLang="ko-KR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검색 </a:t>
            </a:r>
            <a:r>
              <a:rPr lang="ko-KR" altLang="en-US" sz="12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큐비</a:t>
            </a:r>
            <a:r>
              <a:rPr lang="en-US" altLang="ko-KR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상품 검색 </a:t>
            </a:r>
            <a:r>
              <a:rPr lang="ko-KR" altLang="en-US" sz="12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니즈를</a:t>
            </a:r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가진 고객</a:t>
            </a:r>
            <a:r>
              <a:rPr lang="en-US" altLang="ko-KR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</p:spTree>
    <p:extLst>
      <p:ext uri="{BB962C8B-B14F-4D97-AF65-F5344CB8AC3E}">
        <p14:creationId xmlns="" xmlns:p14="http://schemas.microsoft.com/office/powerpoint/2010/main" val="4290424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700903" y="313958"/>
            <a:ext cx="2864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■</a:t>
            </a:r>
            <a:r>
              <a:rPr lang="en-US" altLang="ko-KR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추천 </a:t>
            </a:r>
            <a:r>
              <a:rPr lang="ko-KR" altLang="en-US" sz="12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큐비</a:t>
            </a:r>
            <a:r>
              <a:rPr lang="en-US" altLang="ko-KR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상품 구매 </a:t>
            </a:r>
            <a:r>
              <a:rPr lang="ko-KR" altLang="en-US" sz="12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니즈를</a:t>
            </a:r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가진 고객</a:t>
            </a:r>
            <a:r>
              <a:rPr lang="en-US" altLang="ko-KR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804051129"/>
              </p:ext>
            </p:extLst>
          </p:nvPr>
        </p:nvGraphicFramePr>
        <p:xfrm>
          <a:off x="603683" y="930619"/>
          <a:ext cx="11274639" cy="554298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729110"/>
                <a:gridCol w="2561460"/>
                <a:gridCol w="1914920"/>
                <a:gridCol w="1470379"/>
                <a:gridCol w="1799385"/>
                <a:gridCol w="1799385"/>
              </a:tblGrid>
              <a:tr h="4599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상황</a:t>
                      </a:r>
                      <a:endParaRPr lang="ko-KR" altLang="en-US" sz="1050" b="1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err="1" smtClean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알림내용</a:t>
                      </a:r>
                      <a:endParaRPr lang="ko-KR" altLang="en-US" sz="1050" b="1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err="1" smtClean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알림형태</a:t>
                      </a:r>
                      <a:endParaRPr lang="ko-KR" altLang="en-US" sz="1050" b="1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알림 위치</a:t>
                      </a:r>
                      <a:endParaRPr lang="ko-KR" altLang="en-US" sz="1050" b="1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err="1" smtClean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알림시점</a:t>
                      </a:r>
                      <a:r>
                        <a:rPr lang="ko-KR" altLang="en-US" sz="1050" b="1" dirty="0" smtClean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및 주기</a:t>
                      </a:r>
                      <a:endParaRPr lang="ko-KR" altLang="en-US" sz="1050" b="1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알림 조건</a:t>
                      </a:r>
                      <a:endParaRPr lang="ko-KR" altLang="en-US" sz="1050" b="1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</a:tr>
              <a:tr h="4681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상품 조회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회째 고객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“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상품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개를 더 조회하시면 </a:t>
                      </a:r>
                      <a:r>
                        <a:rPr lang="ko-KR" altLang="en-US" sz="100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빅데이터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기반의 맞춤 여행을 안내해드립니다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“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Toast Pop up (B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Product Master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page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 노출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기준 마스터 상품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 조회 시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82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상품 조회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째 고객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“</a:t>
                      </a:r>
                      <a:r>
                        <a:rPr lang="ko-KR" altLang="en-US" sz="1000" b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고객님이 </a:t>
                      </a:r>
                      <a:r>
                        <a:rPr lang="ko-KR" altLang="en-US" sz="1000" b="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좋아하실만한</a:t>
                      </a:r>
                      <a:r>
                        <a:rPr lang="ko-KR" altLang="en-US" sz="1000" b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b="0" baseline="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빅데이터</a:t>
                      </a:r>
                      <a:r>
                        <a:rPr lang="ko-KR" altLang="en-US" sz="1000" b="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기반의 맞춤 추천 상품이 도착 했습니다</a:t>
                      </a:r>
                      <a:r>
                        <a:rPr lang="en-US" altLang="ko-KR" sz="1000" b="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“</a:t>
                      </a:r>
                      <a:endParaRPr lang="ko-KR" altLang="en-US" sz="1000" b="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Layer Pop up (A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Product Master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page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 노출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기준 마스터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상품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조회 시 </a:t>
                      </a:r>
                      <a:endParaRPr lang="ko-KR" altLang="en-US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81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마스터 상품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페이지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접속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</a:p>
                    <a:p>
                      <a:pPr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“ 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지난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주일간 이 상품의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예약 건수는 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 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입니다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“</a:t>
                      </a:r>
                    </a:p>
                    <a:p>
                      <a:pPr latinLnBrk="1"/>
                      <a:endParaRPr lang="en-US" altLang="ko-KR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나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br>
                        <a:rPr lang="en-US" altLang="ko-KR" sz="1000" dirty="0" smtClean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“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이벤트중인 상품이 있습니다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“ (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추가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Toast Pop up (B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Product Master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page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마스터 상품 페이지 접속 시</a:t>
                      </a:r>
                      <a:endParaRPr lang="en-US" altLang="ko-KR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마다 노출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제한 없음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마스터 상품 페이지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접속 후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 후</a:t>
                      </a:r>
                      <a:endParaRPr lang="en-US" altLang="ko-KR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058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마스터 상품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페이지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접속</a:t>
                      </a:r>
                      <a:endParaRPr lang="ko-KR" altLang="en-US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“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 상품을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명이 함께 보고 있습니다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“</a:t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나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“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총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29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개의 출발 확정 상품이 있습니다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“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Toast Pop up (B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Product Master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page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마스터 상품 페이지 접속 시</a:t>
                      </a:r>
                      <a:endParaRPr lang="en-US" altLang="ko-KR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마다 노출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제한 없음</a:t>
                      </a:r>
                      <a:endParaRPr lang="ko-KR" altLang="en-US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마스터 상품 페이지 접속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 마다 노출</a:t>
                      </a:r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제한 없음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b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예약 건 수 있을 시 </a:t>
                      </a:r>
                      <a:r>
                        <a:rPr lang="ko-KR" altLang="en-US" sz="1000" baseline="0" dirty="0" err="1" smtClean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비노출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예약 건 수 없을 때만 노출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예약 건 없고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함께 보는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User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없는 경우 나 토스트 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팝업 노출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1000" dirty="0" smtClean="0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81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상품 리스트 페이지 접속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“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총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13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개의 이벤트 상품이 있습니다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</a:p>
                    <a:p>
                      <a:pPr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이벤트 상품만 따로 보여드릴까요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?”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Layer Pop up (A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Product View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page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상품 리스트 페이지 접속 시</a:t>
                      </a:r>
                      <a:endParaRPr lang="en-US" altLang="ko-KR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마다 노출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제한 없음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상품 리스트페이지 접속 시 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715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상품 리스트 페이지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 이상 머무를 경우 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“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지난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주일 가장 인기 있는 상품입니다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Layer Pop up (A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Product View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page</a:t>
                      </a:r>
                      <a:endParaRPr lang="ko-KR" altLang="en-US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상품 리스트 페이지 접속 시</a:t>
                      </a:r>
                      <a:endParaRPr lang="en-US" altLang="ko-KR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마다 노출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제한 없음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해당 지역의 최근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주일 최다 예약 상품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715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관심상품에 상품 등록 후 </a:t>
                      </a:r>
                      <a:endParaRPr lang="en-US" altLang="ko-KR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주일 이상 </a:t>
                      </a:r>
                      <a:r>
                        <a:rPr lang="ko-KR" altLang="en-US" sz="100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미방문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고객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“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고객님께서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관심상품으로 등록한 상품의 예약 마감이 얼마 남지 않았습니다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“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“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고객님께서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관심상품으로 등록한 상품의 예약 마감이 얼마 남지 않았습니다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Push Alarm message (C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Device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Home Screen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마지막 방문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주일 이후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발송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첫 발송 이후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간격 발송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endParaRPr lang="en-US" altLang="ko-KR" sz="1000" baseline="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오전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or 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오후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</a:t>
                      </a:r>
                      <a:endParaRPr lang="en-US" altLang="ko-KR" sz="1000" b="1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관심상품에 상품 등록 후 </a:t>
                      </a:r>
                      <a:endParaRPr lang="en-US" altLang="ko-KR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주일 이상 웹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100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앱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미방문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7157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8587" y="6230679"/>
            <a:ext cx="259558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FF0000"/>
                </a:solidFill>
              </a:rPr>
              <a:t>1. </a:t>
            </a:r>
            <a:r>
              <a:rPr lang="ko-KR" altLang="en-US" sz="900" dirty="0" smtClean="0">
                <a:solidFill>
                  <a:srgbClr val="FF0000"/>
                </a:solidFill>
              </a:rPr>
              <a:t>조건 협의 </a:t>
            </a:r>
            <a:r>
              <a:rPr lang="en-US" altLang="ko-KR" sz="900" dirty="0" smtClean="0">
                <a:solidFill>
                  <a:srgbClr val="FF0000"/>
                </a:solidFill>
              </a:rPr>
              <a:t>: </a:t>
            </a:r>
            <a:r>
              <a:rPr lang="ko-KR" altLang="en-US" sz="900" dirty="0" smtClean="0">
                <a:solidFill>
                  <a:srgbClr val="FF0000"/>
                </a:solidFill>
              </a:rPr>
              <a:t>예약건수 </a:t>
            </a:r>
            <a:r>
              <a:rPr lang="en-US" altLang="ko-KR" sz="900" dirty="0" smtClean="0">
                <a:solidFill>
                  <a:srgbClr val="FF0000"/>
                </a:solidFill>
              </a:rPr>
              <a:t>10</a:t>
            </a:r>
            <a:r>
              <a:rPr lang="ko-KR" altLang="en-US" sz="900" dirty="0" smtClean="0">
                <a:solidFill>
                  <a:srgbClr val="FF0000"/>
                </a:solidFill>
              </a:rPr>
              <a:t>개 이상일 경우 출력</a:t>
            </a:r>
            <a:endParaRPr lang="ko-KR" altLang="en-US" sz="9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77725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700903" y="313958"/>
            <a:ext cx="452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■</a:t>
            </a:r>
            <a:r>
              <a:rPr lang="en-US" altLang="ko-KR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예약 </a:t>
            </a:r>
            <a:r>
              <a:rPr lang="ko-KR" altLang="en-US" sz="12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큐비</a:t>
            </a:r>
            <a:r>
              <a:rPr lang="en-US" altLang="ko-KR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상품 예약 접수</a:t>
            </a:r>
            <a:r>
              <a:rPr lang="en-US" altLang="ko-KR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담당자확인</a:t>
            </a:r>
            <a:r>
              <a:rPr lang="en-US" altLang="ko-KR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결제 중</a:t>
            </a:r>
            <a:r>
              <a:rPr lang="en-US" altLang="ko-KR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결제완료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한 고객</a:t>
            </a:r>
            <a:r>
              <a:rPr lang="en-US" altLang="ko-KR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3331875"/>
              </p:ext>
            </p:extLst>
          </p:nvPr>
        </p:nvGraphicFramePr>
        <p:xfrm>
          <a:off x="603683" y="930619"/>
          <a:ext cx="11274639" cy="582343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729110"/>
                <a:gridCol w="2561460"/>
                <a:gridCol w="1914920"/>
                <a:gridCol w="1470379"/>
                <a:gridCol w="1799385"/>
                <a:gridCol w="1799385"/>
              </a:tblGrid>
              <a:tr h="4790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상황</a:t>
                      </a:r>
                      <a:endParaRPr lang="ko-KR" altLang="en-US" sz="1050" b="1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err="1" smtClean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알림내용</a:t>
                      </a:r>
                      <a:endParaRPr lang="ko-KR" altLang="en-US" sz="1050" b="1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err="1" smtClean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알림형태</a:t>
                      </a:r>
                      <a:endParaRPr lang="ko-KR" altLang="en-US" sz="1050" b="1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알림 위치</a:t>
                      </a:r>
                      <a:endParaRPr lang="ko-KR" altLang="en-US" sz="1050" b="1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err="1" smtClean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알림시점</a:t>
                      </a:r>
                      <a:r>
                        <a:rPr lang="ko-KR" altLang="en-US" sz="1050" b="1" dirty="0" smtClean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및 주기</a:t>
                      </a:r>
                      <a:endParaRPr lang="ko-KR" altLang="en-US" sz="1050" b="1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알림 조건</a:t>
                      </a:r>
                      <a:endParaRPr lang="ko-KR" altLang="en-US" sz="1050" b="1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</a:tr>
              <a:tr h="37559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예약 접수 완료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“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고객님의 예약이 정상적으로 접수되었습니다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 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담당자 확인 후 연락을 드리겠습니다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.”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Push Alarm message (C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b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To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ast Pop up (B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Device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Home Screen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예약 접수 완료 후 바로</a:t>
                      </a:r>
                      <a:endParaRPr lang="en-US" altLang="ko-KR" sz="1000" b="1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접수 완료 후 최초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99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예약 취소 완료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“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고객님의 예약 취소가 정상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처리 되었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습니다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Push Alarm message (C</a:t>
                      </a:r>
                      <a:r>
                        <a:rPr lang="ko-KR" altLang="en-US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</a:t>
                      </a:r>
                      <a:r>
                        <a:rPr lang="en-US" altLang="ko-KR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br>
                        <a:rPr lang="en-US" altLang="ko-KR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Toast Pop up (B</a:t>
                      </a:r>
                      <a:r>
                        <a:rPr lang="ko-KR" altLang="en-US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</a:t>
                      </a:r>
                      <a:r>
                        <a:rPr lang="en-US" altLang="ko-KR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Device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Home Screen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예약 취소 완료 후 바로</a:t>
                      </a:r>
                      <a:endParaRPr lang="en-US" altLang="ko-KR" sz="1000" b="1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취소 완료 후 최초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559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예약 건 담당자 확인 완료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“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고객님의 예약접수를 담당자가 확인했습니다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Push Alarm message (C</a:t>
                      </a:r>
                      <a:r>
                        <a:rPr lang="ko-KR" altLang="en-US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</a:t>
                      </a:r>
                      <a:r>
                        <a:rPr lang="en-US" altLang="ko-KR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Toast Pop up (B</a:t>
                      </a:r>
                      <a:r>
                        <a:rPr lang="ko-KR" altLang="en-US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</a:t>
                      </a:r>
                      <a:r>
                        <a:rPr lang="en-US" altLang="ko-KR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Device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Home Screen</a:t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My page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담당자 확인 완료 후 바로</a:t>
                      </a:r>
                      <a:endParaRPr lang="en-US" altLang="ko-KR" sz="1000" b="1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확인 후 최초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221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예약 확정 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“ 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고객님의 예약이 확정 되었습니다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결제를 진행 할 수 있습니다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.”</a:t>
                      </a:r>
                    </a:p>
                    <a:p>
                      <a:pPr latinLnBrk="1"/>
                      <a:endParaRPr lang="en-US" altLang="ko-KR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“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고객님의 결제 예정 금액은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34.500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원입니다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2017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월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22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일까지 입금해주세요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.”</a:t>
                      </a:r>
                      <a:endParaRPr lang="en-US" altLang="ko-KR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Push Alarm message (C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Layer Pop up (A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Device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Home Screen</a:t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My page</a:t>
                      </a:r>
                      <a:endParaRPr lang="ko-KR" altLang="en-US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예약 확정 후 바로</a:t>
                      </a:r>
                      <a:endParaRPr lang="en-US" altLang="ko-KR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예약 확정 후 최초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9427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결제</a:t>
                      </a:r>
                      <a:r>
                        <a:rPr lang="ko-KR" altLang="en-US" sz="1000" baseline="0" dirty="0" smtClean="0"/>
                        <a:t> 안된 경우</a:t>
                      </a:r>
                      <a:endParaRPr lang="ko-KR" altLang="en-US" sz="1000" dirty="0"/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“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고객님의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입금 마감이 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{$}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남았습니다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b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입금이 안 되는 경우 예약이 자동 취소 됩니다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.”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aseline="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“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고객님 입금 마지막 날입니다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결제를 진행해주세요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~ “</a:t>
                      </a:r>
                      <a:endParaRPr lang="ko-KR" altLang="en-US" sz="100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Push Alarm message (C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Layer Pop up (A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Device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Home Screen</a:t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My page</a:t>
                      </a:r>
                      <a:endParaRPr lang="ko-KR" altLang="en-US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입금 안된 경우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입금 마감 일 기준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10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1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 알림 발송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오후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</a:t>
                      </a:r>
                      <a:endParaRPr lang="ko-KR" altLang="en-US" sz="1000" dirty="0" smtClean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입금 안된 경우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입금 마감 일 기준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10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1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당일 알림 발송</a:t>
                      </a:r>
                      <a:endParaRPr lang="ko-KR" altLang="en-US" sz="100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229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결제완료</a:t>
                      </a:r>
                      <a:endParaRPr lang="ko-KR" altLang="en-US" sz="1000" dirty="0"/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“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고객님의 결제가 모두 완료 되었습니다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즐거운 여행까지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D-14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남았어요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”</a:t>
                      </a:r>
                      <a:endParaRPr lang="ko-KR" altLang="en-US" sz="10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Push Alarm message (C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Device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Home Screen</a:t>
                      </a:r>
                      <a:endParaRPr lang="ko-KR" altLang="en-US" sz="10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결제 완료 후 바로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결제 완료 후 </a:t>
                      </a:r>
                      <a:r>
                        <a:rPr lang="en-US" altLang="ko-KR" sz="1000" dirty="0" smtClean="0"/>
                        <a:t>1</a:t>
                      </a:r>
                      <a:r>
                        <a:rPr lang="ko-KR" altLang="en-US" sz="1000" dirty="0" smtClean="0"/>
                        <a:t>회</a:t>
                      </a:r>
                      <a:endParaRPr lang="ko-KR" altLang="en-US" sz="10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587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여권 사본 등록  안 한 경우</a:t>
                      </a:r>
                      <a:endParaRPr lang="ko-KR" altLang="en-US" sz="1000" dirty="0"/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“</a:t>
                      </a:r>
                      <a:r>
                        <a:rPr lang="ko-KR" altLang="en-US" sz="1000" baseline="0" dirty="0" smtClean="0"/>
                        <a:t>고객님 여권 사본을 등록 해주세요</a:t>
                      </a:r>
                      <a:r>
                        <a:rPr lang="en-US" altLang="ko-KR" sz="1000" baseline="0" dirty="0" smtClean="0"/>
                        <a:t>”</a:t>
                      </a:r>
                      <a:endParaRPr lang="ko-KR" altLang="en-US" sz="10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Push Alarm message (C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Layer Pop up (A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Device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Home Screen</a:t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My page</a:t>
                      </a:r>
                      <a:endParaRPr lang="ko-KR" altLang="en-US" sz="1000" dirty="0" smtClean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입금 마감 일 기준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10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7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1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 알림 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발송</a:t>
                      </a:r>
                      <a:endParaRPr lang="en-US" altLang="ko-KR" sz="1000" baseline="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aseline="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오후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</a:t>
                      </a:r>
                      <a:endParaRPr lang="ko-KR" altLang="en-US" sz="1000" dirty="0" smtClean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ko-KR" altLang="en-US" sz="1000" dirty="0" smtClean="0"/>
                        <a:t>여권 사본이 등록 안</a:t>
                      </a:r>
                      <a:r>
                        <a:rPr lang="ko-KR" altLang="en-US" sz="1000" baseline="0" dirty="0" smtClean="0"/>
                        <a:t> 된 </a:t>
                      </a:r>
                      <a:r>
                        <a:rPr lang="en-US" altLang="ko-KR" sz="1000" baseline="0" dirty="0" smtClean="0"/>
                        <a:t/>
                      </a:r>
                      <a:br>
                        <a:rPr lang="en-US" altLang="ko-KR" sz="1000" baseline="0" dirty="0" smtClean="0"/>
                      </a:br>
                      <a:r>
                        <a:rPr lang="en-US" altLang="ko-KR" sz="1000" baseline="0" dirty="0" smtClean="0"/>
                        <a:t>  </a:t>
                      </a:r>
                      <a:r>
                        <a:rPr lang="ko-KR" altLang="en-US" sz="1000" baseline="0" dirty="0" smtClean="0"/>
                        <a:t>경우 </a:t>
                      </a:r>
                      <a:r>
                        <a:rPr lang="en-US" altLang="ko-KR" sz="1000" baseline="0" dirty="0" smtClean="0"/>
                        <a:t/>
                      </a:r>
                      <a:br>
                        <a:rPr lang="en-US" altLang="ko-KR" sz="1000" baseline="0" dirty="0" smtClean="0"/>
                      </a:b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입금 마감 일 기준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9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6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1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당일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알림 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발송</a:t>
                      </a:r>
                      <a:endParaRPr lang="ko-KR" altLang="en-US" sz="100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9427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여행자 계약서 동의 안 한</a:t>
                      </a:r>
                      <a:r>
                        <a:rPr lang="en-US" altLang="ko-KR" sz="1000" dirty="0" smtClean="0"/>
                        <a:t/>
                      </a:r>
                      <a:br>
                        <a:rPr lang="en-US" altLang="ko-KR" sz="1000" dirty="0" smtClean="0"/>
                      </a:br>
                      <a:r>
                        <a:rPr lang="ko-KR" altLang="en-US" sz="1000" dirty="0" smtClean="0"/>
                        <a:t>경우 </a:t>
                      </a:r>
                      <a:endParaRPr lang="ko-KR" altLang="en-US" sz="1000" dirty="0"/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 smtClean="0"/>
                        <a:t>“</a:t>
                      </a:r>
                      <a:r>
                        <a:rPr lang="ko-KR" altLang="en-US" sz="1000" baseline="0" dirty="0" smtClean="0"/>
                        <a:t>고객님 여행자 계약서에 동의를 해주세요</a:t>
                      </a:r>
                      <a:r>
                        <a:rPr lang="en-US" altLang="ko-KR" sz="1000" baseline="0" dirty="0" smtClean="0"/>
                        <a:t>＂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Push Alarm message (C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Layer Pop up (A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Device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Home Screen</a:t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My page</a:t>
                      </a:r>
                      <a:endParaRPr lang="ko-KR" altLang="en-US" sz="10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입금 마감 일 기준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10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7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1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 알림 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발송</a:t>
                      </a:r>
                      <a:endParaRPr lang="en-US" altLang="ko-KR" sz="1000" baseline="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오후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</a:t>
                      </a:r>
                      <a:endParaRPr lang="en-US" altLang="ko-KR" sz="1000" baseline="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여행자 계약서 동의</a:t>
                      </a:r>
                      <a:r>
                        <a:rPr lang="ko-KR" altLang="en-US" sz="1000" dirty="0" smtClean="0"/>
                        <a:t> 안</a:t>
                      </a:r>
                      <a:r>
                        <a:rPr lang="ko-KR" altLang="en-US" sz="1000" baseline="0" dirty="0" smtClean="0"/>
                        <a:t> 된 </a:t>
                      </a:r>
                      <a:r>
                        <a:rPr lang="en-US" altLang="ko-KR" sz="1000" baseline="0" dirty="0" smtClean="0"/>
                        <a:t/>
                      </a:r>
                      <a:br>
                        <a:rPr lang="en-US" altLang="ko-KR" sz="1000" baseline="0" dirty="0" smtClean="0"/>
                      </a:br>
                      <a:r>
                        <a:rPr lang="en-US" altLang="ko-KR" sz="1000" baseline="0" dirty="0" smtClean="0"/>
                        <a:t>  </a:t>
                      </a:r>
                      <a:r>
                        <a:rPr lang="ko-KR" altLang="en-US" sz="1000" baseline="0" dirty="0" smtClean="0"/>
                        <a:t>경우 </a:t>
                      </a:r>
                      <a:r>
                        <a:rPr lang="en-US" altLang="ko-KR" sz="1000" baseline="0" dirty="0" smtClean="0"/>
                        <a:t/>
                      </a:r>
                      <a:br>
                        <a:rPr lang="en-US" altLang="ko-KR" sz="1000" baseline="0" dirty="0" smtClean="0"/>
                      </a:b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입금 마감 일 기준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10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7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1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당일   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알림 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발송</a:t>
                      </a:r>
                      <a:endParaRPr lang="ko-KR" altLang="en-US" sz="100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344817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00903" y="313958"/>
            <a:ext cx="44807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■</a:t>
            </a:r>
            <a:r>
              <a:rPr lang="en-US" altLang="ko-KR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여행 </a:t>
            </a:r>
            <a:r>
              <a:rPr lang="ko-KR" altLang="en-US" sz="12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큐비</a:t>
            </a:r>
            <a:r>
              <a:rPr lang="en-US" altLang="ko-KR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상품 예약 접수</a:t>
            </a:r>
            <a:r>
              <a:rPr lang="en-US" altLang="ko-KR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담당자확인</a:t>
            </a:r>
            <a:r>
              <a:rPr lang="en-US" altLang="ko-KR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결제 중</a:t>
            </a:r>
            <a:r>
              <a:rPr lang="en-US" altLang="ko-KR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결제완료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한 고객</a:t>
            </a:r>
            <a:r>
              <a:rPr lang="en-US" altLang="ko-KR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4200507531"/>
              </p:ext>
            </p:extLst>
          </p:nvPr>
        </p:nvGraphicFramePr>
        <p:xfrm>
          <a:off x="603683" y="930615"/>
          <a:ext cx="11274639" cy="584356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729110"/>
                <a:gridCol w="2561460"/>
                <a:gridCol w="1914920"/>
                <a:gridCol w="1470379"/>
                <a:gridCol w="1799385"/>
                <a:gridCol w="1799385"/>
              </a:tblGrid>
              <a:tr h="4486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상황</a:t>
                      </a:r>
                      <a:endParaRPr lang="ko-KR" altLang="en-US" sz="1050" b="1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err="1" smtClean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알림내용</a:t>
                      </a:r>
                      <a:endParaRPr lang="ko-KR" altLang="en-US" sz="1050" b="1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err="1" smtClean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알림형태</a:t>
                      </a:r>
                      <a:endParaRPr lang="ko-KR" altLang="en-US" sz="1050" b="1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알림 위치</a:t>
                      </a:r>
                      <a:endParaRPr lang="ko-KR" altLang="en-US" sz="1050" b="1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err="1" smtClean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알림시점</a:t>
                      </a:r>
                      <a:r>
                        <a:rPr lang="ko-KR" altLang="en-US" sz="1050" b="1" dirty="0" smtClean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및 주기</a:t>
                      </a:r>
                      <a:endParaRPr lang="ko-KR" altLang="en-US" sz="1050" b="1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smtClean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알림 조건</a:t>
                      </a:r>
                      <a:endParaRPr lang="ko-KR" altLang="en-US" sz="1050" b="1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</a:tr>
              <a:tr h="18925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 예정일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“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여행 준비는 잘하고 계신가요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 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즐거운 추억이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가득한 여행이 되시길 바랍니다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“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Push Alarm message (C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b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To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ast Pop up (B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Device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Home Screen   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9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My Travel Guide page</a:t>
                      </a:r>
                      <a:endParaRPr lang="ko-KR" altLang="en-US" sz="9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최초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 오전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925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“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여행 준비물은 잘 챙기셨나요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 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체크리스트를 통해 여행 준비물을 꼼꼼히 챙겨보세요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.”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Push Alarm message (C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Layer Pop up (A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Device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Home Screen</a:t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My page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9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My Travel Guide page</a:t>
                      </a:r>
                      <a:endParaRPr lang="ko-KR" altLang="en-US" sz="9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최초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 </a:t>
                      </a:r>
                      <a:endParaRPr lang="en-US" altLang="ko-KR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  오전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925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“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공항 혼잡도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정보를 안내해드립니다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공항이 복잡한 시간을 피해 출발해주세요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.”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Push Alarm message (C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Layer Pop up (A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Device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Home Screen</a:t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My page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9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My Travel Guide page</a:t>
                      </a:r>
                      <a:endParaRPr lang="ko-KR" altLang="en-US" sz="9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최초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 </a:t>
                      </a:r>
                      <a:endParaRPr lang="en-US" altLang="ko-KR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 오전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전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6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 당일 </a:t>
                      </a:r>
                      <a:r>
                        <a:rPr lang="en-US" altLang="ko-KR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  <a:r>
                        <a:rPr lang="ko-KR" altLang="en-US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시간 전</a:t>
                      </a:r>
                      <a:endParaRPr lang="ko-KR" altLang="en-US"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“</a:t>
                      </a:r>
                      <a:r>
                        <a:rPr lang="ko-KR" altLang="en-US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고객님 지금쯤 공항으로 출발하셔야 늦지 않습니다</a:t>
                      </a:r>
                      <a:r>
                        <a:rPr lang="en-US" altLang="ko-KR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lang="ko-KR" altLang="en-US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여유 있게 출발해주세요</a:t>
                      </a:r>
                      <a:r>
                        <a:rPr lang="en-US" altLang="ko-KR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~” </a:t>
                      </a:r>
                      <a:br>
                        <a:rPr lang="en-US" altLang="ko-KR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endParaRPr lang="en-US" altLang="ko-KR" sz="100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“ </a:t>
                      </a:r>
                      <a:r>
                        <a:rPr lang="ko-KR" altLang="en-US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공항버스를 정보를 안내해드립니다</a:t>
                      </a:r>
                      <a:r>
                        <a:rPr lang="en-US" altLang="ko-KR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Push Alarm message (C</a:t>
                      </a:r>
                      <a:r>
                        <a:rPr lang="ko-KR" altLang="en-US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</a:t>
                      </a:r>
                      <a:r>
                        <a:rPr lang="en-US" altLang="ko-KR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Layer Pop up (A</a:t>
                      </a:r>
                      <a:r>
                        <a:rPr lang="ko-KR" altLang="en-US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</a:t>
                      </a:r>
                      <a:r>
                        <a:rPr lang="en-US" altLang="ko-KR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Device</a:t>
                      </a:r>
                      <a:r>
                        <a:rPr lang="en-US" altLang="ko-KR" sz="100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Home Screen</a:t>
                      </a:r>
                      <a:br>
                        <a:rPr lang="en-US" altLang="ko-KR" sz="100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My page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90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My Travel Guide page</a:t>
                      </a:r>
                      <a:endParaRPr lang="ko-KR" altLang="en-US" sz="90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최초 </a:t>
                      </a:r>
                      <a:r>
                        <a:rPr lang="en-US" altLang="ko-KR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 </a:t>
                      </a:r>
                      <a:endParaRPr lang="en-US" altLang="ko-KR" sz="100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 당일 </a:t>
                      </a:r>
                      <a:r>
                        <a:rPr lang="en-US" altLang="ko-KR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  <a:r>
                        <a:rPr lang="ko-KR" altLang="en-US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시간 전</a:t>
                      </a:r>
                      <a:endParaRPr lang="ko-KR" altLang="en-US"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 당일 </a:t>
                      </a:r>
                      <a:r>
                        <a:rPr lang="en-US" altLang="ko-KR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  <a:r>
                        <a:rPr lang="ko-KR" altLang="en-US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시간 전</a:t>
                      </a:r>
                      <a:endParaRPr lang="ko-KR" altLang="en-US"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24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 예정시간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시간 전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“ 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고객님 공항에는 잘 도착하셨나요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공항 내 미팅 장소를 안내해드립니다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Push Alarm message (C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Layer Pop up (A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Device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Home Screen</a:t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My page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9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My Travel Guide page</a:t>
                      </a:r>
                      <a:endParaRPr lang="ko-KR" altLang="en-US" sz="9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최초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 </a:t>
                      </a:r>
                      <a:endParaRPr lang="en-US" altLang="ko-KR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 예정시간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시간 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출발 예정시간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시간 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9258"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10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출발예정시간 </a:t>
                      </a:r>
                      <a:r>
                        <a:rPr lang="en-US" altLang="ko-KR" sz="10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</a:t>
                      </a:r>
                      <a:r>
                        <a:rPr lang="ko-KR" altLang="ko-KR" sz="10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시간</a:t>
                      </a:r>
                      <a:r>
                        <a:rPr lang="en-US" altLang="ko-KR" sz="10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ko-KR" sz="10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전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“ </a:t>
                      </a:r>
                      <a:r>
                        <a:rPr lang="ko-KR" altLang="en-US" sz="10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곧 출국할 시간이네요</a:t>
                      </a:r>
                      <a:r>
                        <a:rPr lang="en-US" altLang="ko-KR" sz="10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  <a:r>
                        <a:rPr lang="en-US" altLang="ko-KR" sz="1000" kern="120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ko-KR" sz="10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출입국 신고서 작성 </a:t>
                      </a:r>
                      <a:r>
                        <a:rPr lang="ko-KR" altLang="en-US" sz="10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하는 방법을 </a:t>
                      </a:r>
                      <a:r>
                        <a:rPr lang="ko-KR" altLang="en-US" sz="1000" kern="1200" dirty="0" err="1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알려드릴께요</a:t>
                      </a:r>
                      <a:r>
                        <a:rPr lang="en-US" altLang="ko-KR" sz="10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.”</a:t>
                      </a:r>
                      <a:endParaRPr lang="ko-KR" altLang="en-US" sz="100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Push Alarm message (C</a:t>
                      </a:r>
                      <a:r>
                        <a:rPr lang="ko-KR" altLang="en-US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</a:t>
                      </a:r>
                      <a:r>
                        <a:rPr lang="en-US" altLang="ko-KR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Layer Pop up (A</a:t>
                      </a:r>
                      <a:r>
                        <a:rPr lang="ko-KR" altLang="en-US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</a:t>
                      </a:r>
                      <a:r>
                        <a:rPr lang="en-US" altLang="ko-KR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Device</a:t>
                      </a:r>
                      <a:r>
                        <a:rPr lang="en-US" altLang="ko-KR" sz="100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Home Screen</a:t>
                      </a:r>
                      <a:br>
                        <a:rPr lang="en-US" altLang="ko-KR" sz="100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My page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90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My Travel Guide page</a:t>
                      </a:r>
                      <a:endParaRPr lang="ko-KR" altLang="en-US" sz="90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최초 </a:t>
                      </a:r>
                      <a:r>
                        <a:rPr lang="en-US" altLang="ko-KR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 </a:t>
                      </a:r>
                      <a:endParaRPr lang="en-US" altLang="ko-KR" sz="1000" kern="1200" dirty="0" smtClean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latinLnBrk="1"/>
                      <a:r>
                        <a:rPr lang="ko-KR" altLang="ko-KR" sz="10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출발예정시간 </a:t>
                      </a:r>
                      <a:r>
                        <a:rPr lang="en-US" altLang="ko-KR" sz="10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</a:t>
                      </a:r>
                      <a:r>
                        <a:rPr lang="ko-KR" altLang="ko-KR" sz="10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시간</a:t>
                      </a:r>
                      <a:r>
                        <a:rPr lang="en-US" altLang="ko-KR" sz="10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ko-KR" sz="10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10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출발</a:t>
                      </a:r>
                      <a:r>
                        <a:rPr lang="en-US" altLang="ko-KR" sz="10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ko-KR" sz="10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예정시간 </a:t>
                      </a:r>
                      <a:r>
                        <a:rPr lang="en-US" altLang="ko-KR" sz="10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</a:t>
                      </a:r>
                      <a:r>
                        <a:rPr lang="ko-KR" altLang="ko-KR" sz="10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시간</a:t>
                      </a:r>
                      <a:r>
                        <a:rPr lang="en-US" altLang="ko-KR" sz="10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ko-KR" sz="10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6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여행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일정 진행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“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여행은 즐겁게 하고 계신가요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  <a:b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내일의 여행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일정 정보를 </a:t>
                      </a:r>
                      <a:r>
                        <a:rPr lang="ko-KR" altLang="en-US" sz="1000" baseline="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알려드릴께요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.”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Push Alarm message (C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Layer Pop up (A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Device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Home Screen</a:t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My page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9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My Travel Guide </a:t>
                      </a:r>
                      <a:r>
                        <a:rPr lang="en-US" altLang="ko-KR" sz="8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page</a:t>
                      </a:r>
                      <a:endParaRPr lang="ko-KR" altLang="en-US" sz="8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여행 전날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저녁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 알림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e.g.)10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저녁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시에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일정 안내</a:t>
                      </a:r>
                      <a:endParaRPr lang="ko-KR" altLang="en-US" sz="100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시차적용 부분 논의 필요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6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귀국일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+ 1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“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즐거운 여행이셨나요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여행의 후기를 남겨주세요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~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Push Alarm message (C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Layer Pop up (A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Device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Home Screen</a:t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My page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9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My Travel Guide page</a:t>
                      </a:r>
                      <a:endParaRPr lang="ko-KR" altLang="en-US" sz="9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귀국일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+ 1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</a:t>
                      </a:r>
                      <a:endParaRPr lang="en-US" altLang="ko-KR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오후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귀국일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+ 1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후 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최초 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 노출</a:t>
                      </a:r>
                      <a:endParaRPr lang="ko-KR" altLang="en-US" sz="100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6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귀국일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+ 30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“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지난 유럽 여행은 즐거우셨나요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 </a:t>
                      </a:r>
                      <a:r>
                        <a:rPr lang="ko-KR" altLang="en-US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유럽 여행을 다녀오신 분들이 추천하는 동남아 여행은 어떠세요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Push Alarm message (C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Layer Pop up (A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Device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Home Screen</a:t>
                      </a:r>
                      <a:b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10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My page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∙ </a:t>
                      </a:r>
                      <a:r>
                        <a:rPr lang="en-US" altLang="ko-KR" sz="9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My Travel Guide page</a:t>
                      </a:r>
                      <a:endParaRPr lang="ko-KR" altLang="en-US" sz="9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귀국일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+ 30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</a:t>
                      </a:r>
                      <a:endParaRPr lang="en-US" altLang="ko-KR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오후 </a:t>
                      </a:r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귀국일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+ 30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이후</a:t>
                      </a:r>
                      <a:endParaRPr lang="en-US" altLang="ko-KR" sz="1000" baseline="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 간격 알림</a:t>
                      </a:r>
                      <a:endParaRPr lang="en-US" altLang="ko-KR" sz="1000" baseline="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예약 건이 있는 고객 제외</a:t>
                      </a:r>
                      <a:endParaRPr lang="ko-KR" altLang="en-US" sz="1000" dirty="0" smtClean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236454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1794</TotalTime>
  <Words>1623</Words>
  <Application>Microsoft Office PowerPoint</Application>
  <PresentationFormat>사용자 지정</PresentationFormat>
  <Paragraphs>301</Paragraphs>
  <Slides>5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Office 테마</vt:lpstr>
      <vt:lpstr>슬라이드 1</vt:lpstr>
      <vt:lpstr>슬라이드 2</vt:lpstr>
      <vt:lpstr>슬라이드 3</vt:lpstr>
      <vt:lpstr>슬라이드 4</vt:lpstr>
      <vt:lpstr>슬라이드 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kim김재환</dc:creator>
  <cp:lastModifiedBy>p1424</cp:lastModifiedBy>
  <cp:revision>39</cp:revision>
  <dcterms:created xsi:type="dcterms:W3CDTF">2017-04-24T06:11:27Z</dcterms:created>
  <dcterms:modified xsi:type="dcterms:W3CDTF">2017-04-28T04:22:38Z</dcterms:modified>
</cp:coreProperties>
</file>