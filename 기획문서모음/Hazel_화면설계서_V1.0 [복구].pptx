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7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87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kern="0" spc="12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챗봇 화면설계서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IT 담당자를 위한 개인용 AI 어시스턴트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7315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663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4663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웹 (Streamlit) / 모바일 대응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983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4983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5303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2026.04.20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623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5623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41148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dirty="0">
                <a:solidFill>
                  <a:srgbClr val="000000"/>
                </a:solidFill>
              </a:rPr>
              <a:t>🤖</a:t>
            </a:r>
            <a:endParaRPr lang="en-US" sz="140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CONFIDENTIAL -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문서 정보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이력 (History)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DOC_HISTORY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2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972800" cy="1828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Version.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Date.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Content.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Owner.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V0.1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2026-04-15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 - 코드/README 기반 스토리보드 초안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V0.5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2026-04-18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정의 영역 확장 및 검색/RAG 플로우 보강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2026-04-20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요건정의서와 연계 검수 완료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3840480"/>
            <a:ext cx="10972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931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문서 개정 원칙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2976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기능/화면 구조 변경 시: Major 버전 상향 (예: V1.x → V2.0)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문구/디스크립션 수정 시: Minor 버전 상향 (예: V1.0 → V1.1)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개정 사항은 본 History 테이블 상단에 추가 기입한다.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본 문서는 my_app/app.py 소스코드 및 README.md 기반으로 역설계(reverse-spec)되었다.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문서 정보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 (Index)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DOC_INDEX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143000"/>
            <a:ext cx="640080" cy="50292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43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1430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3990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1.1 서비스 프로세스 플로우 / 주요 사용자 여정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1691640"/>
            <a:ext cx="96012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801368"/>
            <a:ext cx="640080" cy="50292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8013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18013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페이지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20574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비로그인 사용자 인증 (ID/PW)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2350008"/>
            <a:ext cx="96012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459736"/>
            <a:ext cx="640080" cy="50292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597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24597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페이지 - 사이드바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271576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관리 · Agent 역할 · 답변 설정 · 검색 설정 · RAG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3008376"/>
            <a:ext cx="96012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118104"/>
            <a:ext cx="640080" cy="50292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11810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311810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페이지 - 대화/입력 영역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37360" y="337413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히스토리 · 첨부 · 응답 스트리밍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3666744"/>
            <a:ext cx="96012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3776472"/>
            <a:ext cx="640080" cy="50292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7764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37360" y="3776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여권/비자 분석 영역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403250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업로드 → Vision 모델 분석 → 결과 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37360" y="4325112"/>
            <a:ext cx="96012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434840"/>
            <a:ext cx="640080" cy="50292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434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737360" y="44348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 &amp; 이미지 생성 응답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37360" y="469087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Naver/OpenAI 웹검색 보강 · DALL-E 이미지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37360" y="4983480"/>
            <a:ext cx="96012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5093208"/>
            <a:ext cx="640080" cy="50292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0932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737360" y="50932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문서 Q&amp;A 플로우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737360" y="53492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인덱싱 · Vector Search · 인용 청크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37360" y="5641848"/>
            <a:ext cx="96012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" y="5751576"/>
            <a:ext cx="640080" cy="50292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75157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737360" y="575157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결과 표 / HTML 미리보기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737360" y="600760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 결과 자동 추출 및 렌더링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37360" y="6300216"/>
            <a:ext cx="960120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137160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kern="0" spc="800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별첨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프로세스 및 사용자 여정 (User Journey)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별첨 &gt; 프로세스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프로세스 흐름도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FLOW_MAIN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solidFill>
            <a:srgbClr val="9A9388"/>
          </a:solidFill>
          <a:ln w="12700">
            <a:solidFill>
              <a:srgbClr val="9A93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 (비로그인)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3931920" cy="36576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 (로그인 후)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1188720"/>
            <a:ext cx="2651760" cy="365760"/>
          </a:xfrm>
          <a:prstGeom prst="rect">
            <a:avLst/>
          </a:prstGeom>
          <a:solidFill>
            <a:srgbClr val="3E6EC1"/>
          </a:solidFill>
          <a:ln w="12700">
            <a:solidFill>
              <a:srgbClr val="3E6E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/ External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966960" y="1188720"/>
            <a:ext cx="1920240" cy="36576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 / 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173736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17F3E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1737360"/>
            <a:ext cx="1645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앱 접속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246888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로그인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(ID / PW)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0" y="24688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메인 진입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(대화 목록 로드)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31920" y="32918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대화 선택 / 새 대화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31920" y="40690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메시지 입력 / 파일 첨부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31920" y="48920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489204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(옵션) 검색 판정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RAG 검색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98080" y="48920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4892040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7-A. OpenAI 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Vision / DALL-E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98080" y="40690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7-B. Naver 검색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32918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7-C. MongoDB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31920" y="56692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566928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응답 렌더링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토큰/비용/출처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058400" y="32918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대화 저장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(chats)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20240" y="2194560"/>
            <a:ext cx="0" cy="27432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743200" y="2697480"/>
            <a:ext cx="1188720" cy="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120640" y="2926080"/>
            <a:ext cx="0" cy="36576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120640" y="3749040"/>
            <a:ext cx="0" cy="32004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120640" y="4526280"/>
            <a:ext cx="0" cy="36576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309360" y="5120640"/>
            <a:ext cx="1188720" cy="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309360" y="4297680"/>
            <a:ext cx="1188720" cy="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309360" y="3520440"/>
            <a:ext cx="1188720" cy="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120640" y="5349240"/>
            <a:ext cx="0" cy="320040"/>
          </a:xfrm>
          <a:prstGeom prst="line">
            <a:avLst/>
          </a:prstGeom>
          <a:noFill/>
          <a:ln w="1905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754880" y="6263640"/>
            <a:ext cx="1280160" cy="320040"/>
          </a:xfrm>
          <a:prstGeom prst="ellipse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6263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263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각 단계의 상세 화면은 2장 이후 페이지에서 정의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5</a:t>
            </a:r>
            <a:endParaRPr lang="en-US" sz="900" dirty="0"/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CF16F6C8-CD09-48C7-91DE-AEF38FA7FFF1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 flipV="1">
            <a:off x="6309360" y="3520440"/>
            <a:ext cx="3749040" cy="2377440"/>
          </a:xfrm>
          <a:prstGeom prst="bentConnector3">
            <a:avLst>
              <a:gd name="adj1" fmla="val 96070"/>
            </a:avLst>
          </a:prstGeom>
          <a:ln>
            <a:solidFill>
              <a:srgbClr val="C17F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137160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kern="0" spc="800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페이지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비로그인 상태에서 노출되는 최초 진입 화면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로그인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페이지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 / LOGIN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0" y="914400"/>
            <a:ext cx="3291840" cy="320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234440"/>
          <a:ext cx="3291840" cy="347472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비로그인 사용자가 접속 시 최초 노출되는 인증 화면. logged_in = False일 때만 표시.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로고/타이틀 - 🤖 Hazel · 서비스명 고정 노출 (중앙 정렬).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아이디 입력 필드 · Placeholder: "아이디" · 필수값 · 공백 제출 시 미진행.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비밀번호 입력 필드 · type=password · 필수값 · 마스킹 처리.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버튼 (primary · 전체 너비) · 클릭 시 verify_login(username, password) 호출 · 성공: logged_in=True, username 저장 후 rerun · 실패: Alert 'ID 또는 비밀번호가 올바르지 않습니다.' 노출.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4-1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소스: st.secrets["USERS"] 우선, 없을 시 users.json (JSON 배열).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4-2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enter key 입력 시 로그인 버튼과 동일하게 동작.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블롭 애니메이션 · 장식 요소 · 접근성을 해치지 않는 범위 내 움직임.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점 표시 (3개) · 로그인 처리 중 시각 피드백 (선택).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914400"/>
            <a:ext cx="8229600" cy="548640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Wireframe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377440" y="1828800"/>
            <a:ext cx="40233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34640" y="2103120"/>
            <a:ext cx="3108960" cy="822960"/>
          </a:xfrm>
          <a:prstGeom prst="rect">
            <a:avLst/>
          </a:prstGeom>
          <a:solidFill>
            <a:srgbClr val="F5F0E8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464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 Hazel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계속하려면 로그인하세요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97480" y="205740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9748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34640" y="3154680"/>
            <a:ext cx="3108960" cy="45720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3464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아이디 입력 ]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97480" y="310896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9748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834640" y="3749040"/>
            <a:ext cx="3108960" cy="45720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83464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비밀번호 ******** ]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697480" y="370332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9748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834640" y="4389120"/>
            <a:ext cx="3108960" cy="502920"/>
          </a:xfrm>
          <a:prstGeom prst="rect">
            <a:avLst/>
          </a:prstGeom>
          <a:solidFill>
            <a:srgbClr val="C17F3E"/>
          </a:solidFill>
          <a:ln w="9525">
            <a:solidFill>
              <a:srgbClr val="C17F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34640" y="4389120"/>
            <a:ext cx="31089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697480" y="434340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974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40480" y="5074920"/>
            <a:ext cx="1097280" cy="228600"/>
          </a:xfrm>
          <a:prstGeom prst="rect">
            <a:avLst/>
          </a:prstGeom>
          <a:solidFill>
            <a:srgbClr val="F5F0E8"/>
          </a:solidFill>
          <a:ln w="9525">
            <a:solidFill>
              <a:srgbClr val="F5F0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0" y="5074920"/>
            <a:ext cx="1097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● ●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703320" y="502920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70332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05840" y="1554480"/>
            <a:ext cx="1097280" cy="1097280"/>
          </a:xfrm>
          <a:prstGeom prst="ellipse">
            <a:avLst/>
          </a:prstGeom>
          <a:solidFill>
            <a:srgbClr val="E8C8A3">
              <a:alpha val="40000"/>
            </a:srgbClr>
          </a:solidFill>
          <a:ln w="12700">
            <a:solidFill>
              <a:srgbClr val="E8C8A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49440" y="5029200"/>
            <a:ext cx="1188720" cy="1188720"/>
          </a:xfrm>
          <a:prstGeom prst="ellipse">
            <a:avLst/>
          </a:prstGeom>
          <a:solidFill>
            <a:srgbClr val="E8C8A3">
              <a:alpha val="40000"/>
            </a:srgbClr>
          </a:solidFill>
          <a:ln w="12700">
            <a:solidFill>
              <a:srgbClr val="E8C8A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05840" y="5394960"/>
            <a:ext cx="731520" cy="731520"/>
          </a:xfrm>
          <a:prstGeom prst="ellipse">
            <a:avLst/>
          </a:prstGeom>
          <a:solidFill>
            <a:srgbClr val="E8C8A3">
              <a:alpha val="40000"/>
            </a:srgbClr>
          </a:solidFill>
          <a:ln w="12700">
            <a:solidFill>
              <a:srgbClr val="E8C8A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92240" y="5989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13E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배경 블롭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1371600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kern="0" spc="800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페이지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진입하는 챗 인터페이스 (사이드바 + 대화 영역)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메인 &gt; 사이드바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페이지 - 사이드바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 / MAIN_SIDEBAR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0" y="914400"/>
            <a:ext cx="3291840" cy="320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234440"/>
          <a:ext cx="3291840" cy="384048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페이지 좌측 고정 패널 (340px). 대화 · Agent · 모델 · 검색 · RAG 제어 영역.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사용자 표시 영역 - 'username' 표출 + 로그아웃 버튼. 클릭 시 세션 초기화 후 로그인 화면.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＋ 새 대화 버튼 - 클릭 시 create_new_chat() · MongoDB에 새 대화 생성 후 current_chat_id 갱신.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대화 검색 입력 - 실시간 regex 검색 (제목+본문) 최대 30건 노출 · 각 결과: 제목 버튼 / 스니펫 2행 / 🗑 삭제.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대화 목록 - updated_at 내림차순 · 각 항목: 제목 버튼 (클릭 시 current_chat_id 전환) / 🗑 삭제.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 역할 - 텍스트 입력 + form 내 '적용하기' / '역할 비우기' 버튼. 적용 시 system_prompt 머리부에 주입.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답변 설정 - 모델 Selectbox (gpt-4o-mini / 4.1-mini / 4.1 / o4-mini / o3) · 추론 강도 Slider (추론 모델만 노출) · 답변 길이 (짧게/보통/자세히).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 설정 - 4개 Toggle: 검색 사용 / 자동 판정 / 이미지 보기 / OpenAI 출처 보기.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RAG 문서 Q&amp;A - Toggle + 파일 업로더(PDF/DOCX/TXT) + '인덱싱 시작' · 완료 시 N개 청크 저장 알림 · 인덱싱 목록 및 🗑 삭제.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914400"/>
            <a:ext cx="8229600" cy="548640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Wireframe (Sidebar 340px)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280160"/>
            <a:ext cx="2560320" cy="49377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37160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👤 username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[로그아웃]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" y="137160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solidFill>
            <a:srgbClr val="C17F3E"/>
          </a:solidFill>
          <a:ln w="9525">
            <a:solidFill>
              <a:srgbClr val="C17F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새 대화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1938528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" y="2377440"/>
            <a:ext cx="2377440" cy="32004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대화 검색...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48640" y="233172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" y="2834640"/>
            <a:ext cx="2377440" cy="96012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2834640"/>
            <a:ext cx="2377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대화 1         🗑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대화 2         🗑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대화 3         🗑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대화 4         🗑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8640" y="278892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" y="3931920"/>
            <a:ext cx="2377440" cy="68580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Agent 역할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역할 입력... ]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  [비우기]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88620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40080" y="4736592"/>
            <a:ext cx="2377440" cy="82296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4736592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답변 설정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▾ gpt-4.1-mini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──●── 균형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▾ 보통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48640" y="4690872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8640" y="4690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40080" y="5687568"/>
            <a:ext cx="2377440" cy="54864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" y="5687568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🔎 검색 설정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● ● ●  (4 Toggle)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48640" y="5641848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5641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383280" y="1280160"/>
            <a:ext cx="493776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383280" y="1280160"/>
            <a:ext cx="493776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(메인 대화 영역 - 다음 페이지 참조)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40080" y="6327648"/>
            <a:ext cx="2377440" cy="594360"/>
          </a:xfrm>
          <a:prstGeom prst="rect">
            <a:avLst/>
          </a:prstGeom>
          <a:solidFill>
            <a:srgbClr val="FFF3E6"/>
          </a:solidFill>
          <a:ln w="9525">
            <a:solidFill>
              <a:srgbClr val="C17F3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" y="6327648"/>
            <a:ext cx="23774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RAG 문서 Q&amp;A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파일 업로드 · 인덱싱 ]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48640" y="6281928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" y="6281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메인 &gt; 대화 영역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페이지 - 대화/입력 영역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SCR-003 / SCR-004 / MAIN_CHAT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0" y="914400"/>
            <a:ext cx="3291840" cy="320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234440"/>
          <a:ext cx="3291840" cy="461772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로그인 사용자의 선택된 대화에 대한 메시지 히스토리 · 첨부 · 입력을 제공하는 중앙 영역.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페이지 타이틀 - 🤖 Hazel (Crimson Pro 폰트).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Agent 역할 안내 Info - agent_role 설정 시에만 노출. '🧠 현재 대화 Agent 역할' + 역할 텍스트.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여권/비자 분석 Expander - 접힘 상태가 default. 채팅과 별도 동작 (SCR-005 참조).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첨부 파일 표시 영역 - uploaded_files_cache의 각 파일명 표시 · 타입별 미리보기 Expander · '첨부 파일 비우기' 버튼 제공.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메시지 히스토리 - 시간순 렌더링. User(우측, #c17f3e 배경/흰글씨), Assistant(좌측, 흰배경/검정글씨, 1px border).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5-1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첨부 파일이 있는 User 메시지는 파일명/이미지 썸네일을 함께 노출.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대화 입력창 (st.chat_input) - 최하단 고정. placeholder: '메시지를 입력하세요 (+ 버튼으로 파일 첨부 / Ctrl+V 이미지 붙여넣기)'.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6-1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'+' 버튼 - PDF/XLSX/XLS/CSV/PPTX/DOCX/TXT/PNG/JPG/JPEG/WEBP 다중 파일 첨부.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6-2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Ctrl+V - 클립보드 이미지 자동 첨부 (signature 기반 중복 방지).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응답 생성 중(is_generating) 시 '⏹ 응답 멈춤' 버튼 노출 · 클릭 시 stop_generation=True · 다음 stream chunk에서 중단.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Shape 8"/>
          <p:cNvSpPr/>
          <p:nvPr/>
        </p:nvSpPr>
        <p:spPr>
          <a:xfrm>
            <a:off x="274320" y="914400"/>
            <a:ext cx="8229600" cy="548640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Wireframe (Main Chat Area)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280160"/>
            <a:ext cx="7680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Hazel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11480" y="123444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1828800"/>
            <a:ext cx="7680960" cy="320040"/>
          </a:xfrm>
          <a:prstGeom prst="rect">
            <a:avLst/>
          </a:prstGeom>
          <a:solidFill>
            <a:srgbClr val="FFF6EA"/>
          </a:solidFill>
          <a:ln w="9525">
            <a:solidFill>
              <a:srgbClr val="C17F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1828800"/>
            <a:ext cx="7680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현재 대화 Agent 역할: [역할 텍스트]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178308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240280"/>
            <a:ext cx="7680960" cy="32004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2240280"/>
            <a:ext cx="7680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🛂 여권 / 비자 분석 (Expander)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2651760"/>
            <a:ext cx="7680960" cy="41148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2651760"/>
            <a:ext cx="7680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📎 파일 첨부: ✅ 2개 업로드됨   [비우기]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260604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3154680"/>
            <a:ext cx="76809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154680"/>
            <a:ext cx="768096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11480" y="310896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846320" y="33832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안녕하세요, Hazel!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31520" y="393192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152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안녕하세요! 무엇을 도와드릴까요?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931920" y="4572000"/>
            <a:ext cx="4389120" cy="731520"/>
          </a:xfrm>
          <a:prstGeom prst="roundRect">
            <a:avLst>
              <a:gd name="adj" fmla="val 12500"/>
            </a:avLst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31920" y="4572000"/>
            <a:ext cx="438912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📎 계약서.pdf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계약서 핵심 조항 요약해줘.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31520" y="539496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1520" y="5394960"/>
            <a:ext cx="5943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요약하겠습니다. 총 3가지 주요 조항이 있으며...▋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" y="5989320"/>
            <a:ext cx="7680960" cy="274320"/>
          </a:xfrm>
          <a:prstGeom prst="rect">
            <a:avLst/>
          </a:prstGeom>
          <a:solidFill>
            <a:srgbClr val="C13E3E"/>
          </a:solidFill>
          <a:ln w="9525">
            <a:solidFill>
              <a:srgbClr val="C13E3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598932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⏹ 응답 멈춤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11480" y="594360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11480" y="5943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48640" y="6355080"/>
            <a:ext cx="7680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17F3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" y="635508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 [메시지를 입력하세요 (Ctrl+V 이미지 붙여넣기)]  ➤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630936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11480" y="6309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메인 &gt; 여권/비자 분석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여권/비자 분석 영역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SCR-005 / PASSPORT_VISA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0" y="914400"/>
            <a:ext cx="3291840" cy="320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234440"/>
          <a:ext cx="3291840" cy="429768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페이지 상단 Expander 형태. 채팅 입력과 독립적으로 동작하며 Vision 모델로 신분증을 판독한다.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Expander 헤더 - '🛂 여권 / 비자 분석' · 기본 접힘 상태 · 클릭 시 펼침.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안내 문구 - "이미지를 업로드하면 AI가 자동으로 정보를 추출합니다. 채팅창과 별도로 동작합니다."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업로더 - accept: PNG/JPG/JPEG/WEBP · 다중 파일 업로드 가능.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썸네일 미리보기 - 업로드 이미지 최대 4열 격자로 노출 · 각 썸네일 아래 파일명.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분석하기 버튼 (primary · 전체 너비) - 클릭 시 analyze_passport_images() 호출 → OpenAI Vision(gpt-4.1) → JSON 파싱 → DataFrame.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5-1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추출 필드: 이름 / 여권번호 / 국적 / 생년월일 / 발급일 / 만료일 / 비자종류 / 체류기간 (각 파일 1행).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DataFrame - 전체 너비 표시 · 행별 파일명 표기.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📥 Excel 다운로드 버튼 - 결과 DataFrame을 xlsx로 즉시 다운로드 (xlsxwriter).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 케이스 - 추출 실패 시 Warning 노출 + 'AI 원본 응답' Expander에 원문 텍스트 제공.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보안 - 업로드 이미지는 메모리 내 처리 후 즉시 폐기 (서버 디스크 저장 없음 · 단 OpenAI로는 전송).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914400"/>
            <a:ext cx="8229600" cy="548640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0" name="Text 9"/>
          <p:cNvSpPr/>
          <p:nvPr/>
        </p:nvSpPr>
        <p:spPr>
          <a:xfrm>
            <a:off x="36576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Wireframe (Expanded)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280160"/>
            <a:ext cx="7680960" cy="320040"/>
          </a:xfrm>
          <a:prstGeom prst="rect">
            <a:avLst/>
          </a:prstGeom>
          <a:solidFill>
            <a:srgbClr val="FFF3E6"/>
          </a:solidFill>
          <a:ln w="9525">
            <a:solidFill>
              <a:srgbClr val="C17F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280160"/>
            <a:ext cx="7680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🛂 여권 / 비자 분석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123444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1691640"/>
            <a:ext cx="7680960" cy="27432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169164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이미지를 업로드하면 AI가 자동으로 정보를 추출합니다.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164592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057400"/>
            <a:ext cx="7680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2057400"/>
            <a:ext cx="7680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Drag &amp; Drop or Browse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(PNG / JPG / JPEG / WEBP · 다중)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01168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2788920"/>
            <a:ext cx="7680960" cy="91440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2788920"/>
            <a:ext cx="7680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11480" y="274320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1520" y="2880360"/>
            <a:ext cx="1691640" cy="731520"/>
          </a:xfrm>
          <a:prstGeom prst="rect">
            <a:avLst/>
          </a:prstGeom>
          <a:solidFill>
            <a:srgbClr val="EFEAE0"/>
          </a:solidFill>
          <a:ln w="9525">
            <a:solidFill>
              <a:srgbClr val="9A93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2880360"/>
            <a:ext cx="1691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img_1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560320" y="2880360"/>
            <a:ext cx="1691640" cy="731520"/>
          </a:xfrm>
          <a:prstGeom prst="rect">
            <a:avLst/>
          </a:prstGeom>
          <a:solidFill>
            <a:srgbClr val="EFEAE0"/>
          </a:solidFill>
          <a:ln w="9525">
            <a:solidFill>
              <a:srgbClr val="9A93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60320" y="2880360"/>
            <a:ext cx="1691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img_2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389120" y="2880360"/>
            <a:ext cx="1691640" cy="731520"/>
          </a:xfrm>
          <a:prstGeom prst="rect">
            <a:avLst/>
          </a:prstGeom>
          <a:solidFill>
            <a:srgbClr val="EFEAE0"/>
          </a:solidFill>
          <a:ln w="9525">
            <a:solidFill>
              <a:srgbClr val="9A93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89120" y="2880360"/>
            <a:ext cx="1691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img_3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217920" y="2880360"/>
            <a:ext cx="1691640" cy="731520"/>
          </a:xfrm>
          <a:prstGeom prst="rect">
            <a:avLst/>
          </a:prstGeom>
          <a:solidFill>
            <a:srgbClr val="EFEAE0"/>
          </a:solidFill>
          <a:ln w="9525">
            <a:solidFill>
              <a:srgbClr val="9A938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0" y="2880360"/>
            <a:ext cx="1691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img_4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8640" y="3794760"/>
            <a:ext cx="7680960" cy="411480"/>
          </a:xfrm>
          <a:prstGeom prst="rect">
            <a:avLst/>
          </a:prstGeom>
          <a:solidFill>
            <a:srgbClr val="C17F3E"/>
          </a:solidFill>
          <a:ln w="9525">
            <a:solidFill>
              <a:srgbClr val="C17F3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3794760"/>
            <a:ext cx="7680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분석하기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11480" y="374904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" y="4297680"/>
            <a:ext cx="7680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4297680"/>
            <a:ext cx="7680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11480" y="425196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11480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34840"/>
          <a:ext cx="7589520" cy="76809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여권번호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만료일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passport_1.jpg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HONG GILDONG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M12345678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KOR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2030.05.20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visa_1.png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CHANG MINZY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V98765432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CHN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2027.03.12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" name="Shape 42"/>
          <p:cNvSpPr/>
          <p:nvPr/>
        </p:nvSpPr>
        <p:spPr>
          <a:xfrm>
            <a:off x="548640" y="5852160"/>
            <a:ext cx="7680960" cy="365760"/>
          </a:xfrm>
          <a:prstGeom prst="rect">
            <a:avLst/>
          </a:prstGeom>
          <a:solidFill>
            <a:srgbClr val="2C2416"/>
          </a:solidFill>
          <a:ln w="9525">
            <a:solidFill>
              <a:srgbClr val="2C241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48640" y="5852160"/>
            <a:ext cx="7680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📥 Excel 다운로드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411480" y="580644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11480" y="5806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메인 &gt; AI 응답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응답 - 검색 보강 / 이미지 생성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 / SCR-007 / AI_RESPONSE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0" y="914400"/>
            <a:ext cx="3291840" cy="320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234440"/>
          <a:ext cx="3291840" cy="448056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User 입력에 따라 응답 타입이 분기되며, 응답 본문 하단에 부가 컨텐츠가 순차 노출된다.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모델 응답 - '🧠 균형 생각하는 중...' 표시 후 완성본 · 하단 '🧠 추론 완료 (N초) · 추론 토큰 N' 캡션.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토큰/비용 캡션 - 입력/출력/합계 토큰 · USD/KRW 환산 비용. MODEL_PRICING 사용.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 보강 배지 - 모드: 네이버 로컬 / 뉴스 / 웹 / 이미지 / OpenAI 웹검색 · 건수 표시.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네이버 장소 Expander - 제목/카테고리/주소/전화/링크 · 링크 클릭 시 새 창.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네이버 뉴스 Expander - 제목/요약/원문 링크.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네이버 웹문서 Expander - 제목/요약/링크.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이미지 Expander - 썸네일 3열 격자 · 클릭 시 원본 링크 (show_search_images=True 조건).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OpenAI 웹검색 출처 Expander - URL 리스트 (show_web_sources=True 조건).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DALL-E 이미지 - is_image_generation_request()=True 시 · 3열 격자로 생성 이미지 노출 · 각 이미지별 '이미지 다운로드' 버튼 (PNG).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4-1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생성 중 표시 - '🎨 이미지 생성 중입니다...' Info 스피너.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RAG 참조 청크 Expander - '📚 RAG 참조 청크 N개' · 파일명/청크ID/유사도/본문 300자 Preview.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914400"/>
            <a:ext cx="8229600" cy="548640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960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Wireframe (AI Response Flow)</a:t>
            </a:r>
            <a:endParaRPr lang="en-US" sz="900" dirty="0"/>
          </a:p>
        </p:txBody>
      </p:sp>
      <p:sp>
        <p:nvSpPr>
          <p:cNvPr id="10" name="Shape 10"/>
          <p:cNvSpPr/>
          <p:nvPr/>
        </p:nvSpPr>
        <p:spPr>
          <a:xfrm>
            <a:off x="548640" y="1280160"/>
            <a:ext cx="7680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280160"/>
            <a:ext cx="76809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🧠 균형 생각하는 중...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질문에 대한 답변입니다. ~~~ 응답 본문 텍스트 ~~~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123444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2103120"/>
            <a:ext cx="7680960" cy="274320"/>
          </a:xfrm>
          <a:prstGeom prst="rect">
            <a:avLst/>
          </a:prstGeom>
          <a:solidFill>
            <a:srgbClr val="EFEAE0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10312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🔢 토큰: 입력 1,250 · 출력 820 · 합계 2,070 | 💰 $0.0021 (≈ ₩2.8)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205740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468880"/>
            <a:ext cx="7680960" cy="365760"/>
          </a:xfrm>
          <a:prstGeom prst="rect">
            <a:avLst/>
          </a:prstGeom>
          <a:solidFill>
            <a:srgbClr val="FFF3E6"/>
          </a:solidFill>
          <a:ln w="9525">
            <a:solidFill>
              <a:srgbClr val="C17F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🔎 검색 보강 모드: [네이버 로컬 5] [뉴스 8] [웹 3] [이미지 12] [OpenAI 출처 4]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242316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2926080"/>
            <a:ext cx="7680960" cy="27432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29260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네이버 장소 검색 결과 (5)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288036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3-1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3246120"/>
            <a:ext cx="7680960" cy="27432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24612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네이버 뉴스 검색 결과 (8)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" y="3566160"/>
            <a:ext cx="7680960" cy="27432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네이버 웹문서 검색 결과 (3)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11480" y="352044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148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3-3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8640" y="3886200"/>
            <a:ext cx="7680960" cy="27432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관련 이미지 보기 (12)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11480" y="384048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3-4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" y="4206240"/>
            <a:ext cx="7680960" cy="27432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OpenAI 웹검색 출처 보기 (4)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11480" y="416052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1148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3-5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48640" y="4572000"/>
            <a:ext cx="76809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" y="4572000"/>
            <a:ext cx="7680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🎨 생성된 이미지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452628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1148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31520" y="4892040"/>
            <a:ext cx="2377440" cy="1097280"/>
          </a:xfrm>
          <a:prstGeom prst="rect">
            <a:avLst/>
          </a:prstGeom>
          <a:solidFill>
            <a:srgbClr val="EFEAE0"/>
          </a:solidFill>
          <a:ln w="6350">
            <a:solidFill>
              <a:srgbClr val="9A938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31520" y="4892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IMG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[다운로드]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246120" y="4892040"/>
            <a:ext cx="2377440" cy="1097280"/>
          </a:xfrm>
          <a:prstGeom prst="rect">
            <a:avLst/>
          </a:prstGeom>
          <a:solidFill>
            <a:srgbClr val="EFEAE0"/>
          </a:solidFill>
          <a:ln w="6350">
            <a:solidFill>
              <a:srgbClr val="9A938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246120" y="4892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IMG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[다운로드]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760720" y="4892040"/>
            <a:ext cx="2377440" cy="1097280"/>
          </a:xfrm>
          <a:prstGeom prst="rect">
            <a:avLst/>
          </a:prstGeom>
          <a:solidFill>
            <a:srgbClr val="EFEAE0"/>
          </a:solidFill>
          <a:ln w="6350">
            <a:solidFill>
              <a:srgbClr val="9A938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760720" y="4892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🖼 IMG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[다운로드]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48640" y="5989320"/>
            <a:ext cx="7680960" cy="457200"/>
          </a:xfrm>
          <a:prstGeom prst="rect">
            <a:avLst/>
          </a:prstGeom>
          <a:solidFill>
            <a:srgbClr val="F8F4ED"/>
          </a:solidFill>
          <a:ln w="9525">
            <a:solidFill>
              <a:srgbClr val="D9D3C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8640" y="5989320"/>
            <a:ext cx="76809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📚 RAG 참조 청크 3개 (유사도 0.89 / 0.82 / 0.74)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411480" y="594360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11480" y="5943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RAG &gt; 인덱싱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문서 Q&amp;A - 인덱싱 플로우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SCR-011 / RAG_INDEX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0" y="914400"/>
            <a:ext cx="3291840" cy="320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234440"/>
          <a:ext cx="3291840" cy="461772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사이드바 '📚 RAG 문서 Q&amp;A' 섹션. 문서를 청크 단위 임베딩으로 변환하여 Vector DB에 적재한다.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RAG 모드 Toggle - ON 시 대화 입력 시마다 자동 Vector Search를 수행하여 상위 청크를 context에 삽입.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업로더 - PDF / DOCX / TXT · 단일 파일 업로드.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인덱싱 시작 버튼 - 클릭 시 rag_indexing=True → chunk_text → embed_texts (text-embedding-3-small, 1536차원) → index_document.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표시 - 스피너 + "'{filename}' 임베딩 중..."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3-2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 메시지 - "완료: {n}개 청크 저장됨" (초록색 success).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인덱싱된 문서 목록 - 현재 사용자의 rag_chunks 집계 · '📄 {filename} ({chunks}청크)' 캡션 형식.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4-1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🗑 삭제 버튼 - 해당 doc_id의 모든 청크 삭제 (복구 불가).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MongoDB 저장 구조 - { username, doc_id(md5), filename, chunk_index, text, embedding[1536], created_at }.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Vector Search Index - 이름: rag_vector_index · 필드: embedding · 차원: 1536 · metric: cosine · filter: username.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대화 연동 - RAG 모드 ON + 인덱싱 문서 존재 시 search_rag_chunks(query)로 상위 k개(기본 k=5) 청크 반환 · system message에 reference context 삽입.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914400"/>
            <a:ext cx="8229600" cy="548640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Wireframe / Dataflow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520" y="14630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10" name="Text 11"/>
          <p:cNvSpPr/>
          <p:nvPr/>
        </p:nvSpPr>
        <p:spPr>
          <a:xfrm>
            <a:off x="73152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파일 업로드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PDF/DOCX/TXT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331720" y="2103120"/>
            <a:ext cx="0" cy="274320"/>
          </a:xfrm>
          <a:prstGeom prst="line">
            <a:avLst/>
          </a:prstGeom>
          <a:noFill/>
          <a:ln w="2540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31520" y="23774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chunk_text()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청크 분할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331720" y="3017520"/>
            <a:ext cx="0" cy="274320"/>
          </a:xfrm>
          <a:prstGeom prst="line">
            <a:avLst/>
          </a:prstGeom>
          <a:noFill/>
          <a:ln w="2540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1520" y="32918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29184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embed_texts()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text-embedding-3-small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331720" y="3931920"/>
            <a:ext cx="0" cy="274320"/>
          </a:xfrm>
          <a:prstGeom prst="line">
            <a:avLst/>
          </a:prstGeom>
          <a:noFill/>
          <a:ln w="2540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31520" y="42062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MongoDB 저장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rag_chunks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331720" y="4846320"/>
            <a:ext cx="0" cy="274320"/>
          </a:xfrm>
          <a:prstGeom prst="line">
            <a:avLst/>
          </a:prstGeom>
          <a:noFill/>
          <a:ln w="25400">
            <a:solidFill>
              <a:srgbClr val="C17F3E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1520" y="51206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Vector Index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rag_vector_index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46320" y="14630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입력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46520" y="2103120"/>
            <a:ext cx="0" cy="274320"/>
          </a:xfrm>
          <a:prstGeom prst="line">
            <a:avLst/>
          </a:prstGeom>
          <a:noFill/>
          <a:ln w="25400">
            <a:solidFill>
              <a:srgbClr val="2C2416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846320" y="23774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임베딩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446520" y="3017520"/>
            <a:ext cx="0" cy="274320"/>
          </a:xfrm>
          <a:prstGeom prst="line">
            <a:avLst/>
          </a:prstGeom>
          <a:noFill/>
          <a:ln w="25400">
            <a:solidFill>
              <a:srgbClr val="2C2416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4846320" y="32918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329184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Vector 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(cosine, k=5)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46520" y="3931920"/>
            <a:ext cx="0" cy="274320"/>
          </a:xfrm>
          <a:prstGeom prst="line">
            <a:avLst/>
          </a:prstGeom>
          <a:noFill/>
          <a:ln w="25400">
            <a:solidFill>
              <a:srgbClr val="2C2416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4846320" y="42062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0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청크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prompt 삽입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446520" y="4846320"/>
            <a:ext cx="0" cy="274320"/>
          </a:xfrm>
          <a:prstGeom prst="line">
            <a:avLst/>
          </a:prstGeom>
          <a:noFill/>
          <a:ln w="25400">
            <a:solidFill>
              <a:srgbClr val="2C2416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4846320" y="51206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4632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응답 + 인용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3152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인덱싱 플로우 ]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84632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질의응답 플로우 ]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160520" y="5440680"/>
            <a:ext cx="685800" cy="0"/>
          </a:xfrm>
          <a:prstGeom prst="line">
            <a:avLst/>
          </a:prstGeom>
          <a:noFill/>
          <a:ln w="12700">
            <a:solidFill>
              <a:srgbClr val="9A9388"/>
            </a:solidFill>
            <a:prstDash val="dash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메인 &gt; 구조화 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결과 표 / HTML 미리보기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SCR-008 / SCR-009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95360" y="914400"/>
            <a:ext cx="3291840" cy="320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234440"/>
          <a:ext cx="3291840" cy="45720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응답에서 구조화 가능한 컨텐츠(JSON/마크다운 표/HTML 코드블록)를 자동 추출하여 추가 패널로 렌더링한다.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📊 AI 결과 표 - try_build_result_dataframe()이 응답에서 JSON 배열 또는 마크다운 표 감지 시 DataFrame으로 변환.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조건 - 파싱 성공 &amp; row 1건 이상.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1-2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📥 AI 결과 Excel 다운로드 버튼 - xlsxwriter 엔진으로 즉시 다운로드.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🖥 HTML/CSS 미리보기 - should_show_preview()가 ```html/```css/```javascript 코드블록 3종 중 하나 이상 감지 시 노출.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HTML 코드블록 - st.code(html, language='html').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CSS 코드블록 - 있을 경우에만 노출.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2-3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JavaScript 코드블록 - 있을 경우에만 노출.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📥 코드 다운로드 (.html) - 3종을 하나의 HTML 파일로 결합 후 다운로드.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라이브 렌더 iframe - st.components.html(html_string, height=700, scrolling=True).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세션 상태 - last_result_df, last_preview_html, last_preview_blocks에 저장되어 대화 내 유지됨.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17F3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- iframe 샌드박스 적용 · 외부 도메인 스크립트 실행 시 CSP 경고 가능.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914400"/>
            <a:ext cx="8229600" cy="548640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Wireframe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280160"/>
            <a:ext cx="7680960" cy="27432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28016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AI 결과 표</a:t>
            </a:r>
            <a:endParaRPr lang="en-US" sz="1100" dirty="0"/>
          </a:p>
        </p:txBody>
      </p:sp>
      <p:sp>
        <p:nvSpPr>
          <p:cNvPr id="10" name="Shape 12"/>
          <p:cNvSpPr/>
          <p:nvPr/>
        </p:nvSpPr>
        <p:spPr>
          <a:xfrm>
            <a:off x="411480" y="123444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6126480" cy="1097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노트북 A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노트북 B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1,450,000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태블릿 C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680,000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548640" y="2926080"/>
            <a:ext cx="7680960" cy="320040"/>
          </a:xfrm>
          <a:prstGeom prst="rect">
            <a:avLst/>
          </a:prstGeom>
          <a:solidFill>
            <a:srgbClr val="2C2416"/>
          </a:solidFill>
          <a:ln w="9525">
            <a:solidFill>
              <a:srgbClr val="2C241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📥 AI 결과 Excel 다운로드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11480" y="288036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1-2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48640" y="3383280"/>
            <a:ext cx="7680960" cy="274320"/>
          </a:xfrm>
          <a:prstGeom prst="rect">
            <a:avLst/>
          </a:prstGeom>
          <a:solidFill>
            <a:srgbClr val="FAFA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" y="33832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 HTML/CSS 미리보기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11480" y="333756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1148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48640" y="3749040"/>
            <a:ext cx="3749040" cy="822960"/>
          </a:xfrm>
          <a:prstGeom prst="rect">
            <a:avLst/>
          </a:prstGeom>
          <a:solidFill>
            <a:srgbClr val="2C241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48640" y="3749040"/>
            <a:ext cx="3749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&lt;html&gt;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&lt;body&gt;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...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&lt;/body&gt;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&lt;/html&gt;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11480" y="370332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17" name="Text 25"/>
          <p:cNvSpPr/>
          <p:nvPr/>
        </p:nvSpPr>
        <p:spPr>
          <a:xfrm>
            <a:off x="41148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389120" y="3749040"/>
            <a:ext cx="3749040" cy="822960"/>
          </a:xfrm>
          <a:prstGeom prst="rect">
            <a:avLst/>
          </a:prstGeom>
          <a:solidFill>
            <a:srgbClr val="2C241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389120" y="3749040"/>
            <a:ext cx="3749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body {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background: #f5f0e8;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...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C8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4251960" y="370332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25196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48640" y="4709160"/>
            <a:ext cx="7680960" cy="320040"/>
          </a:xfrm>
          <a:prstGeom prst="rect">
            <a:avLst/>
          </a:prstGeom>
          <a:solidFill>
            <a:srgbClr val="2C2416"/>
          </a:solidFill>
          <a:ln w="9525">
            <a:solidFill>
              <a:srgbClr val="2C241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4864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📥 코드 다운로드 (.html)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11480" y="466344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11480" y="4663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548640" y="5166360"/>
            <a:ext cx="7680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17F3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8640" y="5166360"/>
            <a:ext cx="7680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Live Render 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(st.components.html, height=700, scrolling)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11480" y="5120640"/>
            <a:ext cx="256032" cy="256032"/>
          </a:xfrm>
          <a:prstGeom prst="ellipse">
            <a:avLst/>
          </a:prstGeom>
          <a:solidFill>
            <a:srgbClr val="C13E3E"/>
          </a:solidFill>
          <a:ln w="12700">
            <a:solidFill>
              <a:srgbClr val="C13E3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11480" y="5120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17F3E"/>
          </a:solidFill>
          <a:ln w="12700">
            <a:solidFill>
              <a:srgbClr val="C17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61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&gt; 부록 &gt; 외부 연동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840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연동 / 의존성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137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APPENDIX_DEP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3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15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972800" cy="36576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환경변수 / 설정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OpenAI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 응답 / 임베딩 / 웹검색 / 이미지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OPENAI_API_KEY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gpt-4.1 / o4-mini / o3 / DALL-E 3 / embedding-3-small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Naver Search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장소 / 뉴스 / 웹 / 이미지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NAVER_CLIENT_ID, NAVER_CLIENT_SECRET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일일 호출 한도 모니터링 필요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MongoDB Atlas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대화 / RAG 청크 / Vector Search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MONGODB_URI, MONGODB_DB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Atlas Vector Search 1536 · cosine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FW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Streamlit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UI 프레임워크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st.session_state, st.chat_input 중심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pypdf / python-docx / python-pptx / pandas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파싱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첨부 파일 텍스트 추출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openpyxl / xlsxwriter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엑셀 생성 / 다운로드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DataFrame export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streamlit-chat-prompt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채팅 입력 UX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24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Ctrl+V 등 확장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120640"/>
            <a:ext cx="10972800" cy="1280160"/>
          </a:xfrm>
          <a:prstGeom prst="rect">
            <a:avLst/>
          </a:prstGeom>
          <a:solidFill>
            <a:srgbClr val="FFF3E6"/>
          </a:solidFill>
          <a:ln w="9525">
            <a:solidFill>
              <a:srgbClr val="C17F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12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7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보안/운영 유의사항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5486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API 키는 반드시 환경변수 또는 st.secrets로 관리. 평문 저장소 커밋 금지.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users.json(기존 평문 저장)은 .gitignore 처리 필수. 중·장기적으로 SHA-256 해시 저장으로 마이그레이션 권장.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첨부 이미지(여권/신분증)는 OpenAI로 전송됨. 사내 법무 검토 필요.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24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MongoDB rag_chunks는 사용자별 격리되어 있으며, 삭제 시 복구 불가. 운영 백업 정책 수립 필요.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6583680"/>
            <a:ext cx="11612880" cy="0"/>
          </a:xfrm>
          <a:prstGeom prst="line">
            <a:avLst/>
          </a:prstGeom>
          <a:noFill/>
          <a:ln w="6350">
            <a:solidFill>
              <a:srgbClr val="D9D3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Hazel AI 챗봇 화면설계서  |  V1.0  |  2026-04-20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515600" y="6601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3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3171</Words>
  <Application>Microsoft Office PowerPoint</Application>
  <PresentationFormat>와이드스크린</PresentationFormat>
  <Paragraphs>551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Hazel AI 챗봇 화면설계서 V1.0</dc:title>
  <dc:subject>PptxGenJS Presentation</dc:subject>
  <dc:creator>기획팀</dc:creator>
  <cp:lastModifiedBy>여 승은</cp:lastModifiedBy>
  <cp:revision>2</cp:revision>
  <dcterms:created xsi:type="dcterms:W3CDTF">2026-04-20T04:45:00Z</dcterms:created>
  <dcterms:modified xsi:type="dcterms:W3CDTF">2026-04-20T05:08:52Z</dcterms:modified>
</cp:coreProperties>
</file>